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Cyber Security adds professional bodies (CIISec, CREST, ISACA, UK Cyber Security Council), the ICO, CIS Benchmarks and the CVE database. Observation (dashboards, inspection) also counts as a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Any three: literature, websites, media, people, e-learning, professional bodies.</a:t>
            </a:r>
          </a:p>
          <a:p>
            <a:r>
              <a:t>2. It's authoritative and specific to the product.</a:t>
            </a:r>
          </a:p>
          <a:p>
            <a:r>
              <a:t>3. A public list of known vulnerabilities.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How recent it is and whether it matches the current version.</a:t>
            </a:r>
          </a:p>
          <a:p>
            <a:r>
              <a:t>2. Checking other independent sources agree.</a:t>
            </a:r>
          </a:p>
          <a:p>
            <a:r>
              <a:t>3. It may promote its own products.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Favouring sources that agree with what you already think.</a:t>
            </a:r>
          </a:p>
          <a:p>
            <a:r>
              <a:t>2. E.g. partiality, prejudice, omission.</a:t>
            </a:r>
          </a:p>
          <a:p>
            <a:r>
              <a:t>3. Base conclusions on evidence and consider other 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Techniques: formative and summative evaluation, qualitative and quantitative methods, corroboration, triangulation. Tools: gap analysis, KPI analysis, scorecards, user diaries, maturity assessments.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Confirming a finding using three or more different sources or methods.</a:t>
            </a:r>
          </a:p>
          <a:p>
            <a:r>
              <a:t>2. The current state with the desired state.</a:t>
            </a:r>
          </a:p>
          <a:p>
            <a:r>
              <a:t>3. Formative happens during a task; summative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4EA1FF"/>
                </a:solidFill>
                <a:latin typeface="Calibri"/>
              </a:rPr>
              <a:t>OCCUPATIONAL SPECIALISMS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Researching and Evaluating Sources of Knowledge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Specialism Content Area 3 and Core 2.11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3.1 to 3.8 (all specialisms), Core Paper 1 2.11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3 and Core 2.11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Researching and Evaluating Sources of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Identify types of sources of knowledge for a technical requirement.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Apply reliability and validity factors to judge a source.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Identify types of bias and how to reduce them.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Use critical thinking, evaluation tools and communication methods to share findings.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You search for how to fix an error and get a forum post, a vendor article and a YouTube video. Which do you trust most, and why?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3 and Core 2.11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Types of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Researching and Evaluating Sources of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19"/>
              </a:spcAft>
            </a:pPr>
            <a:r>
              <a:rPr sz="1700" b="0">
                <a:solidFill>
                  <a:srgbClr val="202122"/>
                </a:solidFill>
                <a:latin typeface="Calibri"/>
              </a:rPr>
              <a:t>Technicians constantly look things up, so knowing where to look matters.</a:t>
            </a:r>
          </a:p>
          <a:p>
            <a:pPr>
              <a:spcAft>
                <a:spcPts val="1019"/>
              </a:spcAft>
            </a:pPr>
            <a:r>
              <a:rPr sz="1700" b="1">
                <a:solidFill>
                  <a:srgbClr val="202122"/>
                </a:solidFill>
                <a:latin typeface="Calibri"/>
              </a:rPr>
              <a:t>Literature:</a:t>
            </a:r>
            <a:r>
              <a:rPr sz="1700" b="0">
                <a:solidFill>
                  <a:srgbClr val="202122"/>
                </a:solidFill>
                <a:latin typeface="Calibri"/>
              </a:rPr>
              <a:t> textbooks, journals, manuals and supplier documentation. Detailed and usually accurate.</a:t>
            </a:r>
          </a:p>
          <a:p>
            <a:pPr>
              <a:spcAft>
                <a:spcPts val="1019"/>
              </a:spcAft>
            </a:pPr>
            <a:r>
              <a:rPr sz="1700" b="1">
                <a:solidFill>
                  <a:srgbClr val="202122"/>
                </a:solidFill>
                <a:latin typeface="Calibri"/>
              </a:rPr>
              <a:t>Websites:</a:t>
            </a:r>
            <a:r>
              <a:rPr sz="1700" b="0">
                <a:solidFill>
                  <a:srgbClr val="202122"/>
                </a:solidFill>
                <a:latin typeface="Calibri"/>
              </a:rPr>
              <a:t> wikis, forums such as Stack Overflow, and manufacturer sites. Fast and current, but of mixed quality.</a:t>
            </a:r>
          </a:p>
          <a:p>
            <a:pPr>
              <a:spcAft>
                <a:spcPts val="1019"/>
              </a:spcAft>
            </a:pPr>
            <a:r>
              <a:rPr sz="1700" b="1">
                <a:solidFill>
                  <a:srgbClr val="202122"/>
                </a:solidFill>
                <a:latin typeface="Calibri"/>
              </a:rPr>
              <a:t>Media:</a:t>
            </a:r>
            <a:r>
              <a:rPr sz="1700" b="0">
                <a:solidFill>
                  <a:srgbClr val="202122"/>
                </a:solidFill>
                <a:latin typeface="Calibri"/>
              </a:rPr>
              <a:t> social media, blogs, vlogs, podcasts and webinars. Good for tutorials and news.</a:t>
            </a:r>
          </a:p>
          <a:p>
            <a:pPr>
              <a:spcAft>
                <a:spcPts val="1019"/>
              </a:spcAft>
            </a:pPr>
            <a:r>
              <a:rPr sz="1700" b="1">
                <a:solidFill>
                  <a:srgbClr val="202122"/>
                </a:solidFill>
                <a:latin typeface="Calibri"/>
              </a:rPr>
              <a:t>People:</a:t>
            </a:r>
            <a:r>
              <a:rPr sz="1700" b="0">
                <a:solidFill>
                  <a:srgbClr val="202122"/>
                </a:solidFill>
                <a:latin typeface="Calibri"/>
              </a:rPr>
              <a:t> colleagues, managers, professional networks and conferences.</a:t>
            </a:r>
          </a:p>
          <a:p>
            <a:pPr>
              <a:spcAft>
                <a:spcPts val="1019"/>
              </a:spcAft>
            </a:pPr>
            <a:r>
              <a:rPr sz="1700" b="1">
                <a:solidFill>
                  <a:srgbClr val="202122"/>
                </a:solidFill>
                <a:latin typeface="Calibri"/>
              </a:rPr>
              <a:t>Learning:</a:t>
            </a:r>
            <a:r>
              <a:rPr sz="1700" b="0">
                <a:solidFill>
                  <a:srgbClr val="202122"/>
                </a:solidFill>
                <a:latin typeface="Calibri"/>
              </a:rPr>
              <a:t> MOOCs and vendor qualifications such as Cisco and CompTIA.</a:t>
            </a:r>
          </a:p>
          <a:p>
            <a:pPr>
              <a:spcAft>
                <a:spcPts val="1019"/>
              </a:spcAft>
            </a:pPr>
            <a:r>
              <a:rPr sz="1700" b="1">
                <a:solidFill>
                  <a:srgbClr val="202122"/>
                </a:solidFill>
                <a:latin typeface="Calibri"/>
              </a:rPr>
              <a:t>Specialist sources:</a:t>
            </a:r>
            <a:r>
              <a:rPr sz="1700" b="0">
                <a:solidFill>
                  <a:srgbClr val="202122"/>
                </a:solidFill>
                <a:latin typeface="Calibri"/>
              </a:rPr>
              <a:t> professional bodies, regulators such as the ICO, standards and databases such as CVE.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Fixing a switch fault: check the manufacturer's manual first, then a vendor forum, then ask a colleague who has seen it before.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3 and Core 2.11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Types of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Researching and Evaluating Sources of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Literature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Textbooks, journals, manuals, supplier literature.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Websites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Wikis, forums, Stack Overflow, manufacturer sites.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Media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Social media, blogs, vlogs, podcasts, webinars.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People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Peers, managers, professional networks and conferences.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Learning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MOOCs and vendor qualifications such as Cisco or CompTIA.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7796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356396" y="425196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0756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Specialist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Professional bodies, regulators, standards and databases such as CVE.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3 and Core 2.11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Types of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Researching and Evaluating Sources of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Name three types of source.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start with manufacturer documentation?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the CVE database?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3 and Core 2.11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Is the source reliable and valid?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Researching and Evaluating Sources of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Not everything you read is true or up to date, so judge each source.</a:t>
            </a:r>
          </a:p>
          <a:p>
            <a:pPr>
              <a:spcAft>
                <a:spcPts val="1320"/>
              </a:spcAft>
            </a:pPr>
            <a:r>
              <a:rPr sz="2200" b="1">
                <a:solidFill>
                  <a:srgbClr val="202122"/>
                </a:solidFill>
                <a:latin typeface="Calibri"/>
              </a:rPr>
              <a:t>Authority:</a:t>
            </a:r>
            <a:r>
              <a:rPr sz="2200" b="0">
                <a:solidFill>
                  <a:srgbClr val="202122"/>
                </a:solidFill>
                <a:latin typeface="Calibri"/>
              </a:rPr>
              <a:t> is the author credible, qualified or linked to a recognised organisation? Evidence: does it cite its sources? Currency: is it recent enough, and does it match your software version? Relevance: does it fit your task, context and audience?</a:t>
            </a:r>
          </a:p>
          <a:p>
            <a:pPr>
              <a:spcAft>
                <a:spcPts val="1320"/>
              </a:spcAft>
            </a:pPr>
            <a:r>
              <a:rPr sz="2200" b="1">
                <a:solidFill>
                  <a:srgbClr val="202122"/>
                </a:solidFill>
                <a:latin typeface="Calibri"/>
              </a:rPr>
              <a:t>Corroboration:</a:t>
            </a:r>
            <a:r>
              <a:rPr sz="2200" b="0">
                <a:solidFill>
                  <a:srgbClr val="202122"/>
                </a:solidFill>
                <a:latin typeface="Calibri"/>
              </a:rPr>
              <a:t> do other independent sources agree? Bias: is opinion or self-interest shaping it?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Industry accreditation, such as CCNA or CompTIA, suggests an author knows their subject.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 2015 forum post about Windows 7 is out of date for a Windows 11 fault, even if it was right at the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3 and Core 2.11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Is the source reliable and valid?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Researching and Evaluating Sources of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Authority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Is the author credible, qualified and linked to a recognised body?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Does it cite its sources?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Currency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Is the version and date recent enough?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Relevance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Does it fit the task, the context and the audience?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Corroboration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Do other independent sources agree?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7796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356396" y="425196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0756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Bias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Is opinion shaping the content?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3 and Core 2.11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Is the source reliable and valid?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Researching and Evaluating Sources of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does currency mean for a source?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corroboration?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might a vendor's own article be biased?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3 and Core 2.11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Types of bias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Researching and Evaluating Sources of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19"/>
              </a:spcAft>
            </a:pPr>
            <a:r>
              <a:rPr sz="1700" b="0">
                <a:solidFill>
                  <a:srgbClr val="202122"/>
                </a:solidFill>
                <a:latin typeface="Calibri"/>
              </a:rPr>
              <a:t>Bias is anything that makes a source, or your use of it, one-sided.</a:t>
            </a:r>
          </a:p>
          <a:p>
            <a:pPr>
              <a:spcAft>
                <a:spcPts val="1019"/>
              </a:spcAft>
            </a:pPr>
            <a:r>
              <a:rPr sz="1700" b="1">
                <a:solidFill>
                  <a:srgbClr val="202122"/>
                </a:solidFill>
                <a:latin typeface="Calibri"/>
              </a:rPr>
              <a:t>Author or proprietary bias:</a:t>
            </a:r>
            <a:r>
              <a:rPr sz="1700" b="0">
                <a:solidFill>
                  <a:srgbClr val="202122"/>
                </a:solidFill>
                <a:latin typeface="Calibri"/>
              </a:rPr>
              <a:t> the author's opinion or company interest shapes the content.</a:t>
            </a:r>
          </a:p>
          <a:p>
            <a:pPr>
              <a:spcAft>
                <a:spcPts val="1019"/>
              </a:spcAft>
            </a:pPr>
            <a:r>
              <a:rPr sz="1700" b="1">
                <a:solidFill>
                  <a:srgbClr val="202122"/>
                </a:solidFill>
                <a:latin typeface="Calibri"/>
              </a:rPr>
              <a:t>Confirmation bias:</a:t>
            </a:r>
            <a:r>
              <a:rPr sz="1700" b="0">
                <a:solidFill>
                  <a:srgbClr val="202122"/>
                </a:solidFill>
                <a:latin typeface="Calibri"/>
              </a:rPr>
              <a:t> you favour sources that agree with what you already think.</a:t>
            </a:r>
          </a:p>
          <a:p>
            <a:pPr>
              <a:spcAft>
                <a:spcPts val="1019"/>
              </a:spcAft>
            </a:pPr>
            <a:r>
              <a:rPr sz="1700" b="1">
                <a:solidFill>
                  <a:srgbClr val="202122"/>
                </a:solidFill>
                <a:latin typeface="Calibri"/>
              </a:rPr>
              <a:t>Selection bias:</a:t>
            </a:r>
            <a:r>
              <a:rPr sz="1700" b="0">
                <a:solidFill>
                  <a:srgbClr val="202122"/>
                </a:solidFill>
                <a:latin typeface="Calibri"/>
              </a:rPr>
              <a:t> sources are chosen to fit a conclusion decided in advance.</a:t>
            </a:r>
          </a:p>
          <a:p>
            <a:pPr>
              <a:spcAft>
                <a:spcPts val="1019"/>
              </a:spcAft>
            </a:pPr>
            <a:r>
              <a:rPr sz="1700" b="1">
                <a:solidFill>
                  <a:srgbClr val="202122"/>
                </a:solidFill>
                <a:latin typeface="Calibri"/>
              </a:rPr>
              <a:t>Cultural bias:</a:t>
            </a:r>
            <a:r>
              <a:rPr sz="1700" b="0">
                <a:solidFill>
                  <a:srgbClr val="202122"/>
                </a:solidFill>
                <a:latin typeface="Calibri"/>
              </a:rPr>
              <a:t> assumptions based on one society's norms.</a:t>
            </a:r>
          </a:p>
          <a:p>
            <a:pPr>
              <a:spcAft>
                <a:spcPts val="1019"/>
              </a:spcAft>
            </a:pPr>
            <a:r>
              <a:rPr sz="1700" b="1">
                <a:solidFill>
                  <a:srgbClr val="202122"/>
                </a:solidFill>
                <a:latin typeface="Calibri"/>
              </a:rPr>
              <a:t>Availability bias (cyber security):</a:t>
            </a:r>
            <a:r>
              <a:rPr sz="1700" b="0">
                <a:solidFill>
                  <a:srgbClr val="202122"/>
                </a:solidFill>
                <a:latin typeface="Calibri"/>
              </a:rPr>
              <a:t> judging by whatever is most recent or memorable.</a:t>
            </a:r>
          </a:p>
          <a:p>
            <a:pPr>
              <a:spcAft>
                <a:spcPts val="1019"/>
              </a:spcAft>
            </a:pPr>
            <a:r>
              <a:rPr sz="1700" b="0">
                <a:solidFill>
                  <a:srgbClr val="202122"/>
                </a:solidFill>
                <a:latin typeface="Calibri"/>
              </a:rPr>
              <a:t>Signs of bias include partiality, prejudice and leaving things out. Reduce it by basing conclusions on evidence and deliberately looking at other views.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After a big ransomware story, a manager wants all budget spent on ransomware, ignoring phishing, the bigger risk: availability bias.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3 and Core 2.11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Types of bias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Researching and Evaluating Sources of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4125"/>
                <a:gridCol w="7740289"/>
              </a:tblGrid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Bias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What it looks like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Author or proprietary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Personal opinion or a vendor promoting its own product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Confirmation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Only accepting sources that support what you already think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Selection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Choosing sources to fit a predetermined conclusion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Cultural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Assumptions based on one society's norms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Availability (cyber)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Opinion skewed by the most recent or memorable event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Indicators: partiality, prejudice, omission. Reduce bias with evidence and an inclusive, objective approach.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3 and Core 2.11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Types of bias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Researching and Evaluating Sources of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11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confirmation bias?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Give one sign of bias.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How can bias be reduced?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3 and Core 2.11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Critical thinking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Researching and Evaluating Sources of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60"/>
              </a:spcAft>
            </a:pPr>
            <a:r>
              <a:rPr sz="2100" b="0">
                <a:solidFill>
                  <a:srgbClr val="202122"/>
                </a:solidFill>
                <a:latin typeface="Calibri"/>
              </a:rPr>
              <a:t>Critical thinking turns information into sound conclusions.</a:t>
            </a:r>
          </a:p>
          <a:p>
            <a:pPr>
              <a:spcAft>
                <a:spcPts val="1260"/>
              </a:spcAft>
            </a:pPr>
            <a:r>
              <a:rPr sz="2100" b="1">
                <a:solidFill>
                  <a:srgbClr val="202122"/>
                </a:solidFill>
                <a:latin typeface="Calibri"/>
              </a:rPr>
              <a:t>Identify the relevant information:</a:t>
            </a:r>
            <a:r>
              <a:rPr sz="2100" b="0">
                <a:solidFill>
                  <a:srgbClr val="202122"/>
                </a:solidFill>
                <a:latin typeface="Calibri"/>
              </a:rPr>
              <a:t> the arguments, views and opinions. Analyse it: spot bias, check how objective it is, and link the data together. Select suitable evaluation techniques and tools. Evaluate the findings and draw conclusions. Record them clearly.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202122"/>
                </a:solidFill>
                <a:latin typeface="Calibri"/>
              </a:rPr>
              <a:t>Techniques include formative evaluation (during a task) and summative (at the end), qualitative and quantitative methods, corroboration and triangulation. Tools include gap analysis, KPI analysis, scorecards, user diaries and maturity assessments.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Deciding whether to upgrade to Wi-Fi 7: gather vendor claims, reviews and your own usage data, weigh bias, then compare current and needed performance with a gap analysis.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3 and Core 2.11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Critical thinking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Researching and Evaluating Sources of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3217" y="2793492"/>
            <a:ext cx="8985260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283177" y="249174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6897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Identify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4622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18338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Relevant arguments, views and opinions.</a:t>
            </a:r>
          </a:p>
        </p:txBody>
      </p:sp>
      <p:sp>
        <p:nvSpPr>
          <p:cNvPr id="11" name="Oval 10"/>
          <p:cNvSpPr/>
          <p:nvPr/>
        </p:nvSpPr>
        <p:spPr>
          <a:xfrm>
            <a:off x="3529492" y="249174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4955" y="326897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Analyse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4955" y="404622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932115" y="418338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Spot bias; link the data together.</a:t>
            </a:r>
          </a:p>
        </p:txBody>
      </p:sp>
      <p:sp>
        <p:nvSpPr>
          <p:cNvPr id="15" name="Oval 14"/>
          <p:cNvSpPr/>
          <p:nvPr/>
        </p:nvSpPr>
        <p:spPr>
          <a:xfrm>
            <a:off x="5775807" y="249174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1270" y="326897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Select tools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1270" y="404622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178430" y="418338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Choose evaluation techniques and tools.</a:t>
            </a:r>
          </a:p>
        </p:txBody>
      </p:sp>
      <p:sp>
        <p:nvSpPr>
          <p:cNvPr id="19" name="Oval 18"/>
          <p:cNvSpPr/>
          <p:nvPr/>
        </p:nvSpPr>
        <p:spPr>
          <a:xfrm>
            <a:off x="8022122" y="249174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7585" y="326897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Evaluate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7585" y="404622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424745" y="418338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Assess findings and draw conclusions.</a:t>
            </a:r>
          </a:p>
        </p:txBody>
      </p:sp>
      <p:sp>
        <p:nvSpPr>
          <p:cNvPr id="23" name="Oval 22"/>
          <p:cNvSpPr/>
          <p:nvPr/>
        </p:nvSpPr>
        <p:spPr>
          <a:xfrm>
            <a:off x="10268437" y="249174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3900" y="326897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Record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3900" y="404622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671060" y="418338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Write up the conclusions.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3 and Core 2.11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Critical thinking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Researching and Evaluating Sources of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14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triangulation?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does a gap analysis compare?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the difference between formative and summative evaluation?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3 and Core 2.11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Sharing knowledge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Researching and Evaluating Sources of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Recording issues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Ticket systems track trends and satisfaction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Chatbots answer common questions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Record user, issue, resolution and time taken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Track status and escalation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Communication methods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ITSM tools and knowledge bases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Wikis, shared documents and workspaces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Email, chat, video calls, forums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1">
                <a:solidFill>
                  <a:srgbClr val="202122"/>
                </a:solidFill>
                <a:latin typeface="Calibri"/>
              </a:rPr>
              <a:t>Project tools:</a:t>
            </a:r>
            <a:r>
              <a:rPr sz="2100" b="0">
                <a:solidFill>
                  <a:srgbClr val="202122"/>
                </a:solidFill>
                <a:latin typeface="Calibri"/>
              </a:rPr>
              <a:t> issue logs, Gantt, Kanban, burndown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1">
                <a:solidFill>
                  <a:srgbClr val="202122"/>
                </a:solidFill>
                <a:latin typeface="Calibri"/>
              </a:rPr>
              <a:t>Cyber:</a:t>
            </a:r>
            <a:r>
              <a:rPr sz="2100" b="0">
                <a:solidFill>
                  <a:srgbClr val="202122"/>
                </a:solidFill>
                <a:latin typeface="Calibri"/>
              </a:rPr>
              <a:t> CyBOK and MITRE ATT&amp;CK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3 and Core 2.11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Researching and Evaluating Sources of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16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Give three factors that make a source reliable.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confirmation bias?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triangulation?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a gap analysis compare?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one knowledge base used in cyber security.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3 and Core 2.11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Researching and Evaluating Sources of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Give three factors that make a source reliable.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Any three of: authority, evidence, currency, relevance, corroboration, lack of bias.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confirmation bias?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Favouring sources that support what you already believe.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triangulation?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Checking a finding using three or more different sources or methods.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a gap analysis compare?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The current state against the desired state.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one knowledge base used in cyber security.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CyBOK or MITRE ATT&amp;CK.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3 and Core 2.11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Source showdown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Researching and Evaluating Sources of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Research question: 'Is Wi-Fi 7 worth installing in a small office this year?'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Find three different types of source.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Score each for authority, currency, evidence and bias.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Recommend which source to trust most and justify it in technical language.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Three different source types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Each factor scored with a reason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Any bias identified and named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Clear, justified recommendation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OCCUPATIONAL SPECIALISMS  ·  Specialism Content Area 3 and Core 2.11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is a vendor's own article possibly biased?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How would you corroborate a forum answer?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communication method would you use to share a fix with your team?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Sources of Knowledge, on your specialism's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https://lana6478.github.io/Digital-Suport-and-security-T-levle/#/02-occupational-specialisms/00-overview.md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Researching and Evaluating Sources of Knowledge</dc:title>
  <dc:subject>Digital Support and Security T Level: Specialism Content Area 3 and Core 2.11</dc:subject>
  <dc:creator>Samuel O'Connell</dc:creator>
  <cp:keywords>T Level; Digital Support and Security; lesson slides; 3.1 to 3.8 (all specialisms), Core Paper 1 2.11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