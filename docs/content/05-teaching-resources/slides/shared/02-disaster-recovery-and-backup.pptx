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Worked example: if the RPO is 4 hours, backups must run at least every 4 hours. Procedures that support these: SOPs (installation, backup, set-up) and SLAs (uptime, response and resolution times).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a few minutes to answer on mini whiteboards or paper, then reveal the answers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through any answers the class found difficult.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answer on a sticky note or in the chat before leaving.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1005840"/>
            <a:ext cx="3291840" cy="3291840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9966960" y="3200400"/>
            <a:ext cx="2377440" cy="237744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138160" y="4023360"/>
            <a:ext cx="1371600" cy="1371600"/>
          </a:xfrm>
          <a:prstGeom prst="ellipse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4EA1FF"/>
                </a:solidFill>
                <a:latin typeface="Calibri"/>
              </a:rPr>
              <a:t>OCCUPATIONAL SPECIALISMS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7315200" cy="228600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Disaster Recovery, Continuity and Backup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A9C8F0"/>
                </a:solidFill>
                <a:latin typeface="Calibri"/>
              </a:rPr>
              <a:t>Specialism Content Area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A9C8F0"/>
                </a:solidFill>
                <a:latin typeface="Calibri"/>
              </a:rPr>
              <a:t>Specification reference: DRP, BCP, RTO/RPO/MTBF/MTTR, SLAs, backups (1.8 to 1.12, 1.22 to 1.23; DI 2.18 to 2.19)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60720"/>
            <a:ext cx="7498079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Digital Support and Security T Level  ·  Lesson slides</a:t>
            </a:r>
          </a:p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Unofficial teaching resource. Check the official Pearson specification for assessment detail.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SPECIALISMS  ·  Specialism Content Area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Disaster Recovery, Continuity and Backup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1">
                <a:solidFill>
                  <a:srgbClr val="54595D"/>
                </a:solidFill>
                <a:latin typeface="Calibri"/>
              </a:rPr>
              <a:t>By the end of this lesson you should be able to: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234565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01168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Explain the difference between a disaster recovery plan and a business continuity plan.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74695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05181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Describe how a DRP is built and tested.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314825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09193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Define RTO, RPO, MTBF and MTTR and explain SLAs.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354954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513206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Compare backup types and the criteria for a backup strategy.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50876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STARTER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194560"/>
            <a:ext cx="3291840" cy="3657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03306E"/>
                </a:solidFill>
                <a:latin typeface="Cambria"/>
              </a:rPr>
              <a:t>Ransomware has encrypted every file on your college's server. What do you need to get working again, and in what order?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SPECIALISMS  ·  Specialism Content Area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DRP and BCP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Disaster Recovery, Continuity and Backup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Disaster recovery plan (DRP)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59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Restores IT systems after a disruption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Physical:</a:t>
            </a:r>
            <a:r>
              <a:rPr sz="2200" b="0">
                <a:solidFill>
                  <a:srgbClr val="202122"/>
                </a:solidFill>
                <a:latin typeface="Calibri"/>
              </a:rPr>
              <a:t> backups, off-site server storage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Restores access and functionality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Replaces failed infrastructure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07327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Business continuity plan (BCP)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Keeps the whole business running during disruption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Alternative premises and processes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Users can work away from the main site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The DRP sits inside the wider BCP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SPECIALISMS  ·  Specialism Content Area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Building a DRP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Disaster Recovery, Continuity and Backup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1416024" y="2717292"/>
            <a:ext cx="9359646" cy="36576"/>
          </a:xfrm>
          <a:prstGeom prst="rect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1095984" y="2415540"/>
            <a:ext cx="640080" cy="6400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92780"/>
            <a:ext cx="1734769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Scope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970020"/>
            <a:ext cx="1734769" cy="1386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85800" y="4107180"/>
            <a:ext cx="1460449" cy="1112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0">
                <a:solidFill>
                  <a:srgbClr val="202122"/>
                </a:solidFill>
                <a:latin typeface="Calibri"/>
              </a:rPr>
              <a:t>Site, organisation, department or individual.</a:t>
            </a:r>
          </a:p>
        </p:txBody>
      </p:sp>
      <p:sp>
        <p:nvSpPr>
          <p:cNvPr id="11" name="Oval 10"/>
          <p:cNvSpPr/>
          <p:nvPr/>
        </p:nvSpPr>
        <p:spPr>
          <a:xfrm>
            <a:off x="2967913" y="2415540"/>
            <a:ext cx="640080" cy="6400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0569" y="3192780"/>
            <a:ext cx="1734769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Gather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20569" y="3970020"/>
            <a:ext cx="1734769" cy="1386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2557729" y="4107180"/>
            <a:ext cx="1460449" cy="1112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0">
                <a:solidFill>
                  <a:srgbClr val="202122"/>
                </a:solidFill>
                <a:latin typeface="Calibri"/>
              </a:rPr>
              <a:t>Past outages, inventories, contacts.</a:t>
            </a:r>
          </a:p>
        </p:txBody>
      </p:sp>
      <p:sp>
        <p:nvSpPr>
          <p:cNvPr id="15" name="Oval 14"/>
          <p:cNvSpPr/>
          <p:nvPr/>
        </p:nvSpPr>
        <p:spPr>
          <a:xfrm>
            <a:off x="4839843" y="2415540"/>
            <a:ext cx="640080" cy="6400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2498" y="3192780"/>
            <a:ext cx="1734769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Risk assess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2498" y="3970020"/>
            <a:ext cx="1734769" cy="1386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429658" y="4107180"/>
            <a:ext cx="1460449" cy="1112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0">
                <a:solidFill>
                  <a:srgbClr val="202122"/>
                </a:solidFill>
                <a:latin typeface="Calibri"/>
              </a:rPr>
              <a:t>Assets, threats, likelihood and impact.</a:t>
            </a:r>
          </a:p>
        </p:txBody>
      </p:sp>
      <p:sp>
        <p:nvSpPr>
          <p:cNvPr id="19" name="Oval 18"/>
          <p:cNvSpPr/>
          <p:nvPr/>
        </p:nvSpPr>
        <p:spPr>
          <a:xfrm>
            <a:off x="6711772" y="2415540"/>
            <a:ext cx="640080" cy="6400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64427" y="3192780"/>
            <a:ext cx="1734769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Create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4427" y="3970020"/>
            <a:ext cx="1734769" cy="1386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301587" y="4107180"/>
            <a:ext cx="1460449" cy="1112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0">
                <a:solidFill>
                  <a:srgbClr val="202122"/>
                </a:solidFill>
                <a:latin typeface="Calibri"/>
              </a:rPr>
              <a:t>Write the plan and identify resources.</a:t>
            </a:r>
          </a:p>
        </p:txBody>
      </p:sp>
      <p:sp>
        <p:nvSpPr>
          <p:cNvPr id="23" name="Oval 22"/>
          <p:cNvSpPr/>
          <p:nvPr/>
        </p:nvSpPr>
        <p:spPr>
          <a:xfrm>
            <a:off x="8583701" y="2415540"/>
            <a:ext cx="640080" cy="6400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36356" y="3192780"/>
            <a:ext cx="1734769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Sign off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36356" y="3970020"/>
            <a:ext cx="1734769" cy="1386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173516" y="4107180"/>
            <a:ext cx="1460449" cy="1112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0">
                <a:solidFill>
                  <a:srgbClr val="202122"/>
                </a:solidFill>
                <a:latin typeface="Calibri"/>
              </a:rPr>
              <a:t>Get approval.</a:t>
            </a:r>
          </a:p>
        </p:txBody>
      </p:sp>
      <p:sp>
        <p:nvSpPr>
          <p:cNvPr id="27" name="Oval 26"/>
          <p:cNvSpPr/>
          <p:nvPr/>
        </p:nvSpPr>
        <p:spPr>
          <a:xfrm>
            <a:off x="10455630" y="2415540"/>
            <a:ext cx="640080" cy="6400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08286" y="3192780"/>
            <a:ext cx="1734769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Test and improve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908286" y="3970020"/>
            <a:ext cx="1734769" cy="1386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0045446" y="4107180"/>
            <a:ext cx="1460449" cy="1112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0">
                <a:solidFill>
                  <a:srgbClr val="202122"/>
                </a:solidFill>
                <a:latin typeface="Calibri"/>
              </a:rPr>
              <a:t>Test regularly, review, audit and amend.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SPECIALISMS  ·  Specialism Content Area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Measures that size resilience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Disaster Recovery, Continuity and Backup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RTO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Recovery Time Objective: how quickly a system must be back.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6461607" y="1828800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5967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RPO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1607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Recovery Point Objective: how much data loss is tolerable, measured in time.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MTBF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Mean Time Between Failures: how reliable an asset is.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6461607" y="4251960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5967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MTTR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1607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Mean Time To Repair: average time to restore a failed system.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SPECIALISMS  ·  Specialism Content Area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Backup 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Disaster Recovery, Continuity and Backup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94413" cy="3977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2340"/>
                <a:gridCol w="4191223"/>
                <a:gridCol w="1972340"/>
                <a:gridCol w="2958510"/>
              </a:tblGrid>
              <a:tr h="795528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What is copied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Backup speed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Restore needs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</a:tr>
              <a:tr h="795528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Full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Everything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Slowest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Just the full backup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795528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Incremental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Changes since the last backup of any kind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Fastest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Full plus every incremental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795528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Differential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Changes since the last full backup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Full plus the latest differential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795528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Mirror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An exact live copy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Continuous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The mirror, but deletions are copied too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71500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1">
                <a:solidFill>
                  <a:srgbClr val="54595D"/>
                </a:solidFill>
                <a:latin typeface="Calibri"/>
              </a:rPr>
              <a:t>Criteria for a backup strategy: frequency, source, destination and storage medium (LTO tape, cloud, disk).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SPECIALISMS  ·  Specialism Content Area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Check your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Disaster Recovery, Continuity and Backup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7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is the difference between a DRP and a BCP?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574950"/>
            <a:ext cx="411480" cy="4114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556662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does RPO measure?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531412"/>
            <a:ext cx="411480" cy="4114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513124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Which backup type is quickest to make but slowest to restore?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487875"/>
            <a:ext cx="411480" cy="4114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469587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does an SLA define?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5444337"/>
            <a:ext cx="411480" cy="4114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426049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Why must a DRP be tested?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SPECIALISMS  ·  Specialism Content Area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Disaster Recovery, Continuity and Backup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8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is the difference between a DRP and a BCP?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A DRP restores IT systems; a BCP keeps the wider business running.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574950"/>
            <a:ext cx="411480" cy="4114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556662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does RPO measure?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The maximum tolerable data loss, measured in time.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531412"/>
            <a:ext cx="411480" cy="4114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513124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Which backup type is quickest to make but slowest to restore?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Incremental.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487875"/>
            <a:ext cx="411480" cy="4114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469587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does an SLA define?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Agreed uptime and response and resolution times.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5444337"/>
            <a:ext cx="411480" cy="4114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426049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Why must a DRP be tested?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To prove it works and find gaps before a real disaster.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SPECIALISMS  ·  Specialism Content Area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Activity: Design a backup schedule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Disaster Recovery, Continuity and Backup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400" b="1" i="0">
                <a:solidFill>
                  <a:srgbClr val="202122"/>
                </a:solidFill>
                <a:latin typeface="Calibri"/>
              </a:rPr>
              <a:t>20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50876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0" i="1">
                <a:solidFill>
                  <a:srgbClr val="54595D"/>
                </a:solidFill>
                <a:latin typeface="Calibri"/>
              </a:rPr>
              <a:t>Pairs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40280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A small online shop has an RPO of 1 hour and an RTO of 4 hours.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461004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18688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Choose backup types and a weekly schedule that meets the RPO.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439412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197096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Choose where each backup is stored and on what medium.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417820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175504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Explain how the shop would restore on a Thursday afternoon.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1508760"/>
            <a:ext cx="3867912" cy="45720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SUCCESS CRITERIA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240280"/>
            <a:ext cx="3337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Schedule meets the RPO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At least one copy stored off-site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Restore steps are in the right order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A9C8F0"/>
                </a:solidFill>
                <a:latin typeface="Calibri"/>
              </a:rPr>
              <a:t>OCCUPATIONAL SPECIALISMS  ·  Specialism Content Area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Exit ticket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64592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Define MTTR in your own words.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60604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Why keep one backup off-site?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56616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What is the risk of relying only on a mirror?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645920"/>
            <a:ext cx="3410712" cy="2926080"/>
          </a:xfrm>
          <a:prstGeom prst="roundRect">
            <a:avLst>
              <a:gd name="adj" fmla="val 8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503920" y="1874519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REVISE THIS TOPIC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2860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Revision notes for this lesson are on the study wiki: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926080"/>
            <a:ext cx="2926080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mbria"/>
              </a:rPr>
              <a:t>Security Procedures and Controls, on your specialism's page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6928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i="0">
                <a:solidFill>
                  <a:srgbClr val="A9C8F0"/>
                </a:solidFill>
                <a:latin typeface="Calibri"/>
              </a:rPr>
              <a:t>https://lana6478.github.io/Digital-Suport-and-security-T-levle/#/02-occupational-specialisms/00-overview.md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Disaster Recovery, Continuity and Backup</dc:title>
  <dc:subject>Digital Support and Security T Level: Specialism Content Area 1</dc:subject>
  <dc:creator>Samuel O'Connell</dc:creator>
  <cp:keywords>T Level; Digital Support and Security; lesson slides; DRP, BCP, RTO/RPO/MTBF/MTTR, SLAs, backups (1.8 to 1.12, 1.22 to 1.23; DI 2.18 to 2.19)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