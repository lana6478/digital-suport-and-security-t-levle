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notesMaster" Target="notesMasters/notesMaster1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defence in depth: if one layer fails, the next still protects the system.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Give students a few minutes to answer on mini whiteboards or paper, then reveal the answers on the next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Talk through any answers the class found difficult.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Students answer on a sticky note or in the chat before leaving.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3306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595360" y="1005840"/>
            <a:ext cx="3291840" cy="3291840"/>
          </a:xfrm>
          <a:prstGeom prst="ellipse">
            <a:avLst/>
          </a:prstGeom>
          <a:solidFill>
            <a:srgbClr val="0645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Oval 2"/>
          <p:cNvSpPr/>
          <p:nvPr/>
        </p:nvSpPr>
        <p:spPr>
          <a:xfrm>
            <a:off x="9966960" y="3200400"/>
            <a:ext cx="2377440" cy="2377440"/>
          </a:xfrm>
          <a:prstGeom prst="ellipse">
            <a:avLst/>
          </a:prstGeom>
          <a:solidFill>
            <a:srgbClr val="E046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Oval 3"/>
          <p:cNvSpPr/>
          <p:nvPr/>
        </p:nvSpPr>
        <p:spPr>
          <a:xfrm>
            <a:off x="8138160" y="4023360"/>
            <a:ext cx="1371600" cy="1371600"/>
          </a:xfrm>
          <a:prstGeom prst="ellipse">
            <a:avLst/>
          </a:prstGeom>
          <a:solidFill>
            <a:srgbClr val="A9C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548640" y="91440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400" b="1" i="0">
                <a:solidFill>
                  <a:srgbClr val="E0463A"/>
                </a:solidFill>
                <a:latin typeface="Calibri"/>
              </a:rPr>
              <a:t>CYBER SECURITY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7315200" cy="2286000"/>
          </a:xfrm>
          <a:prstGeom prst="rect">
            <a:avLst/>
          </a:prstGeom>
          <a:noFill/>
        </p:spPr>
        <p:txBody>
          <a:bodyPr wrap="square" anchor="b" lIns="0" rIns="0" tIns="0" bIns="0"/>
          <a:lstStyle/>
          <a:p>
            <a:pPr algn="l"/>
            <a:r>
              <a:rPr sz="4400" b="1" i="0">
                <a:solidFill>
                  <a:srgbClr val="FFFFFF"/>
                </a:solidFill>
                <a:latin typeface="Cambria"/>
              </a:rPr>
              <a:t>Secure Design and Layered Protection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840480"/>
            <a:ext cx="7315200" cy="4572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800" b="0" i="0">
                <a:solidFill>
                  <a:srgbClr val="A9C8F0"/>
                </a:solidFill>
                <a:latin typeface="Calibri"/>
              </a:rPr>
              <a:t>Cyber Security Content Area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4297680"/>
            <a:ext cx="7315200" cy="4572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400" b="0" i="0">
                <a:solidFill>
                  <a:srgbClr val="A9C8F0"/>
                </a:solidFill>
                <a:latin typeface="Calibri"/>
              </a:rPr>
              <a:t>Specification reference: 1.3, 1.4, 1.5, 1.6, 1.23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5760720"/>
            <a:ext cx="7498079" cy="64008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0" i="0">
                <a:solidFill>
                  <a:srgbClr val="A9C8F0"/>
                </a:solidFill>
                <a:latin typeface="Calibri"/>
              </a:rPr>
              <a:t>Digital Support and Security T Level  ·  Lesson slides</a:t>
            </a:r>
          </a:p>
          <a:p>
            <a:pPr algn="l"/>
            <a:r>
              <a:rPr sz="1100" b="0" i="0">
                <a:solidFill>
                  <a:srgbClr val="A9C8F0"/>
                </a:solidFill>
                <a:latin typeface="Calibri"/>
              </a:rPr>
              <a:t>Unofficial teaching resource. Check the official Pearson specification for assessment detail.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1" i="0">
                <a:solidFill>
                  <a:srgbClr val="54595D"/>
                </a:solidFill>
                <a:latin typeface="Calibri"/>
              </a:rPr>
              <a:t>CYBER SECURITY  ·  Cyber Security Content Area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3200" b="1" i="0">
                <a:solidFill>
                  <a:srgbClr val="03306E"/>
                </a:solidFill>
                <a:latin typeface="Cambria"/>
              </a:rPr>
              <a:t>Learning objectives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00" b="0" i="0">
                <a:solidFill>
                  <a:srgbClr val="54595D"/>
                </a:solidFill>
                <a:latin typeface="Calibri"/>
              </a:rPr>
              <a:t>Digital Support and Security T Level  ·  Secure Design and Layered Protection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/>
            <a:r>
              <a:rPr sz="1000" b="0" i="0">
                <a:solidFill>
                  <a:srgbClr val="54595D"/>
                </a:solidFill>
                <a:latin typeface="Calibri"/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508760"/>
            <a:ext cx="6766560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600" b="0" i="1">
                <a:solidFill>
                  <a:srgbClr val="54595D"/>
                </a:solidFill>
                <a:latin typeface="Calibri"/>
              </a:rPr>
              <a:t>By the end of this lesson you should be able to:</a:t>
            </a:r>
          </a:p>
        </p:txBody>
      </p:sp>
      <p:sp>
        <p:nvSpPr>
          <p:cNvPr id="7" name="Oval 6"/>
          <p:cNvSpPr/>
          <p:nvPr/>
        </p:nvSpPr>
        <p:spPr>
          <a:xfrm>
            <a:off x="548640" y="2234565"/>
            <a:ext cx="457200" cy="457200"/>
          </a:xfrm>
          <a:prstGeom prst="ellipse">
            <a:avLst/>
          </a:prstGeom>
          <a:solidFill>
            <a:srgbClr val="E046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2011680"/>
            <a:ext cx="6035040" cy="902969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2000" b="0" i="0">
                <a:solidFill>
                  <a:srgbClr val="202122"/>
                </a:solidFill>
                <a:latin typeface="Calibri"/>
              </a:rPr>
              <a:t>Describe protection methods for hardware, operating systems, networks, software and cloud.</a:t>
            </a:r>
          </a:p>
        </p:txBody>
      </p:sp>
      <p:sp>
        <p:nvSpPr>
          <p:cNvPr id="9" name="Oval 8"/>
          <p:cNvSpPr/>
          <p:nvPr/>
        </p:nvSpPr>
        <p:spPr>
          <a:xfrm>
            <a:off x="548640" y="3274695"/>
            <a:ext cx="457200" cy="457200"/>
          </a:xfrm>
          <a:prstGeom prst="ellipse">
            <a:avLst/>
          </a:prstGeom>
          <a:solidFill>
            <a:srgbClr val="E046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34440" y="3051810"/>
            <a:ext cx="6035040" cy="902969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2000" b="0" i="0">
                <a:solidFill>
                  <a:srgbClr val="202122"/>
                </a:solidFill>
                <a:latin typeface="Calibri"/>
              </a:rPr>
              <a:t>Apply the five secure design aims to network infrastructure.</a:t>
            </a:r>
          </a:p>
        </p:txBody>
      </p:sp>
      <p:sp>
        <p:nvSpPr>
          <p:cNvPr id="11" name="Oval 10"/>
          <p:cNvSpPr/>
          <p:nvPr/>
        </p:nvSpPr>
        <p:spPr>
          <a:xfrm>
            <a:off x="548640" y="4314825"/>
            <a:ext cx="457200" cy="457200"/>
          </a:xfrm>
          <a:prstGeom prst="ellipse">
            <a:avLst/>
          </a:prstGeom>
          <a:solidFill>
            <a:srgbClr val="E046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34440" y="4091939"/>
            <a:ext cx="6035040" cy="902969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2000" b="0" i="0">
                <a:solidFill>
                  <a:srgbClr val="202122"/>
                </a:solidFill>
                <a:latin typeface="Calibri"/>
              </a:rPr>
              <a:t>Identify OS components that support an investigation.</a:t>
            </a:r>
          </a:p>
        </p:txBody>
      </p:sp>
      <p:sp>
        <p:nvSpPr>
          <p:cNvPr id="13" name="Oval 12"/>
          <p:cNvSpPr/>
          <p:nvPr/>
        </p:nvSpPr>
        <p:spPr>
          <a:xfrm>
            <a:off x="548640" y="5354954"/>
            <a:ext cx="457200" cy="457200"/>
          </a:xfrm>
          <a:prstGeom prst="ellipse">
            <a:avLst/>
          </a:prstGeom>
          <a:solidFill>
            <a:srgbClr val="E046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34440" y="5132069"/>
            <a:ext cx="6035040" cy="902969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2000" b="0" i="0">
                <a:solidFill>
                  <a:srgbClr val="202122"/>
                </a:solidFill>
                <a:latin typeface="Calibri"/>
              </a:rPr>
              <a:t>Explain core terms: CIA, IAAA, defence in depth, reliability and assurance.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72400" y="1508760"/>
            <a:ext cx="3867912" cy="4526280"/>
          </a:xfrm>
          <a:prstGeom prst="roundRect">
            <a:avLst>
              <a:gd name="adj" fmla="val 8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8046720" y="1737360"/>
            <a:ext cx="3291840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300" b="1" i="0">
                <a:solidFill>
                  <a:srgbClr val="0645AD"/>
                </a:solidFill>
                <a:latin typeface="Calibri"/>
              </a:rPr>
              <a:t>STARTER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46720" y="2194560"/>
            <a:ext cx="3291840" cy="36576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200" b="0" i="0">
                <a:solidFill>
                  <a:srgbClr val="03306E"/>
                </a:solidFill>
                <a:latin typeface="Cambria"/>
              </a:rPr>
              <a:t>A castle has a moat, walls, a gate, guards and a keep. How is that like protecting a network?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1" i="0">
                <a:solidFill>
                  <a:srgbClr val="54595D"/>
                </a:solidFill>
                <a:latin typeface="Calibri"/>
              </a:rPr>
              <a:t>CYBER SECURITY  ·  Cyber Security Content Area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3200" b="1" i="0">
                <a:solidFill>
                  <a:srgbClr val="03306E"/>
                </a:solidFill>
                <a:latin typeface="Cambria"/>
              </a:rPr>
              <a:t>Protection methods by layer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00" b="0" i="0">
                <a:solidFill>
                  <a:srgbClr val="54595D"/>
                </a:solidFill>
                <a:latin typeface="Calibri"/>
              </a:rPr>
              <a:t>Digital Support and Security T Level  ·  Secure Design and Layered Protection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/>
            <a:r>
              <a:rPr sz="1000" b="0" i="0">
                <a:solidFill>
                  <a:srgbClr val="54595D"/>
                </a:solidFill>
                <a:latin typeface="Calibri"/>
              </a:rPr>
              <a:t>3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600200"/>
          <a:ext cx="11094415" cy="4526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69312"/>
                <a:gridCol w="8825103"/>
              </a:tblGrid>
              <a:tr h="754380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  <a:latin typeface="Calibri"/>
                        </a:rPr>
                        <a:t>Layer</a:t>
                      </a:r>
                    </a:p>
                  </a:txBody>
                  <a:tcPr marL="91440" marR="91440" anchor="ctr">
                    <a:solidFill>
                      <a:srgbClr val="03306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  <a:latin typeface="Calibri"/>
                        </a:rPr>
                        <a:t>Methods</a:t>
                      </a:r>
                    </a:p>
                  </a:txBody>
                  <a:tcPr marL="91440" marR="91440" anchor="ctr">
                    <a:solidFill>
                      <a:srgbClr val="03306E"/>
                    </a:solidFill>
                  </a:tcPr>
                </a:tc>
              </a:tr>
              <a:tr h="754380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03306E"/>
                          </a:solidFill>
                          <a:latin typeface="Calibri"/>
                        </a:rPr>
                        <a:t>Hardware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02122"/>
                          </a:solidFill>
                          <a:latin typeface="Calibri"/>
                        </a:rPr>
                        <a:t>Hardware protection, device hardening, locked cages, CCTV, key-card doors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</a:tr>
              <a:tr h="754380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03306E"/>
                          </a:solidFill>
                          <a:latin typeface="Calibri"/>
                        </a:rPr>
                        <a:t>Operating system</a:t>
                      </a:r>
                    </a:p>
                  </a:txBody>
                  <a:tcPr marL="91440" marR="91440" anchor="ctr">
                    <a:solidFill>
                      <a:srgbClr val="EAF3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02122"/>
                          </a:solidFill>
                          <a:latin typeface="Calibri"/>
                        </a:rPr>
                        <a:t>Patches with snapshot rollback, OS hardening</a:t>
                      </a:r>
                    </a:p>
                  </a:txBody>
                  <a:tcPr marL="91440" marR="91440" anchor="ctr">
                    <a:solidFill>
                      <a:srgbClr val="EAF3FF"/>
                    </a:solidFill>
                  </a:tcPr>
                </a:tc>
              </a:tr>
              <a:tr h="754380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03306E"/>
                          </a:solidFill>
                          <a:latin typeface="Calibri"/>
                        </a:rPr>
                        <a:t>Network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02122"/>
                          </a:solidFill>
                          <a:latin typeface="Calibri"/>
                        </a:rPr>
                        <a:t>Segmentation to limit lateral movement, monitoring, network hardening, firewalls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</a:tr>
              <a:tr h="754380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03306E"/>
                          </a:solidFill>
                          <a:latin typeface="Calibri"/>
                        </a:rPr>
                        <a:t>Software</a:t>
                      </a:r>
                    </a:p>
                  </a:txBody>
                  <a:tcPr marL="91440" marR="91440" anchor="ctr">
                    <a:solidFill>
                      <a:srgbClr val="EAF3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02122"/>
                          </a:solidFill>
                          <a:latin typeface="Calibri"/>
                        </a:rPr>
                        <a:t>Anti-malware, SSO, MFA, RMM, vulnerability scanning, PAM, application firewalls</a:t>
                      </a:r>
                    </a:p>
                  </a:txBody>
                  <a:tcPr marL="91440" marR="91440" anchor="ctr">
                    <a:solidFill>
                      <a:srgbClr val="EAF3FF"/>
                    </a:solidFill>
                  </a:tcPr>
                </a:tc>
              </a:tr>
              <a:tr h="754380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03306E"/>
                          </a:solidFill>
                          <a:latin typeface="Calibri"/>
                        </a:rPr>
                        <a:t>Cloud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02122"/>
                          </a:solidFill>
                          <a:latin typeface="Calibri"/>
                        </a:rPr>
                        <a:t>Log auditing, access controls, MFA including a 'somewhere you are' factor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1" i="0">
                <a:solidFill>
                  <a:srgbClr val="54595D"/>
                </a:solidFill>
                <a:latin typeface="Calibri"/>
              </a:rPr>
              <a:t>CYBER SECURITY  ·  Cyber Security Content Area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3200" b="1" i="0">
                <a:solidFill>
                  <a:srgbClr val="03306E"/>
                </a:solidFill>
                <a:latin typeface="Cambria"/>
              </a:rPr>
              <a:t>Five secure design aims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00" b="0" i="0">
                <a:solidFill>
                  <a:srgbClr val="54595D"/>
                </a:solidFill>
                <a:latin typeface="Calibri"/>
              </a:rPr>
              <a:t>Digital Support and Security T Level  ·  Secure Design and Layered Protection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/>
            <a:r>
              <a:rPr sz="1000" b="0" i="0">
                <a:solidFill>
                  <a:srgbClr val="54595D"/>
                </a:solidFill>
                <a:latin typeface="Calibri"/>
              </a:rPr>
              <a:t>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00200"/>
            <a:ext cx="3515258" cy="2148840"/>
          </a:xfrm>
          <a:prstGeom prst="roundRect">
            <a:avLst>
              <a:gd name="adj" fmla="val 6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Oval 6"/>
          <p:cNvSpPr/>
          <p:nvPr/>
        </p:nvSpPr>
        <p:spPr>
          <a:xfrm>
            <a:off x="777240" y="1828800"/>
            <a:ext cx="457200" cy="457200"/>
          </a:xfrm>
          <a:prstGeom prst="ellipse">
            <a:avLst/>
          </a:prstGeom>
          <a:solidFill>
            <a:srgbClr val="E046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801368"/>
            <a:ext cx="2509418" cy="512064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700" b="1" i="0">
                <a:solidFill>
                  <a:srgbClr val="03306E"/>
                </a:solidFill>
                <a:latin typeface="Calibri"/>
              </a:rPr>
              <a:t>Establish the context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468880"/>
            <a:ext cx="3058058" cy="11430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900" b="0" i="0">
                <a:solidFill>
                  <a:srgbClr val="202122"/>
                </a:solidFill>
                <a:latin typeface="Calibri"/>
              </a:rPr>
              <a:t>Adopt zero trust, define acceptable risk, map where sensitive data lives.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38218" y="1600200"/>
            <a:ext cx="3515258" cy="2148840"/>
          </a:xfrm>
          <a:prstGeom prst="roundRect">
            <a:avLst>
              <a:gd name="adj" fmla="val 6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Oval 10"/>
          <p:cNvSpPr/>
          <p:nvPr/>
        </p:nvSpPr>
        <p:spPr>
          <a:xfrm>
            <a:off x="4566818" y="1828800"/>
            <a:ext cx="457200" cy="457200"/>
          </a:xfrm>
          <a:prstGeom prst="ellipse">
            <a:avLst/>
          </a:prstGeom>
          <a:solidFill>
            <a:srgbClr val="E046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161178" y="1801368"/>
            <a:ext cx="2509418" cy="512064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600" b="1" i="0">
                <a:solidFill>
                  <a:srgbClr val="03306E"/>
                </a:solidFill>
                <a:latin typeface="Calibri"/>
              </a:rPr>
              <a:t>Make compromise difficult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66818" y="2468880"/>
            <a:ext cx="3058058" cy="11430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000" b="0" i="0">
                <a:solidFill>
                  <a:srgbClr val="202122"/>
                </a:solidFill>
                <a:latin typeface="Calibri"/>
              </a:rPr>
              <a:t>Reduce the attack surface, use proven solutions, audit operations.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27796" y="1600200"/>
            <a:ext cx="3515258" cy="2148840"/>
          </a:xfrm>
          <a:prstGeom prst="roundRect">
            <a:avLst>
              <a:gd name="adj" fmla="val 6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Oval 14"/>
          <p:cNvSpPr/>
          <p:nvPr/>
        </p:nvSpPr>
        <p:spPr>
          <a:xfrm>
            <a:off x="8356396" y="1828800"/>
            <a:ext cx="457200" cy="457200"/>
          </a:xfrm>
          <a:prstGeom prst="ellipse">
            <a:avLst/>
          </a:prstGeom>
          <a:solidFill>
            <a:srgbClr val="E046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50756" y="1801368"/>
            <a:ext cx="2509418" cy="512064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600" b="1" i="0">
                <a:solidFill>
                  <a:srgbClr val="03306E"/>
                </a:solidFill>
                <a:latin typeface="Calibri"/>
              </a:rPr>
              <a:t>Make disruption difficult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56396" y="2468880"/>
            <a:ext cx="3058058" cy="11430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000" b="0" i="0">
                <a:solidFill>
                  <a:srgbClr val="202122"/>
                </a:solidFill>
                <a:latin typeface="Calibri"/>
              </a:rPr>
              <a:t>Build resilience and scalability, plan for third-party failure.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4023360"/>
            <a:ext cx="3515258" cy="2148840"/>
          </a:xfrm>
          <a:prstGeom prst="roundRect">
            <a:avLst>
              <a:gd name="adj" fmla="val 6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Oval 18"/>
          <p:cNvSpPr/>
          <p:nvPr/>
        </p:nvSpPr>
        <p:spPr>
          <a:xfrm>
            <a:off x="777240" y="4251960"/>
            <a:ext cx="457200" cy="457200"/>
          </a:xfrm>
          <a:prstGeom prst="ellipse">
            <a:avLst/>
          </a:prstGeom>
          <a:solidFill>
            <a:srgbClr val="E046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4224528"/>
            <a:ext cx="2509418" cy="512064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700" b="1" i="0">
                <a:solidFill>
                  <a:srgbClr val="03306E"/>
                </a:solidFill>
                <a:latin typeface="Calibri"/>
              </a:rPr>
              <a:t>Make detection easier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" y="4892040"/>
            <a:ext cx="3058058" cy="11430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800" b="0" i="0">
                <a:solidFill>
                  <a:srgbClr val="202122"/>
                </a:solidFill>
                <a:latin typeface="Calibri"/>
              </a:rPr>
              <a:t>Collect logs, keep monitoring separate from operations, learn what normal looks like.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338218" y="4023360"/>
            <a:ext cx="3515258" cy="2148840"/>
          </a:xfrm>
          <a:prstGeom prst="roundRect">
            <a:avLst>
              <a:gd name="adj" fmla="val 6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Oval 22"/>
          <p:cNvSpPr/>
          <p:nvPr/>
        </p:nvSpPr>
        <p:spPr>
          <a:xfrm>
            <a:off x="4566818" y="4251960"/>
            <a:ext cx="457200" cy="457200"/>
          </a:xfrm>
          <a:prstGeom prst="ellipse">
            <a:avLst/>
          </a:prstGeom>
          <a:solidFill>
            <a:srgbClr val="E046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161178" y="4224528"/>
            <a:ext cx="2509418" cy="512064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900" b="1" i="0">
                <a:solidFill>
                  <a:srgbClr val="03306E"/>
                </a:solidFill>
                <a:latin typeface="Calibri"/>
              </a:rPr>
              <a:t>Reduce the impact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66818" y="4892040"/>
            <a:ext cx="3058058" cy="11430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000" b="0" i="0">
                <a:solidFill>
                  <a:srgbClr val="202122"/>
                </a:solidFill>
                <a:latin typeface="Calibri"/>
              </a:rPr>
              <a:t>Segment networks, test recovery, separate duties, anonymise data.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1" i="0">
                <a:solidFill>
                  <a:srgbClr val="54595D"/>
                </a:solidFill>
                <a:latin typeface="Calibri"/>
              </a:rPr>
              <a:t>CYBER SECURITY  ·  Cyber Security Content Area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3200" b="1" i="0">
                <a:solidFill>
                  <a:srgbClr val="03306E"/>
                </a:solidFill>
                <a:latin typeface="Cambria"/>
              </a:rPr>
              <a:t>Operating systems and investigation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00" b="0" i="0">
                <a:solidFill>
                  <a:srgbClr val="54595D"/>
                </a:solidFill>
                <a:latin typeface="Calibri"/>
              </a:rPr>
              <a:t>Digital Support and Security T Level  ·  Secure Design and Layered Protection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/>
            <a:r>
              <a:rPr sz="1000" b="0" i="0">
                <a:solidFill>
                  <a:srgbClr val="54595D"/>
                </a:solidFill>
                <a:latin typeface="Calibri"/>
              </a:rPr>
              <a:t>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00200"/>
            <a:ext cx="5364327" cy="640080"/>
          </a:xfrm>
          <a:prstGeom prst="roundRect">
            <a:avLst>
              <a:gd name="adj" fmla="val 15000"/>
            </a:avLst>
          </a:prstGeom>
          <a:solidFill>
            <a:srgbClr val="0330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777240" y="1600200"/>
            <a:ext cx="4907127" cy="64008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2000" b="1" i="0">
                <a:solidFill>
                  <a:srgbClr val="FFFFFF"/>
                </a:solidFill>
                <a:latin typeface="Calibri"/>
              </a:rPr>
              <a:t>OS types and functions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377440"/>
            <a:ext cx="5364327" cy="3794760"/>
          </a:xfrm>
          <a:prstGeom prst="roundRect">
            <a:avLst>
              <a:gd name="adj" fmla="val 4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22959" y="2606040"/>
            <a:ext cx="4815687" cy="3337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74320" indent="-274320">
              <a:spcAft>
                <a:spcPts val="990"/>
              </a:spcAft>
              <a:buClr>
                <a:srgbClr val="0645AD"/>
              </a:buClr>
              <a:buFont typeface="Arial"/>
              <a:buChar char="•"/>
            </a:pPr>
            <a:r>
              <a:rPr sz="2200" b="1">
                <a:solidFill>
                  <a:srgbClr val="202122"/>
                </a:solidFill>
                <a:latin typeface="Calibri"/>
              </a:rPr>
              <a:t>Client:</a:t>
            </a:r>
            <a:r>
              <a:rPr sz="2200" b="0">
                <a:solidFill>
                  <a:srgbClr val="202122"/>
                </a:solidFill>
                <a:latin typeface="Calibri"/>
              </a:rPr>
              <a:t> Windows, macOS, Linux</a:t>
            </a:r>
          </a:p>
          <a:p>
            <a:pPr marL="274320" indent="-274320">
              <a:spcAft>
                <a:spcPts val="990"/>
              </a:spcAft>
              <a:buClr>
                <a:srgbClr val="0645AD"/>
              </a:buClr>
              <a:buFont typeface="Arial"/>
              <a:buChar char="•"/>
            </a:pPr>
            <a:r>
              <a:rPr sz="2200" b="1">
                <a:solidFill>
                  <a:srgbClr val="202122"/>
                </a:solidFill>
                <a:latin typeface="Calibri"/>
              </a:rPr>
              <a:t>Mobile:</a:t>
            </a:r>
            <a:r>
              <a:rPr sz="2200" b="0">
                <a:solidFill>
                  <a:srgbClr val="202122"/>
                </a:solidFill>
                <a:latin typeface="Calibri"/>
              </a:rPr>
              <a:t> Android, iOS</a:t>
            </a:r>
          </a:p>
          <a:p>
            <a:pPr marL="274320" indent="-274320">
              <a:spcAft>
                <a:spcPts val="990"/>
              </a:spcAft>
              <a:buClr>
                <a:srgbClr val="0645AD"/>
              </a:buClr>
              <a:buFont typeface="Arial"/>
              <a:buChar char="•"/>
            </a:pPr>
            <a:r>
              <a:rPr sz="2200" b="1">
                <a:solidFill>
                  <a:srgbClr val="202122"/>
                </a:solidFill>
                <a:latin typeface="Calibri"/>
              </a:rPr>
              <a:t>Server:</a:t>
            </a:r>
            <a:r>
              <a:rPr sz="2200" b="0">
                <a:solidFill>
                  <a:srgbClr val="202122"/>
                </a:solidFill>
                <a:latin typeface="Calibri"/>
              </a:rPr>
              <a:t> Windows Server, Linux</a:t>
            </a:r>
          </a:p>
          <a:p>
            <a:pPr marL="274320" indent="-274320">
              <a:spcAft>
                <a:spcPts val="990"/>
              </a:spcAft>
              <a:buClr>
                <a:srgbClr val="0645AD"/>
              </a:buClr>
              <a:buFont typeface="Arial"/>
              <a:buChar char="•"/>
            </a:pPr>
            <a:r>
              <a:rPr sz="2200" b="1">
                <a:solidFill>
                  <a:srgbClr val="202122"/>
                </a:solidFill>
                <a:latin typeface="Calibri"/>
              </a:rPr>
              <a:t>Functions:</a:t>
            </a:r>
            <a:r>
              <a:rPr sz="2200" b="0">
                <a:solidFill>
                  <a:srgbClr val="202122"/>
                </a:solidFill>
                <a:latin typeface="Calibri"/>
              </a:rPr>
              <a:t> security, memory, processor, device and file management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78727" y="1600200"/>
            <a:ext cx="5364327" cy="640080"/>
          </a:xfrm>
          <a:prstGeom prst="roundRect">
            <a:avLst>
              <a:gd name="adj" fmla="val 15000"/>
            </a:avLst>
          </a:prstGeom>
          <a:solidFill>
            <a:srgbClr val="0645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507327" y="1600200"/>
            <a:ext cx="4907127" cy="64008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2000" b="1" i="0">
                <a:solidFill>
                  <a:srgbClr val="FFFFFF"/>
                </a:solidFill>
                <a:latin typeface="Calibri"/>
              </a:rPr>
              <a:t>Useful evidence sources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78727" y="2377440"/>
            <a:ext cx="5364327" cy="3794760"/>
          </a:xfrm>
          <a:prstGeom prst="roundRect">
            <a:avLst>
              <a:gd name="adj" fmla="val 4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6553047" y="2606040"/>
            <a:ext cx="4815687" cy="3337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74320" indent="-274320">
              <a:spcAft>
                <a:spcPts val="900"/>
              </a:spcAft>
              <a:buClr>
                <a:srgbClr val="0645AD"/>
              </a:buClr>
              <a:buFont typeface="Arial"/>
              <a:buChar char="•"/>
            </a:pPr>
            <a:r>
              <a:rPr sz="2000" b="0">
                <a:solidFill>
                  <a:srgbClr val="202122"/>
                </a:solidFill>
                <a:latin typeface="Calibri"/>
              </a:rPr>
              <a:t>Windows registry</a:t>
            </a:r>
          </a:p>
          <a:p>
            <a:pPr marL="274320" indent="-274320">
              <a:spcAft>
                <a:spcPts val="900"/>
              </a:spcAft>
              <a:buClr>
                <a:srgbClr val="0645AD"/>
              </a:buClr>
              <a:buFont typeface="Arial"/>
              <a:buChar char="•"/>
            </a:pPr>
            <a:r>
              <a:rPr sz="2000" b="0">
                <a:solidFill>
                  <a:srgbClr val="202122"/>
                </a:solidFill>
                <a:latin typeface="Calibri"/>
              </a:rPr>
              <a:t>Linux configuration files</a:t>
            </a:r>
          </a:p>
          <a:p>
            <a:pPr marL="274320" indent="-274320">
              <a:spcAft>
                <a:spcPts val="900"/>
              </a:spcAft>
              <a:buClr>
                <a:srgbClr val="0645AD"/>
              </a:buClr>
              <a:buFont typeface="Arial"/>
              <a:buChar char="•"/>
            </a:pPr>
            <a:r>
              <a:rPr sz="2000" b="0">
                <a:solidFill>
                  <a:srgbClr val="202122"/>
                </a:solidFill>
                <a:latin typeface="Calibri"/>
              </a:rPr>
              <a:t>macOS library and preference files</a:t>
            </a:r>
          </a:p>
          <a:p>
            <a:pPr marL="274320" indent="-274320">
              <a:spcAft>
                <a:spcPts val="900"/>
              </a:spcAft>
              <a:buClr>
                <a:srgbClr val="0645AD"/>
              </a:buClr>
              <a:buFont typeface="Arial"/>
              <a:buChar char="•"/>
            </a:pPr>
            <a:r>
              <a:rPr sz="2000" b="0">
                <a:solidFill>
                  <a:srgbClr val="202122"/>
                </a:solidFill>
                <a:latin typeface="Calibri"/>
              </a:rPr>
              <a:t>Network and traffic logs</a:t>
            </a:r>
          </a:p>
          <a:p>
            <a:pPr marL="274320" indent="-274320">
              <a:spcAft>
                <a:spcPts val="900"/>
              </a:spcAft>
              <a:buClr>
                <a:srgbClr val="0645AD"/>
              </a:buClr>
              <a:buFont typeface="Arial"/>
              <a:buChar char="•"/>
            </a:pPr>
            <a:r>
              <a:rPr sz="2000" b="1">
                <a:solidFill>
                  <a:srgbClr val="202122"/>
                </a:solidFill>
                <a:latin typeface="Calibri"/>
              </a:rPr>
              <a:t>File system:</a:t>
            </a:r>
            <a:r>
              <a:rPr sz="2000" b="0">
                <a:solidFill>
                  <a:srgbClr val="202122"/>
                </a:solidFill>
                <a:latin typeface="Calibri"/>
              </a:rPr>
              <a:t> NTFS, FAT32, exFAT, APFS, ext4</a:t>
            </a:r>
          </a:p>
          <a:p>
            <a:pPr marL="274320" indent="-274320">
              <a:spcAft>
                <a:spcPts val="900"/>
              </a:spcAft>
              <a:buClr>
                <a:srgbClr val="0645AD"/>
              </a:buClr>
              <a:buFont typeface="Arial"/>
              <a:buChar char="•"/>
            </a:pPr>
            <a:r>
              <a:rPr sz="2000" b="0">
                <a:solidFill>
                  <a:srgbClr val="202122"/>
                </a:solidFill>
                <a:latin typeface="Calibri"/>
              </a:rPr>
              <a:t>Running processes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1" i="0">
                <a:solidFill>
                  <a:srgbClr val="54595D"/>
                </a:solidFill>
                <a:latin typeface="Calibri"/>
              </a:rPr>
              <a:t>CYBER SECURITY  ·  Cyber Security Content Area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3200" b="1" i="0">
                <a:solidFill>
                  <a:srgbClr val="03306E"/>
                </a:solidFill>
                <a:latin typeface="Cambria"/>
              </a:rPr>
              <a:t>Physical and virtual servers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00" b="0" i="0">
                <a:solidFill>
                  <a:srgbClr val="54595D"/>
                </a:solidFill>
                <a:latin typeface="Calibri"/>
              </a:rPr>
              <a:t>Digital Support and Security T Level  ·  Secure Design and Layered Protection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/>
            <a:r>
              <a:rPr sz="1000" b="0" i="0">
                <a:solidFill>
                  <a:srgbClr val="54595D"/>
                </a:solidFill>
                <a:latin typeface="Calibri"/>
              </a:rPr>
              <a:t>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00200"/>
            <a:ext cx="5364327" cy="640080"/>
          </a:xfrm>
          <a:prstGeom prst="roundRect">
            <a:avLst>
              <a:gd name="adj" fmla="val 15000"/>
            </a:avLst>
          </a:prstGeom>
          <a:solidFill>
            <a:srgbClr val="0330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777240" y="1600200"/>
            <a:ext cx="4907127" cy="64008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2000" b="1" i="0">
                <a:solidFill>
                  <a:srgbClr val="FFFFFF"/>
                </a:solidFill>
                <a:latin typeface="Calibri"/>
              </a:rPr>
              <a:t>Physical servers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377440"/>
            <a:ext cx="5364327" cy="3794760"/>
          </a:xfrm>
          <a:prstGeom prst="roundRect">
            <a:avLst>
              <a:gd name="adj" fmla="val 4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22959" y="2606040"/>
            <a:ext cx="4815687" cy="3337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74320" indent="-274320">
              <a:spcAft>
                <a:spcPts val="990"/>
              </a:spcAft>
              <a:buClr>
                <a:srgbClr val="0645AD"/>
              </a:buClr>
              <a:buFont typeface="Arial"/>
              <a:buChar char="•"/>
            </a:pPr>
            <a:r>
              <a:rPr sz="2200" b="0">
                <a:solidFill>
                  <a:srgbClr val="202122"/>
                </a:solidFill>
                <a:latin typeface="Calibri"/>
              </a:rPr>
              <a:t>Applications run directly on hardware</a:t>
            </a:r>
          </a:p>
          <a:p>
            <a:pPr marL="274320" indent="-274320">
              <a:spcAft>
                <a:spcPts val="990"/>
              </a:spcAft>
              <a:buClr>
                <a:srgbClr val="0645AD"/>
              </a:buClr>
              <a:buFont typeface="Arial"/>
              <a:buChar char="•"/>
            </a:pPr>
            <a:r>
              <a:rPr sz="2200" b="0">
                <a:solidFill>
                  <a:srgbClr val="202122"/>
                </a:solidFill>
                <a:latin typeface="Calibri"/>
              </a:rPr>
              <a:t>Full access to hardware resources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78727" y="1600200"/>
            <a:ext cx="5364327" cy="640080"/>
          </a:xfrm>
          <a:prstGeom prst="roundRect">
            <a:avLst>
              <a:gd name="adj" fmla="val 15000"/>
            </a:avLst>
          </a:prstGeom>
          <a:solidFill>
            <a:srgbClr val="0645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507327" y="1600200"/>
            <a:ext cx="4907127" cy="64008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2000" b="1" i="0">
                <a:solidFill>
                  <a:srgbClr val="FFFFFF"/>
                </a:solidFill>
                <a:latin typeface="Calibri"/>
              </a:rPr>
              <a:t>Virtualisation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78727" y="2377440"/>
            <a:ext cx="5364327" cy="3794760"/>
          </a:xfrm>
          <a:prstGeom prst="roundRect">
            <a:avLst>
              <a:gd name="adj" fmla="val 4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6553047" y="2606040"/>
            <a:ext cx="4815687" cy="3337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74320" indent="-274320">
              <a:spcAft>
                <a:spcPts val="990"/>
              </a:spcAft>
              <a:buClr>
                <a:srgbClr val="0645AD"/>
              </a:buClr>
              <a:buFont typeface="Arial"/>
              <a:buChar char="•"/>
            </a:pPr>
            <a:r>
              <a:rPr sz="2200" b="1">
                <a:solidFill>
                  <a:srgbClr val="202122"/>
                </a:solidFill>
                <a:latin typeface="Calibri"/>
              </a:rPr>
              <a:t>Virtual servers:</a:t>
            </a:r>
            <a:r>
              <a:rPr sz="2200" b="0">
                <a:solidFill>
                  <a:srgbClr val="202122"/>
                </a:solidFill>
                <a:latin typeface="Calibri"/>
              </a:rPr>
              <a:t> many isolated OS instances on one machine</a:t>
            </a:r>
          </a:p>
          <a:p>
            <a:pPr marL="274320" indent="-274320">
              <a:spcAft>
                <a:spcPts val="990"/>
              </a:spcAft>
              <a:buClr>
                <a:srgbClr val="0645AD"/>
              </a:buClr>
              <a:buFont typeface="Arial"/>
              <a:buChar char="•"/>
            </a:pPr>
            <a:r>
              <a:rPr sz="2200" b="1">
                <a:solidFill>
                  <a:srgbClr val="202122"/>
                </a:solidFill>
                <a:latin typeface="Calibri"/>
              </a:rPr>
              <a:t>Containers:</a:t>
            </a:r>
            <a:r>
              <a:rPr sz="2200" b="0">
                <a:solidFill>
                  <a:srgbClr val="202122"/>
                </a:solidFill>
                <a:latin typeface="Calibri"/>
              </a:rPr>
              <a:t> portable packages holding only what an app needs</a:t>
            </a:r>
          </a:p>
          <a:p>
            <a:pPr marL="274320" indent="-274320">
              <a:spcAft>
                <a:spcPts val="990"/>
              </a:spcAft>
              <a:buClr>
                <a:srgbClr val="0645AD"/>
              </a:buClr>
              <a:buFont typeface="Arial"/>
              <a:buChar char="•"/>
            </a:pPr>
            <a:r>
              <a:rPr sz="2200" b="0">
                <a:solidFill>
                  <a:srgbClr val="202122"/>
                </a:solidFill>
                <a:latin typeface="Calibri"/>
              </a:rPr>
              <a:t>Isolation adds security and portability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1" i="0">
                <a:solidFill>
                  <a:srgbClr val="54595D"/>
                </a:solidFill>
                <a:latin typeface="Calibri"/>
              </a:rPr>
              <a:t>CYBER SECURITY  ·  Cyber Security Content Area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3200" b="1" i="0">
                <a:solidFill>
                  <a:srgbClr val="03306E"/>
                </a:solidFill>
                <a:latin typeface="Cambria"/>
              </a:rPr>
              <a:t>Key terms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00" b="0" i="0">
                <a:solidFill>
                  <a:srgbClr val="54595D"/>
                </a:solidFill>
                <a:latin typeface="Calibri"/>
              </a:rPr>
              <a:t>Digital Support and Security T Level  ·  Secure Design and Layered Protection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/>
            <a:r>
              <a:rPr sz="1000" b="0" i="0">
                <a:solidFill>
                  <a:srgbClr val="54595D"/>
                </a:solidFill>
                <a:latin typeface="Calibri"/>
              </a:rPr>
              <a:t>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00200"/>
            <a:ext cx="5432907" cy="1371600"/>
          </a:xfrm>
          <a:prstGeom prst="roundRect">
            <a:avLst>
              <a:gd name="adj" fmla="val 8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777240" y="1691640"/>
            <a:ext cx="4975707" cy="118872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900" b="1" i="0">
                <a:solidFill>
                  <a:srgbClr val="03306E"/>
                </a:solidFill>
                <a:latin typeface="Calibri"/>
              </a:rPr>
              <a:t>Confidentiality</a:t>
            </a:r>
            <a:r>
              <a:rPr sz="1900">
                <a:solidFill>
                  <a:srgbClr val="202122"/>
                </a:solidFill>
                <a:latin typeface="Calibri"/>
              </a:rPr>
              <a:t>  access restricted to authorised users.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0147" y="1600200"/>
            <a:ext cx="5432907" cy="1371600"/>
          </a:xfrm>
          <a:prstGeom prst="roundRect">
            <a:avLst>
              <a:gd name="adj" fmla="val 8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6438747" y="1691640"/>
            <a:ext cx="4975707" cy="118872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900" b="1" i="0">
                <a:solidFill>
                  <a:srgbClr val="03306E"/>
                </a:solidFill>
                <a:latin typeface="Calibri"/>
              </a:rPr>
              <a:t>Integrity</a:t>
            </a:r>
            <a:r>
              <a:rPr sz="1900">
                <a:solidFill>
                  <a:srgbClr val="202122"/>
                </a:solidFill>
                <a:latin typeface="Calibri"/>
              </a:rPr>
              <a:t>  data cannot be changed without authorisation.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3200400"/>
            <a:ext cx="5432907" cy="1371600"/>
          </a:xfrm>
          <a:prstGeom prst="roundRect">
            <a:avLst>
              <a:gd name="adj" fmla="val 8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777240" y="3291840"/>
            <a:ext cx="4975707" cy="118872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900" b="1" i="0">
                <a:solidFill>
                  <a:srgbClr val="03306E"/>
                </a:solidFill>
                <a:latin typeface="Calibri"/>
              </a:rPr>
              <a:t>Availability</a:t>
            </a:r>
            <a:r>
              <a:rPr sz="1900">
                <a:solidFill>
                  <a:srgbClr val="202122"/>
                </a:solidFill>
                <a:latin typeface="Calibri"/>
              </a:rPr>
              <a:t>  authorised users can access data when needed.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0147" y="3200400"/>
            <a:ext cx="5432907" cy="1371600"/>
          </a:xfrm>
          <a:prstGeom prst="roundRect">
            <a:avLst>
              <a:gd name="adj" fmla="val 8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6438747" y="3291840"/>
            <a:ext cx="4975707" cy="118872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900" b="1" i="0">
                <a:solidFill>
                  <a:srgbClr val="03306E"/>
                </a:solidFill>
                <a:latin typeface="Calibri"/>
              </a:rPr>
              <a:t>IAAA</a:t>
            </a:r>
            <a:r>
              <a:rPr sz="1900">
                <a:solidFill>
                  <a:srgbClr val="202122"/>
                </a:solidFill>
                <a:latin typeface="Calibri"/>
              </a:rPr>
              <a:t>  identification, authentication, authorisation, accountability.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4800600"/>
            <a:ext cx="5432907" cy="1371600"/>
          </a:xfrm>
          <a:prstGeom prst="roundRect">
            <a:avLst>
              <a:gd name="adj" fmla="val 8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777240" y="4892040"/>
            <a:ext cx="4975707" cy="118872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900" b="1" i="0">
                <a:solidFill>
                  <a:srgbClr val="03306E"/>
                </a:solidFill>
                <a:latin typeface="Calibri"/>
              </a:rPr>
              <a:t>Defence in depth</a:t>
            </a:r>
            <a:r>
              <a:rPr sz="1900">
                <a:solidFill>
                  <a:srgbClr val="202122"/>
                </a:solidFill>
                <a:latin typeface="Calibri"/>
              </a:rPr>
              <a:t>  layered security so one failure does not compromise everything.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10147" y="4800600"/>
            <a:ext cx="5432907" cy="1371600"/>
          </a:xfrm>
          <a:prstGeom prst="roundRect">
            <a:avLst>
              <a:gd name="adj" fmla="val 8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6438747" y="4892040"/>
            <a:ext cx="4975707" cy="118872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900" b="1" i="0">
                <a:solidFill>
                  <a:srgbClr val="03306E"/>
                </a:solidFill>
                <a:latin typeface="Calibri"/>
              </a:rPr>
              <a:t>Assurance</a:t>
            </a:r>
            <a:r>
              <a:rPr sz="1900">
                <a:solidFill>
                  <a:srgbClr val="202122"/>
                </a:solidFill>
                <a:latin typeface="Calibri"/>
              </a:rPr>
              <a:t>  confirming that security requirements have actually been met.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1" i="0">
                <a:solidFill>
                  <a:srgbClr val="54595D"/>
                </a:solidFill>
                <a:latin typeface="Calibri"/>
              </a:rPr>
              <a:t>CYBER SECURITY  ·  Cyber Security Content Area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3200" b="1" i="0">
                <a:solidFill>
                  <a:srgbClr val="03306E"/>
                </a:solidFill>
                <a:latin typeface="Cambria"/>
              </a:rPr>
              <a:t>Check your understanding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00" b="0" i="0">
                <a:solidFill>
                  <a:srgbClr val="54595D"/>
                </a:solidFill>
                <a:latin typeface="Calibri"/>
              </a:rPr>
              <a:t>Digital Support and Security T Level  ·  Secure Design and Layered Protection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/>
            <a:r>
              <a:rPr sz="1000" b="0" i="0">
                <a:solidFill>
                  <a:srgbClr val="54595D"/>
                </a:solidFill>
                <a:latin typeface="Calibri"/>
              </a:rPr>
              <a:t>8</a:t>
            </a:r>
          </a:p>
        </p:txBody>
      </p:sp>
      <p:sp>
        <p:nvSpPr>
          <p:cNvPr id="6" name="Oval 5"/>
          <p:cNvSpPr/>
          <p:nvPr/>
        </p:nvSpPr>
        <p:spPr>
          <a:xfrm>
            <a:off x="548640" y="1618488"/>
            <a:ext cx="411480" cy="411480"/>
          </a:xfrm>
          <a:prstGeom prst="ellipse">
            <a:avLst/>
          </a:prstGeom>
          <a:solidFill>
            <a:srgbClr val="E046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34440" y="1600200"/>
            <a:ext cx="10408615" cy="79187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200" b="0" i="0">
                <a:solidFill>
                  <a:srgbClr val="202122"/>
                </a:solidFill>
                <a:latin typeface="Calibri"/>
              </a:rPr>
              <a:t>What does segmentation limit?</a:t>
            </a:r>
          </a:p>
        </p:txBody>
      </p:sp>
      <p:sp>
        <p:nvSpPr>
          <p:cNvPr id="8" name="Oval 7"/>
          <p:cNvSpPr/>
          <p:nvPr/>
        </p:nvSpPr>
        <p:spPr>
          <a:xfrm>
            <a:off x="548640" y="2574950"/>
            <a:ext cx="411480" cy="411480"/>
          </a:xfrm>
          <a:prstGeom prst="ellipse">
            <a:avLst/>
          </a:prstGeom>
          <a:solidFill>
            <a:srgbClr val="E046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2556662"/>
            <a:ext cx="10408615" cy="79187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200" b="0" i="0">
                <a:solidFill>
                  <a:srgbClr val="202122"/>
                </a:solidFill>
                <a:latin typeface="Calibri"/>
              </a:rPr>
              <a:t>What is zero trust?</a:t>
            </a:r>
          </a:p>
        </p:txBody>
      </p:sp>
      <p:sp>
        <p:nvSpPr>
          <p:cNvPr id="10" name="Oval 9"/>
          <p:cNvSpPr/>
          <p:nvPr/>
        </p:nvSpPr>
        <p:spPr>
          <a:xfrm>
            <a:off x="548640" y="3531412"/>
            <a:ext cx="411480" cy="411480"/>
          </a:xfrm>
          <a:prstGeom prst="ellipse">
            <a:avLst/>
          </a:prstGeom>
          <a:solidFill>
            <a:srgbClr val="E046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34440" y="3513124"/>
            <a:ext cx="10408615" cy="79187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200" b="0" i="0">
                <a:solidFill>
                  <a:srgbClr val="202122"/>
                </a:solidFill>
                <a:latin typeface="Calibri"/>
              </a:rPr>
              <a:t>Where would you look for configuration evidence on a Windows PC?</a:t>
            </a:r>
          </a:p>
        </p:txBody>
      </p:sp>
      <p:sp>
        <p:nvSpPr>
          <p:cNvPr id="12" name="Oval 11"/>
          <p:cNvSpPr/>
          <p:nvPr/>
        </p:nvSpPr>
        <p:spPr>
          <a:xfrm>
            <a:off x="548640" y="4487875"/>
            <a:ext cx="411480" cy="411480"/>
          </a:xfrm>
          <a:prstGeom prst="ellipse">
            <a:avLst/>
          </a:prstGeom>
          <a:solidFill>
            <a:srgbClr val="E046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34440" y="4469587"/>
            <a:ext cx="10408615" cy="79187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200" b="0" i="0">
                <a:solidFill>
                  <a:srgbClr val="202122"/>
                </a:solidFill>
                <a:latin typeface="Calibri"/>
              </a:rPr>
              <a:t>What is a container?</a:t>
            </a:r>
          </a:p>
        </p:txBody>
      </p:sp>
      <p:sp>
        <p:nvSpPr>
          <p:cNvPr id="14" name="Oval 13"/>
          <p:cNvSpPr/>
          <p:nvPr/>
        </p:nvSpPr>
        <p:spPr>
          <a:xfrm>
            <a:off x="548640" y="5444337"/>
            <a:ext cx="411480" cy="411480"/>
          </a:xfrm>
          <a:prstGeom prst="ellipse">
            <a:avLst/>
          </a:prstGeom>
          <a:solidFill>
            <a:srgbClr val="E046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34440" y="5426049"/>
            <a:ext cx="10408615" cy="79187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200" b="0" i="0">
                <a:solidFill>
                  <a:srgbClr val="202122"/>
                </a:solidFill>
                <a:latin typeface="Calibri"/>
              </a:rPr>
              <a:t>Define defence in depth.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1" i="0">
                <a:solidFill>
                  <a:srgbClr val="54595D"/>
                </a:solidFill>
                <a:latin typeface="Calibri"/>
              </a:rPr>
              <a:t>CYBER SECURITY  ·  Cyber Security Content Area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3200" b="1" i="0">
                <a:solidFill>
                  <a:srgbClr val="03306E"/>
                </a:solidFill>
                <a:latin typeface="Cambria"/>
              </a:rPr>
              <a:t>Answers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00" b="0" i="0">
                <a:solidFill>
                  <a:srgbClr val="54595D"/>
                </a:solidFill>
                <a:latin typeface="Calibri"/>
              </a:rPr>
              <a:t>Digital Support and Security T Level  ·  Secure Design and Layered Protection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/>
            <a:r>
              <a:rPr sz="1000" b="0" i="0">
                <a:solidFill>
                  <a:srgbClr val="54595D"/>
                </a:solidFill>
                <a:latin typeface="Calibri"/>
              </a:rPr>
              <a:t>9</a:t>
            </a:r>
          </a:p>
        </p:txBody>
      </p:sp>
      <p:sp>
        <p:nvSpPr>
          <p:cNvPr id="6" name="Oval 5"/>
          <p:cNvSpPr/>
          <p:nvPr/>
        </p:nvSpPr>
        <p:spPr>
          <a:xfrm>
            <a:off x="548640" y="1618488"/>
            <a:ext cx="411480" cy="411480"/>
          </a:xfrm>
          <a:prstGeom prst="ellipse">
            <a:avLst/>
          </a:prstGeom>
          <a:solidFill>
            <a:srgbClr val="E046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34440" y="1600200"/>
            <a:ext cx="10408615" cy="79187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800" b="0" i="0">
                <a:solidFill>
                  <a:srgbClr val="54595D"/>
                </a:solidFill>
                <a:latin typeface="Calibri"/>
              </a:rPr>
              <a:t>What does segmentation limit?</a:t>
            </a:r>
          </a:p>
          <a:p>
            <a:r>
              <a:rPr sz="1800" b="1">
                <a:solidFill>
                  <a:srgbClr val="03306E"/>
                </a:solidFill>
                <a:latin typeface="Calibri"/>
              </a:rPr>
              <a:t>Lateral movement of attackers or malware.</a:t>
            </a:r>
          </a:p>
        </p:txBody>
      </p:sp>
      <p:sp>
        <p:nvSpPr>
          <p:cNvPr id="8" name="Oval 7"/>
          <p:cNvSpPr/>
          <p:nvPr/>
        </p:nvSpPr>
        <p:spPr>
          <a:xfrm>
            <a:off x="548640" y="2574950"/>
            <a:ext cx="411480" cy="411480"/>
          </a:xfrm>
          <a:prstGeom prst="ellipse">
            <a:avLst/>
          </a:prstGeom>
          <a:solidFill>
            <a:srgbClr val="E046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2556662"/>
            <a:ext cx="10408615" cy="79187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800" b="0" i="0">
                <a:solidFill>
                  <a:srgbClr val="54595D"/>
                </a:solidFill>
                <a:latin typeface="Calibri"/>
              </a:rPr>
              <a:t>What is zero trust?</a:t>
            </a:r>
          </a:p>
          <a:p>
            <a:r>
              <a:rPr sz="1800" b="1">
                <a:solidFill>
                  <a:srgbClr val="03306E"/>
                </a:solidFill>
                <a:latin typeface="Calibri"/>
              </a:rPr>
              <a:t>Never trusting any user or device by default, even inside the network.</a:t>
            </a:r>
          </a:p>
        </p:txBody>
      </p:sp>
      <p:sp>
        <p:nvSpPr>
          <p:cNvPr id="10" name="Oval 9"/>
          <p:cNvSpPr/>
          <p:nvPr/>
        </p:nvSpPr>
        <p:spPr>
          <a:xfrm>
            <a:off x="548640" y="3531412"/>
            <a:ext cx="411480" cy="411480"/>
          </a:xfrm>
          <a:prstGeom prst="ellipse">
            <a:avLst/>
          </a:prstGeom>
          <a:solidFill>
            <a:srgbClr val="E046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34440" y="3513124"/>
            <a:ext cx="10408615" cy="79187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800" b="0" i="0">
                <a:solidFill>
                  <a:srgbClr val="54595D"/>
                </a:solidFill>
                <a:latin typeface="Calibri"/>
              </a:rPr>
              <a:t>Where would you look for configuration evidence on a Windows PC?</a:t>
            </a:r>
          </a:p>
          <a:p>
            <a:r>
              <a:rPr sz="1800" b="1">
                <a:solidFill>
                  <a:srgbClr val="03306E"/>
                </a:solidFill>
                <a:latin typeface="Calibri"/>
              </a:rPr>
              <a:t>The registry.</a:t>
            </a:r>
          </a:p>
        </p:txBody>
      </p:sp>
      <p:sp>
        <p:nvSpPr>
          <p:cNvPr id="12" name="Oval 11"/>
          <p:cNvSpPr/>
          <p:nvPr/>
        </p:nvSpPr>
        <p:spPr>
          <a:xfrm>
            <a:off x="548640" y="4487875"/>
            <a:ext cx="411480" cy="411480"/>
          </a:xfrm>
          <a:prstGeom prst="ellipse">
            <a:avLst/>
          </a:prstGeom>
          <a:solidFill>
            <a:srgbClr val="E046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34440" y="4469587"/>
            <a:ext cx="10408615" cy="79187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800" b="0" i="0">
                <a:solidFill>
                  <a:srgbClr val="54595D"/>
                </a:solidFill>
                <a:latin typeface="Calibri"/>
              </a:rPr>
              <a:t>What is a container?</a:t>
            </a:r>
          </a:p>
          <a:p>
            <a:r>
              <a:rPr sz="1800" b="1">
                <a:solidFill>
                  <a:srgbClr val="03306E"/>
                </a:solidFill>
                <a:latin typeface="Calibri"/>
              </a:rPr>
              <a:t>An isolated, portable package holding only what an application needs to run.</a:t>
            </a:r>
          </a:p>
        </p:txBody>
      </p:sp>
      <p:sp>
        <p:nvSpPr>
          <p:cNvPr id="14" name="Oval 13"/>
          <p:cNvSpPr/>
          <p:nvPr/>
        </p:nvSpPr>
        <p:spPr>
          <a:xfrm>
            <a:off x="548640" y="5444337"/>
            <a:ext cx="411480" cy="411480"/>
          </a:xfrm>
          <a:prstGeom prst="ellipse">
            <a:avLst/>
          </a:prstGeom>
          <a:solidFill>
            <a:srgbClr val="E046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34440" y="5426049"/>
            <a:ext cx="10408615" cy="79187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800" b="0" i="0">
                <a:solidFill>
                  <a:srgbClr val="54595D"/>
                </a:solidFill>
                <a:latin typeface="Calibri"/>
              </a:rPr>
              <a:t>Define defence in depth.</a:t>
            </a:r>
          </a:p>
          <a:p>
            <a:r>
              <a:rPr sz="1800" b="1">
                <a:solidFill>
                  <a:srgbClr val="03306E"/>
                </a:solidFill>
                <a:latin typeface="Calibri"/>
              </a:rPr>
              <a:t>Layered security so a single failure does not compromise the whole system.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1" i="0">
                <a:solidFill>
                  <a:srgbClr val="54595D"/>
                </a:solidFill>
                <a:latin typeface="Calibri"/>
              </a:rPr>
              <a:t>CYBER SECURITY  ·  Cyber Security Content Area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3200" b="1" i="0">
                <a:solidFill>
                  <a:srgbClr val="03306E"/>
                </a:solidFill>
                <a:latin typeface="Cambria"/>
              </a:rPr>
              <a:t>Activity: Layer up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00" b="0" i="0">
                <a:solidFill>
                  <a:srgbClr val="54595D"/>
                </a:solidFill>
                <a:latin typeface="Calibri"/>
              </a:rPr>
              <a:t>Digital Support and Security T Level  ·  Secure Design and Layered Protection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/>
            <a:r>
              <a:rPr sz="1000" b="0" i="0">
                <a:solidFill>
                  <a:srgbClr val="54595D"/>
                </a:solidFill>
                <a:latin typeface="Calibri"/>
              </a:rPr>
              <a:t>10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508760"/>
            <a:ext cx="2011680" cy="457200"/>
          </a:xfrm>
          <a:prstGeom prst="roundRect">
            <a:avLst>
              <a:gd name="adj" fmla="val 50000"/>
            </a:avLst>
          </a:prstGeom>
          <a:solidFill>
            <a:srgbClr val="E046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548640" y="1508760"/>
            <a:ext cx="2011680" cy="45720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25 minutes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0" y="1508760"/>
            <a:ext cx="4754880" cy="45720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400" b="0" i="1">
                <a:solidFill>
                  <a:srgbClr val="54595D"/>
                </a:solidFill>
                <a:latin typeface="Calibri"/>
              </a:rPr>
              <a:t>Small groups</a:t>
            </a:r>
          </a:p>
        </p:txBody>
      </p:sp>
      <p:sp>
        <p:nvSpPr>
          <p:cNvPr id="9" name="Oval 8"/>
          <p:cNvSpPr/>
          <p:nvPr/>
        </p:nvSpPr>
        <p:spPr>
          <a:xfrm>
            <a:off x="548640" y="2482596"/>
            <a:ext cx="384048" cy="384048"/>
          </a:xfrm>
          <a:prstGeom prst="ellipse">
            <a:avLst/>
          </a:prstGeom>
          <a:solidFill>
            <a:srgbClr val="0645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" y="2240280"/>
            <a:ext cx="5943600" cy="86868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700" b="0" i="0">
                <a:solidFill>
                  <a:srgbClr val="202122"/>
                </a:solidFill>
                <a:latin typeface="Calibri"/>
              </a:rPr>
              <a:t>Draw a simple network for a GP surgery: reception PCs, a server, Wi-Fi and cloud records.</a:t>
            </a:r>
          </a:p>
        </p:txBody>
      </p:sp>
      <p:sp>
        <p:nvSpPr>
          <p:cNvPr id="11" name="Oval 10"/>
          <p:cNvSpPr/>
          <p:nvPr/>
        </p:nvSpPr>
        <p:spPr>
          <a:xfrm>
            <a:off x="548640" y="3461004"/>
            <a:ext cx="384048" cy="384048"/>
          </a:xfrm>
          <a:prstGeom prst="ellipse">
            <a:avLst/>
          </a:prstGeom>
          <a:solidFill>
            <a:srgbClr val="0645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43000" y="3218688"/>
            <a:ext cx="5943600" cy="86868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700" b="0" i="0">
                <a:solidFill>
                  <a:srgbClr val="202122"/>
                </a:solidFill>
                <a:latin typeface="Calibri"/>
              </a:rPr>
              <a:t>Add at least one protection at each of the five layers.</a:t>
            </a:r>
          </a:p>
        </p:txBody>
      </p:sp>
      <p:sp>
        <p:nvSpPr>
          <p:cNvPr id="13" name="Oval 12"/>
          <p:cNvSpPr/>
          <p:nvPr/>
        </p:nvSpPr>
        <p:spPr>
          <a:xfrm>
            <a:off x="548640" y="4439412"/>
            <a:ext cx="384048" cy="384048"/>
          </a:xfrm>
          <a:prstGeom prst="ellipse">
            <a:avLst/>
          </a:prstGeom>
          <a:solidFill>
            <a:srgbClr val="0645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43000" y="4197096"/>
            <a:ext cx="5943600" cy="86868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700" b="0" i="0">
                <a:solidFill>
                  <a:srgbClr val="202122"/>
                </a:solidFill>
                <a:latin typeface="Calibri"/>
              </a:rPr>
              <a:t>Mark where logs would be collected.</a:t>
            </a:r>
          </a:p>
        </p:txBody>
      </p:sp>
      <p:sp>
        <p:nvSpPr>
          <p:cNvPr id="15" name="Oval 14"/>
          <p:cNvSpPr/>
          <p:nvPr/>
        </p:nvSpPr>
        <p:spPr>
          <a:xfrm>
            <a:off x="548640" y="5417820"/>
            <a:ext cx="384048" cy="384048"/>
          </a:xfrm>
          <a:prstGeom prst="ellipse">
            <a:avLst/>
          </a:prstGeom>
          <a:solidFill>
            <a:srgbClr val="0645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43000" y="5175504"/>
            <a:ext cx="5943600" cy="86868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700" b="0" i="0">
                <a:solidFill>
                  <a:srgbClr val="202122"/>
                </a:solidFill>
                <a:latin typeface="Calibri"/>
              </a:rPr>
              <a:t>Explain how an attacker who phishes a receptionist would be stopped or detected.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72400" y="1508760"/>
            <a:ext cx="3867912" cy="4572000"/>
          </a:xfrm>
          <a:prstGeom prst="roundRect">
            <a:avLst>
              <a:gd name="adj" fmla="val 8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046720" y="1737360"/>
            <a:ext cx="3291840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300" b="1" i="0">
                <a:solidFill>
                  <a:srgbClr val="0645AD"/>
                </a:solidFill>
                <a:latin typeface="Calibri"/>
              </a:rPr>
              <a:t>SUCCESS CRITERIA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46720" y="2240280"/>
            <a:ext cx="3337560" cy="3657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74320" indent="-274320">
              <a:spcAft>
                <a:spcPts val="810"/>
              </a:spcAft>
              <a:buClr>
                <a:srgbClr val="0645AD"/>
              </a:buClr>
              <a:buFont typeface="Arial"/>
              <a:buChar char="•"/>
            </a:pPr>
            <a:r>
              <a:rPr sz="1800" b="0">
                <a:solidFill>
                  <a:srgbClr val="202122"/>
                </a:solidFill>
                <a:latin typeface="Calibri"/>
              </a:rPr>
              <a:t>All five layers protected</a:t>
            </a:r>
          </a:p>
          <a:p>
            <a:pPr marL="274320" indent="-274320">
              <a:spcAft>
                <a:spcPts val="810"/>
              </a:spcAft>
              <a:buClr>
                <a:srgbClr val="0645AD"/>
              </a:buClr>
              <a:buFont typeface="Arial"/>
              <a:buChar char="•"/>
            </a:pPr>
            <a:r>
              <a:rPr sz="1800" b="0">
                <a:solidFill>
                  <a:srgbClr val="202122"/>
                </a:solidFill>
                <a:latin typeface="Calibri"/>
              </a:rPr>
              <a:t>Logging separate from operational systems</a:t>
            </a:r>
          </a:p>
          <a:p>
            <a:pPr marL="274320" indent="-274320">
              <a:spcAft>
                <a:spcPts val="810"/>
              </a:spcAft>
              <a:buClr>
                <a:srgbClr val="0645AD"/>
              </a:buClr>
              <a:buFont typeface="Arial"/>
              <a:buChar char="•"/>
            </a:pPr>
            <a:r>
              <a:rPr sz="1800" b="0">
                <a:solidFill>
                  <a:srgbClr val="202122"/>
                </a:solidFill>
                <a:latin typeface="Calibri"/>
              </a:rPr>
              <a:t>Attack path clearly explained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3306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1" i="0">
                <a:solidFill>
                  <a:srgbClr val="A9C8F0"/>
                </a:solidFill>
                <a:latin typeface="Calibri"/>
              </a:rPr>
              <a:t>CYBER SECURITY  ·  Cyber Security Content Area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3200" b="1" i="0">
                <a:solidFill>
                  <a:srgbClr val="FFFFFF"/>
                </a:solidFill>
                <a:latin typeface="Cambria"/>
              </a:rPr>
              <a:t>Exit ticket</a:t>
            </a:r>
          </a:p>
        </p:txBody>
      </p:sp>
      <p:sp>
        <p:nvSpPr>
          <p:cNvPr id="4" name="Oval 3"/>
          <p:cNvSpPr/>
          <p:nvPr/>
        </p:nvSpPr>
        <p:spPr>
          <a:xfrm>
            <a:off x="548640" y="1737360"/>
            <a:ext cx="502920" cy="502920"/>
          </a:xfrm>
          <a:prstGeom prst="ellipse">
            <a:avLst/>
          </a:prstGeom>
          <a:solidFill>
            <a:srgbClr val="E046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7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25880" y="1645920"/>
            <a:ext cx="6583680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2000" b="0" i="0">
                <a:solidFill>
                  <a:srgbClr val="FFFFFF"/>
                </a:solidFill>
                <a:latin typeface="Calibri"/>
              </a:rPr>
              <a:t>Which secure design aim does network segmentation support?</a:t>
            </a:r>
          </a:p>
        </p:txBody>
      </p:sp>
      <p:sp>
        <p:nvSpPr>
          <p:cNvPr id="6" name="Oval 5"/>
          <p:cNvSpPr/>
          <p:nvPr/>
        </p:nvSpPr>
        <p:spPr>
          <a:xfrm>
            <a:off x="548640" y="2697480"/>
            <a:ext cx="502920" cy="502920"/>
          </a:xfrm>
          <a:prstGeom prst="ellipse">
            <a:avLst/>
          </a:prstGeom>
          <a:solidFill>
            <a:srgbClr val="E046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7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25880" y="2606040"/>
            <a:ext cx="6583680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2000" b="0" i="0">
                <a:solidFill>
                  <a:srgbClr val="FFFFFF"/>
                </a:solidFill>
                <a:latin typeface="Calibri"/>
              </a:rPr>
              <a:t>Name one file system and the OS that uses it.</a:t>
            </a:r>
          </a:p>
        </p:txBody>
      </p:sp>
      <p:sp>
        <p:nvSpPr>
          <p:cNvPr id="8" name="Oval 7"/>
          <p:cNvSpPr/>
          <p:nvPr/>
        </p:nvSpPr>
        <p:spPr>
          <a:xfrm>
            <a:off x="548640" y="3657600"/>
            <a:ext cx="502920" cy="502920"/>
          </a:xfrm>
          <a:prstGeom prst="ellipse">
            <a:avLst/>
          </a:prstGeom>
          <a:solidFill>
            <a:srgbClr val="E046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7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25880" y="3566160"/>
            <a:ext cx="6583680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2000" b="0" i="0">
                <a:solidFill>
                  <a:srgbClr val="FFFFFF"/>
                </a:solidFill>
                <a:latin typeface="Calibri"/>
              </a:rPr>
              <a:t>Why keep monitoring systems separate from operational ones?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0" y="1645920"/>
            <a:ext cx="3410712" cy="2926080"/>
          </a:xfrm>
          <a:prstGeom prst="roundRect">
            <a:avLst>
              <a:gd name="adj" fmla="val 8000"/>
            </a:avLst>
          </a:prstGeom>
          <a:solidFill>
            <a:srgbClr val="0645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8503920" y="1874519"/>
            <a:ext cx="2926080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300" b="1" i="0">
                <a:solidFill>
                  <a:srgbClr val="A9C8F0"/>
                </a:solidFill>
                <a:latin typeface="Calibri"/>
              </a:rPr>
              <a:t>REVISE THIS TOPIC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03920" y="2286000"/>
            <a:ext cx="2926080" cy="54864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Revision notes for this lesson are on the study wiki: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03920" y="2926080"/>
            <a:ext cx="2926080" cy="146304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000" b="1" i="0">
                <a:solidFill>
                  <a:srgbClr val="FFFFFF"/>
                </a:solidFill>
                <a:latin typeface="Cambria"/>
              </a:rPr>
              <a:t>Cyber Security - Security Procedures and Controls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5669280"/>
            <a:ext cx="11094415" cy="54864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200" b="0" i="0">
                <a:solidFill>
                  <a:srgbClr val="A9C8F0"/>
                </a:solidFill>
                <a:latin typeface="Calibri"/>
              </a:rPr>
              <a:t>https://lana6478.github.io/Digital-Suport-and-security-T-levle/#/02-occupational-specialisms/cyber-security/01-security-procedures-and-controls.md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Secure Design and Layered Protection</dc:title>
  <dc:subject>Digital Support and Security T Level: Cyber Security Content Area 1</dc:subject>
  <dc:creator>Samuel O'Connell</dc:creator>
  <cp:keywords>T Level; Digital Support and Security; lesson slides; 1.3, 1.4, 1.5, 1.6, 1.23</cp:keywords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