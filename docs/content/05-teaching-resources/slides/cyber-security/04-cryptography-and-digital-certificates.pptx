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When transmitting data: identify its CIA requirements, use asymmetric encryption to prevent eavesdropping, and verify it with these cryptographic properties.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Give students a few minutes to answer on mini whiteboards or paper, then reveal the answers on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Talk through any answers the class found difficult.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answer on a sticky note or in the chat before leaving.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1005840"/>
            <a:ext cx="3291840" cy="3291840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Oval 2"/>
          <p:cNvSpPr/>
          <p:nvPr/>
        </p:nvSpPr>
        <p:spPr>
          <a:xfrm>
            <a:off x="9966960" y="3200400"/>
            <a:ext cx="2377440" cy="237744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Oval 3"/>
          <p:cNvSpPr/>
          <p:nvPr/>
        </p:nvSpPr>
        <p:spPr>
          <a:xfrm>
            <a:off x="8138160" y="4023360"/>
            <a:ext cx="1371600" cy="1371600"/>
          </a:xfrm>
          <a:prstGeom prst="ellipse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1" i="0">
                <a:solidFill>
                  <a:srgbClr val="E0463A"/>
                </a:solidFill>
                <a:latin typeface="Calibri"/>
              </a:rPr>
              <a:t>CYBER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7315200" cy="2286000"/>
          </a:xfrm>
          <a:prstGeom prst="rect">
            <a:avLst/>
          </a:prstGeom>
          <a:noFill/>
        </p:spPr>
        <p:txBody>
          <a:bodyPr wrap="square" anchor="b" lIns="0" rIns="0" tIns="0" bIns="0"/>
          <a:lstStyle/>
          <a:p>
            <a:pPr algn="l"/>
            <a:r>
              <a:rPr sz="4400" b="1" i="0">
                <a:solidFill>
                  <a:srgbClr val="FFFFFF"/>
                </a:solidFill>
                <a:latin typeface="Cambria"/>
              </a:rPr>
              <a:t>Cryptography and Digital Certificates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404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A9C8F0"/>
                </a:solidFill>
                <a:latin typeface="Calibri"/>
              </a:rPr>
              <a:t>Cyber Security Content Areas 1 and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29768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A9C8F0"/>
                </a:solidFill>
                <a:latin typeface="Calibri"/>
              </a:rPr>
              <a:t>Specification reference: 1.9, 1.17 to 1.20, 2.22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760720"/>
            <a:ext cx="7498079" cy="6400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Digital Support and Security T Level  ·  Lesson slides</a:t>
            </a:r>
          </a:p>
          <a:p>
            <a:pPr algn="l"/>
            <a:r>
              <a:rPr sz="1100" b="0" i="0">
                <a:solidFill>
                  <a:srgbClr val="A9C8F0"/>
                </a:solidFill>
                <a:latin typeface="Calibri"/>
              </a:rPr>
              <a:t>Unofficial teaching resource. Check the official Pearson specification for assessment detail.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23456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01168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Explain the purpose and characteristics of cryptography, including hashing.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7469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051810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Compare symmetric and asymmetric encryption and where each is used.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314825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09193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digital certificates, their features and types.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5354954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132069"/>
            <a:ext cx="6035040" cy="902969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Describe how a certificate is generated and managed.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0" y="1508760"/>
            <a:ext cx="3867912" cy="452628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STARTER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194560"/>
            <a:ext cx="3291840" cy="3657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03306E"/>
                </a:solidFill>
                <a:latin typeface="Cambria"/>
              </a:rPr>
              <a:t>Why does a website show a padlock? What do you think it actually proves?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What cryptography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Confidentiality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Only intended recipients can decrypt the data.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160020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6461607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55967" y="180136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Integrity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246888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Data cannot be changed in transit without detection (HMAC).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777240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Authenticity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recipient can verify the sender with a digital signature.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33007" y="4023360"/>
            <a:ext cx="5410047" cy="214884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6461607" y="425196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55967" y="4224528"/>
            <a:ext cx="4404207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Non-repudiation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4892040"/>
            <a:ext cx="4952847" cy="11430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The sender cannot deny writing the message (MAC).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Encryption and hashing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Encryption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Reversible with the right key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Symmetric:</a:t>
            </a:r>
            <a:r>
              <a:rPr sz="2200" b="0">
                <a:solidFill>
                  <a:srgbClr val="202122"/>
                </a:solidFill>
                <a:latin typeface="Calibri"/>
              </a:rPr>
              <a:t> one shared key, fast, e.g. card payments and data at rest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Asymmetric:</a:t>
            </a:r>
            <a:r>
              <a:rPr sz="2200" b="0">
                <a:solidFill>
                  <a:srgbClr val="202122"/>
                </a:solidFill>
                <a:latin typeface="Calibri"/>
              </a:rPr>
              <a:t> public and private key pair, e.g. email and TLS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Hashing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One way:</a:t>
            </a:r>
            <a:r>
              <a:rPr sz="2200" b="0">
                <a:solidFill>
                  <a:srgbClr val="202122"/>
                </a:solidFill>
                <a:latin typeface="Calibri"/>
              </a:rPr>
              <a:t> cannot be reversed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Fixed-length output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Used to store passwords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Any change to the input changes the hash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Encryption tools as risk mitigation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3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Data in transit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22959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TLS:</a:t>
            </a:r>
            <a:r>
              <a:rPr sz="2200" b="0">
                <a:solidFill>
                  <a:srgbClr val="202122"/>
                </a:solidFill>
                <a:latin typeface="Calibri"/>
              </a:rPr>
              <a:t> end-to-end encryption for email, web and messaging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SSL:</a:t>
            </a:r>
            <a:r>
              <a:rPr sz="2200" b="0">
                <a:solidFill>
                  <a:srgbClr val="202122"/>
                </a:solidFill>
                <a:latin typeface="Calibri"/>
              </a:rPr>
              <a:t> the legacy protocol TLS replaced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Both rely on asymmetric encryption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600200"/>
            <a:ext cx="5364327" cy="640080"/>
          </a:xfrm>
          <a:prstGeom prst="roundRect">
            <a:avLst>
              <a:gd name="adj" fmla="val 15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07327" y="1600200"/>
            <a:ext cx="4907127" cy="6400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Data at rest (DARE)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2377440"/>
            <a:ext cx="5364327" cy="3794760"/>
          </a:xfrm>
          <a:prstGeom prst="roundRect">
            <a:avLst>
              <a:gd name="adj" fmla="val 4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4815687" cy="3337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Full Disk Encryption (FDE):</a:t>
            </a:r>
            <a:r>
              <a:rPr sz="2200" b="0">
                <a:solidFill>
                  <a:srgbClr val="202122"/>
                </a:solidFill>
                <a:latin typeface="Calibri"/>
              </a:rPr>
              <a:t> protects a stolen laptop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1">
                <a:solidFill>
                  <a:srgbClr val="202122"/>
                </a:solidFill>
                <a:latin typeface="Calibri"/>
              </a:rPr>
              <a:t>File-Based Encryption (FBE):</a:t>
            </a:r>
            <a:r>
              <a:rPr sz="2200" b="0">
                <a:solidFill>
                  <a:srgbClr val="202122"/>
                </a:solidFill>
                <a:latin typeface="Calibri"/>
              </a:rPr>
              <a:t> protects individual files and folders</a:t>
            </a:r>
          </a:p>
          <a:p>
            <a:pPr marL="274320" indent="-274320">
              <a:spcAft>
                <a:spcPts val="990"/>
              </a:spcAft>
              <a:buClr>
                <a:srgbClr val="0645AD"/>
              </a:buClr>
              <a:buFont typeface="Arial"/>
              <a:buChar char="•"/>
            </a:pPr>
            <a:r>
              <a:rPr sz="2200" b="0">
                <a:solidFill>
                  <a:srgbClr val="202122"/>
                </a:solidFill>
                <a:latin typeface="Calibri"/>
              </a:rPr>
              <a:t>Both rely on symmetric encryption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Digital certificates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Purpose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Prove the authenticity of a device, server or user using asymmetric cryptography.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218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6818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1178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Features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Holder name, serial number, expiry date, holder's public key, issuer's signature.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7796" y="1600200"/>
            <a:ext cx="3515258" cy="4572000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6396" y="1828800"/>
            <a:ext cx="457200" cy="45720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50756" y="1801368"/>
            <a:ext cx="2509418" cy="512064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900" b="1" i="0">
                <a:solidFill>
                  <a:srgbClr val="03306E"/>
                </a:solidFill>
                <a:latin typeface="Calibri"/>
              </a:rPr>
              <a:t>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2468880"/>
            <a:ext cx="3058058" cy="35661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0" i="0">
                <a:solidFill>
                  <a:srgbClr val="202122"/>
                </a:solidFill>
                <a:latin typeface="Calibri"/>
              </a:rPr>
              <a:t>Server-side (client checks server), client-side (client proves itself), code signing (OS checks software).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Generating a certificate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1884006" y="2382012"/>
            <a:ext cx="8423681" cy="36576"/>
          </a:xfrm>
          <a:prstGeom prst="rect">
            <a:avLst/>
          </a:prstGeom>
          <a:solidFill>
            <a:srgbClr val="A9C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1563966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Key pair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Generate a public and private key.</a:t>
            </a:r>
          </a:p>
        </p:txBody>
      </p:sp>
      <p:sp>
        <p:nvSpPr>
          <p:cNvPr id="11" name="Oval 10"/>
          <p:cNvSpPr/>
          <p:nvPr/>
        </p:nvSpPr>
        <p:spPr>
          <a:xfrm>
            <a:off x="4371860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6533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CSR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56533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93693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Create a Certificate Signing Request.</a:t>
            </a:r>
          </a:p>
        </p:txBody>
      </p:sp>
      <p:sp>
        <p:nvSpPr>
          <p:cNvPr id="15" name="Oval 14"/>
          <p:cNvSpPr/>
          <p:nvPr/>
        </p:nvSpPr>
        <p:spPr>
          <a:xfrm>
            <a:off x="7179754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64427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CA signs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4427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301587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A trusted Certificate Authority issues and signs it.</a:t>
            </a:r>
          </a:p>
        </p:txBody>
      </p:sp>
      <p:sp>
        <p:nvSpPr>
          <p:cNvPr id="19" name="Oval 18"/>
          <p:cNvSpPr/>
          <p:nvPr/>
        </p:nvSpPr>
        <p:spPr>
          <a:xfrm>
            <a:off x="9987648" y="2080260"/>
            <a:ext cx="640080" cy="6400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72321" y="2857500"/>
            <a:ext cx="2670733" cy="7315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1700" b="1" i="0">
                <a:solidFill>
                  <a:srgbClr val="03306E"/>
                </a:solidFill>
                <a:latin typeface="Calibri"/>
              </a:rPr>
              <a:t>Install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72321" y="3634740"/>
            <a:ext cx="2670733" cy="1234439"/>
          </a:xfrm>
          <a:prstGeom prst="roundRect">
            <a:avLst>
              <a:gd name="adj" fmla="val 6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09481" y="3771900"/>
            <a:ext cx="2396413" cy="9601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202122"/>
                </a:solidFill>
                <a:latin typeface="Calibri"/>
              </a:rPr>
              <a:t>Install it on the server or client.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14350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600" b="0" i="1">
                <a:solidFill>
                  <a:srgbClr val="54595D"/>
                </a:solidFill>
                <a:latin typeface="Calibri"/>
              </a:rPr>
              <a:t>Management tools monitor expiry, revoke early, auto-renew, audit deployment and diagnose certificate problems.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Check your understanding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8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Why is hashing used for passwords rather than encryption?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Which type of encryption protects a stolen laptop's drive?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does a digital signature prove?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What is a CSR?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200" b="0" i="0">
                <a:solidFill>
                  <a:srgbClr val="202122"/>
                </a:solidFill>
                <a:latin typeface="Calibri"/>
              </a:rPr>
              <a:t>Name two features of a digital certificate.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Answers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9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618488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00200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Why is hashing used for passwords rather than encryption?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It is one way, so the stored hash cannot be turned back into the password.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574950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556662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Which type of encryption protects a stolen laptop's drive?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Symmetric, via full disk encryption.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531412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513124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does a digital signature prove?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The authenticity of the sender.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487875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4469587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What is a CSR?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 Certificate Signing Request sent to a Certificate Authority.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5444337"/>
            <a:ext cx="411480" cy="41148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5426049"/>
            <a:ext cx="10408615" cy="79187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800" b="0" i="0">
                <a:solidFill>
                  <a:srgbClr val="54595D"/>
                </a:solidFill>
                <a:latin typeface="Calibri"/>
              </a:rPr>
              <a:t>Name two features of a digital certificate.</a:t>
            </a:r>
          </a:p>
          <a:p>
            <a:r>
              <a:rPr sz="1800" b="1">
                <a:solidFill>
                  <a:srgbClr val="03306E"/>
                </a:solidFill>
                <a:latin typeface="Calibri"/>
              </a:rPr>
              <a:t>Any two of: holder name, serial number, expiry, public key, issuer signature.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54595D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03306E"/>
                </a:solidFill>
                <a:latin typeface="Cambria"/>
              </a:rPr>
              <a:t>Activity: Inspect and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000" b="0" i="0">
                <a:solidFill>
                  <a:srgbClr val="54595D"/>
                </a:solidFill>
                <a:latin typeface="Calibri"/>
              </a:rPr>
              <a:t>Digital Support and Security T Level  ·  Cryptography and Digital Certificates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/>
            <a:r>
              <a:rPr sz="1000" b="0" i="0">
                <a:solidFill>
                  <a:srgbClr val="54595D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0876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20116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 minutes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1508760"/>
            <a:ext cx="4754880" cy="45720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400" b="0" i="1">
                <a:solidFill>
                  <a:srgbClr val="54595D"/>
                </a:solidFill>
                <a:latin typeface="Calibri"/>
              </a:rPr>
              <a:t>Pairs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482596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40280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Open a secure website and view its certificate details.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461004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218688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Record the issuer, expiry date, key type and certificate type.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4439412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4197096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Use a hashing tool to hash a short sentence, then change one letter and hash it again.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5417820"/>
            <a:ext cx="384048" cy="384048"/>
          </a:xfrm>
          <a:prstGeom prst="ellipse">
            <a:avLst/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5175504"/>
            <a:ext cx="5943600" cy="86868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1700" b="0" i="0">
                <a:solidFill>
                  <a:srgbClr val="202122"/>
                </a:solidFill>
                <a:latin typeface="Calibri"/>
              </a:rPr>
              <a:t>Explain what each result shows about integrity.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1508760"/>
            <a:ext cx="3867912" cy="4572000"/>
          </a:xfrm>
          <a:prstGeom prst="roundRect">
            <a:avLst>
              <a:gd name="adj" fmla="val 8000"/>
            </a:avLst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046720" y="17373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0645AD"/>
                </a:solidFill>
                <a:latin typeface="Calibri"/>
              </a:rPr>
              <a:t>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2240280"/>
            <a:ext cx="33375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Certificate details recorded accurately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Hash change observed and explained</a:t>
            </a:r>
          </a:p>
          <a:p>
            <a:pPr marL="274320" indent="-274320">
              <a:spcAft>
                <a:spcPts val="810"/>
              </a:spcAft>
              <a:buClr>
                <a:srgbClr val="0645AD"/>
              </a:buClr>
              <a:buFont typeface="Arial"/>
              <a:buChar char="•"/>
            </a:pPr>
            <a:r>
              <a:rPr sz="1800" b="0">
                <a:solidFill>
                  <a:srgbClr val="202122"/>
                </a:solidFill>
                <a:latin typeface="Calibri"/>
              </a:rPr>
              <a:t>Correct use of key terms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30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100" b="1" i="0">
                <a:solidFill>
                  <a:srgbClr val="A9C8F0"/>
                </a:solidFill>
                <a:latin typeface="Calibri"/>
              </a:rPr>
              <a:t>CYBER SECURITY  ·  Cyber Security Content Areas 1 and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4415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Exit ticket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73736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164592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What is the difference between TLS and SSL?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60604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Which property does HMAC provide?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E04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3566160"/>
            <a:ext cx="6583680" cy="8229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Why must certificates be monitored for expiry?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1645920"/>
            <a:ext cx="3410712" cy="2926080"/>
          </a:xfrm>
          <a:prstGeom prst="roundRect">
            <a:avLst>
              <a:gd name="adj" fmla="val 8000"/>
            </a:avLst>
          </a:prstGeom>
          <a:solidFill>
            <a:srgbClr val="0645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8503920" y="1874519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300" b="1" i="0">
                <a:solidFill>
                  <a:srgbClr val="A9C8F0"/>
                </a:solidFill>
                <a:latin typeface="Calibri"/>
              </a:rPr>
              <a:t>REVISE THIS TOPIC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228600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Revision notes for this lesson are on the study wiki: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2926080"/>
            <a:ext cx="2926080" cy="14630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2000" b="1" i="0">
                <a:solidFill>
                  <a:srgbClr val="FFFFFF"/>
                </a:solidFill>
                <a:latin typeface="Cambria"/>
              </a:rPr>
              <a:t>Cyber Security - Security Procedures and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11094415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/>
            <a:r>
              <a:rPr sz="1200" b="0" i="0">
                <a:solidFill>
                  <a:srgbClr val="A9C8F0"/>
                </a:solidFill>
                <a:latin typeface="Calibri"/>
              </a:rPr>
              <a:t>https://lana6478.github.io/Digital-Suport-and-security-T-levle/#/02-occupational-specialisms/cyber-security/01-security-procedures-and-controls.md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Cryptography and Digital Certificates</dc:title>
  <dc:subject>Digital Support and Security T Level: Cyber Security Content Areas 1 and 2</dc:subject>
  <dc:creator>Samuel O'Connell</dc:creator>
  <cp:keywords>T Level; Digital Support and Security; lesson slides; 1.9, 1.17 to 1.20, 2.22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