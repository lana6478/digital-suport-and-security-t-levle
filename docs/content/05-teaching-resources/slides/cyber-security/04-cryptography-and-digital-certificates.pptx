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transmitting data: identify its CIA requirements, use asymmetric encryption to prevent eavesdropping, and verify it with these cryptographic properties.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The sender can't deny sending the message.</a:t>
            </a:r>
          </a:p>
          <a:p>
            <a:r>
              <a:t>2. A digital signature.</a:t>
            </a:r>
          </a:p>
          <a:p>
            <a:r>
              <a:t>3. An integrity check such as an HMAC.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No, hashing is one way.</a:t>
            </a:r>
          </a:p>
          <a:p>
            <a:r>
              <a:t>2. Symmetric.</a:t>
            </a:r>
          </a:p>
          <a:p>
            <a:r>
              <a:t>3. Hashes can't be reversed, so stolen hashes don't reveal passwords directly.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 Certificate Authority (CA).</a:t>
            </a:r>
          </a:p>
          <a:p>
            <a:r>
              <a:t>2. Any three: holder name, serial number, expiry, public key, CA signature.</a:t>
            </a:r>
          </a:p>
          <a:p>
            <a:r>
              <a:t>3. The software's author and that it hasn't been altered.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 Certificate Signing Request.</a:t>
            </a:r>
          </a:p>
          <a:p>
            <a:r>
              <a:t>2. No, it never leaves the server.</a:t>
            </a:r>
          </a:p>
          <a:p>
            <a:r>
              <a:t>3. If its private key has been compromised.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E0463A"/>
                </a:solidFill>
                <a:latin typeface="Calibri"/>
              </a:rPr>
              <a:t>CYBER SECURITY</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Cryptography and Digital Certificates</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Cyber Security Content Areas 1 and 2</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1.9, 1.17 to 1.20, 2.22</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Support and Security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1 and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Cryptography and Digital Certificates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Explain the purpose and characteristics of cryptography, including hashing.</a:t>
            </a:r>
          </a:p>
        </p:txBody>
      </p:sp>
      <p:sp>
        <p:nvSpPr>
          <p:cNvPr id="9" name="Oval 8"/>
          <p:cNvSpPr/>
          <p:nvPr/>
        </p:nvSpPr>
        <p:spPr>
          <a:xfrm>
            <a:off x="548640" y="3274695"/>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Compare symmetric and asymmetric encryption and where each is used.</a:t>
            </a:r>
          </a:p>
        </p:txBody>
      </p:sp>
      <p:sp>
        <p:nvSpPr>
          <p:cNvPr id="11" name="Oval 10"/>
          <p:cNvSpPr/>
          <p:nvPr/>
        </p:nvSpPr>
        <p:spPr>
          <a:xfrm>
            <a:off x="548640" y="4314825"/>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Describe digital certificates, their features and types.</a:t>
            </a:r>
          </a:p>
        </p:txBody>
      </p:sp>
      <p:sp>
        <p:nvSpPr>
          <p:cNvPr id="13" name="Oval 12"/>
          <p:cNvSpPr/>
          <p:nvPr/>
        </p:nvSpPr>
        <p:spPr>
          <a:xfrm>
            <a:off x="548640" y="5354954"/>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Describe how a certificate is generated and managed.</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Why does a website show a padlock? What do you think it actually proves?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1 and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What cryptography provides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Cryptography and Digital Certificates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140"/>
              </a:spcAft>
            </a:pPr>
            <a:r>
              <a:rPr sz="1900" b="0">
                <a:solidFill>
                  <a:srgbClr val="202122"/>
                </a:solidFill>
                <a:latin typeface="Calibri"/>
              </a:rPr>
              <a:t>Cryptography secures and authenticates data. It provides four things.</a:t>
            </a:r>
          </a:p>
          <a:p>
            <a:pPr>
              <a:spcAft>
                <a:spcPts val="1140"/>
              </a:spcAft>
            </a:pPr>
            <a:r>
              <a:rPr sz="1900" b="1">
                <a:solidFill>
                  <a:srgbClr val="202122"/>
                </a:solidFill>
                <a:latin typeface="Calibri"/>
              </a:rPr>
              <a:t>Confidentiality:</a:t>
            </a:r>
            <a:r>
              <a:rPr sz="1900" b="0">
                <a:solidFill>
                  <a:srgbClr val="202122"/>
                </a:solidFill>
                <a:latin typeface="Calibri"/>
              </a:rPr>
              <a:t> only the intended recipient can decrypt and read the data.</a:t>
            </a:r>
          </a:p>
          <a:p>
            <a:pPr>
              <a:spcAft>
                <a:spcPts val="1140"/>
              </a:spcAft>
            </a:pPr>
            <a:r>
              <a:rPr sz="1900" b="1">
                <a:solidFill>
                  <a:srgbClr val="202122"/>
                </a:solidFill>
                <a:latin typeface="Calibri"/>
              </a:rPr>
              <a:t>Integrity:</a:t>
            </a:r>
            <a:r>
              <a:rPr sz="1900" b="0">
                <a:solidFill>
                  <a:srgbClr val="202122"/>
                </a:solidFill>
                <a:latin typeface="Calibri"/>
              </a:rPr>
              <a:t> any change to the data in transit can be detected, for example with an HMAC.</a:t>
            </a:r>
          </a:p>
          <a:p>
            <a:pPr>
              <a:spcAft>
                <a:spcPts val="1140"/>
              </a:spcAft>
            </a:pPr>
            <a:r>
              <a:rPr sz="1900" b="1">
                <a:solidFill>
                  <a:srgbClr val="202122"/>
                </a:solidFill>
                <a:latin typeface="Calibri"/>
              </a:rPr>
              <a:t>Authenticity:</a:t>
            </a:r>
            <a:r>
              <a:rPr sz="1900" b="0">
                <a:solidFill>
                  <a:srgbClr val="202122"/>
                </a:solidFill>
                <a:latin typeface="Calibri"/>
              </a:rPr>
              <a:t> the recipient can check who sent the data, using a digital signature made with the sender's private key.</a:t>
            </a:r>
          </a:p>
          <a:p>
            <a:pPr>
              <a:spcAft>
                <a:spcPts val="1140"/>
              </a:spcAft>
            </a:pPr>
            <a:r>
              <a:rPr sz="1900" b="1">
                <a:solidFill>
                  <a:srgbClr val="202122"/>
                </a:solidFill>
                <a:latin typeface="Calibri"/>
              </a:rPr>
              <a:t>Non-repudiation:</a:t>
            </a:r>
            <a:r>
              <a:rPr sz="1900" b="0">
                <a:solidFill>
                  <a:srgbClr val="202122"/>
                </a:solidFill>
                <a:latin typeface="Calibri"/>
              </a:rPr>
              <a:t> the sender can't later deny sending it, because only they hold the private key.</a:t>
            </a:r>
          </a:p>
          <a:p>
            <a:pPr>
              <a:spcAft>
                <a:spcPts val="1140"/>
              </a:spcAft>
            </a:pPr>
            <a:r>
              <a:rPr sz="1900" b="0">
                <a:solidFill>
                  <a:srgbClr val="202122"/>
                </a:solidFill>
                <a:latin typeface="Calibri"/>
              </a:rPr>
              <a:t>When sending data, first identify which of the CIA properties it needs.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signed software update proves it came from the vendor (authenticity) and wasn't altered in transit (integrity).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1 and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What cryptography provides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Cryptography and Digital Certificates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ounded Rectangle 5"/>
          <p:cNvSpPr/>
          <p:nvPr/>
        </p:nvSpPr>
        <p:spPr>
          <a:xfrm>
            <a:off x="548640"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8" name="TextBox 7"/>
          <p:cNvSpPr txBox="1"/>
          <p:nvPr/>
        </p:nvSpPr>
        <p:spPr>
          <a:xfrm>
            <a:off x="1371600" y="1801368"/>
            <a:ext cx="4404207" cy="512064"/>
          </a:xfrm>
          <a:prstGeom prst="rect">
            <a:avLst/>
          </a:prstGeom>
          <a:noFill/>
        </p:spPr>
        <p:txBody>
          <a:bodyPr wrap="square" anchor="ctr" lIns="0" rIns="0" tIns="0" bIns="0"/>
          <a:lstStyle/>
          <a:p>
            <a:pPr algn="l"/>
            <a:r>
              <a:rPr sz="1900" b="1" i="0">
                <a:solidFill>
                  <a:srgbClr val="03306E"/>
                </a:solidFill>
                <a:latin typeface="Calibri"/>
              </a:rPr>
              <a:t>Confidentiality</a:t>
            </a:r>
          </a:p>
        </p:txBody>
      </p:sp>
      <p:sp>
        <p:nvSpPr>
          <p:cNvPr id="9" name="TextBox 8"/>
          <p:cNvSpPr txBox="1"/>
          <p:nvPr/>
        </p:nvSpPr>
        <p:spPr>
          <a:xfrm>
            <a:off x="777240" y="2468880"/>
            <a:ext cx="4952847" cy="1143000"/>
          </a:xfrm>
          <a:prstGeom prst="rect">
            <a:avLst/>
          </a:prstGeom>
          <a:noFill/>
        </p:spPr>
        <p:txBody>
          <a:bodyPr wrap="square" anchor="t" lIns="0" rIns="0" tIns="0" bIns="0"/>
          <a:lstStyle/>
          <a:p>
            <a:pPr algn="l"/>
            <a:r>
              <a:rPr sz="2000" b="0" i="0">
                <a:solidFill>
                  <a:srgbClr val="202122"/>
                </a:solidFill>
                <a:latin typeface="Calibri"/>
              </a:rPr>
              <a:t>Only intended recipients can decrypt the data.</a:t>
            </a:r>
          </a:p>
        </p:txBody>
      </p:sp>
      <p:sp>
        <p:nvSpPr>
          <p:cNvPr id="10" name="Rounded Rectangle 9"/>
          <p:cNvSpPr/>
          <p:nvPr/>
        </p:nvSpPr>
        <p:spPr>
          <a:xfrm>
            <a:off x="6233007"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1607" y="182880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2" name="TextBox 11"/>
          <p:cNvSpPr txBox="1"/>
          <p:nvPr/>
        </p:nvSpPr>
        <p:spPr>
          <a:xfrm>
            <a:off x="7055967" y="1801368"/>
            <a:ext cx="4404207" cy="512064"/>
          </a:xfrm>
          <a:prstGeom prst="rect">
            <a:avLst/>
          </a:prstGeom>
          <a:noFill/>
        </p:spPr>
        <p:txBody>
          <a:bodyPr wrap="square" anchor="ctr" lIns="0" rIns="0" tIns="0" bIns="0"/>
          <a:lstStyle/>
          <a:p>
            <a:pPr algn="l"/>
            <a:r>
              <a:rPr sz="1900" b="1" i="0">
                <a:solidFill>
                  <a:srgbClr val="03306E"/>
                </a:solidFill>
                <a:latin typeface="Calibri"/>
              </a:rPr>
              <a:t>Integrity</a:t>
            </a:r>
          </a:p>
        </p:txBody>
      </p:sp>
      <p:sp>
        <p:nvSpPr>
          <p:cNvPr id="13" name="TextBox 12"/>
          <p:cNvSpPr txBox="1"/>
          <p:nvPr/>
        </p:nvSpPr>
        <p:spPr>
          <a:xfrm>
            <a:off x="6461607" y="2468880"/>
            <a:ext cx="4952847" cy="1143000"/>
          </a:xfrm>
          <a:prstGeom prst="rect">
            <a:avLst/>
          </a:prstGeom>
          <a:noFill/>
        </p:spPr>
        <p:txBody>
          <a:bodyPr wrap="square" anchor="t" lIns="0" rIns="0" tIns="0" bIns="0"/>
          <a:lstStyle/>
          <a:p>
            <a:pPr algn="l"/>
            <a:r>
              <a:rPr sz="2000" b="0" i="0">
                <a:solidFill>
                  <a:srgbClr val="202122"/>
                </a:solidFill>
                <a:latin typeface="Calibri"/>
              </a:rPr>
              <a:t>Data cannot be changed in transit without detection (HMAC).</a:t>
            </a:r>
          </a:p>
        </p:txBody>
      </p:sp>
      <p:sp>
        <p:nvSpPr>
          <p:cNvPr id="14" name="Rounded Rectangle 13"/>
          <p:cNvSpPr/>
          <p:nvPr/>
        </p:nvSpPr>
        <p:spPr>
          <a:xfrm>
            <a:off x="548640"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425196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6" name="TextBox 15"/>
          <p:cNvSpPr txBox="1"/>
          <p:nvPr/>
        </p:nvSpPr>
        <p:spPr>
          <a:xfrm>
            <a:off x="1371600" y="4224528"/>
            <a:ext cx="4404207" cy="512064"/>
          </a:xfrm>
          <a:prstGeom prst="rect">
            <a:avLst/>
          </a:prstGeom>
          <a:noFill/>
        </p:spPr>
        <p:txBody>
          <a:bodyPr wrap="square" anchor="ctr" lIns="0" rIns="0" tIns="0" bIns="0"/>
          <a:lstStyle/>
          <a:p>
            <a:pPr algn="l"/>
            <a:r>
              <a:rPr sz="1900" b="1" i="0">
                <a:solidFill>
                  <a:srgbClr val="03306E"/>
                </a:solidFill>
                <a:latin typeface="Calibri"/>
              </a:rPr>
              <a:t>Authenticity</a:t>
            </a:r>
          </a:p>
        </p:txBody>
      </p:sp>
      <p:sp>
        <p:nvSpPr>
          <p:cNvPr id="17" name="TextBox 16"/>
          <p:cNvSpPr txBox="1"/>
          <p:nvPr/>
        </p:nvSpPr>
        <p:spPr>
          <a:xfrm>
            <a:off x="777240" y="4892040"/>
            <a:ext cx="4952847" cy="1143000"/>
          </a:xfrm>
          <a:prstGeom prst="rect">
            <a:avLst/>
          </a:prstGeom>
          <a:noFill/>
        </p:spPr>
        <p:txBody>
          <a:bodyPr wrap="square" anchor="t" lIns="0" rIns="0" tIns="0" bIns="0"/>
          <a:lstStyle/>
          <a:p>
            <a:pPr algn="l"/>
            <a:r>
              <a:rPr sz="2000" b="0" i="0">
                <a:solidFill>
                  <a:srgbClr val="202122"/>
                </a:solidFill>
                <a:latin typeface="Calibri"/>
              </a:rPr>
              <a:t>The recipient can verify the sender with a digital signature.</a:t>
            </a:r>
          </a:p>
        </p:txBody>
      </p:sp>
      <p:sp>
        <p:nvSpPr>
          <p:cNvPr id="18" name="Rounded Rectangle 17"/>
          <p:cNvSpPr/>
          <p:nvPr/>
        </p:nvSpPr>
        <p:spPr>
          <a:xfrm>
            <a:off x="6233007"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61607" y="425196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20" name="TextBox 19"/>
          <p:cNvSpPr txBox="1"/>
          <p:nvPr/>
        </p:nvSpPr>
        <p:spPr>
          <a:xfrm>
            <a:off x="7055967" y="4224528"/>
            <a:ext cx="4404207" cy="512064"/>
          </a:xfrm>
          <a:prstGeom prst="rect">
            <a:avLst/>
          </a:prstGeom>
          <a:noFill/>
        </p:spPr>
        <p:txBody>
          <a:bodyPr wrap="square" anchor="ctr" lIns="0" rIns="0" tIns="0" bIns="0"/>
          <a:lstStyle/>
          <a:p>
            <a:pPr algn="l"/>
            <a:r>
              <a:rPr sz="1900" b="1" i="0">
                <a:solidFill>
                  <a:srgbClr val="03306E"/>
                </a:solidFill>
                <a:latin typeface="Calibri"/>
              </a:rPr>
              <a:t>Non-repudiation</a:t>
            </a:r>
          </a:p>
        </p:txBody>
      </p:sp>
      <p:sp>
        <p:nvSpPr>
          <p:cNvPr id="21" name="TextBox 20"/>
          <p:cNvSpPr txBox="1"/>
          <p:nvPr/>
        </p:nvSpPr>
        <p:spPr>
          <a:xfrm>
            <a:off x="6461607" y="4892040"/>
            <a:ext cx="4952847" cy="1143000"/>
          </a:xfrm>
          <a:prstGeom prst="rect">
            <a:avLst/>
          </a:prstGeom>
          <a:noFill/>
        </p:spPr>
        <p:txBody>
          <a:bodyPr wrap="square" anchor="t" lIns="0" rIns="0" tIns="0" bIns="0"/>
          <a:lstStyle/>
          <a:p>
            <a:pPr algn="l"/>
            <a:r>
              <a:rPr sz="2000" b="0" i="0">
                <a:solidFill>
                  <a:srgbClr val="202122"/>
                </a:solidFill>
                <a:latin typeface="Calibri"/>
              </a:rPr>
              <a:t>The sender cannot deny writing the message (MAC).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1 and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What cryptography provides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Cryptography and Digital Certificates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does non-repudiation mean?</a:t>
            </a:r>
          </a:p>
        </p:txBody>
      </p:sp>
      <p:sp>
        <p:nvSpPr>
          <p:cNvPr id="8" name="Oval 7"/>
          <p:cNvSpPr/>
          <p:nvPr/>
        </p:nvSpPr>
        <p:spPr>
          <a:xfrm>
            <a:off x="548640" y="31089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provides authenticity?</a:t>
            </a:r>
          </a:p>
        </p:txBody>
      </p:sp>
      <p:sp>
        <p:nvSpPr>
          <p:cNvPr id="10" name="Oval 9"/>
          <p:cNvSpPr/>
          <p:nvPr/>
        </p:nvSpPr>
        <p:spPr>
          <a:xfrm>
            <a:off x="548640" y="45262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detects changes to data in transit?</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1 and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Encryption and hashing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Cryptography and Digital Certificates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140"/>
              </a:spcAft>
            </a:pPr>
            <a:r>
              <a:rPr sz="1900" b="1">
                <a:solidFill>
                  <a:srgbClr val="202122"/>
                </a:solidFill>
                <a:latin typeface="Calibri"/>
              </a:rPr>
              <a:t>Encryption is reversible:</a:t>
            </a:r>
            <a:r>
              <a:rPr sz="1900" b="0">
                <a:solidFill>
                  <a:srgbClr val="202122"/>
                </a:solidFill>
                <a:latin typeface="Calibri"/>
              </a:rPr>
              <a:t> with the right key, you get the original data back.</a:t>
            </a:r>
          </a:p>
          <a:p>
            <a:pPr>
              <a:spcAft>
                <a:spcPts val="1140"/>
              </a:spcAft>
            </a:pPr>
            <a:r>
              <a:rPr sz="1900" b="0">
                <a:solidFill>
                  <a:srgbClr val="202122"/>
                </a:solidFill>
                <a:latin typeface="Calibri"/>
              </a:rPr>
              <a:t>Symmetric encryption uses one shared key. It's fast, so it's used for large data and data at rest, but the key must be shared securely.</a:t>
            </a:r>
          </a:p>
          <a:p>
            <a:pPr>
              <a:spcAft>
                <a:spcPts val="1140"/>
              </a:spcAft>
            </a:pPr>
            <a:r>
              <a:rPr sz="1900" b="0">
                <a:solidFill>
                  <a:srgbClr val="202122"/>
                </a:solidFill>
                <a:latin typeface="Calibri"/>
              </a:rPr>
              <a:t>Asymmetric encryption uses a key pair: anyone can encrypt with the public key, but only the private key decrypts. It solves key sharing and underpins TLS and email encryption.</a:t>
            </a:r>
          </a:p>
          <a:p>
            <a:pPr>
              <a:spcAft>
                <a:spcPts val="1140"/>
              </a:spcAft>
            </a:pPr>
            <a:r>
              <a:rPr sz="1900" b="1">
                <a:solidFill>
                  <a:srgbClr val="202122"/>
                </a:solidFill>
                <a:latin typeface="Calibri"/>
              </a:rPr>
              <a:t>Hashing is one way:</a:t>
            </a:r>
            <a:r>
              <a:rPr sz="1900" b="0">
                <a:solidFill>
                  <a:srgbClr val="202122"/>
                </a:solidFill>
                <a:latin typeface="Calibri"/>
              </a:rPr>
              <a:t> it turns data into a fixed-length fingerprint that can't be reversed. Any change to the input changes the hash completely, which makes it ideal for storing passwords and checking integrity.</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When you log in, your password is hashed and compared with the stored hash. The site never needs to store your actual password.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1 and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Encryption and hashing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Cryptography and Digital Certificates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Encryption</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Reversible with the right key</a:t>
            </a:r>
          </a:p>
          <a:p>
            <a:pPr marL="274320" indent="-274320">
              <a:spcAft>
                <a:spcPts val="990"/>
              </a:spcAft>
              <a:buClr>
                <a:srgbClr val="0645AD"/>
              </a:buClr>
              <a:buFont typeface="Arial"/>
              <a:buChar char="•"/>
            </a:pPr>
            <a:r>
              <a:rPr sz="2200" b="1">
                <a:solidFill>
                  <a:srgbClr val="202122"/>
                </a:solidFill>
                <a:latin typeface="Calibri"/>
              </a:rPr>
              <a:t>Symmetric:</a:t>
            </a:r>
            <a:r>
              <a:rPr sz="2200" b="0">
                <a:solidFill>
                  <a:srgbClr val="202122"/>
                </a:solidFill>
                <a:latin typeface="Calibri"/>
              </a:rPr>
              <a:t> one shared key, fast, e.g. card payments and data at rest</a:t>
            </a:r>
          </a:p>
          <a:p>
            <a:pPr marL="274320" indent="-274320">
              <a:spcAft>
                <a:spcPts val="990"/>
              </a:spcAft>
              <a:buClr>
                <a:srgbClr val="0645AD"/>
              </a:buClr>
              <a:buFont typeface="Arial"/>
              <a:buChar char="•"/>
            </a:pPr>
            <a:r>
              <a:rPr sz="2200" b="1">
                <a:solidFill>
                  <a:srgbClr val="202122"/>
                </a:solidFill>
                <a:latin typeface="Calibri"/>
              </a:rPr>
              <a:t>Asymmetric:</a:t>
            </a:r>
            <a:r>
              <a:rPr sz="2200" b="0">
                <a:solidFill>
                  <a:srgbClr val="202122"/>
                </a:solidFill>
                <a:latin typeface="Calibri"/>
              </a:rPr>
              <a:t> public and private key pair, e.g. email and TLS</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Hashing</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1">
                <a:solidFill>
                  <a:srgbClr val="202122"/>
                </a:solidFill>
                <a:latin typeface="Calibri"/>
              </a:rPr>
              <a:t>One way:</a:t>
            </a:r>
            <a:r>
              <a:rPr sz="2200" b="0">
                <a:solidFill>
                  <a:srgbClr val="202122"/>
                </a:solidFill>
                <a:latin typeface="Calibri"/>
              </a:rPr>
              <a:t> cannot be reversed</a:t>
            </a:r>
          </a:p>
          <a:p>
            <a:pPr marL="274320" indent="-274320">
              <a:spcAft>
                <a:spcPts val="990"/>
              </a:spcAft>
              <a:buClr>
                <a:srgbClr val="0645AD"/>
              </a:buClr>
              <a:buFont typeface="Arial"/>
              <a:buChar char="•"/>
            </a:pPr>
            <a:r>
              <a:rPr sz="2200" b="0">
                <a:solidFill>
                  <a:srgbClr val="202122"/>
                </a:solidFill>
                <a:latin typeface="Calibri"/>
              </a:rPr>
              <a:t>Fixed-length output</a:t>
            </a:r>
          </a:p>
          <a:p>
            <a:pPr marL="274320" indent="-274320">
              <a:spcAft>
                <a:spcPts val="990"/>
              </a:spcAft>
              <a:buClr>
                <a:srgbClr val="0645AD"/>
              </a:buClr>
              <a:buFont typeface="Arial"/>
              <a:buChar char="•"/>
            </a:pPr>
            <a:r>
              <a:rPr sz="2200" b="0">
                <a:solidFill>
                  <a:srgbClr val="202122"/>
                </a:solidFill>
                <a:latin typeface="Calibri"/>
              </a:rPr>
              <a:t>Used to store passwords</a:t>
            </a:r>
          </a:p>
          <a:p>
            <a:pPr marL="274320" indent="-274320">
              <a:spcAft>
                <a:spcPts val="990"/>
              </a:spcAft>
              <a:buClr>
                <a:srgbClr val="0645AD"/>
              </a:buClr>
              <a:buFont typeface="Arial"/>
              <a:buChar char="•"/>
            </a:pPr>
            <a:r>
              <a:rPr sz="2200" b="0">
                <a:solidFill>
                  <a:srgbClr val="202122"/>
                </a:solidFill>
                <a:latin typeface="Calibri"/>
              </a:rPr>
              <a:t>Any change to the input changes the hash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1 and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Encryption and hashing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Cryptography and Digital Certificates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Can a hash be reversed?</a:t>
            </a:r>
          </a:p>
        </p:txBody>
      </p:sp>
      <p:sp>
        <p:nvSpPr>
          <p:cNvPr id="8" name="Oval 7"/>
          <p:cNvSpPr/>
          <p:nvPr/>
        </p:nvSpPr>
        <p:spPr>
          <a:xfrm>
            <a:off x="548640" y="31089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Which encryption type uses one shared key?</a:t>
            </a:r>
          </a:p>
        </p:txBody>
      </p:sp>
      <p:sp>
        <p:nvSpPr>
          <p:cNvPr id="10" name="Oval 9"/>
          <p:cNvSpPr/>
          <p:nvPr/>
        </p:nvSpPr>
        <p:spPr>
          <a:xfrm>
            <a:off x="548640" y="45262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are passwords hashed rather than encrypted?</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1 and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Encryption tools as risk mitigation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Cryptography and Digital Certificates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Data in transit</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1">
                <a:solidFill>
                  <a:srgbClr val="202122"/>
                </a:solidFill>
                <a:latin typeface="Calibri"/>
              </a:rPr>
              <a:t>TLS:</a:t>
            </a:r>
            <a:r>
              <a:rPr sz="2200" b="0">
                <a:solidFill>
                  <a:srgbClr val="202122"/>
                </a:solidFill>
                <a:latin typeface="Calibri"/>
              </a:rPr>
              <a:t> end-to-end encryption for email, web and messaging</a:t>
            </a:r>
          </a:p>
          <a:p>
            <a:pPr marL="274320" indent="-274320">
              <a:spcAft>
                <a:spcPts val="990"/>
              </a:spcAft>
              <a:buClr>
                <a:srgbClr val="0645AD"/>
              </a:buClr>
              <a:buFont typeface="Arial"/>
              <a:buChar char="•"/>
            </a:pPr>
            <a:r>
              <a:rPr sz="2200" b="1">
                <a:solidFill>
                  <a:srgbClr val="202122"/>
                </a:solidFill>
                <a:latin typeface="Calibri"/>
              </a:rPr>
              <a:t>SSL:</a:t>
            </a:r>
            <a:r>
              <a:rPr sz="2200" b="0">
                <a:solidFill>
                  <a:srgbClr val="202122"/>
                </a:solidFill>
                <a:latin typeface="Calibri"/>
              </a:rPr>
              <a:t> the legacy protocol TLS replaced</a:t>
            </a:r>
          </a:p>
          <a:p>
            <a:pPr marL="274320" indent="-274320">
              <a:spcAft>
                <a:spcPts val="990"/>
              </a:spcAft>
              <a:buClr>
                <a:srgbClr val="0645AD"/>
              </a:buClr>
              <a:buFont typeface="Arial"/>
              <a:buChar char="•"/>
            </a:pPr>
            <a:r>
              <a:rPr sz="2200" b="0">
                <a:solidFill>
                  <a:srgbClr val="202122"/>
                </a:solidFill>
                <a:latin typeface="Calibri"/>
              </a:rPr>
              <a:t>Both rely on asymmetric encryption</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Data at rest (DARE)</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1">
                <a:solidFill>
                  <a:srgbClr val="202122"/>
                </a:solidFill>
                <a:latin typeface="Calibri"/>
              </a:rPr>
              <a:t>Full Disk Encryption (FDE):</a:t>
            </a:r>
            <a:r>
              <a:rPr sz="2200" b="0">
                <a:solidFill>
                  <a:srgbClr val="202122"/>
                </a:solidFill>
                <a:latin typeface="Calibri"/>
              </a:rPr>
              <a:t> protects a stolen laptop</a:t>
            </a:r>
          </a:p>
          <a:p>
            <a:pPr marL="274320" indent="-274320">
              <a:spcAft>
                <a:spcPts val="990"/>
              </a:spcAft>
              <a:buClr>
                <a:srgbClr val="0645AD"/>
              </a:buClr>
              <a:buFont typeface="Arial"/>
              <a:buChar char="•"/>
            </a:pPr>
            <a:r>
              <a:rPr sz="2200" b="1">
                <a:solidFill>
                  <a:srgbClr val="202122"/>
                </a:solidFill>
                <a:latin typeface="Calibri"/>
              </a:rPr>
              <a:t>File-Based Encryption (FBE):</a:t>
            </a:r>
            <a:r>
              <a:rPr sz="2200" b="0">
                <a:solidFill>
                  <a:srgbClr val="202122"/>
                </a:solidFill>
                <a:latin typeface="Calibri"/>
              </a:rPr>
              <a:t> protects individual files and folders</a:t>
            </a:r>
          </a:p>
          <a:p>
            <a:pPr marL="274320" indent="-274320">
              <a:spcAft>
                <a:spcPts val="990"/>
              </a:spcAft>
              <a:buClr>
                <a:srgbClr val="0645AD"/>
              </a:buClr>
              <a:buFont typeface="Arial"/>
              <a:buChar char="•"/>
            </a:pPr>
            <a:r>
              <a:rPr sz="2200" b="0">
                <a:solidFill>
                  <a:srgbClr val="202122"/>
                </a:solidFill>
                <a:latin typeface="Calibri"/>
              </a:rPr>
              <a:t>Both rely on symmetric encryption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1 and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Digital certificates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Cryptography and Digital Certificates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0">
                <a:solidFill>
                  <a:srgbClr val="202122"/>
                </a:solidFill>
                <a:latin typeface="Calibri"/>
              </a:rPr>
              <a:t>A digital certificate proves that a public key really belongs to a particular server, device or user.</a:t>
            </a:r>
          </a:p>
          <a:p>
            <a:pPr>
              <a:spcAft>
                <a:spcPts val="1260"/>
              </a:spcAft>
            </a:pPr>
            <a:r>
              <a:rPr sz="2100" b="0">
                <a:solidFill>
                  <a:srgbClr val="202122"/>
                </a:solidFill>
                <a:latin typeface="Calibri"/>
              </a:rPr>
              <a:t>It contains the holder's name, a unique serial number, an expiry date, the holder's public key and the digital signature of the Certificate Authority (CA) that issued it. Your device trusts the certificate because it trusts the CA.</a:t>
            </a:r>
          </a:p>
          <a:p>
            <a:pPr>
              <a:spcAft>
                <a:spcPts val="1260"/>
              </a:spcAft>
            </a:pPr>
            <a:r>
              <a:rPr sz="2100" b="0">
                <a:solidFill>
                  <a:srgbClr val="202122"/>
                </a:solidFill>
                <a:latin typeface="Calibri"/>
              </a:rPr>
              <a:t>Server certificates let clients check a website is genuine. Client certificates let a device prove its identity to a server. Code signing certificates let an operating system check software's author and integrity.</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The padlock in your browser means the site's certificate was signed by a trusted CA and matches the domain. It doesn't mean the site itself is honest.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1 and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Digital certificates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Cryptography and Digital Certificates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Rounded Rectangle 5"/>
          <p:cNvSpPr/>
          <p:nvPr/>
        </p:nvSpPr>
        <p:spPr>
          <a:xfrm>
            <a:off x="548640" y="1600200"/>
            <a:ext cx="3515258"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900" b="1" i="0">
                <a:solidFill>
                  <a:srgbClr val="03306E"/>
                </a:solidFill>
                <a:latin typeface="Calibri"/>
              </a:rPr>
              <a:t>Purpose</a:t>
            </a:r>
          </a:p>
        </p:txBody>
      </p:sp>
      <p:sp>
        <p:nvSpPr>
          <p:cNvPr id="9" name="TextBox 8"/>
          <p:cNvSpPr txBox="1"/>
          <p:nvPr/>
        </p:nvSpPr>
        <p:spPr>
          <a:xfrm>
            <a:off x="777240" y="2468880"/>
            <a:ext cx="3058058" cy="3566160"/>
          </a:xfrm>
          <a:prstGeom prst="rect">
            <a:avLst/>
          </a:prstGeom>
          <a:noFill/>
        </p:spPr>
        <p:txBody>
          <a:bodyPr wrap="square" anchor="t" lIns="0" rIns="0" tIns="0" bIns="0"/>
          <a:lstStyle/>
          <a:p>
            <a:pPr algn="l"/>
            <a:r>
              <a:rPr sz="2000" b="0" i="0">
                <a:solidFill>
                  <a:srgbClr val="202122"/>
                </a:solidFill>
                <a:latin typeface="Calibri"/>
              </a:rPr>
              <a:t>Prove the authenticity of a device, server or user using asymmetric cryptography.</a:t>
            </a:r>
          </a:p>
        </p:txBody>
      </p:sp>
      <p:sp>
        <p:nvSpPr>
          <p:cNvPr id="10" name="Rounded Rectangle 9"/>
          <p:cNvSpPr/>
          <p:nvPr/>
        </p:nvSpPr>
        <p:spPr>
          <a:xfrm>
            <a:off x="4338218" y="1600200"/>
            <a:ext cx="3515258"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900" b="1" i="0">
                <a:solidFill>
                  <a:srgbClr val="03306E"/>
                </a:solidFill>
                <a:latin typeface="Calibri"/>
              </a:rPr>
              <a:t>Features</a:t>
            </a:r>
          </a:p>
        </p:txBody>
      </p:sp>
      <p:sp>
        <p:nvSpPr>
          <p:cNvPr id="13" name="TextBox 12"/>
          <p:cNvSpPr txBox="1"/>
          <p:nvPr/>
        </p:nvSpPr>
        <p:spPr>
          <a:xfrm>
            <a:off x="4566818" y="2468880"/>
            <a:ext cx="3058058" cy="3566160"/>
          </a:xfrm>
          <a:prstGeom prst="rect">
            <a:avLst/>
          </a:prstGeom>
          <a:noFill/>
        </p:spPr>
        <p:txBody>
          <a:bodyPr wrap="square" anchor="t" lIns="0" rIns="0" tIns="0" bIns="0"/>
          <a:lstStyle/>
          <a:p>
            <a:pPr algn="l"/>
            <a:r>
              <a:rPr sz="2000" b="0" i="0">
                <a:solidFill>
                  <a:srgbClr val="202122"/>
                </a:solidFill>
                <a:latin typeface="Calibri"/>
              </a:rPr>
              <a:t>Holder name, serial number, expiry date, holder's public key, issuer's signature.</a:t>
            </a:r>
          </a:p>
        </p:txBody>
      </p:sp>
      <p:sp>
        <p:nvSpPr>
          <p:cNvPr id="14" name="Rounded Rectangle 13"/>
          <p:cNvSpPr/>
          <p:nvPr/>
        </p:nvSpPr>
        <p:spPr>
          <a:xfrm>
            <a:off x="8127796" y="1600200"/>
            <a:ext cx="3515258"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Types</a:t>
            </a:r>
          </a:p>
        </p:txBody>
      </p:sp>
      <p:sp>
        <p:nvSpPr>
          <p:cNvPr id="17" name="TextBox 16"/>
          <p:cNvSpPr txBox="1"/>
          <p:nvPr/>
        </p:nvSpPr>
        <p:spPr>
          <a:xfrm>
            <a:off x="8356396" y="2468880"/>
            <a:ext cx="3058058" cy="3566160"/>
          </a:xfrm>
          <a:prstGeom prst="rect">
            <a:avLst/>
          </a:prstGeom>
          <a:noFill/>
        </p:spPr>
        <p:txBody>
          <a:bodyPr wrap="square" anchor="t" lIns="0" rIns="0" tIns="0" bIns="0"/>
          <a:lstStyle/>
          <a:p>
            <a:pPr algn="l"/>
            <a:r>
              <a:rPr sz="2000" b="0" i="0">
                <a:solidFill>
                  <a:srgbClr val="202122"/>
                </a:solidFill>
                <a:latin typeface="Calibri"/>
              </a:rPr>
              <a:t>Server-side (client checks server), client-side (client proves itself), code signing (OS checks software).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1 and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Digital certificates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Cryptography and Digital Certificates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Oval 5"/>
          <p:cNvSpPr/>
          <p:nvPr/>
        </p:nvSpPr>
        <p:spPr>
          <a:xfrm>
            <a:off x="548640" y="169164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Who issues digital certificates?</a:t>
            </a:r>
          </a:p>
        </p:txBody>
      </p:sp>
      <p:sp>
        <p:nvSpPr>
          <p:cNvPr id="8" name="Oval 7"/>
          <p:cNvSpPr/>
          <p:nvPr/>
        </p:nvSpPr>
        <p:spPr>
          <a:xfrm>
            <a:off x="548640" y="31089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Name three things a certificate contains.</a:t>
            </a:r>
          </a:p>
        </p:txBody>
      </p:sp>
      <p:sp>
        <p:nvSpPr>
          <p:cNvPr id="10" name="Oval 9"/>
          <p:cNvSpPr/>
          <p:nvPr/>
        </p:nvSpPr>
        <p:spPr>
          <a:xfrm>
            <a:off x="548640" y="45262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does a code signing certificate prove?</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1 and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Generating a certificate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Cryptography and Digital Certificates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140"/>
              </a:spcAft>
            </a:pPr>
            <a:r>
              <a:rPr sz="1900" b="0">
                <a:solidFill>
                  <a:srgbClr val="202122"/>
                </a:solidFill>
                <a:latin typeface="Calibri"/>
              </a:rPr>
              <a:t>Getting a certificate follows four steps.</a:t>
            </a:r>
          </a:p>
          <a:p>
            <a:pPr>
              <a:spcAft>
                <a:spcPts val="1140"/>
              </a:spcAft>
            </a:pPr>
            <a:r>
              <a:rPr sz="1900" b="0">
                <a:solidFill>
                  <a:srgbClr val="202122"/>
                </a:solidFill>
                <a:latin typeface="Calibri"/>
              </a:rPr>
              <a:t>First, generate a public and private key pair. The private key never leaves the server.</a:t>
            </a:r>
          </a:p>
          <a:p>
            <a:pPr>
              <a:spcAft>
                <a:spcPts val="1140"/>
              </a:spcAft>
            </a:pPr>
            <a:r>
              <a:rPr sz="1900" b="0">
                <a:solidFill>
                  <a:srgbClr val="202122"/>
                </a:solidFill>
                <a:latin typeface="Calibri"/>
              </a:rPr>
              <a:t>Next, create a Certificate Signing Request (CSR) containing the public key and the identity details.</a:t>
            </a:r>
          </a:p>
          <a:p>
            <a:pPr>
              <a:spcAft>
                <a:spcPts val="1140"/>
              </a:spcAft>
            </a:pPr>
            <a:r>
              <a:rPr sz="1900" b="0">
                <a:solidFill>
                  <a:srgbClr val="202122"/>
                </a:solidFill>
                <a:latin typeface="Calibri"/>
              </a:rPr>
              <a:t>Then a trusted Certificate Authority checks the details and issues a signed certificate.</a:t>
            </a:r>
          </a:p>
          <a:p>
            <a:pPr>
              <a:spcAft>
                <a:spcPts val="1140"/>
              </a:spcAft>
            </a:pPr>
            <a:r>
              <a:rPr sz="1900" b="0">
                <a:solidFill>
                  <a:srgbClr val="202122"/>
                </a:solidFill>
                <a:latin typeface="Calibri"/>
              </a:rPr>
              <a:t>Finally, install the certificate on the server or client.</a:t>
            </a:r>
          </a:p>
          <a:p>
            <a:pPr>
              <a:spcAft>
                <a:spcPts val="1140"/>
              </a:spcAft>
            </a:pPr>
            <a:r>
              <a:rPr sz="1900" b="0">
                <a:solidFill>
                  <a:srgbClr val="202122"/>
                </a:solidFill>
                <a:latin typeface="Calibri"/>
              </a:rPr>
              <a:t>Certificate management tools then monitor expiry dates, renew certificates automatically, revoke compromised ones early, and help diagnose certificate errors.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company's website suddenly shows security warnings because its certificate expired over the weekend: exactly what auto-renewal tools prevent.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1 and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Generating a certificate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Cryptography and Digital Certificates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Rectangle 5"/>
          <p:cNvSpPr/>
          <p:nvPr/>
        </p:nvSpPr>
        <p:spPr>
          <a:xfrm>
            <a:off x="1884006" y="2382012"/>
            <a:ext cx="8423681"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563966" y="208026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8" name="TextBox 7"/>
          <p:cNvSpPr txBox="1"/>
          <p:nvPr/>
        </p:nvSpPr>
        <p:spPr>
          <a:xfrm>
            <a:off x="548640" y="2857500"/>
            <a:ext cx="2670733" cy="731520"/>
          </a:xfrm>
          <a:prstGeom prst="rect">
            <a:avLst/>
          </a:prstGeom>
          <a:noFill/>
        </p:spPr>
        <p:txBody>
          <a:bodyPr wrap="square" anchor="t" lIns="0" rIns="0" tIns="0" bIns="0"/>
          <a:lstStyle/>
          <a:p>
            <a:pPr algn="ctr"/>
            <a:r>
              <a:rPr sz="1700" b="1" i="0">
                <a:solidFill>
                  <a:srgbClr val="03306E"/>
                </a:solidFill>
                <a:latin typeface="Calibri"/>
              </a:rPr>
              <a:t>Key pair</a:t>
            </a:r>
          </a:p>
        </p:txBody>
      </p:sp>
      <p:sp>
        <p:nvSpPr>
          <p:cNvPr id="9" name="Rounded Rectangle 8"/>
          <p:cNvSpPr/>
          <p:nvPr/>
        </p:nvSpPr>
        <p:spPr>
          <a:xfrm>
            <a:off x="548640" y="3634740"/>
            <a:ext cx="2670733"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3771900"/>
            <a:ext cx="2396413" cy="960119"/>
          </a:xfrm>
          <a:prstGeom prst="rect">
            <a:avLst/>
          </a:prstGeom>
          <a:noFill/>
        </p:spPr>
        <p:txBody>
          <a:bodyPr wrap="square" anchor="t" lIns="0" rIns="0" tIns="0" bIns="0"/>
          <a:lstStyle/>
          <a:p>
            <a:pPr algn="l"/>
            <a:r>
              <a:rPr sz="1800" b="0" i="0">
                <a:solidFill>
                  <a:srgbClr val="202122"/>
                </a:solidFill>
                <a:latin typeface="Calibri"/>
              </a:rPr>
              <a:t>Generate a public and private key.</a:t>
            </a:r>
          </a:p>
        </p:txBody>
      </p:sp>
      <p:sp>
        <p:nvSpPr>
          <p:cNvPr id="11" name="Oval 10"/>
          <p:cNvSpPr/>
          <p:nvPr/>
        </p:nvSpPr>
        <p:spPr>
          <a:xfrm>
            <a:off x="4371860" y="208026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2" name="TextBox 11"/>
          <p:cNvSpPr txBox="1"/>
          <p:nvPr/>
        </p:nvSpPr>
        <p:spPr>
          <a:xfrm>
            <a:off x="3356533" y="2857500"/>
            <a:ext cx="2670733" cy="731520"/>
          </a:xfrm>
          <a:prstGeom prst="rect">
            <a:avLst/>
          </a:prstGeom>
          <a:noFill/>
        </p:spPr>
        <p:txBody>
          <a:bodyPr wrap="square" anchor="t" lIns="0" rIns="0" tIns="0" bIns="0"/>
          <a:lstStyle/>
          <a:p>
            <a:pPr algn="ctr"/>
            <a:r>
              <a:rPr sz="1700" b="1" i="0">
                <a:solidFill>
                  <a:srgbClr val="03306E"/>
                </a:solidFill>
                <a:latin typeface="Calibri"/>
              </a:rPr>
              <a:t>CSR</a:t>
            </a:r>
          </a:p>
        </p:txBody>
      </p:sp>
      <p:sp>
        <p:nvSpPr>
          <p:cNvPr id="13" name="Rounded Rectangle 12"/>
          <p:cNvSpPr/>
          <p:nvPr/>
        </p:nvSpPr>
        <p:spPr>
          <a:xfrm>
            <a:off x="3356533" y="3634740"/>
            <a:ext cx="2670733"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493693" y="3771900"/>
            <a:ext cx="2396413" cy="960119"/>
          </a:xfrm>
          <a:prstGeom prst="rect">
            <a:avLst/>
          </a:prstGeom>
          <a:noFill/>
        </p:spPr>
        <p:txBody>
          <a:bodyPr wrap="square" anchor="t" lIns="0" rIns="0" tIns="0" bIns="0"/>
          <a:lstStyle/>
          <a:p>
            <a:pPr algn="l"/>
            <a:r>
              <a:rPr sz="1800" b="0" i="0">
                <a:solidFill>
                  <a:srgbClr val="202122"/>
                </a:solidFill>
                <a:latin typeface="Calibri"/>
              </a:rPr>
              <a:t>Create a Certificate Signing Request.</a:t>
            </a:r>
          </a:p>
        </p:txBody>
      </p:sp>
      <p:sp>
        <p:nvSpPr>
          <p:cNvPr id="15" name="Oval 14"/>
          <p:cNvSpPr/>
          <p:nvPr/>
        </p:nvSpPr>
        <p:spPr>
          <a:xfrm>
            <a:off x="7179754" y="208026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6" name="TextBox 15"/>
          <p:cNvSpPr txBox="1"/>
          <p:nvPr/>
        </p:nvSpPr>
        <p:spPr>
          <a:xfrm>
            <a:off x="6164427" y="2857500"/>
            <a:ext cx="2670733" cy="731520"/>
          </a:xfrm>
          <a:prstGeom prst="rect">
            <a:avLst/>
          </a:prstGeom>
          <a:noFill/>
        </p:spPr>
        <p:txBody>
          <a:bodyPr wrap="square" anchor="t" lIns="0" rIns="0" tIns="0" bIns="0"/>
          <a:lstStyle/>
          <a:p>
            <a:pPr algn="ctr"/>
            <a:r>
              <a:rPr sz="1700" b="1" i="0">
                <a:solidFill>
                  <a:srgbClr val="03306E"/>
                </a:solidFill>
                <a:latin typeface="Calibri"/>
              </a:rPr>
              <a:t>CA signs</a:t>
            </a:r>
          </a:p>
        </p:txBody>
      </p:sp>
      <p:sp>
        <p:nvSpPr>
          <p:cNvPr id="17" name="Rounded Rectangle 16"/>
          <p:cNvSpPr/>
          <p:nvPr/>
        </p:nvSpPr>
        <p:spPr>
          <a:xfrm>
            <a:off x="6164427" y="3634740"/>
            <a:ext cx="2670733"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01587" y="3771900"/>
            <a:ext cx="2396413" cy="960119"/>
          </a:xfrm>
          <a:prstGeom prst="rect">
            <a:avLst/>
          </a:prstGeom>
          <a:noFill/>
        </p:spPr>
        <p:txBody>
          <a:bodyPr wrap="square" anchor="t" lIns="0" rIns="0" tIns="0" bIns="0"/>
          <a:lstStyle/>
          <a:p>
            <a:pPr algn="l"/>
            <a:r>
              <a:rPr sz="1800" b="0" i="0">
                <a:solidFill>
                  <a:srgbClr val="202122"/>
                </a:solidFill>
                <a:latin typeface="Calibri"/>
              </a:rPr>
              <a:t>A trusted Certificate Authority issues and signs it.</a:t>
            </a:r>
          </a:p>
        </p:txBody>
      </p:sp>
      <p:sp>
        <p:nvSpPr>
          <p:cNvPr id="19" name="Oval 18"/>
          <p:cNvSpPr/>
          <p:nvPr/>
        </p:nvSpPr>
        <p:spPr>
          <a:xfrm>
            <a:off x="9987648" y="208026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4</a:t>
            </a:r>
          </a:p>
        </p:txBody>
      </p:sp>
      <p:sp>
        <p:nvSpPr>
          <p:cNvPr id="20" name="TextBox 19"/>
          <p:cNvSpPr txBox="1"/>
          <p:nvPr/>
        </p:nvSpPr>
        <p:spPr>
          <a:xfrm>
            <a:off x="8972321" y="2857500"/>
            <a:ext cx="2670733" cy="731520"/>
          </a:xfrm>
          <a:prstGeom prst="rect">
            <a:avLst/>
          </a:prstGeom>
          <a:noFill/>
        </p:spPr>
        <p:txBody>
          <a:bodyPr wrap="square" anchor="t" lIns="0" rIns="0" tIns="0" bIns="0"/>
          <a:lstStyle/>
          <a:p>
            <a:pPr algn="ctr"/>
            <a:r>
              <a:rPr sz="1700" b="1" i="0">
                <a:solidFill>
                  <a:srgbClr val="03306E"/>
                </a:solidFill>
                <a:latin typeface="Calibri"/>
              </a:rPr>
              <a:t>Install</a:t>
            </a:r>
          </a:p>
        </p:txBody>
      </p:sp>
      <p:sp>
        <p:nvSpPr>
          <p:cNvPr id="21" name="Rounded Rectangle 20"/>
          <p:cNvSpPr/>
          <p:nvPr/>
        </p:nvSpPr>
        <p:spPr>
          <a:xfrm>
            <a:off x="8972321" y="3634740"/>
            <a:ext cx="2670733"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09481" y="3771900"/>
            <a:ext cx="2396413" cy="960119"/>
          </a:xfrm>
          <a:prstGeom prst="rect">
            <a:avLst/>
          </a:prstGeom>
          <a:noFill/>
        </p:spPr>
        <p:txBody>
          <a:bodyPr wrap="square" anchor="t" lIns="0" rIns="0" tIns="0" bIns="0"/>
          <a:lstStyle/>
          <a:p>
            <a:pPr algn="l"/>
            <a:r>
              <a:rPr sz="1800" b="0" i="0">
                <a:solidFill>
                  <a:srgbClr val="202122"/>
                </a:solidFill>
                <a:latin typeface="Calibri"/>
              </a:rPr>
              <a:t>Install it on the server or client.</a:t>
            </a:r>
          </a:p>
        </p:txBody>
      </p:sp>
      <p:sp>
        <p:nvSpPr>
          <p:cNvPr id="23" name="TextBox 22"/>
          <p:cNvSpPr txBox="1"/>
          <p:nvPr/>
        </p:nvSpPr>
        <p:spPr>
          <a:xfrm>
            <a:off x="548640" y="5143500"/>
            <a:ext cx="11094415" cy="548640"/>
          </a:xfrm>
          <a:prstGeom prst="rect">
            <a:avLst/>
          </a:prstGeom>
          <a:noFill/>
        </p:spPr>
        <p:txBody>
          <a:bodyPr wrap="square" anchor="t" lIns="0" rIns="0" tIns="0" bIns="0"/>
          <a:lstStyle/>
          <a:p>
            <a:pPr algn="l"/>
            <a:r>
              <a:rPr sz="1600" b="0" i="1">
                <a:solidFill>
                  <a:srgbClr val="54595D"/>
                </a:solidFill>
                <a:latin typeface="Calibri"/>
              </a:rPr>
              <a:t>Management tools monitor expiry, revoke early, auto-renew, audit deployment and diagnose certificate problems.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1 and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Generating a certificate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Cryptography and Digital Certificates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Oval 5"/>
          <p:cNvSpPr/>
          <p:nvPr/>
        </p:nvSpPr>
        <p:spPr>
          <a:xfrm>
            <a:off x="548640" y="169164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a CSR?</a:t>
            </a:r>
          </a:p>
        </p:txBody>
      </p:sp>
      <p:sp>
        <p:nvSpPr>
          <p:cNvPr id="8" name="Oval 7"/>
          <p:cNvSpPr/>
          <p:nvPr/>
        </p:nvSpPr>
        <p:spPr>
          <a:xfrm>
            <a:off x="548640" y="31089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Should the private key be sent to the CA?</a:t>
            </a:r>
          </a:p>
        </p:txBody>
      </p:sp>
      <p:sp>
        <p:nvSpPr>
          <p:cNvPr id="10" name="Oval 9"/>
          <p:cNvSpPr/>
          <p:nvPr/>
        </p:nvSpPr>
        <p:spPr>
          <a:xfrm>
            <a:off x="548640" y="45262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revoke a certificate early?</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1 and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Cryptography and Digital Certificates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16</a:t>
            </a:r>
          </a:p>
        </p:txBody>
      </p:sp>
      <p:sp>
        <p:nvSpPr>
          <p:cNvPr id="6" name="Oval 5"/>
          <p:cNvSpPr/>
          <p:nvPr/>
        </p:nvSpPr>
        <p:spPr>
          <a:xfrm>
            <a:off x="548640" y="1618488"/>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2200" b="0" i="0">
                <a:solidFill>
                  <a:srgbClr val="202122"/>
                </a:solidFill>
                <a:latin typeface="Calibri"/>
              </a:rPr>
              <a:t>Why is hashing used for passwords rather than encryption?</a:t>
            </a:r>
          </a:p>
        </p:txBody>
      </p:sp>
      <p:sp>
        <p:nvSpPr>
          <p:cNvPr id="8" name="Oval 7"/>
          <p:cNvSpPr/>
          <p:nvPr/>
        </p:nvSpPr>
        <p:spPr>
          <a:xfrm>
            <a:off x="548640" y="2574950"/>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2200" b="0" i="0">
                <a:solidFill>
                  <a:srgbClr val="202122"/>
                </a:solidFill>
                <a:latin typeface="Calibri"/>
              </a:rPr>
              <a:t>Which type of encryption protects a stolen laptop's drive?</a:t>
            </a:r>
          </a:p>
        </p:txBody>
      </p:sp>
      <p:sp>
        <p:nvSpPr>
          <p:cNvPr id="10" name="Oval 9"/>
          <p:cNvSpPr/>
          <p:nvPr/>
        </p:nvSpPr>
        <p:spPr>
          <a:xfrm>
            <a:off x="548640" y="3531412"/>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2200" b="0" i="0">
                <a:solidFill>
                  <a:srgbClr val="202122"/>
                </a:solidFill>
                <a:latin typeface="Calibri"/>
              </a:rPr>
              <a:t>What does a digital signature prove?</a:t>
            </a:r>
          </a:p>
        </p:txBody>
      </p:sp>
      <p:sp>
        <p:nvSpPr>
          <p:cNvPr id="12" name="Oval 11"/>
          <p:cNvSpPr/>
          <p:nvPr/>
        </p:nvSpPr>
        <p:spPr>
          <a:xfrm>
            <a:off x="548640" y="4487875"/>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2200" b="0" i="0">
                <a:solidFill>
                  <a:srgbClr val="202122"/>
                </a:solidFill>
                <a:latin typeface="Calibri"/>
              </a:rPr>
              <a:t>What is a CSR?</a:t>
            </a:r>
          </a:p>
        </p:txBody>
      </p:sp>
      <p:sp>
        <p:nvSpPr>
          <p:cNvPr id="14" name="Oval 13"/>
          <p:cNvSpPr/>
          <p:nvPr/>
        </p:nvSpPr>
        <p:spPr>
          <a:xfrm>
            <a:off x="548640" y="5444337"/>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2200" b="0" i="0">
                <a:solidFill>
                  <a:srgbClr val="202122"/>
                </a:solidFill>
                <a:latin typeface="Calibri"/>
              </a:rPr>
              <a:t>Name two features of a digital certificate.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1 and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Cryptography and Digital Certificates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17</a:t>
            </a:r>
          </a:p>
        </p:txBody>
      </p:sp>
      <p:sp>
        <p:nvSpPr>
          <p:cNvPr id="6" name="Oval 5"/>
          <p:cNvSpPr/>
          <p:nvPr/>
        </p:nvSpPr>
        <p:spPr>
          <a:xfrm>
            <a:off x="548640" y="1618488"/>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1800" b="0" i="0">
                <a:solidFill>
                  <a:srgbClr val="54595D"/>
                </a:solidFill>
                <a:latin typeface="Calibri"/>
              </a:rPr>
              <a:t>Why is hashing used for passwords rather than encryption?</a:t>
            </a:r>
          </a:p>
          <a:p>
            <a:r>
              <a:rPr sz="1800" b="1">
                <a:solidFill>
                  <a:srgbClr val="03306E"/>
                </a:solidFill>
                <a:latin typeface="Calibri"/>
              </a:rPr>
              <a:t>It is one way, so the stored hash cannot be turned back into the password.</a:t>
            </a:r>
          </a:p>
        </p:txBody>
      </p:sp>
      <p:sp>
        <p:nvSpPr>
          <p:cNvPr id="8" name="Oval 7"/>
          <p:cNvSpPr/>
          <p:nvPr/>
        </p:nvSpPr>
        <p:spPr>
          <a:xfrm>
            <a:off x="548640" y="2574950"/>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1800" b="0" i="0">
                <a:solidFill>
                  <a:srgbClr val="54595D"/>
                </a:solidFill>
                <a:latin typeface="Calibri"/>
              </a:rPr>
              <a:t>Which type of encryption protects a stolen laptop's drive?</a:t>
            </a:r>
          </a:p>
          <a:p>
            <a:r>
              <a:rPr sz="1800" b="1">
                <a:solidFill>
                  <a:srgbClr val="03306E"/>
                </a:solidFill>
                <a:latin typeface="Calibri"/>
              </a:rPr>
              <a:t>Symmetric, via full disk encryption.</a:t>
            </a:r>
          </a:p>
        </p:txBody>
      </p:sp>
      <p:sp>
        <p:nvSpPr>
          <p:cNvPr id="10" name="Oval 9"/>
          <p:cNvSpPr/>
          <p:nvPr/>
        </p:nvSpPr>
        <p:spPr>
          <a:xfrm>
            <a:off x="548640" y="3531412"/>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1800" b="0" i="0">
                <a:solidFill>
                  <a:srgbClr val="54595D"/>
                </a:solidFill>
                <a:latin typeface="Calibri"/>
              </a:rPr>
              <a:t>What does a digital signature prove?</a:t>
            </a:r>
          </a:p>
          <a:p>
            <a:r>
              <a:rPr sz="1800" b="1">
                <a:solidFill>
                  <a:srgbClr val="03306E"/>
                </a:solidFill>
                <a:latin typeface="Calibri"/>
              </a:rPr>
              <a:t>The authenticity of the sender.</a:t>
            </a:r>
          </a:p>
        </p:txBody>
      </p:sp>
      <p:sp>
        <p:nvSpPr>
          <p:cNvPr id="12" name="Oval 11"/>
          <p:cNvSpPr/>
          <p:nvPr/>
        </p:nvSpPr>
        <p:spPr>
          <a:xfrm>
            <a:off x="548640" y="4487875"/>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1800" b="0" i="0">
                <a:solidFill>
                  <a:srgbClr val="54595D"/>
                </a:solidFill>
                <a:latin typeface="Calibri"/>
              </a:rPr>
              <a:t>What is a CSR?</a:t>
            </a:r>
          </a:p>
          <a:p>
            <a:r>
              <a:rPr sz="1800" b="1">
                <a:solidFill>
                  <a:srgbClr val="03306E"/>
                </a:solidFill>
                <a:latin typeface="Calibri"/>
              </a:rPr>
              <a:t>A Certificate Signing Request sent to a Certificate Authority.</a:t>
            </a:r>
          </a:p>
        </p:txBody>
      </p:sp>
      <p:sp>
        <p:nvSpPr>
          <p:cNvPr id="14" name="Oval 13"/>
          <p:cNvSpPr/>
          <p:nvPr/>
        </p:nvSpPr>
        <p:spPr>
          <a:xfrm>
            <a:off x="548640" y="5444337"/>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1800" b="0" i="0">
                <a:solidFill>
                  <a:srgbClr val="54595D"/>
                </a:solidFill>
                <a:latin typeface="Calibri"/>
              </a:rPr>
              <a:t>Name two features of a digital certificate.</a:t>
            </a:r>
          </a:p>
          <a:p>
            <a:r>
              <a:rPr sz="1800" b="1">
                <a:solidFill>
                  <a:srgbClr val="03306E"/>
                </a:solidFill>
                <a:latin typeface="Calibri"/>
              </a:rPr>
              <a:t>Any two of: holder name, serial number, expiry, public key, issuer signature.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Areas 1 and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Inspect and hash</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Cryptography and Digital Certificates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18</a:t>
            </a:r>
          </a:p>
        </p:txBody>
      </p:sp>
      <p:sp>
        <p:nvSpPr>
          <p:cNvPr id="6" name="Rounded Rectangle 5"/>
          <p:cNvSpPr/>
          <p:nvPr/>
        </p:nvSpPr>
        <p:spPr>
          <a:xfrm>
            <a:off x="548640" y="1508760"/>
            <a:ext cx="2011680" cy="457200"/>
          </a:xfrm>
          <a:prstGeom prst="roundRect">
            <a:avLst>
              <a:gd name="adj" fmla="val 50000"/>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FFFFFF"/>
                </a:solidFill>
                <a:latin typeface="Calibri"/>
              </a:rPr>
              <a:t>20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Pairs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Open a secure website and view its certificate details.</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Record the issuer, expiry date, key type and certificate type.</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Use a hashing tool to hash a short sentence, then change one letter and hash it again.</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Explain what each result shows about integrity.</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Certificate details recorded accurately</a:t>
            </a:r>
          </a:p>
          <a:p>
            <a:pPr marL="274320" indent="-274320">
              <a:spcAft>
                <a:spcPts val="810"/>
              </a:spcAft>
              <a:buClr>
                <a:srgbClr val="0645AD"/>
              </a:buClr>
              <a:buFont typeface="Arial"/>
              <a:buChar char="•"/>
            </a:pPr>
            <a:r>
              <a:rPr sz="1800" b="0">
                <a:solidFill>
                  <a:srgbClr val="202122"/>
                </a:solidFill>
                <a:latin typeface="Calibri"/>
              </a:rPr>
              <a:t>Hash change observed and explained</a:t>
            </a:r>
          </a:p>
          <a:p>
            <a:pPr marL="274320" indent="-274320">
              <a:spcAft>
                <a:spcPts val="810"/>
              </a:spcAft>
              <a:buClr>
                <a:srgbClr val="0645AD"/>
              </a:buClr>
              <a:buFont typeface="Arial"/>
              <a:buChar char="•"/>
            </a:pPr>
            <a:r>
              <a:rPr sz="1800" b="0">
                <a:solidFill>
                  <a:srgbClr val="202122"/>
                </a:solidFill>
                <a:latin typeface="Calibri"/>
              </a:rPr>
              <a:t>Correct use of key terms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CYBER SECURITY  ·  Cyber Security Content Areas 1 and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What is the difference between TLS and SSL?</a:t>
            </a:r>
          </a:p>
        </p:txBody>
      </p:sp>
      <p:sp>
        <p:nvSpPr>
          <p:cNvPr id="6" name="Oval 5"/>
          <p:cNvSpPr/>
          <p:nvPr/>
        </p:nvSpPr>
        <p:spPr>
          <a:xfrm>
            <a:off x="548640" y="26974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Which property does HMAC provide?</a:t>
            </a:r>
          </a:p>
        </p:txBody>
      </p:sp>
      <p:sp>
        <p:nvSpPr>
          <p:cNvPr id="8" name="Oval 7"/>
          <p:cNvSpPr/>
          <p:nvPr/>
        </p:nvSpPr>
        <p:spPr>
          <a:xfrm>
            <a:off x="548640" y="365760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Why must certificates be monitored for expiry?</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Cyber Security - Security Procedures and Controls</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https://lana6478.github.io/Digital-Suport-and-security-T-levle/#/02-occupational-specialisms/cyber-security/01-security-procedures-and-controls.md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Cryptography and Digital Certificates</dc:title>
  <dc:subject>Digital Support and Security T Level: Cyber Security Content Areas 1 and 2</dc:subject>
  <dc:creator>Samuel O'Connell</dc:creator>
  <cp:keywords>T Level; Digital Support and Security; lesson slides; 1.9, 1.17 to 1.20, 2.22</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