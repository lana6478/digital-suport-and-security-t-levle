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The organisation or person who decides how and why personal data is processed.</a:t>
            </a:r>
          </a:p>
          <a:p>
            <a:r>
              <a:t>2. E.g. ISO 27001, data protection law, FOI requests.</a:t>
            </a:r>
          </a:p>
          <a:p>
            <a:r>
              <a:t>3. So every control has an owner who is accountable.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Acquisition.</a:t>
            </a:r>
          </a:p>
          <a:p>
            <a:r>
              <a:t>2. Security is built in from the start, not added later.</a:t>
            </a:r>
          </a:p>
          <a:p>
            <a:r>
              <a:t>3. People's actions affect security as much as technology.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A configuration management database tracking IT assets and configuration.</a:t>
            </a:r>
          </a:p>
          <a:p>
            <a:r>
              <a:t>2. Change management.</a:t>
            </a:r>
          </a:p>
          <a:p>
            <a:r>
              <a:t>3. Keeps documentation and support knowledge current.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Strategy, design, transition, operation, continual improvement.</a:t>
            </a:r>
          </a:p>
          <a:p>
            <a:r>
              <a:t>2. Service transition.</a:t>
            </a:r>
          </a:p>
          <a:p>
            <a:r>
              <a:t>3. Service operation.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ISMS (information security management system) creates policies such as an information security policy and an AUP.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An information security management system.</a:t>
            </a:r>
          </a:p>
          <a:p>
            <a:r>
              <a:t>2. ISO 27001.</a:t>
            </a:r>
          </a:p>
          <a:p>
            <a:r>
              <a:t>3. Plus includes independent technical testing.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answer on mini whiteboards or paper, then reveal the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through any answers the class found difficult.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answer on a sticky note or in the chat before leaving.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Oval 1"/>
          <p:cNvSpPr/>
          <p:nvPr/>
        </p:nvSpPr>
        <p:spPr>
          <a:xfrm>
            <a:off x="8595360" y="1005840"/>
            <a:ext cx="3291840" cy="3291840"/>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00400"/>
            <a:ext cx="2377440" cy="237744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138160" y="4023360"/>
            <a:ext cx="1371600" cy="1371600"/>
          </a:xfrm>
          <a:prstGeom prst="ellipse">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914400"/>
            <a:ext cx="7315200" cy="365760"/>
          </a:xfrm>
          <a:prstGeom prst="rect">
            <a:avLst/>
          </a:prstGeom>
          <a:noFill/>
        </p:spPr>
        <p:txBody>
          <a:bodyPr wrap="square" anchor="t" lIns="0" rIns="0" tIns="0" bIns="0"/>
          <a:lstStyle/>
          <a:p>
            <a:pPr algn="l"/>
            <a:r>
              <a:rPr sz="1400" b="1" i="0">
                <a:solidFill>
                  <a:srgbClr val="E0463A"/>
                </a:solidFill>
                <a:latin typeface="Calibri"/>
              </a:rPr>
              <a:t>CYBER SECURITY</a:t>
            </a:r>
          </a:p>
        </p:txBody>
      </p:sp>
      <p:sp>
        <p:nvSpPr>
          <p:cNvPr id="6" name="TextBox 5"/>
          <p:cNvSpPr txBox="1"/>
          <p:nvPr/>
        </p:nvSpPr>
        <p:spPr>
          <a:xfrm>
            <a:off x="548640" y="1371600"/>
            <a:ext cx="7315200" cy="2286000"/>
          </a:xfrm>
          <a:prstGeom prst="rect">
            <a:avLst/>
          </a:prstGeom>
          <a:noFill/>
        </p:spPr>
        <p:txBody>
          <a:bodyPr wrap="square" anchor="b" lIns="0" rIns="0" tIns="0" bIns="0"/>
          <a:lstStyle/>
          <a:p>
            <a:pPr algn="l"/>
            <a:r>
              <a:rPr sz="4400" b="1" i="0">
                <a:solidFill>
                  <a:srgbClr val="FFFFFF"/>
                </a:solidFill>
                <a:latin typeface="Cambria"/>
              </a:rPr>
              <a:t>Security Governance, ITSM and Frameworks</a:t>
            </a:r>
          </a:p>
        </p:txBody>
      </p:sp>
      <p:sp>
        <p:nvSpPr>
          <p:cNvPr id="7" name="TextBox 6"/>
          <p:cNvSpPr txBox="1"/>
          <p:nvPr/>
        </p:nvSpPr>
        <p:spPr>
          <a:xfrm>
            <a:off x="548640" y="3840480"/>
            <a:ext cx="7315200" cy="457200"/>
          </a:xfrm>
          <a:prstGeom prst="rect">
            <a:avLst/>
          </a:prstGeom>
          <a:noFill/>
        </p:spPr>
        <p:txBody>
          <a:bodyPr wrap="square" anchor="t" lIns="0" rIns="0" tIns="0" bIns="0"/>
          <a:lstStyle/>
          <a:p>
            <a:pPr algn="l"/>
            <a:r>
              <a:rPr sz="1800" b="0" i="0">
                <a:solidFill>
                  <a:srgbClr val="A9C8F0"/>
                </a:solidFill>
                <a:latin typeface="Calibri"/>
              </a:rPr>
              <a:t>Cyber Security Content Area 1</a:t>
            </a:r>
          </a:p>
        </p:txBody>
      </p:sp>
      <p:sp>
        <p:nvSpPr>
          <p:cNvPr id="8" name="TextBox 7"/>
          <p:cNvSpPr txBox="1"/>
          <p:nvPr/>
        </p:nvSpPr>
        <p:spPr>
          <a:xfrm>
            <a:off x="548640" y="4297680"/>
            <a:ext cx="7315200" cy="457200"/>
          </a:xfrm>
          <a:prstGeom prst="rect">
            <a:avLst/>
          </a:prstGeom>
          <a:noFill/>
        </p:spPr>
        <p:txBody>
          <a:bodyPr wrap="square" anchor="t" lIns="0" rIns="0" tIns="0" bIns="0"/>
          <a:lstStyle/>
          <a:p>
            <a:pPr algn="l"/>
            <a:r>
              <a:rPr sz="1400" b="0" i="0">
                <a:solidFill>
                  <a:srgbClr val="A9C8F0"/>
                </a:solidFill>
                <a:latin typeface="Calibri"/>
              </a:rPr>
              <a:t>Specification reference: 1.1, 1.2, 1.7, 1.8, 1.10, 1.24</a:t>
            </a:r>
          </a:p>
        </p:txBody>
      </p:sp>
      <p:sp>
        <p:nvSpPr>
          <p:cNvPr id="9" name="TextBox 8"/>
          <p:cNvSpPr txBox="1"/>
          <p:nvPr/>
        </p:nvSpPr>
        <p:spPr>
          <a:xfrm>
            <a:off x="548640" y="5760720"/>
            <a:ext cx="7498079" cy="640080"/>
          </a:xfrm>
          <a:prstGeom prst="rect">
            <a:avLst/>
          </a:prstGeom>
          <a:noFill/>
        </p:spPr>
        <p:txBody>
          <a:bodyPr wrap="square" anchor="t" lIns="0" rIns="0" tIns="0" bIns="0"/>
          <a:lstStyle/>
          <a:p>
            <a:pPr algn="l"/>
            <a:r>
              <a:rPr sz="1100" b="0" i="0">
                <a:solidFill>
                  <a:srgbClr val="A9C8F0"/>
                </a:solidFill>
                <a:latin typeface="Calibri"/>
              </a:rPr>
              <a:t>Digital Support and Security T Level  ·  Lesson slides</a:t>
            </a:r>
          </a:p>
          <a:p>
            <a:pPr algn="l"/>
            <a:r>
              <a:rPr sz="1100" b="0" i="0">
                <a:solidFill>
                  <a:srgbClr val="A9C8F0"/>
                </a:solidFill>
                <a:latin typeface="Calibri"/>
              </a:rPr>
              <a:t>Unofficial teaching resource. Check the official Pearson specification for assessment detail.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Learning objectives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Governance, ITSM and Frameworks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a:t>
            </a:r>
          </a:p>
        </p:txBody>
      </p:sp>
      <p:sp>
        <p:nvSpPr>
          <p:cNvPr id="6" name="TextBox 5"/>
          <p:cNvSpPr txBox="1"/>
          <p:nvPr/>
        </p:nvSpPr>
        <p:spPr>
          <a:xfrm>
            <a:off x="548640" y="1508760"/>
            <a:ext cx="6766560" cy="365760"/>
          </a:xfrm>
          <a:prstGeom prst="rect">
            <a:avLst/>
          </a:prstGeom>
          <a:noFill/>
        </p:spPr>
        <p:txBody>
          <a:bodyPr wrap="square" anchor="t" lIns="0" rIns="0" tIns="0" bIns="0"/>
          <a:lstStyle/>
          <a:p>
            <a:pPr algn="l"/>
            <a:r>
              <a:rPr sz="1600" b="0" i="1">
                <a:solidFill>
                  <a:srgbClr val="54595D"/>
                </a:solidFill>
                <a:latin typeface="Calibri"/>
              </a:rPr>
              <a:t>By the end of this lesson you should be able to:</a:t>
            </a:r>
          </a:p>
        </p:txBody>
      </p:sp>
      <p:sp>
        <p:nvSpPr>
          <p:cNvPr id="7" name="Oval 6"/>
          <p:cNvSpPr/>
          <p:nvPr/>
        </p:nvSpPr>
        <p:spPr>
          <a:xfrm>
            <a:off x="548640" y="2234565"/>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8" name="TextBox 7"/>
          <p:cNvSpPr txBox="1"/>
          <p:nvPr/>
        </p:nvSpPr>
        <p:spPr>
          <a:xfrm>
            <a:off x="1234440" y="2011680"/>
            <a:ext cx="6035040" cy="902969"/>
          </a:xfrm>
          <a:prstGeom prst="rect">
            <a:avLst/>
          </a:prstGeom>
          <a:noFill/>
        </p:spPr>
        <p:txBody>
          <a:bodyPr wrap="square" anchor="ctr" lIns="0" rIns="0" tIns="0" bIns="0"/>
          <a:lstStyle/>
          <a:p>
            <a:pPr algn="l"/>
            <a:r>
              <a:rPr sz="2000" b="0" i="0">
                <a:solidFill>
                  <a:srgbClr val="202122"/>
                </a:solidFill>
                <a:latin typeface="Calibri"/>
              </a:rPr>
              <a:t>Explain the purpose of information security governance and the six IT governance principles.</a:t>
            </a:r>
          </a:p>
        </p:txBody>
      </p:sp>
      <p:sp>
        <p:nvSpPr>
          <p:cNvPr id="9" name="Oval 8"/>
          <p:cNvSpPr/>
          <p:nvPr/>
        </p:nvSpPr>
        <p:spPr>
          <a:xfrm>
            <a:off x="548640" y="3274695"/>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10" name="TextBox 9"/>
          <p:cNvSpPr txBox="1"/>
          <p:nvPr/>
        </p:nvSpPr>
        <p:spPr>
          <a:xfrm>
            <a:off x="1234440" y="3051810"/>
            <a:ext cx="6035040" cy="902969"/>
          </a:xfrm>
          <a:prstGeom prst="rect">
            <a:avLst/>
          </a:prstGeom>
          <a:noFill/>
        </p:spPr>
        <p:txBody>
          <a:bodyPr wrap="square" anchor="ctr" lIns="0" rIns="0" tIns="0" bIns="0"/>
          <a:lstStyle/>
          <a:p>
            <a:pPr algn="l"/>
            <a:r>
              <a:rPr sz="2000" b="0" i="0">
                <a:solidFill>
                  <a:srgbClr val="202122"/>
                </a:solidFill>
                <a:latin typeface="Calibri"/>
              </a:rPr>
              <a:t>Describe the core ITSM processes and the ITIL service lifecycle.</a:t>
            </a:r>
          </a:p>
        </p:txBody>
      </p:sp>
      <p:sp>
        <p:nvSpPr>
          <p:cNvPr id="11" name="Oval 10"/>
          <p:cNvSpPr/>
          <p:nvPr/>
        </p:nvSpPr>
        <p:spPr>
          <a:xfrm>
            <a:off x="548640" y="4314825"/>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2" name="TextBox 11"/>
          <p:cNvSpPr txBox="1"/>
          <p:nvPr/>
        </p:nvSpPr>
        <p:spPr>
          <a:xfrm>
            <a:off x="1234440" y="4091939"/>
            <a:ext cx="6035040" cy="902969"/>
          </a:xfrm>
          <a:prstGeom prst="rect">
            <a:avLst/>
          </a:prstGeom>
          <a:noFill/>
        </p:spPr>
        <p:txBody>
          <a:bodyPr wrap="square" anchor="ctr" lIns="0" rIns="0" tIns="0" bIns="0"/>
          <a:lstStyle/>
          <a:p>
            <a:pPr algn="l"/>
            <a:r>
              <a:rPr sz="2000" b="0" i="0">
                <a:solidFill>
                  <a:srgbClr val="202122"/>
                </a:solidFill>
                <a:latin typeface="Calibri"/>
              </a:rPr>
              <a:t>Describe frameworks and standards that support an ISMS.</a:t>
            </a:r>
          </a:p>
        </p:txBody>
      </p:sp>
      <p:sp>
        <p:nvSpPr>
          <p:cNvPr id="13" name="Oval 12"/>
          <p:cNvSpPr/>
          <p:nvPr/>
        </p:nvSpPr>
        <p:spPr>
          <a:xfrm>
            <a:off x="548640" y="5354954"/>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14" name="TextBox 13"/>
          <p:cNvSpPr txBox="1"/>
          <p:nvPr/>
        </p:nvSpPr>
        <p:spPr>
          <a:xfrm>
            <a:off x="1234440" y="5132069"/>
            <a:ext cx="6035040" cy="902969"/>
          </a:xfrm>
          <a:prstGeom prst="rect">
            <a:avLst/>
          </a:prstGeom>
          <a:noFill/>
        </p:spPr>
        <p:txBody>
          <a:bodyPr wrap="square" anchor="ctr" lIns="0" rIns="0" tIns="0" bIns="0"/>
          <a:lstStyle/>
          <a:p>
            <a:pPr algn="l"/>
            <a:r>
              <a:rPr sz="2000" b="0" i="0">
                <a:solidFill>
                  <a:srgbClr val="202122"/>
                </a:solidFill>
                <a:latin typeface="Calibri"/>
              </a:rPr>
              <a:t>Assess whether a security request is valid.</a:t>
            </a:r>
          </a:p>
        </p:txBody>
      </p:sp>
      <p:sp>
        <p:nvSpPr>
          <p:cNvPr id="15" name="Rounded Rectangle 14"/>
          <p:cNvSpPr/>
          <p:nvPr/>
        </p:nvSpPr>
        <p:spPr>
          <a:xfrm>
            <a:off x="7772400" y="1508760"/>
            <a:ext cx="3867912" cy="452628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STARTER</a:t>
            </a:r>
          </a:p>
        </p:txBody>
      </p:sp>
      <p:sp>
        <p:nvSpPr>
          <p:cNvPr id="17" name="TextBox 16"/>
          <p:cNvSpPr txBox="1"/>
          <p:nvPr/>
        </p:nvSpPr>
        <p:spPr>
          <a:xfrm>
            <a:off x="8046720" y="2194560"/>
            <a:ext cx="3291840" cy="3657600"/>
          </a:xfrm>
          <a:prstGeom prst="rect">
            <a:avLst/>
          </a:prstGeom>
          <a:noFill/>
        </p:spPr>
        <p:txBody>
          <a:bodyPr wrap="square" anchor="t" lIns="0" rIns="0" tIns="0" bIns="0"/>
          <a:lstStyle/>
          <a:p>
            <a:pPr algn="l"/>
            <a:r>
              <a:rPr sz="2200" b="0" i="0">
                <a:solidFill>
                  <a:srgbClr val="03306E"/>
                </a:solidFill>
                <a:latin typeface="Cambria"/>
              </a:rPr>
              <a:t>A manager emails the helpdesk asking for admin rights 'just for today'. What questions should you ask before saying yes?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Why governance?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Governance, ITSM and Frameworks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3</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140"/>
              </a:spcAft>
            </a:pPr>
            <a:r>
              <a:rPr sz="1900" b="0">
                <a:solidFill>
                  <a:srgbClr val="202122"/>
                </a:solidFill>
                <a:latin typeface="Calibri"/>
              </a:rPr>
              <a:t>Information security governance is how an organisation directs and controls its security.</a:t>
            </a:r>
          </a:p>
          <a:p>
            <a:pPr>
              <a:spcAft>
                <a:spcPts val="1140"/>
              </a:spcAft>
            </a:pPr>
            <a:r>
              <a:rPr sz="1900" b="0">
                <a:solidFill>
                  <a:srgbClr val="202122"/>
                </a:solidFill>
                <a:latin typeface="Calibri"/>
              </a:rPr>
              <a:t>It investigates, controls, communicates and reports cyber risk. It sets up a security framework: defined roles such as data controller and data processor, policies such as data retention and deletion, and regular activities such as evaluating new systems before they're bought.</a:t>
            </a:r>
          </a:p>
          <a:p>
            <a:pPr>
              <a:spcAft>
                <a:spcPts val="1140"/>
              </a:spcAft>
            </a:pPr>
            <a:r>
              <a:rPr sz="1900" b="0">
                <a:solidFill>
                  <a:srgbClr val="202122"/>
                </a:solidFill>
                <a:latin typeface="Calibri"/>
              </a:rPr>
              <a:t>It manages compliance with law and standards such as ISO 27001, data protection and Freedom of Information requests, and it aligns business priorities with reducing cyber threats.</a:t>
            </a:r>
          </a:p>
          <a:p>
            <a:pPr>
              <a:spcAft>
                <a:spcPts val="1140"/>
              </a:spcAft>
            </a:pPr>
            <a:r>
              <a:rPr sz="1900" b="0">
                <a:solidFill>
                  <a:srgbClr val="202122"/>
                </a:solidFill>
                <a:latin typeface="Calibri"/>
              </a:rPr>
              <a:t>Without governance, controls exist but nobody owns them or checks them.</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Governance decides that the IT manager owns patching, that data is deleted after six years, and that the board sees a security report every quarter.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Why governance?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Governance, ITSM and Frameworks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4</a:t>
            </a:r>
          </a:p>
        </p:txBody>
      </p:sp>
      <p:sp>
        <p:nvSpPr>
          <p:cNvPr id="6" name="TextBox 5"/>
          <p:cNvSpPr txBox="1"/>
          <p:nvPr/>
        </p:nvSpPr>
        <p:spPr>
          <a:xfrm>
            <a:off x="548640" y="1600200"/>
            <a:ext cx="6675120" cy="4572000"/>
          </a:xfrm>
          <a:prstGeom prst="rect">
            <a:avLst/>
          </a:prstGeom>
          <a:noFill/>
        </p:spPr>
        <p:txBody>
          <a:bodyPr wrap="square" lIns="0" rIns="0" tIns="0" bIns="0">
            <a:spAutoFit/>
          </a:bodyPr>
          <a:lstStyle/>
          <a:p>
            <a:pPr marL="274320" indent="-274320">
              <a:spcAft>
                <a:spcPts val="1080"/>
              </a:spcAft>
              <a:buClr>
                <a:srgbClr val="0645AD"/>
              </a:buClr>
              <a:buFont typeface="Arial"/>
              <a:buChar char="•"/>
            </a:pPr>
            <a:r>
              <a:rPr sz="2400" b="0">
                <a:solidFill>
                  <a:srgbClr val="202122"/>
                </a:solidFill>
                <a:latin typeface="Calibri"/>
              </a:rPr>
              <a:t>Investigate, control, communicate and report cyber risk.</a:t>
            </a:r>
          </a:p>
          <a:p>
            <a:pPr marL="274320" indent="-274320">
              <a:spcAft>
                <a:spcPts val="1080"/>
              </a:spcAft>
              <a:buClr>
                <a:srgbClr val="0645AD"/>
              </a:buClr>
              <a:buFont typeface="Arial"/>
              <a:buChar char="•"/>
            </a:pPr>
            <a:r>
              <a:rPr sz="2400" b="1">
                <a:solidFill>
                  <a:srgbClr val="202122"/>
                </a:solidFill>
                <a:latin typeface="Calibri"/>
              </a:rPr>
              <a:t>Provide a security framework:</a:t>
            </a:r>
            <a:r>
              <a:rPr sz="2400" b="0">
                <a:solidFill>
                  <a:srgbClr val="202122"/>
                </a:solidFill>
                <a:latin typeface="Calibri"/>
              </a:rPr>
              <a:t> defined roles, policies and security activities.</a:t>
            </a:r>
          </a:p>
          <a:p>
            <a:pPr marL="274320" indent="-274320">
              <a:spcAft>
                <a:spcPts val="1080"/>
              </a:spcAft>
              <a:buClr>
                <a:srgbClr val="0645AD"/>
              </a:buClr>
              <a:buFont typeface="Arial"/>
              <a:buChar char="•"/>
            </a:pPr>
            <a:r>
              <a:rPr sz="2400" b="0">
                <a:solidFill>
                  <a:srgbClr val="202122"/>
                </a:solidFill>
                <a:latin typeface="Calibri"/>
              </a:rPr>
              <a:t>Manage compliance with law and standards such as ISO 27001, data protection and FOI.</a:t>
            </a:r>
          </a:p>
          <a:p>
            <a:pPr marL="274320" indent="-274320">
              <a:spcAft>
                <a:spcPts val="1080"/>
              </a:spcAft>
              <a:buClr>
                <a:srgbClr val="0645AD"/>
              </a:buClr>
              <a:buFont typeface="Arial"/>
              <a:buChar char="•"/>
            </a:pPr>
            <a:r>
              <a:rPr sz="2400" b="0">
                <a:solidFill>
                  <a:srgbClr val="202122"/>
                </a:solidFill>
                <a:latin typeface="Calibri"/>
              </a:rPr>
              <a:t>Align organisational priorities with reducing cyber threats.</a:t>
            </a:r>
          </a:p>
        </p:txBody>
      </p:sp>
      <p:sp>
        <p:nvSpPr>
          <p:cNvPr id="7" name="Rounded Rectangle 6"/>
          <p:cNvSpPr/>
          <p:nvPr/>
        </p:nvSpPr>
        <p:spPr>
          <a:xfrm>
            <a:off x="7772400" y="1600200"/>
            <a:ext cx="3867912" cy="443484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74519"/>
            <a:ext cx="548640" cy="54864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a:t>
            </a:r>
          </a:p>
        </p:txBody>
      </p:sp>
      <p:sp>
        <p:nvSpPr>
          <p:cNvPr id="9" name="TextBox 8"/>
          <p:cNvSpPr txBox="1"/>
          <p:nvPr/>
        </p:nvSpPr>
        <p:spPr>
          <a:xfrm>
            <a:off x="8046720" y="2606040"/>
            <a:ext cx="3291840" cy="365760"/>
          </a:xfrm>
          <a:prstGeom prst="rect">
            <a:avLst/>
          </a:prstGeom>
          <a:noFill/>
        </p:spPr>
        <p:txBody>
          <a:bodyPr wrap="square" anchor="t" lIns="0" rIns="0" tIns="0" bIns="0"/>
          <a:lstStyle/>
          <a:p>
            <a:pPr algn="l"/>
            <a:r>
              <a:rPr sz="1300" b="1" i="0">
                <a:solidFill>
                  <a:srgbClr val="A9C8F0"/>
                </a:solidFill>
                <a:latin typeface="Calibri"/>
              </a:rPr>
              <a:t>KEY IDEA</a:t>
            </a:r>
          </a:p>
        </p:txBody>
      </p:sp>
      <p:sp>
        <p:nvSpPr>
          <p:cNvPr id="10" name="TextBox 9"/>
          <p:cNvSpPr txBox="1"/>
          <p:nvPr/>
        </p:nvSpPr>
        <p:spPr>
          <a:xfrm>
            <a:off x="8046720" y="3017520"/>
            <a:ext cx="3291840" cy="2926080"/>
          </a:xfrm>
          <a:prstGeom prst="rect">
            <a:avLst/>
          </a:prstGeom>
          <a:noFill/>
        </p:spPr>
        <p:txBody>
          <a:bodyPr wrap="square" anchor="t" lIns="0" rIns="0" tIns="0" bIns="0"/>
          <a:lstStyle/>
          <a:p>
            <a:pPr algn="l"/>
            <a:r>
              <a:rPr sz="2200" b="0" i="0">
                <a:solidFill>
                  <a:srgbClr val="FFFFFF"/>
                </a:solidFill>
                <a:latin typeface="Cambria"/>
              </a:rPr>
              <a:t>Governance decides who is responsible for security and how it is checked. Without it, controls exist but nobody owns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Why governance?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Governance, ITSM and Frameworks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5</a:t>
            </a:r>
          </a:p>
        </p:txBody>
      </p:sp>
      <p:sp>
        <p:nvSpPr>
          <p:cNvPr id="6" name="Oval 5"/>
          <p:cNvSpPr/>
          <p:nvPr/>
        </p:nvSpPr>
        <p:spPr>
          <a:xfrm>
            <a:off x="548640" y="169164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is a data controller?</a:t>
            </a:r>
          </a:p>
        </p:txBody>
      </p:sp>
      <p:sp>
        <p:nvSpPr>
          <p:cNvPr id="8" name="Oval 7"/>
          <p:cNvSpPr/>
          <p:nvPr/>
        </p:nvSpPr>
        <p:spPr>
          <a:xfrm>
            <a:off x="548640" y="310896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Give one thing governance manages compliance with.</a:t>
            </a:r>
          </a:p>
        </p:txBody>
      </p:sp>
      <p:sp>
        <p:nvSpPr>
          <p:cNvPr id="10" name="Oval 9"/>
          <p:cNvSpPr/>
          <p:nvPr/>
        </p:nvSpPr>
        <p:spPr>
          <a:xfrm>
            <a:off x="548640" y="452628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Why does governance need defined roles?</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Six IT governance principles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Governance, ITSM and Frameworks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6</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Six principles guide good IT governance.</a:t>
            </a:r>
          </a:p>
          <a:p>
            <a:pPr>
              <a:spcAft>
                <a:spcPts val="1320"/>
              </a:spcAft>
            </a:pPr>
            <a:r>
              <a:rPr sz="2200" b="1">
                <a:solidFill>
                  <a:srgbClr val="202122"/>
                </a:solidFill>
                <a:latin typeface="Calibri"/>
              </a:rPr>
              <a:t>Responsibility:</a:t>
            </a:r>
            <a:r>
              <a:rPr sz="2200" b="0">
                <a:solidFill>
                  <a:srgbClr val="202122"/>
                </a:solidFill>
                <a:latin typeface="Calibri"/>
              </a:rPr>
              <a:t> everyone knows their security role. Strategy: systems are secure by design and planned for future needs such as cloud. Acquisition: every purchase is evaluated for risk, benefit and cost, with transparent decisions.</a:t>
            </a:r>
          </a:p>
          <a:p>
            <a:pPr>
              <a:spcAft>
                <a:spcPts val="1320"/>
              </a:spcAft>
            </a:pPr>
            <a:r>
              <a:rPr sz="2200" b="1">
                <a:solidFill>
                  <a:srgbClr val="202122"/>
                </a:solidFill>
                <a:latin typeface="Calibri"/>
              </a:rPr>
              <a:t>Performance:</a:t>
            </a:r>
            <a:r>
              <a:rPr sz="2200" b="0">
                <a:solidFill>
                  <a:srgbClr val="202122"/>
                </a:solidFill>
                <a:latin typeface="Calibri"/>
              </a:rPr>
              <a:t> enough preventative and remedial capability to guarantee confidentiality, integrity and availability. Conformance: IT use follows mandatory law and regulation. Human behaviour: policies and decisions consider people, not just technology.</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Before buying a new cloud CRM, the acquisition principle means checking its security certifications, data location and exit costs, not just the price.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Six IT governance principles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Governance, ITSM and Frameworks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7</a:t>
            </a:r>
          </a:p>
        </p:txBody>
      </p:sp>
      <p:sp>
        <p:nvSpPr>
          <p:cNvPr id="6" name="Rounded Rectangle 5"/>
          <p:cNvSpPr/>
          <p:nvPr/>
        </p:nvSpPr>
        <p:spPr>
          <a:xfrm>
            <a:off x="548640"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8" name="TextBox 7"/>
          <p:cNvSpPr txBox="1"/>
          <p:nvPr/>
        </p:nvSpPr>
        <p:spPr>
          <a:xfrm>
            <a:off x="1371600" y="1801368"/>
            <a:ext cx="2509418" cy="512064"/>
          </a:xfrm>
          <a:prstGeom prst="rect">
            <a:avLst/>
          </a:prstGeom>
          <a:noFill/>
        </p:spPr>
        <p:txBody>
          <a:bodyPr wrap="square" anchor="ctr" lIns="0" rIns="0" tIns="0" bIns="0"/>
          <a:lstStyle/>
          <a:p>
            <a:pPr algn="l"/>
            <a:r>
              <a:rPr sz="1900" b="1" i="0">
                <a:solidFill>
                  <a:srgbClr val="03306E"/>
                </a:solidFill>
                <a:latin typeface="Calibri"/>
              </a:rPr>
              <a:t>Responsibility</a:t>
            </a:r>
          </a:p>
        </p:txBody>
      </p:sp>
      <p:sp>
        <p:nvSpPr>
          <p:cNvPr id="9" name="TextBox 8"/>
          <p:cNvSpPr txBox="1"/>
          <p:nvPr/>
        </p:nvSpPr>
        <p:spPr>
          <a:xfrm>
            <a:off x="777240" y="2468880"/>
            <a:ext cx="3058058" cy="1143000"/>
          </a:xfrm>
          <a:prstGeom prst="rect">
            <a:avLst/>
          </a:prstGeom>
          <a:noFill/>
        </p:spPr>
        <p:txBody>
          <a:bodyPr wrap="square" anchor="t" lIns="0" rIns="0" tIns="0" bIns="0"/>
          <a:lstStyle/>
          <a:p>
            <a:pPr algn="l"/>
            <a:r>
              <a:rPr sz="1800" b="0" i="0">
                <a:solidFill>
                  <a:srgbClr val="202122"/>
                </a:solidFill>
                <a:latin typeface="Calibri"/>
              </a:rPr>
              <a:t>Everyone understands their security role, e.g. asset owner, data controller.</a:t>
            </a:r>
          </a:p>
        </p:txBody>
      </p:sp>
      <p:sp>
        <p:nvSpPr>
          <p:cNvPr id="10" name="Rounded Rectangle 9"/>
          <p:cNvSpPr/>
          <p:nvPr/>
        </p:nvSpPr>
        <p:spPr>
          <a:xfrm>
            <a:off x="4338218"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66818" y="1828800"/>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2" name="TextBox 11"/>
          <p:cNvSpPr txBox="1"/>
          <p:nvPr/>
        </p:nvSpPr>
        <p:spPr>
          <a:xfrm>
            <a:off x="5161178" y="1801368"/>
            <a:ext cx="2509418" cy="512064"/>
          </a:xfrm>
          <a:prstGeom prst="rect">
            <a:avLst/>
          </a:prstGeom>
          <a:noFill/>
        </p:spPr>
        <p:txBody>
          <a:bodyPr wrap="square" anchor="ctr" lIns="0" rIns="0" tIns="0" bIns="0"/>
          <a:lstStyle/>
          <a:p>
            <a:pPr algn="l"/>
            <a:r>
              <a:rPr sz="1900" b="1" i="0">
                <a:solidFill>
                  <a:srgbClr val="03306E"/>
                </a:solidFill>
                <a:latin typeface="Calibri"/>
              </a:rPr>
              <a:t>Strategy</a:t>
            </a:r>
          </a:p>
        </p:txBody>
      </p:sp>
      <p:sp>
        <p:nvSpPr>
          <p:cNvPr id="13" name="TextBox 12"/>
          <p:cNvSpPr txBox="1"/>
          <p:nvPr/>
        </p:nvSpPr>
        <p:spPr>
          <a:xfrm>
            <a:off x="4566818" y="2468880"/>
            <a:ext cx="3058058" cy="1143000"/>
          </a:xfrm>
          <a:prstGeom prst="rect">
            <a:avLst/>
          </a:prstGeom>
          <a:noFill/>
        </p:spPr>
        <p:txBody>
          <a:bodyPr wrap="square" anchor="t" lIns="0" rIns="0" tIns="0" bIns="0"/>
          <a:lstStyle/>
          <a:p>
            <a:pPr algn="l"/>
            <a:r>
              <a:rPr sz="2000" b="0" i="0">
                <a:solidFill>
                  <a:srgbClr val="202122"/>
                </a:solidFill>
                <a:latin typeface="Calibri"/>
              </a:rPr>
              <a:t>Secure by design, planning for future needs like cloud.</a:t>
            </a:r>
          </a:p>
        </p:txBody>
      </p:sp>
      <p:sp>
        <p:nvSpPr>
          <p:cNvPr id="14" name="Rounded Rectangle 13"/>
          <p:cNvSpPr/>
          <p:nvPr/>
        </p:nvSpPr>
        <p:spPr>
          <a:xfrm>
            <a:off x="8127796"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56396" y="1828800"/>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6" name="TextBox 15"/>
          <p:cNvSpPr txBox="1"/>
          <p:nvPr/>
        </p:nvSpPr>
        <p:spPr>
          <a:xfrm>
            <a:off x="8950756" y="1801368"/>
            <a:ext cx="2509418" cy="512064"/>
          </a:xfrm>
          <a:prstGeom prst="rect">
            <a:avLst/>
          </a:prstGeom>
          <a:noFill/>
        </p:spPr>
        <p:txBody>
          <a:bodyPr wrap="square" anchor="ctr" lIns="0" rIns="0" tIns="0" bIns="0"/>
          <a:lstStyle/>
          <a:p>
            <a:pPr algn="l"/>
            <a:r>
              <a:rPr sz="1900" b="1" i="0">
                <a:solidFill>
                  <a:srgbClr val="03306E"/>
                </a:solidFill>
                <a:latin typeface="Calibri"/>
              </a:rPr>
              <a:t>Acquisition</a:t>
            </a:r>
          </a:p>
        </p:txBody>
      </p:sp>
      <p:sp>
        <p:nvSpPr>
          <p:cNvPr id="17" name="TextBox 16"/>
          <p:cNvSpPr txBox="1"/>
          <p:nvPr/>
        </p:nvSpPr>
        <p:spPr>
          <a:xfrm>
            <a:off x="8356396" y="2468880"/>
            <a:ext cx="3058058" cy="1143000"/>
          </a:xfrm>
          <a:prstGeom prst="rect">
            <a:avLst/>
          </a:prstGeom>
          <a:noFill/>
        </p:spPr>
        <p:txBody>
          <a:bodyPr wrap="square" anchor="t" lIns="0" rIns="0" tIns="0" bIns="0"/>
          <a:lstStyle/>
          <a:p>
            <a:pPr algn="l"/>
            <a:r>
              <a:rPr sz="2000" b="0" i="0">
                <a:solidFill>
                  <a:srgbClr val="202122"/>
                </a:solidFill>
                <a:latin typeface="Calibri"/>
              </a:rPr>
              <a:t>Every purchase evaluated for risk, benefit and cost.</a:t>
            </a:r>
          </a:p>
        </p:txBody>
      </p:sp>
      <p:sp>
        <p:nvSpPr>
          <p:cNvPr id="18" name="Rounded Rectangle 17"/>
          <p:cNvSpPr/>
          <p:nvPr/>
        </p:nvSpPr>
        <p:spPr>
          <a:xfrm>
            <a:off x="548640"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4251960"/>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20" name="TextBox 19"/>
          <p:cNvSpPr txBox="1"/>
          <p:nvPr/>
        </p:nvSpPr>
        <p:spPr>
          <a:xfrm>
            <a:off x="1371600" y="4224528"/>
            <a:ext cx="2509418" cy="512064"/>
          </a:xfrm>
          <a:prstGeom prst="rect">
            <a:avLst/>
          </a:prstGeom>
          <a:noFill/>
        </p:spPr>
        <p:txBody>
          <a:bodyPr wrap="square" anchor="ctr" lIns="0" rIns="0" tIns="0" bIns="0"/>
          <a:lstStyle/>
          <a:p>
            <a:pPr algn="l"/>
            <a:r>
              <a:rPr sz="1900" b="1" i="0">
                <a:solidFill>
                  <a:srgbClr val="03306E"/>
                </a:solidFill>
                <a:latin typeface="Calibri"/>
              </a:rPr>
              <a:t>Performance</a:t>
            </a:r>
          </a:p>
        </p:txBody>
      </p:sp>
      <p:sp>
        <p:nvSpPr>
          <p:cNvPr id="21" name="TextBox 20"/>
          <p:cNvSpPr txBox="1"/>
          <p:nvPr/>
        </p:nvSpPr>
        <p:spPr>
          <a:xfrm>
            <a:off x="777240" y="4892040"/>
            <a:ext cx="3058058" cy="1143000"/>
          </a:xfrm>
          <a:prstGeom prst="rect">
            <a:avLst/>
          </a:prstGeom>
          <a:noFill/>
        </p:spPr>
        <p:txBody>
          <a:bodyPr wrap="square" anchor="t" lIns="0" rIns="0" tIns="0" bIns="0"/>
          <a:lstStyle/>
          <a:p>
            <a:pPr algn="l"/>
            <a:r>
              <a:rPr sz="1900" b="0" i="0">
                <a:solidFill>
                  <a:srgbClr val="202122"/>
                </a:solidFill>
                <a:latin typeface="Calibri"/>
              </a:rPr>
              <a:t>Enough capability to guarantee confidentiality, integrity and availability.</a:t>
            </a:r>
          </a:p>
        </p:txBody>
      </p:sp>
      <p:sp>
        <p:nvSpPr>
          <p:cNvPr id="22" name="Rounded Rectangle 21"/>
          <p:cNvSpPr/>
          <p:nvPr/>
        </p:nvSpPr>
        <p:spPr>
          <a:xfrm>
            <a:off x="4338218"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4566818" y="4251960"/>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5</a:t>
            </a:r>
          </a:p>
        </p:txBody>
      </p:sp>
      <p:sp>
        <p:nvSpPr>
          <p:cNvPr id="24" name="TextBox 23"/>
          <p:cNvSpPr txBox="1"/>
          <p:nvPr/>
        </p:nvSpPr>
        <p:spPr>
          <a:xfrm>
            <a:off x="5161178" y="4224528"/>
            <a:ext cx="2509418" cy="512064"/>
          </a:xfrm>
          <a:prstGeom prst="rect">
            <a:avLst/>
          </a:prstGeom>
          <a:noFill/>
        </p:spPr>
        <p:txBody>
          <a:bodyPr wrap="square" anchor="ctr" lIns="0" rIns="0" tIns="0" bIns="0"/>
          <a:lstStyle/>
          <a:p>
            <a:pPr algn="l"/>
            <a:r>
              <a:rPr sz="1900" b="1" i="0">
                <a:solidFill>
                  <a:srgbClr val="03306E"/>
                </a:solidFill>
                <a:latin typeface="Calibri"/>
              </a:rPr>
              <a:t>Conformance</a:t>
            </a:r>
          </a:p>
        </p:txBody>
      </p:sp>
      <p:sp>
        <p:nvSpPr>
          <p:cNvPr id="25" name="TextBox 24"/>
          <p:cNvSpPr txBox="1"/>
          <p:nvPr/>
        </p:nvSpPr>
        <p:spPr>
          <a:xfrm>
            <a:off x="4566818" y="4892040"/>
            <a:ext cx="3058058" cy="1143000"/>
          </a:xfrm>
          <a:prstGeom prst="rect">
            <a:avLst/>
          </a:prstGeom>
          <a:noFill/>
        </p:spPr>
        <p:txBody>
          <a:bodyPr wrap="square" anchor="t" lIns="0" rIns="0" tIns="0" bIns="0"/>
          <a:lstStyle/>
          <a:p>
            <a:pPr algn="l"/>
            <a:r>
              <a:rPr sz="2000" b="0" i="0">
                <a:solidFill>
                  <a:srgbClr val="202122"/>
                </a:solidFill>
                <a:latin typeface="Calibri"/>
              </a:rPr>
              <a:t>IT use complies with legislation and regulation.</a:t>
            </a:r>
          </a:p>
        </p:txBody>
      </p:sp>
      <p:sp>
        <p:nvSpPr>
          <p:cNvPr id="26" name="Rounded Rectangle 25"/>
          <p:cNvSpPr/>
          <p:nvPr/>
        </p:nvSpPr>
        <p:spPr>
          <a:xfrm>
            <a:off x="8127796"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8356396" y="4251960"/>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6</a:t>
            </a:r>
          </a:p>
        </p:txBody>
      </p:sp>
      <p:sp>
        <p:nvSpPr>
          <p:cNvPr id="28" name="TextBox 27"/>
          <p:cNvSpPr txBox="1"/>
          <p:nvPr/>
        </p:nvSpPr>
        <p:spPr>
          <a:xfrm>
            <a:off x="8950756" y="4224528"/>
            <a:ext cx="2509418" cy="512064"/>
          </a:xfrm>
          <a:prstGeom prst="rect">
            <a:avLst/>
          </a:prstGeom>
          <a:noFill/>
        </p:spPr>
        <p:txBody>
          <a:bodyPr wrap="square" anchor="ctr" lIns="0" rIns="0" tIns="0" bIns="0"/>
          <a:lstStyle/>
          <a:p>
            <a:pPr algn="l"/>
            <a:r>
              <a:rPr sz="1900" b="1" i="0">
                <a:solidFill>
                  <a:srgbClr val="03306E"/>
                </a:solidFill>
                <a:latin typeface="Calibri"/>
              </a:rPr>
              <a:t>Human behaviour</a:t>
            </a:r>
          </a:p>
        </p:txBody>
      </p:sp>
      <p:sp>
        <p:nvSpPr>
          <p:cNvPr id="29" name="TextBox 28"/>
          <p:cNvSpPr txBox="1"/>
          <p:nvPr/>
        </p:nvSpPr>
        <p:spPr>
          <a:xfrm>
            <a:off x="8356396" y="4892040"/>
            <a:ext cx="3058058" cy="1143000"/>
          </a:xfrm>
          <a:prstGeom prst="rect">
            <a:avLst/>
          </a:prstGeom>
          <a:noFill/>
        </p:spPr>
        <p:txBody>
          <a:bodyPr wrap="square" anchor="t" lIns="0" rIns="0" tIns="0" bIns="0"/>
          <a:lstStyle/>
          <a:p>
            <a:pPr algn="l"/>
            <a:r>
              <a:rPr sz="2000" b="0" i="0">
                <a:solidFill>
                  <a:srgbClr val="202122"/>
                </a:solidFill>
                <a:latin typeface="Calibri"/>
              </a:rPr>
              <a:t>Technical and non-technical controls both considered.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Six IT governance principles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Governance, ITSM and Frameworks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8</a:t>
            </a:r>
          </a:p>
        </p:txBody>
      </p:sp>
      <p:sp>
        <p:nvSpPr>
          <p:cNvPr id="6" name="Oval 5"/>
          <p:cNvSpPr/>
          <p:nvPr/>
        </p:nvSpPr>
        <p:spPr>
          <a:xfrm>
            <a:off x="548640" y="169164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Which principle covers evaluating purchases?</a:t>
            </a:r>
          </a:p>
        </p:txBody>
      </p:sp>
      <p:sp>
        <p:nvSpPr>
          <p:cNvPr id="8" name="Oval 7"/>
          <p:cNvSpPr/>
          <p:nvPr/>
        </p:nvSpPr>
        <p:spPr>
          <a:xfrm>
            <a:off x="548640" y="310896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does 'secure by design' mean?</a:t>
            </a:r>
          </a:p>
        </p:txBody>
      </p:sp>
      <p:sp>
        <p:nvSpPr>
          <p:cNvPr id="10" name="Oval 9"/>
          <p:cNvSpPr/>
          <p:nvPr/>
        </p:nvSpPr>
        <p:spPr>
          <a:xfrm>
            <a:off x="548640" y="452628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Why does human behaviour matter in governance?</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IT service management (ITSM) processes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Governance, ITSM and Frameworks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9</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ITSM is how an organisation manages the end-to-end delivery of IT services to its users.</a:t>
            </a:r>
          </a:p>
          <a:p>
            <a:pPr>
              <a:spcAft>
                <a:spcPts val="1320"/>
              </a:spcAft>
            </a:pPr>
            <a:r>
              <a:rPr sz="2200" b="0">
                <a:solidFill>
                  <a:srgbClr val="202122"/>
                </a:solidFill>
                <a:latin typeface="Calibri"/>
              </a:rPr>
              <a:t>Service request management handles and tracks requests and incidents, such as a user reporting a suspicious email. Knowledge management keeps documentation current, such as standard hardened builds. IT asset management tracks hardware, software and configuration in a configuration management database (CMDB). Problem and incident management finds root causes and coordinates responses. Change management makes sure changes, like a new firewall rule, are agreed and recorded.</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suspected phishing email is logged as a request, handled by the incident process, the root cause fixed by problem management, and a new mail filter rule approved through change management.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IT service management (ITSM) processes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Governance, ITSM and Frameworks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10</a:t>
            </a:r>
          </a:p>
        </p:txBody>
      </p:sp>
      <p:sp>
        <p:nvSpPr>
          <p:cNvPr id="6" name="Rounded Rectangle 5"/>
          <p:cNvSpPr/>
          <p:nvPr/>
        </p:nvSpPr>
        <p:spPr>
          <a:xfrm>
            <a:off x="548640"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8" name="TextBox 7"/>
          <p:cNvSpPr txBox="1"/>
          <p:nvPr/>
        </p:nvSpPr>
        <p:spPr>
          <a:xfrm>
            <a:off x="1371600" y="1801368"/>
            <a:ext cx="2509418" cy="512064"/>
          </a:xfrm>
          <a:prstGeom prst="rect">
            <a:avLst/>
          </a:prstGeom>
          <a:noFill/>
        </p:spPr>
        <p:txBody>
          <a:bodyPr wrap="square" anchor="ctr" lIns="0" rIns="0" tIns="0" bIns="0"/>
          <a:lstStyle/>
          <a:p>
            <a:pPr algn="l"/>
            <a:r>
              <a:rPr sz="1900" b="1" i="0">
                <a:solidFill>
                  <a:srgbClr val="03306E"/>
                </a:solidFill>
                <a:latin typeface="Calibri"/>
              </a:rPr>
              <a:t>Service requests</a:t>
            </a:r>
          </a:p>
        </p:txBody>
      </p:sp>
      <p:sp>
        <p:nvSpPr>
          <p:cNvPr id="9" name="TextBox 8"/>
          <p:cNvSpPr txBox="1"/>
          <p:nvPr/>
        </p:nvSpPr>
        <p:spPr>
          <a:xfrm>
            <a:off x="777240" y="2468880"/>
            <a:ext cx="3058058" cy="1143000"/>
          </a:xfrm>
          <a:prstGeom prst="rect">
            <a:avLst/>
          </a:prstGeom>
          <a:noFill/>
        </p:spPr>
        <p:txBody>
          <a:bodyPr wrap="square" anchor="t" lIns="0" rIns="0" tIns="0" bIns="0"/>
          <a:lstStyle/>
          <a:p>
            <a:pPr algn="l"/>
            <a:r>
              <a:rPr sz="1800" b="0" i="0">
                <a:solidFill>
                  <a:srgbClr val="202122"/>
                </a:solidFill>
                <a:latin typeface="Calibri"/>
              </a:rPr>
              <a:t>Handle and track queries and incidents, e.g. reporting a suspected cyber incident.</a:t>
            </a:r>
          </a:p>
        </p:txBody>
      </p:sp>
      <p:sp>
        <p:nvSpPr>
          <p:cNvPr id="10" name="Rounded Rectangle 9"/>
          <p:cNvSpPr/>
          <p:nvPr/>
        </p:nvSpPr>
        <p:spPr>
          <a:xfrm>
            <a:off x="4338218"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66818" y="1828800"/>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2" name="TextBox 11"/>
          <p:cNvSpPr txBox="1"/>
          <p:nvPr/>
        </p:nvSpPr>
        <p:spPr>
          <a:xfrm>
            <a:off x="5161178" y="1801368"/>
            <a:ext cx="2509418" cy="512064"/>
          </a:xfrm>
          <a:prstGeom prst="rect">
            <a:avLst/>
          </a:prstGeom>
          <a:noFill/>
        </p:spPr>
        <p:txBody>
          <a:bodyPr wrap="square" anchor="ctr" lIns="0" rIns="0" tIns="0" bIns="0"/>
          <a:lstStyle/>
          <a:p>
            <a:pPr algn="l"/>
            <a:r>
              <a:rPr sz="1800" b="1" i="0">
                <a:solidFill>
                  <a:srgbClr val="03306E"/>
                </a:solidFill>
                <a:latin typeface="Calibri"/>
              </a:rPr>
              <a:t>Knowledge management</a:t>
            </a:r>
          </a:p>
        </p:txBody>
      </p:sp>
      <p:sp>
        <p:nvSpPr>
          <p:cNvPr id="13" name="TextBox 12"/>
          <p:cNvSpPr txBox="1"/>
          <p:nvPr/>
        </p:nvSpPr>
        <p:spPr>
          <a:xfrm>
            <a:off x="4566818" y="2468880"/>
            <a:ext cx="3058058" cy="1143000"/>
          </a:xfrm>
          <a:prstGeom prst="rect">
            <a:avLst/>
          </a:prstGeom>
          <a:noFill/>
        </p:spPr>
        <p:txBody>
          <a:bodyPr wrap="square" anchor="t" lIns="0" rIns="0" tIns="0" bIns="0"/>
          <a:lstStyle/>
          <a:p>
            <a:pPr algn="l"/>
            <a:r>
              <a:rPr sz="2000" b="0" i="0">
                <a:solidFill>
                  <a:srgbClr val="202122"/>
                </a:solidFill>
                <a:latin typeface="Calibri"/>
              </a:rPr>
              <a:t>Keep documentation current, e.g. standard hardened builds.</a:t>
            </a:r>
          </a:p>
        </p:txBody>
      </p:sp>
      <p:sp>
        <p:nvSpPr>
          <p:cNvPr id="14" name="Rounded Rectangle 13"/>
          <p:cNvSpPr/>
          <p:nvPr/>
        </p:nvSpPr>
        <p:spPr>
          <a:xfrm>
            <a:off x="8127796"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56396" y="1828800"/>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6" name="TextBox 15"/>
          <p:cNvSpPr txBox="1"/>
          <p:nvPr/>
        </p:nvSpPr>
        <p:spPr>
          <a:xfrm>
            <a:off x="8950756" y="1801368"/>
            <a:ext cx="2509418" cy="512064"/>
          </a:xfrm>
          <a:prstGeom prst="rect">
            <a:avLst/>
          </a:prstGeom>
          <a:noFill/>
        </p:spPr>
        <p:txBody>
          <a:bodyPr wrap="square" anchor="ctr" lIns="0" rIns="0" tIns="0" bIns="0"/>
          <a:lstStyle/>
          <a:p>
            <a:pPr algn="l"/>
            <a:r>
              <a:rPr sz="1900" b="1" i="0">
                <a:solidFill>
                  <a:srgbClr val="03306E"/>
                </a:solidFill>
                <a:latin typeface="Calibri"/>
              </a:rPr>
              <a:t>IT asset management</a:t>
            </a:r>
          </a:p>
        </p:txBody>
      </p:sp>
      <p:sp>
        <p:nvSpPr>
          <p:cNvPr id="17" name="TextBox 16"/>
          <p:cNvSpPr txBox="1"/>
          <p:nvPr/>
        </p:nvSpPr>
        <p:spPr>
          <a:xfrm>
            <a:off x="8356396" y="2468880"/>
            <a:ext cx="3058058" cy="1143000"/>
          </a:xfrm>
          <a:prstGeom prst="rect">
            <a:avLst/>
          </a:prstGeom>
          <a:noFill/>
        </p:spPr>
        <p:txBody>
          <a:bodyPr wrap="square" anchor="t" lIns="0" rIns="0" tIns="0" bIns="0"/>
          <a:lstStyle/>
          <a:p>
            <a:pPr algn="l"/>
            <a:r>
              <a:rPr sz="2000" b="0" i="0">
                <a:solidFill>
                  <a:srgbClr val="202122"/>
                </a:solidFill>
                <a:latin typeface="Calibri"/>
              </a:rPr>
              <a:t>Track hardware, software and configuration in a CMDB.</a:t>
            </a:r>
          </a:p>
        </p:txBody>
      </p:sp>
      <p:sp>
        <p:nvSpPr>
          <p:cNvPr id="18" name="Rounded Rectangle 17"/>
          <p:cNvSpPr/>
          <p:nvPr/>
        </p:nvSpPr>
        <p:spPr>
          <a:xfrm>
            <a:off x="548640"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4251960"/>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20" name="TextBox 19"/>
          <p:cNvSpPr txBox="1"/>
          <p:nvPr/>
        </p:nvSpPr>
        <p:spPr>
          <a:xfrm>
            <a:off x="1371600" y="4224528"/>
            <a:ext cx="2509418" cy="512064"/>
          </a:xfrm>
          <a:prstGeom prst="rect">
            <a:avLst/>
          </a:prstGeom>
          <a:noFill/>
        </p:spPr>
        <p:txBody>
          <a:bodyPr wrap="square" anchor="ctr" lIns="0" rIns="0" tIns="0" bIns="0"/>
          <a:lstStyle/>
          <a:p>
            <a:pPr algn="l"/>
            <a:r>
              <a:rPr sz="1800" b="1" i="0">
                <a:solidFill>
                  <a:srgbClr val="03306E"/>
                </a:solidFill>
                <a:latin typeface="Calibri"/>
              </a:rPr>
              <a:t>Problem and incident</a:t>
            </a:r>
          </a:p>
        </p:txBody>
      </p:sp>
      <p:sp>
        <p:nvSpPr>
          <p:cNvPr id="21" name="TextBox 20"/>
          <p:cNvSpPr txBox="1"/>
          <p:nvPr/>
        </p:nvSpPr>
        <p:spPr>
          <a:xfrm>
            <a:off x="777240" y="4892040"/>
            <a:ext cx="3058058" cy="1143000"/>
          </a:xfrm>
          <a:prstGeom prst="rect">
            <a:avLst/>
          </a:prstGeom>
          <a:noFill/>
        </p:spPr>
        <p:txBody>
          <a:bodyPr wrap="square" anchor="t" lIns="0" rIns="0" tIns="0" bIns="0"/>
          <a:lstStyle/>
          <a:p>
            <a:pPr algn="l"/>
            <a:r>
              <a:rPr sz="2000" b="0" i="0">
                <a:solidFill>
                  <a:srgbClr val="202122"/>
                </a:solidFill>
                <a:latin typeface="Calibri"/>
              </a:rPr>
              <a:t>Root cause analysis and coordinated response.</a:t>
            </a:r>
          </a:p>
        </p:txBody>
      </p:sp>
      <p:sp>
        <p:nvSpPr>
          <p:cNvPr id="22" name="Rounded Rectangle 21"/>
          <p:cNvSpPr/>
          <p:nvPr/>
        </p:nvSpPr>
        <p:spPr>
          <a:xfrm>
            <a:off x="4338218"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4566818" y="4251960"/>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5</a:t>
            </a:r>
          </a:p>
        </p:txBody>
      </p:sp>
      <p:sp>
        <p:nvSpPr>
          <p:cNvPr id="24" name="TextBox 23"/>
          <p:cNvSpPr txBox="1"/>
          <p:nvPr/>
        </p:nvSpPr>
        <p:spPr>
          <a:xfrm>
            <a:off x="5161178" y="4224528"/>
            <a:ext cx="2509418" cy="512064"/>
          </a:xfrm>
          <a:prstGeom prst="rect">
            <a:avLst/>
          </a:prstGeom>
          <a:noFill/>
        </p:spPr>
        <p:txBody>
          <a:bodyPr wrap="square" anchor="ctr" lIns="0" rIns="0" tIns="0" bIns="0"/>
          <a:lstStyle/>
          <a:p>
            <a:pPr algn="l"/>
            <a:r>
              <a:rPr sz="1900" b="1" i="0">
                <a:solidFill>
                  <a:srgbClr val="03306E"/>
                </a:solidFill>
                <a:latin typeface="Calibri"/>
              </a:rPr>
              <a:t>Change management</a:t>
            </a:r>
          </a:p>
        </p:txBody>
      </p:sp>
      <p:sp>
        <p:nvSpPr>
          <p:cNvPr id="25" name="TextBox 24"/>
          <p:cNvSpPr txBox="1"/>
          <p:nvPr/>
        </p:nvSpPr>
        <p:spPr>
          <a:xfrm>
            <a:off x="4566818" y="4892040"/>
            <a:ext cx="3058058" cy="1143000"/>
          </a:xfrm>
          <a:prstGeom prst="rect">
            <a:avLst/>
          </a:prstGeom>
          <a:noFill/>
        </p:spPr>
        <p:txBody>
          <a:bodyPr wrap="square" anchor="t" lIns="0" rIns="0" tIns="0" bIns="0"/>
          <a:lstStyle/>
          <a:p>
            <a:pPr algn="l"/>
            <a:r>
              <a:rPr sz="2000" b="0" i="0">
                <a:solidFill>
                  <a:srgbClr val="202122"/>
                </a:solidFill>
                <a:latin typeface="Calibri"/>
              </a:rPr>
              <a:t>Changes agreed and recorded, e.g. a new firewall rule.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IT service management (ITSM) processes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Governance, ITSM and Frameworks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11</a:t>
            </a:r>
          </a:p>
        </p:txBody>
      </p:sp>
      <p:sp>
        <p:nvSpPr>
          <p:cNvPr id="6" name="Oval 5"/>
          <p:cNvSpPr/>
          <p:nvPr/>
        </p:nvSpPr>
        <p:spPr>
          <a:xfrm>
            <a:off x="548640" y="169164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is a CMDB?</a:t>
            </a:r>
          </a:p>
        </p:txBody>
      </p:sp>
      <p:sp>
        <p:nvSpPr>
          <p:cNvPr id="8" name="Oval 7"/>
          <p:cNvSpPr/>
          <p:nvPr/>
        </p:nvSpPr>
        <p:spPr>
          <a:xfrm>
            <a:off x="548640" y="310896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Which ITSM process would approve a new firewall rule?</a:t>
            </a:r>
          </a:p>
        </p:txBody>
      </p:sp>
      <p:sp>
        <p:nvSpPr>
          <p:cNvPr id="10" name="Oval 9"/>
          <p:cNvSpPr/>
          <p:nvPr/>
        </p:nvSpPr>
        <p:spPr>
          <a:xfrm>
            <a:off x="548640" y="452628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does knowledge management do?</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The ITIL service lifecycle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Governance, ITSM and Frameworks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12</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ITIL is a widely used framework of best practice for ITSM. Its lifecycle has five stages.</a:t>
            </a:r>
          </a:p>
          <a:p>
            <a:pPr>
              <a:spcAft>
                <a:spcPts val="1320"/>
              </a:spcAft>
            </a:pPr>
            <a:r>
              <a:rPr sz="2200" b="0">
                <a:solidFill>
                  <a:srgbClr val="202122"/>
                </a:solidFill>
                <a:latin typeface="Calibri"/>
              </a:rPr>
              <a:t>Service strategy aligns IT services with business objectives. Service design designs services and everything supporting them: people, processes, products and partners. Service transition builds and deploys services with coordinated change management. Service operation runs them day to day, fulfilling requests and resolving failures. Continual service improvement makes them steadily more efficient and effective.</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Introducing a new VPN service: strategy (support remote working), design (capacity, security), transition (pilot then rollout), operation (helpdesk support), improvement (review connection drop-outs).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The ITIL service lifecycle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Governance, ITSM and Frameworks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13</a:t>
            </a:r>
          </a:p>
        </p:txBody>
      </p:sp>
      <p:sp>
        <p:nvSpPr>
          <p:cNvPr id="6" name="Rectangle 5"/>
          <p:cNvSpPr/>
          <p:nvPr/>
        </p:nvSpPr>
        <p:spPr>
          <a:xfrm>
            <a:off x="1603217" y="2656332"/>
            <a:ext cx="8985260" cy="36576"/>
          </a:xfrm>
          <a:prstGeom prst="rect">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283177" y="2354580"/>
            <a:ext cx="640080" cy="6400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8" name="TextBox 7"/>
          <p:cNvSpPr txBox="1"/>
          <p:nvPr/>
        </p:nvSpPr>
        <p:spPr>
          <a:xfrm>
            <a:off x="548640" y="3131820"/>
            <a:ext cx="2109155" cy="731520"/>
          </a:xfrm>
          <a:prstGeom prst="rect">
            <a:avLst/>
          </a:prstGeom>
          <a:noFill/>
        </p:spPr>
        <p:txBody>
          <a:bodyPr wrap="square" anchor="t" lIns="0" rIns="0" tIns="0" bIns="0"/>
          <a:lstStyle/>
          <a:p>
            <a:pPr algn="ctr"/>
            <a:r>
              <a:rPr sz="1700" b="1" i="0">
                <a:solidFill>
                  <a:srgbClr val="03306E"/>
                </a:solidFill>
                <a:latin typeface="Calibri"/>
              </a:rPr>
              <a:t>Strategy</a:t>
            </a:r>
          </a:p>
        </p:txBody>
      </p:sp>
      <p:sp>
        <p:nvSpPr>
          <p:cNvPr id="9" name="Rounded Rectangle 8"/>
          <p:cNvSpPr/>
          <p:nvPr/>
        </p:nvSpPr>
        <p:spPr>
          <a:xfrm>
            <a:off x="548640" y="3909060"/>
            <a:ext cx="2109155" cy="150876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4046220"/>
            <a:ext cx="1834835" cy="1234439"/>
          </a:xfrm>
          <a:prstGeom prst="rect">
            <a:avLst/>
          </a:prstGeom>
          <a:noFill/>
        </p:spPr>
        <p:txBody>
          <a:bodyPr wrap="square" anchor="t" lIns="0" rIns="0" tIns="0" bIns="0"/>
          <a:lstStyle/>
          <a:p>
            <a:pPr algn="l"/>
            <a:r>
              <a:rPr sz="1800" b="0" i="0">
                <a:solidFill>
                  <a:srgbClr val="202122"/>
                </a:solidFill>
                <a:latin typeface="Calibri"/>
              </a:rPr>
              <a:t>Align services with business objectives.</a:t>
            </a:r>
          </a:p>
        </p:txBody>
      </p:sp>
      <p:sp>
        <p:nvSpPr>
          <p:cNvPr id="11" name="Oval 10"/>
          <p:cNvSpPr/>
          <p:nvPr/>
        </p:nvSpPr>
        <p:spPr>
          <a:xfrm>
            <a:off x="3529492" y="2354580"/>
            <a:ext cx="640080" cy="6400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12" name="TextBox 11"/>
          <p:cNvSpPr txBox="1"/>
          <p:nvPr/>
        </p:nvSpPr>
        <p:spPr>
          <a:xfrm>
            <a:off x="2794955" y="3131820"/>
            <a:ext cx="2109155" cy="731520"/>
          </a:xfrm>
          <a:prstGeom prst="rect">
            <a:avLst/>
          </a:prstGeom>
          <a:noFill/>
        </p:spPr>
        <p:txBody>
          <a:bodyPr wrap="square" anchor="t" lIns="0" rIns="0" tIns="0" bIns="0"/>
          <a:lstStyle/>
          <a:p>
            <a:pPr algn="ctr"/>
            <a:r>
              <a:rPr sz="1700" b="1" i="0">
                <a:solidFill>
                  <a:srgbClr val="03306E"/>
                </a:solidFill>
                <a:latin typeface="Calibri"/>
              </a:rPr>
              <a:t>Design</a:t>
            </a:r>
          </a:p>
        </p:txBody>
      </p:sp>
      <p:sp>
        <p:nvSpPr>
          <p:cNvPr id="13" name="Rounded Rectangle 12"/>
          <p:cNvSpPr/>
          <p:nvPr/>
        </p:nvSpPr>
        <p:spPr>
          <a:xfrm>
            <a:off x="2794955" y="3909060"/>
            <a:ext cx="2109155" cy="150876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932115" y="4046220"/>
            <a:ext cx="1834835" cy="1234439"/>
          </a:xfrm>
          <a:prstGeom prst="rect">
            <a:avLst/>
          </a:prstGeom>
          <a:noFill/>
        </p:spPr>
        <p:txBody>
          <a:bodyPr wrap="square" anchor="t" lIns="0" rIns="0" tIns="0" bIns="0"/>
          <a:lstStyle/>
          <a:p>
            <a:pPr algn="l"/>
            <a:r>
              <a:rPr sz="1800" b="0" i="0">
                <a:solidFill>
                  <a:srgbClr val="202122"/>
                </a:solidFill>
                <a:latin typeface="Calibri"/>
              </a:rPr>
              <a:t>Design services for people, process, product and partners.</a:t>
            </a:r>
          </a:p>
        </p:txBody>
      </p:sp>
      <p:sp>
        <p:nvSpPr>
          <p:cNvPr id="15" name="Oval 14"/>
          <p:cNvSpPr/>
          <p:nvPr/>
        </p:nvSpPr>
        <p:spPr>
          <a:xfrm>
            <a:off x="5775807" y="2354580"/>
            <a:ext cx="640080" cy="6400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6" name="TextBox 15"/>
          <p:cNvSpPr txBox="1"/>
          <p:nvPr/>
        </p:nvSpPr>
        <p:spPr>
          <a:xfrm>
            <a:off x="5041270" y="3131820"/>
            <a:ext cx="2109155" cy="731520"/>
          </a:xfrm>
          <a:prstGeom prst="rect">
            <a:avLst/>
          </a:prstGeom>
          <a:noFill/>
        </p:spPr>
        <p:txBody>
          <a:bodyPr wrap="square" anchor="t" lIns="0" rIns="0" tIns="0" bIns="0"/>
          <a:lstStyle/>
          <a:p>
            <a:pPr algn="ctr"/>
            <a:r>
              <a:rPr sz="1700" b="1" i="0">
                <a:solidFill>
                  <a:srgbClr val="03306E"/>
                </a:solidFill>
                <a:latin typeface="Calibri"/>
              </a:rPr>
              <a:t>Transition</a:t>
            </a:r>
          </a:p>
        </p:txBody>
      </p:sp>
      <p:sp>
        <p:nvSpPr>
          <p:cNvPr id="17" name="Rounded Rectangle 16"/>
          <p:cNvSpPr/>
          <p:nvPr/>
        </p:nvSpPr>
        <p:spPr>
          <a:xfrm>
            <a:off x="5041270" y="3909060"/>
            <a:ext cx="2109155" cy="150876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178430" y="4046220"/>
            <a:ext cx="1834835" cy="1234439"/>
          </a:xfrm>
          <a:prstGeom prst="rect">
            <a:avLst/>
          </a:prstGeom>
          <a:noFill/>
        </p:spPr>
        <p:txBody>
          <a:bodyPr wrap="square" anchor="t" lIns="0" rIns="0" tIns="0" bIns="0"/>
          <a:lstStyle/>
          <a:p>
            <a:pPr algn="l"/>
            <a:r>
              <a:rPr sz="1800" b="0" i="0">
                <a:solidFill>
                  <a:srgbClr val="202122"/>
                </a:solidFill>
                <a:latin typeface="Calibri"/>
              </a:rPr>
              <a:t>Build and deploy with managed change.</a:t>
            </a:r>
          </a:p>
        </p:txBody>
      </p:sp>
      <p:sp>
        <p:nvSpPr>
          <p:cNvPr id="19" name="Oval 18"/>
          <p:cNvSpPr/>
          <p:nvPr/>
        </p:nvSpPr>
        <p:spPr>
          <a:xfrm>
            <a:off x="8022122" y="2354580"/>
            <a:ext cx="640080" cy="6400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20" name="TextBox 19"/>
          <p:cNvSpPr txBox="1"/>
          <p:nvPr/>
        </p:nvSpPr>
        <p:spPr>
          <a:xfrm>
            <a:off x="7287585" y="3131820"/>
            <a:ext cx="2109155" cy="731520"/>
          </a:xfrm>
          <a:prstGeom prst="rect">
            <a:avLst/>
          </a:prstGeom>
          <a:noFill/>
        </p:spPr>
        <p:txBody>
          <a:bodyPr wrap="square" anchor="t" lIns="0" rIns="0" tIns="0" bIns="0"/>
          <a:lstStyle/>
          <a:p>
            <a:pPr algn="ctr"/>
            <a:r>
              <a:rPr sz="1700" b="1" i="0">
                <a:solidFill>
                  <a:srgbClr val="03306E"/>
                </a:solidFill>
                <a:latin typeface="Calibri"/>
              </a:rPr>
              <a:t>Operation</a:t>
            </a:r>
          </a:p>
        </p:txBody>
      </p:sp>
      <p:sp>
        <p:nvSpPr>
          <p:cNvPr id="21" name="Rounded Rectangle 20"/>
          <p:cNvSpPr/>
          <p:nvPr/>
        </p:nvSpPr>
        <p:spPr>
          <a:xfrm>
            <a:off x="7287585" y="3909060"/>
            <a:ext cx="2109155" cy="150876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424745" y="4046220"/>
            <a:ext cx="1834835" cy="1234439"/>
          </a:xfrm>
          <a:prstGeom prst="rect">
            <a:avLst/>
          </a:prstGeom>
          <a:noFill/>
        </p:spPr>
        <p:txBody>
          <a:bodyPr wrap="square" anchor="t" lIns="0" rIns="0" tIns="0" bIns="0"/>
          <a:lstStyle/>
          <a:p>
            <a:pPr algn="l"/>
            <a:r>
              <a:rPr sz="1800" b="0" i="0">
                <a:solidFill>
                  <a:srgbClr val="202122"/>
                </a:solidFill>
                <a:latin typeface="Calibri"/>
              </a:rPr>
              <a:t>Fulfil requests, resolve failures, run routine tasks.</a:t>
            </a:r>
          </a:p>
        </p:txBody>
      </p:sp>
      <p:sp>
        <p:nvSpPr>
          <p:cNvPr id="23" name="Oval 22"/>
          <p:cNvSpPr/>
          <p:nvPr/>
        </p:nvSpPr>
        <p:spPr>
          <a:xfrm>
            <a:off x="10268437" y="2354580"/>
            <a:ext cx="640080" cy="6400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5</a:t>
            </a:r>
          </a:p>
        </p:txBody>
      </p:sp>
      <p:sp>
        <p:nvSpPr>
          <p:cNvPr id="24" name="TextBox 23"/>
          <p:cNvSpPr txBox="1"/>
          <p:nvPr/>
        </p:nvSpPr>
        <p:spPr>
          <a:xfrm>
            <a:off x="9533900" y="3131820"/>
            <a:ext cx="2109155" cy="731520"/>
          </a:xfrm>
          <a:prstGeom prst="rect">
            <a:avLst/>
          </a:prstGeom>
          <a:noFill/>
        </p:spPr>
        <p:txBody>
          <a:bodyPr wrap="square" anchor="t" lIns="0" rIns="0" tIns="0" bIns="0"/>
          <a:lstStyle/>
          <a:p>
            <a:pPr algn="ctr"/>
            <a:r>
              <a:rPr sz="1700" b="1" i="0">
                <a:solidFill>
                  <a:srgbClr val="03306E"/>
                </a:solidFill>
                <a:latin typeface="Calibri"/>
              </a:rPr>
              <a:t>Improvement</a:t>
            </a:r>
          </a:p>
        </p:txBody>
      </p:sp>
      <p:sp>
        <p:nvSpPr>
          <p:cNvPr id="25" name="Rounded Rectangle 24"/>
          <p:cNvSpPr/>
          <p:nvPr/>
        </p:nvSpPr>
        <p:spPr>
          <a:xfrm>
            <a:off x="9533900" y="3909060"/>
            <a:ext cx="2109155" cy="150876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671060" y="4046220"/>
            <a:ext cx="1834835" cy="1234439"/>
          </a:xfrm>
          <a:prstGeom prst="rect">
            <a:avLst/>
          </a:prstGeom>
          <a:noFill/>
        </p:spPr>
        <p:txBody>
          <a:bodyPr wrap="square" anchor="t" lIns="0" rIns="0" tIns="0" bIns="0"/>
          <a:lstStyle/>
          <a:p>
            <a:pPr algn="l"/>
            <a:r>
              <a:rPr sz="1800" b="0" i="0">
                <a:solidFill>
                  <a:srgbClr val="202122"/>
                </a:solidFill>
                <a:latin typeface="Calibri"/>
              </a:rPr>
              <a:t>Continual service improvement.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The ITIL service lifecycle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Governance, ITSM and Frameworks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14</a:t>
            </a:r>
          </a:p>
        </p:txBody>
      </p:sp>
      <p:sp>
        <p:nvSpPr>
          <p:cNvPr id="6" name="Oval 5"/>
          <p:cNvSpPr/>
          <p:nvPr/>
        </p:nvSpPr>
        <p:spPr>
          <a:xfrm>
            <a:off x="548640" y="169164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Name the five ITIL stages.</a:t>
            </a:r>
          </a:p>
        </p:txBody>
      </p:sp>
      <p:sp>
        <p:nvSpPr>
          <p:cNvPr id="8" name="Oval 7"/>
          <p:cNvSpPr/>
          <p:nvPr/>
        </p:nvSpPr>
        <p:spPr>
          <a:xfrm>
            <a:off x="548640" y="310896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Which stage builds and deploys services?</a:t>
            </a:r>
          </a:p>
        </p:txBody>
      </p:sp>
      <p:sp>
        <p:nvSpPr>
          <p:cNvPr id="10" name="Oval 9"/>
          <p:cNvSpPr/>
          <p:nvPr/>
        </p:nvSpPr>
        <p:spPr>
          <a:xfrm>
            <a:off x="548640" y="452628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Which stage handles day-to-day requests?</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Frameworks and standards for an ISMS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Governance, ITSM and Frameworks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15</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60"/>
              </a:spcAft>
            </a:pPr>
            <a:r>
              <a:rPr sz="2100" b="0">
                <a:solidFill>
                  <a:srgbClr val="202122"/>
                </a:solidFill>
                <a:latin typeface="Calibri"/>
              </a:rPr>
              <a:t>An information security management system (ISMS) is the set of policies and processes that keep an organisation secure and compliant, including an information security policy and an acceptable use policy.</a:t>
            </a:r>
          </a:p>
          <a:p>
            <a:pPr>
              <a:spcAft>
                <a:spcPts val="1260"/>
              </a:spcAft>
            </a:pPr>
            <a:r>
              <a:rPr sz="2100" b="1">
                <a:solidFill>
                  <a:srgbClr val="202122"/>
                </a:solidFill>
                <a:latin typeface="Calibri"/>
              </a:rPr>
              <a:t>Frameworks guide it:</a:t>
            </a:r>
            <a:r>
              <a:rPr sz="2100" b="0">
                <a:solidFill>
                  <a:srgbClr val="202122"/>
                </a:solidFill>
                <a:latin typeface="Calibri"/>
              </a:rPr>
              <a:t> COBIT for governing and managing IT, SOC 2 for assessing security, availability, integrity, confidentiality and privacy controls, and NIST for managing cyber risk.</a:t>
            </a:r>
          </a:p>
          <a:p>
            <a:pPr>
              <a:spcAft>
                <a:spcPts val="1260"/>
              </a:spcAft>
            </a:pPr>
            <a:r>
              <a:rPr sz="2100" b="1">
                <a:solidFill>
                  <a:srgbClr val="202122"/>
                </a:solidFill>
                <a:latin typeface="Calibri"/>
              </a:rPr>
              <a:t>Standards can be certified:</a:t>
            </a:r>
            <a:r>
              <a:rPr sz="2100" b="0">
                <a:solidFill>
                  <a:srgbClr val="202122"/>
                </a:solidFill>
                <a:latin typeface="Calibri"/>
              </a:rPr>
              <a:t> ISO 27001 for establishing and improving an ISMS, ISO/IEC 38500 for IT governance, Cyber Essentials and Cyber Essentials Plus, and PCI DSS for payment cards.</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software company wins a government contract only after gaining Cyber Essentials Plus and ISO 27001 certification.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Frameworks and standards for an ISMS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Governance, ITSM and Frameworks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16</a:t>
            </a:r>
          </a:p>
        </p:txBody>
      </p:sp>
      <p:graphicFrame>
        <p:nvGraphicFramePr>
          <p:cNvPr id="6" name="Table 5"/>
          <p:cNvGraphicFramePr>
            <a:graphicFrameLocks noGrp="1"/>
          </p:cNvGraphicFramePr>
          <p:nvPr/>
        </p:nvGraphicFramePr>
        <p:xfrm>
          <a:off x="548640" y="1600200"/>
          <a:ext cx="11094414" cy="4526280"/>
        </p:xfrm>
        <a:graphic>
          <a:graphicData uri="http://schemas.openxmlformats.org/drawingml/2006/table">
            <a:tbl>
              <a:tblPr firstRow="1" bandRow="1">
                <a:tableStyleId>{5C22544A-7EE6-4342-B048-85BDC9FD1C3A}</a:tableStyleId>
              </a:tblPr>
              <a:tblGrid>
                <a:gridCol w="3354125"/>
                <a:gridCol w="7740289"/>
              </a:tblGrid>
              <a:tr h="565785">
                <a:tc>
                  <a:txBody>
                    <a:bodyPr wrap="square"/>
                    <a:lstStyle/>
                    <a:p>
                      <a:r>
                        <a:rPr sz="1500" b="1">
                          <a:solidFill>
                            <a:srgbClr val="FFFFFF"/>
                          </a:solidFill>
                          <a:latin typeface="Calibri"/>
                        </a:rPr>
                        <a:t>Name</a:t>
                      </a:r>
                    </a:p>
                  </a:txBody>
                  <a:tcPr marL="91440" marR="91440" anchor="ctr">
                    <a:solidFill>
                      <a:srgbClr val="03306E"/>
                    </a:solidFill>
                  </a:tcPr>
                </a:tc>
                <a:tc>
                  <a:txBody>
                    <a:bodyPr wrap="square"/>
                    <a:lstStyle/>
                    <a:p>
                      <a:r>
                        <a:rPr sz="1500" b="1">
                          <a:solidFill>
                            <a:srgbClr val="FFFFFF"/>
                          </a:solidFill>
                          <a:latin typeface="Calibri"/>
                        </a:rPr>
                        <a:t>Purpose</a:t>
                      </a:r>
                    </a:p>
                  </a:txBody>
                  <a:tcPr marL="91440" marR="91440" anchor="ctr">
                    <a:solidFill>
                      <a:srgbClr val="03306E"/>
                    </a:solidFill>
                  </a:tcPr>
                </a:tc>
              </a:tr>
              <a:tr h="565785">
                <a:tc>
                  <a:txBody>
                    <a:bodyPr wrap="square"/>
                    <a:lstStyle/>
                    <a:p>
                      <a:r>
                        <a:rPr sz="1500" b="1">
                          <a:solidFill>
                            <a:srgbClr val="03306E"/>
                          </a:solidFill>
                          <a:latin typeface="Calibri"/>
                        </a:rPr>
                        <a:t>COBIT</a:t>
                      </a:r>
                    </a:p>
                  </a:txBody>
                  <a:tcPr marL="91440" marR="91440" anchor="ctr">
                    <a:solidFill>
                      <a:srgbClr val="FFFFFF"/>
                    </a:solidFill>
                  </a:tcPr>
                </a:tc>
                <a:tc>
                  <a:txBody>
                    <a:bodyPr wrap="square"/>
                    <a:lstStyle/>
                    <a:p>
                      <a:r>
                        <a:rPr sz="1500" b="0">
                          <a:solidFill>
                            <a:srgbClr val="202122"/>
                          </a:solidFill>
                          <a:latin typeface="Calibri"/>
                        </a:rPr>
                        <a:t>Governance and management of IT</a:t>
                      </a:r>
                    </a:p>
                  </a:txBody>
                  <a:tcPr marL="91440" marR="91440" anchor="ctr">
                    <a:solidFill>
                      <a:srgbClr val="FFFFFF"/>
                    </a:solidFill>
                  </a:tcPr>
                </a:tc>
              </a:tr>
              <a:tr h="565785">
                <a:tc>
                  <a:txBody>
                    <a:bodyPr wrap="square"/>
                    <a:lstStyle/>
                    <a:p>
                      <a:r>
                        <a:rPr sz="1500" b="1">
                          <a:solidFill>
                            <a:srgbClr val="03306E"/>
                          </a:solidFill>
                          <a:latin typeface="Calibri"/>
                        </a:rPr>
                        <a:t>SOC 2</a:t>
                      </a:r>
                    </a:p>
                  </a:txBody>
                  <a:tcPr marL="91440" marR="91440" anchor="ctr">
                    <a:solidFill>
                      <a:srgbClr val="EAF3FF"/>
                    </a:solidFill>
                  </a:tcPr>
                </a:tc>
                <a:tc>
                  <a:txBody>
                    <a:bodyPr wrap="square"/>
                    <a:lstStyle/>
                    <a:p>
                      <a:r>
                        <a:rPr sz="1500" b="0">
                          <a:solidFill>
                            <a:srgbClr val="202122"/>
                          </a:solidFill>
                          <a:latin typeface="Calibri"/>
                        </a:rPr>
                        <a:t>Assesses security, availability, integrity, confidentiality and privacy controls</a:t>
                      </a:r>
                    </a:p>
                  </a:txBody>
                  <a:tcPr marL="91440" marR="91440" anchor="ctr">
                    <a:solidFill>
                      <a:srgbClr val="EAF3FF"/>
                    </a:solidFill>
                  </a:tcPr>
                </a:tc>
              </a:tr>
              <a:tr h="565785">
                <a:tc>
                  <a:txBody>
                    <a:bodyPr wrap="square"/>
                    <a:lstStyle/>
                    <a:p>
                      <a:r>
                        <a:rPr sz="1500" b="1">
                          <a:solidFill>
                            <a:srgbClr val="03306E"/>
                          </a:solidFill>
                          <a:latin typeface="Calibri"/>
                        </a:rPr>
                        <a:t>NIST</a:t>
                      </a:r>
                    </a:p>
                  </a:txBody>
                  <a:tcPr marL="91440" marR="91440" anchor="ctr">
                    <a:solidFill>
                      <a:srgbClr val="FFFFFF"/>
                    </a:solidFill>
                  </a:tcPr>
                </a:tc>
                <a:tc>
                  <a:txBody>
                    <a:bodyPr wrap="square"/>
                    <a:lstStyle/>
                    <a:p>
                      <a:r>
                        <a:rPr sz="1500" b="0">
                          <a:solidFill>
                            <a:srgbClr val="202122"/>
                          </a:solidFill>
                          <a:latin typeface="Calibri"/>
                        </a:rPr>
                        <a:t>Helps organisations manage cyber risk</a:t>
                      </a:r>
                    </a:p>
                  </a:txBody>
                  <a:tcPr marL="91440" marR="91440" anchor="ctr">
                    <a:solidFill>
                      <a:srgbClr val="FFFFFF"/>
                    </a:solidFill>
                  </a:tcPr>
                </a:tc>
              </a:tr>
              <a:tr h="565785">
                <a:tc>
                  <a:txBody>
                    <a:bodyPr wrap="square"/>
                    <a:lstStyle/>
                    <a:p>
                      <a:r>
                        <a:rPr sz="1500" b="1">
                          <a:solidFill>
                            <a:srgbClr val="03306E"/>
                          </a:solidFill>
                          <a:latin typeface="Calibri"/>
                        </a:rPr>
                        <a:t>ISO 27001</a:t>
                      </a:r>
                    </a:p>
                  </a:txBody>
                  <a:tcPr marL="91440" marR="91440" anchor="ctr">
                    <a:solidFill>
                      <a:srgbClr val="EAF3FF"/>
                    </a:solidFill>
                  </a:tcPr>
                </a:tc>
                <a:tc>
                  <a:txBody>
                    <a:bodyPr wrap="square"/>
                    <a:lstStyle/>
                    <a:p>
                      <a:r>
                        <a:rPr sz="1500" b="0">
                          <a:solidFill>
                            <a:srgbClr val="202122"/>
                          </a:solidFill>
                          <a:latin typeface="Calibri"/>
                        </a:rPr>
                        <a:t>Establish, implement, maintain and improve an ISMS</a:t>
                      </a:r>
                    </a:p>
                  </a:txBody>
                  <a:tcPr marL="91440" marR="91440" anchor="ctr">
                    <a:solidFill>
                      <a:srgbClr val="EAF3FF"/>
                    </a:solidFill>
                  </a:tcPr>
                </a:tc>
              </a:tr>
              <a:tr h="565785">
                <a:tc>
                  <a:txBody>
                    <a:bodyPr wrap="square"/>
                    <a:lstStyle/>
                    <a:p>
                      <a:r>
                        <a:rPr sz="1500" b="1">
                          <a:solidFill>
                            <a:srgbClr val="03306E"/>
                          </a:solidFill>
                          <a:latin typeface="Calibri"/>
                        </a:rPr>
                        <a:t>ISO/IEC 38500</a:t>
                      </a:r>
                    </a:p>
                  </a:txBody>
                  <a:tcPr marL="91440" marR="91440" anchor="ctr">
                    <a:solidFill>
                      <a:srgbClr val="FFFFFF"/>
                    </a:solidFill>
                  </a:tcPr>
                </a:tc>
                <a:tc>
                  <a:txBody>
                    <a:bodyPr wrap="square"/>
                    <a:lstStyle/>
                    <a:p>
                      <a:r>
                        <a:rPr sz="1500" b="0">
                          <a:solidFill>
                            <a:srgbClr val="202122"/>
                          </a:solidFill>
                          <a:latin typeface="Calibri"/>
                        </a:rPr>
                        <a:t>Framework for IT governance</a:t>
                      </a:r>
                    </a:p>
                  </a:txBody>
                  <a:tcPr marL="91440" marR="91440" anchor="ctr">
                    <a:solidFill>
                      <a:srgbClr val="FFFFFF"/>
                    </a:solidFill>
                  </a:tcPr>
                </a:tc>
              </a:tr>
              <a:tr h="565785">
                <a:tc>
                  <a:txBody>
                    <a:bodyPr wrap="square"/>
                    <a:lstStyle/>
                    <a:p>
                      <a:r>
                        <a:rPr sz="1500" b="1">
                          <a:solidFill>
                            <a:srgbClr val="03306E"/>
                          </a:solidFill>
                          <a:latin typeface="Calibri"/>
                        </a:rPr>
                        <a:t>Cyber Essentials (Plus)</a:t>
                      </a:r>
                    </a:p>
                  </a:txBody>
                  <a:tcPr marL="91440" marR="91440" anchor="ctr">
                    <a:solidFill>
                      <a:srgbClr val="EAF3FF"/>
                    </a:solidFill>
                  </a:tcPr>
                </a:tc>
                <a:tc>
                  <a:txBody>
                    <a:bodyPr wrap="square"/>
                    <a:lstStyle/>
                    <a:p>
                      <a:r>
                        <a:rPr sz="1500" b="0">
                          <a:solidFill>
                            <a:srgbClr val="202122"/>
                          </a:solidFill>
                          <a:latin typeface="Calibri"/>
                        </a:rPr>
                        <a:t>Government-backed accreditation scheme</a:t>
                      </a:r>
                    </a:p>
                  </a:txBody>
                  <a:tcPr marL="91440" marR="91440" anchor="ctr">
                    <a:solidFill>
                      <a:srgbClr val="EAF3FF"/>
                    </a:solidFill>
                  </a:tcPr>
                </a:tc>
              </a:tr>
              <a:tr h="565785">
                <a:tc>
                  <a:txBody>
                    <a:bodyPr wrap="square"/>
                    <a:lstStyle/>
                    <a:p>
                      <a:r>
                        <a:rPr sz="1500" b="1">
                          <a:solidFill>
                            <a:srgbClr val="03306E"/>
                          </a:solidFill>
                          <a:latin typeface="Calibri"/>
                        </a:rPr>
                        <a:t>PCI DSS</a:t>
                      </a:r>
                    </a:p>
                  </a:txBody>
                  <a:tcPr marL="91440" marR="91440" anchor="ctr">
                    <a:solidFill>
                      <a:srgbClr val="FFFFFF"/>
                    </a:solidFill>
                  </a:tcPr>
                </a:tc>
                <a:tc>
                  <a:txBody>
                    <a:bodyPr wrap="square"/>
                    <a:lstStyle/>
                    <a:p>
                      <a:r>
                        <a:rPr sz="1500" b="0">
                          <a:solidFill>
                            <a:srgbClr val="202122"/>
                          </a:solidFill>
                          <a:latin typeface="Calibri"/>
                        </a:rPr>
                        <a:t>Reduces payment card fraud</a:t>
                      </a:r>
                    </a:p>
                  </a:txBody>
                  <a:tcPr marL="91440" marR="91440" anchor="ct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Frameworks and standards for an ISMS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Governance, ITSM and Frameworks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17</a:t>
            </a:r>
          </a:p>
        </p:txBody>
      </p:sp>
      <p:sp>
        <p:nvSpPr>
          <p:cNvPr id="6" name="Oval 5"/>
          <p:cNvSpPr/>
          <p:nvPr/>
        </p:nvSpPr>
        <p:spPr>
          <a:xfrm>
            <a:off x="548640" y="169164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is an ISMS?</a:t>
            </a:r>
          </a:p>
        </p:txBody>
      </p:sp>
      <p:sp>
        <p:nvSpPr>
          <p:cNvPr id="8" name="Oval 7"/>
          <p:cNvSpPr/>
          <p:nvPr/>
        </p:nvSpPr>
        <p:spPr>
          <a:xfrm>
            <a:off x="548640" y="310896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Which standard certifies an ISMS?</a:t>
            </a:r>
          </a:p>
        </p:txBody>
      </p:sp>
      <p:sp>
        <p:nvSpPr>
          <p:cNvPr id="10" name="Oval 9"/>
          <p:cNvSpPr/>
          <p:nvPr/>
        </p:nvSpPr>
        <p:spPr>
          <a:xfrm>
            <a:off x="548640" y="452628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is the difference between Cyber Essentials and Cyber Essentials Plus?</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Assessing a security request</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Governance, ITSM and Frameworks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18</a:t>
            </a:r>
          </a:p>
        </p:txBody>
      </p:sp>
      <p:sp>
        <p:nvSpPr>
          <p:cNvPr id="6" name="Rounded Rectangle 5"/>
          <p:cNvSpPr/>
          <p:nvPr/>
        </p:nvSpPr>
        <p:spPr>
          <a:xfrm>
            <a:off x="548640"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8" name="TextBox 7"/>
          <p:cNvSpPr txBox="1"/>
          <p:nvPr/>
        </p:nvSpPr>
        <p:spPr>
          <a:xfrm>
            <a:off x="1371600" y="1801368"/>
            <a:ext cx="2509418" cy="512064"/>
          </a:xfrm>
          <a:prstGeom prst="rect">
            <a:avLst/>
          </a:prstGeom>
          <a:noFill/>
        </p:spPr>
        <p:txBody>
          <a:bodyPr wrap="square" anchor="ctr" lIns="0" rIns="0" tIns="0" bIns="0"/>
          <a:lstStyle/>
          <a:p>
            <a:pPr algn="l"/>
            <a:r>
              <a:rPr sz="1900" b="1" i="0">
                <a:solidFill>
                  <a:srgbClr val="03306E"/>
                </a:solidFill>
                <a:latin typeface="Calibri"/>
              </a:rPr>
              <a:t>Origin</a:t>
            </a:r>
          </a:p>
        </p:txBody>
      </p:sp>
      <p:sp>
        <p:nvSpPr>
          <p:cNvPr id="9" name="TextBox 8"/>
          <p:cNvSpPr txBox="1"/>
          <p:nvPr/>
        </p:nvSpPr>
        <p:spPr>
          <a:xfrm>
            <a:off x="777240" y="2468880"/>
            <a:ext cx="3058058" cy="1143000"/>
          </a:xfrm>
          <a:prstGeom prst="rect">
            <a:avLst/>
          </a:prstGeom>
          <a:noFill/>
        </p:spPr>
        <p:txBody>
          <a:bodyPr wrap="square" anchor="t" lIns="0" rIns="0" tIns="0" bIns="0"/>
          <a:lstStyle/>
          <a:p>
            <a:pPr algn="l"/>
            <a:r>
              <a:rPr sz="2000" b="0" i="0">
                <a:solidFill>
                  <a:srgbClr val="202122"/>
                </a:solidFill>
                <a:latin typeface="Calibri"/>
              </a:rPr>
              <a:t>Where did the request really come from?</a:t>
            </a:r>
          </a:p>
        </p:txBody>
      </p:sp>
      <p:sp>
        <p:nvSpPr>
          <p:cNvPr id="10" name="Rounded Rectangle 9"/>
          <p:cNvSpPr/>
          <p:nvPr/>
        </p:nvSpPr>
        <p:spPr>
          <a:xfrm>
            <a:off x="4338218"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66818" y="1828800"/>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2" name="TextBox 11"/>
          <p:cNvSpPr txBox="1"/>
          <p:nvPr/>
        </p:nvSpPr>
        <p:spPr>
          <a:xfrm>
            <a:off x="5161178" y="1801368"/>
            <a:ext cx="2509418" cy="512064"/>
          </a:xfrm>
          <a:prstGeom prst="rect">
            <a:avLst/>
          </a:prstGeom>
          <a:noFill/>
        </p:spPr>
        <p:txBody>
          <a:bodyPr wrap="square" anchor="ctr" lIns="0" rIns="0" tIns="0" bIns="0"/>
          <a:lstStyle/>
          <a:p>
            <a:pPr algn="l"/>
            <a:r>
              <a:rPr sz="1900" b="1" i="0">
                <a:solidFill>
                  <a:srgbClr val="03306E"/>
                </a:solidFill>
                <a:latin typeface="Calibri"/>
              </a:rPr>
              <a:t>Reason</a:t>
            </a:r>
          </a:p>
        </p:txBody>
      </p:sp>
      <p:sp>
        <p:nvSpPr>
          <p:cNvPr id="13" name="TextBox 12"/>
          <p:cNvSpPr txBox="1"/>
          <p:nvPr/>
        </p:nvSpPr>
        <p:spPr>
          <a:xfrm>
            <a:off x="4566818" y="2468880"/>
            <a:ext cx="3058058" cy="1143000"/>
          </a:xfrm>
          <a:prstGeom prst="rect">
            <a:avLst/>
          </a:prstGeom>
          <a:noFill/>
        </p:spPr>
        <p:txBody>
          <a:bodyPr wrap="square" anchor="t" lIns="0" rIns="0" tIns="0" bIns="0"/>
          <a:lstStyle/>
          <a:p>
            <a:pPr algn="l"/>
            <a:r>
              <a:rPr sz="2000" b="0" i="0">
                <a:solidFill>
                  <a:srgbClr val="202122"/>
                </a:solidFill>
                <a:latin typeface="Calibri"/>
              </a:rPr>
              <a:t>Is there a genuine business need?</a:t>
            </a:r>
          </a:p>
        </p:txBody>
      </p:sp>
      <p:sp>
        <p:nvSpPr>
          <p:cNvPr id="14" name="Rounded Rectangle 13"/>
          <p:cNvSpPr/>
          <p:nvPr/>
        </p:nvSpPr>
        <p:spPr>
          <a:xfrm>
            <a:off x="8127796"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56396" y="1828800"/>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6" name="TextBox 15"/>
          <p:cNvSpPr txBox="1"/>
          <p:nvPr/>
        </p:nvSpPr>
        <p:spPr>
          <a:xfrm>
            <a:off x="8950756" y="1801368"/>
            <a:ext cx="2509418" cy="512064"/>
          </a:xfrm>
          <a:prstGeom prst="rect">
            <a:avLst/>
          </a:prstGeom>
          <a:noFill/>
        </p:spPr>
        <p:txBody>
          <a:bodyPr wrap="square" anchor="ctr" lIns="0" rIns="0" tIns="0" bIns="0"/>
          <a:lstStyle/>
          <a:p>
            <a:pPr algn="l"/>
            <a:r>
              <a:rPr sz="1900" b="1" i="0">
                <a:solidFill>
                  <a:srgbClr val="03306E"/>
                </a:solidFill>
                <a:latin typeface="Calibri"/>
              </a:rPr>
              <a:t>Requestor</a:t>
            </a:r>
          </a:p>
        </p:txBody>
      </p:sp>
      <p:sp>
        <p:nvSpPr>
          <p:cNvPr id="17" name="TextBox 16"/>
          <p:cNvSpPr txBox="1"/>
          <p:nvPr/>
        </p:nvSpPr>
        <p:spPr>
          <a:xfrm>
            <a:off x="8356396" y="2468880"/>
            <a:ext cx="3058058" cy="1143000"/>
          </a:xfrm>
          <a:prstGeom prst="rect">
            <a:avLst/>
          </a:prstGeom>
          <a:noFill/>
        </p:spPr>
        <p:txBody>
          <a:bodyPr wrap="square" anchor="t" lIns="0" rIns="0" tIns="0" bIns="0"/>
          <a:lstStyle/>
          <a:p>
            <a:pPr algn="l"/>
            <a:r>
              <a:rPr sz="2000" b="0" i="0">
                <a:solidFill>
                  <a:srgbClr val="202122"/>
                </a:solidFill>
                <a:latin typeface="Calibri"/>
              </a:rPr>
              <a:t>What is their status and current permission level?</a:t>
            </a:r>
          </a:p>
        </p:txBody>
      </p:sp>
      <p:sp>
        <p:nvSpPr>
          <p:cNvPr id="18" name="Rounded Rectangle 17"/>
          <p:cNvSpPr/>
          <p:nvPr/>
        </p:nvSpPr>
        <p:spPr>
          <a:xfrm>
            <a:off x="548640"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4251960"/>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20" name="TextBox 19"/>
          <p:cNvSpPr txBox="1"/>
          <p:nvPr/>
        </p:nvSpPr>
        <p:spPr>
          <a:xfrm>
            <a:off x="1371600" y="4224528"/>
            <a:ext cx="2509418" cy="512064"/>
          </a:xfrm>
          <a:prstGeom prst="rect">
            <a:avLst/>
          </a:prstGeom>
          <a:noFill/>
        </p:spPr>
        <p:txBody>
          <a:bodyPr wrap="square" anchor="ctr" lIns="0" rIns="0" tIns="0" bIns="0"/>
          <a:lstStyle/>
          <a:p>
            <a:pPr algn="l"/>
            <a:r>
              <a:rPr sz="1900" b="1" i="0">
                <a:solidFill>
                  <a:srgbClr val="03306E"/>
                </a:solidFill>
                <a:latin typeface="Calibri"/>
              </a:rPr>
              <a:t>Sensitivity</a:t>
            </a:r>
          </a:p>
        </p:txBody>
      </p:sp>
      <p:sp>
        <p:nvSpPr>
          <p:cNvPr id="21" name="TextBox 20"/>
          <p:cNvSpPr txBox="1"/>
          <p:nvPr/>
        </p:nvSpPr>
        <p:spPr>
          <a:xfrm>
            <a:off x="777240" y="4892040"/>
            <a:ext cx="3058058" cy="1143000"/>
          </a:xfrm>
          <a:prstGeom prst="rect">
            <a:avLst/>
          </a:prstGeom>
          <a:noFill/>
        </p:spPr>
        <p:txBody>
          <a:bodyPr wrap="square" anchor="t" lIns="0" rIns="0" tIns="0" bIns="0"/>
          <a:lstStyle/>
          <a:p>
            <a:pPr algn="l"/>
            <a:r>
              <a:rPr sz="2000" b="0" i="0">
                <a:solidFill>
                  <a:srgbClr val="202122"/>
                </a:solidFill>
                <a:latin typeface="Calibri"/>
              </a:rPr>
              <a:t>Would it expose personal data?</a:t>
            </a:r>
          </a:p>
        </p:txBody>
      </p:sp>
      <p:sp>
        <p:nvSpPr>
          <p:cNvPr id="22" name="Rounded Rectangle 21"/>
          <p:cNvSpPr/>
          <p:nvPr/>
        </p:nvSpPr>
        <p:spPr>
          <a:xfrm>
            <a:off x="4338218"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4566818" y="4251960"/>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5</a:t>
            </a:r>
          </a:p>
        </p:txBody>
      </p:sp>
      <p:sp>
        <p:nvSpPr>
          <p:cNvPr id="24" name="TextBox 23"/>
          <p:cNvSpPr txBox="1"/>
          <p:nvPr/>
        </p:nvSpPr>
        <p:spPr>
          <a:xfrm>
            <a:off x="5161178" y="4224528"/>
            <a:ext cx="2509418" cy="512064"/>
          </a:xfrm>
          <a:prstGeom prst="rect">
            <a:avLst/>
          </a:prstGeom>
          <a:noFill/>
        </p:spPr>
        <p:txBody>
          <a:bodyPr wrap="square" anchor="ctr" lIns="0" rIns="0" tIns="0" bIns="0"/>
          <a:lstStyle/>
          <a:p>
            <a:pPr algn="l"/>
            <a:r>
              <a:rPr sz="1900" b="1" i="0">
                <a:solidFill>
                  <a:srgbClr val="03306E"/>
                </a:solidFill>
                <a:latin typeface="Calibri"/>
              </a:rPr>
              <a:t>New risk</a:t>
            </a:r>
          </a:p>
        </p:txBody>
      </p:sp>
      <p:sp>
        <p:nvSpPr>
          <p:cNvPr id="25" name="TextBox 24"/>
          <p:cNvSpPr txBox="1"/>
          <p:nvPr/>
        </p:nvSpPr>
        <p:spPr>
          <a:xfrm>
            <a:off x="4566818" y="4892040"/>
            <a:ext cx="3058058" cy="1143000"/>
          </a:xfrm>
          <a:prstGeom prst="rect">
            <a:avLst/>
          </a:prstGeom>
          <a:noFill/>
        </p:spPr>
        <p:txBody>
          <a:bodyPr wrap="square" anchor="t" lIns="0" rIns="0" tIns="0" bIns="0"/>
          <a:lstStyle/>
          <a:p>
            <a:pPr algn="l"/>
            <a:r>
              <a:rPr sz="2000" b="0" i="0">
                <a:solidFill>
                  <a:srgbClr val="202122"/>
                </a:solidFill>
                <a:latin typeface="Calibri"/>
              </a:rPr>
              <a:t>What risk would it introduce?</a:t>
            </a:r>
          </a:p>
        </p:txBody>
      </p:sp>
      <p:sp>
        <p:nvSpPr>
          <p:cNvPr id="26" name="Rounded Rectangle 25"/>
          <p:cNvSpPr/>
          <p:nvPr/>
        </p:nvSpPr>
        <p:spPr>
          <a:xfrm>
            <a:off x="8127796"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8356396" y="4251960"/>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6</a:t>
            </a:r>
          </a:p>
        </p:txBody>
      </p:sp>
      <p:sp>
        <p:nvSpPr>
          <p:cNvPr id="28" name="TextBox 27"/>
          <p:cNvSpPr txBox="1"/>
          <p:nvPr/>
        </p:nvSpPr>
        <p:spPr>
          <a:xfrm>
            <a:off x="8950756" y="4224528"/>
            <a:ext cx="2509418" cy="512064"/>
          </a:xfrm>
          <a:prstGeom prst="rect">
            <a:avLst/>
          </a:prstGeom>
          <a:noFill/>
        </p:spPr>
        <p:txBody>
          <a:bodyPr wrap="square" anchor="ctr" lIns="0" rIns="0" tIns="0" bIns="0"/>
          <a:lstStyle/>
          <a:p>
            <a:pPr algn="l"/>
            <a:r>
              <a:rPr sz="1900" b="1" i="0">
                <a:solidFill>
                  <a:srgbClr val="03306E"/>
                </a:solidFill>
                <a:latin typeface="Calibri"/>
              </a:rPr>
              <a:t>Compliance</a:t>
            </a:r>
          </a:p>
        </p:txBody>
      </p:sp>
      <p:sp>
        <p:nvSpPr>
          <p:cNvPr id="29" name="TextBox 28"/>
          <p:cNvSpPr txBox="1"/>
          <p:nvPr/>
        </p:nvSpPr>
        <p:spPr>
          <a:xfrm>
            <a:off x="8356396" y="4892040"/>
            <a:ext cx="3058058" cy="1143000"/>
          </a:xfrm>
          <a:prstGeom prst="rect">
            <a:avLst/>
          </a:prstGeom>
          <a:noFill/>
        </p:spPr>
        <p:txBody>
          <a:bodyPr wrap="square" anchor="t" lIns="0" rIns="0" tIns="0" bIns="0"/>
          <a:lstStyle/>
          <a:p>
            <a:pPr algn="l"/>
            <a:r>
              <a:rPr sz="2000" b="0" i="0">
                <a:solidFill>
                  <a:srgbClr val="202122"/>
                </a:solidFill>
                <a:latin typeface="Calibri"/>
              </a:rPr>
              <a:t>Does it meet regulatory requirements?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Check your understanding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Governance, ITSM and Frameworks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19</a:t>
            </a:r>
          </a:p>
        </p:txBody>
      </p:sp>
      <p:sp>
        <p:nvSpPr>
          <p:cNvPr id="6" name="Oval 5"/>
          <p:cNvSpPr/>
          <p:nvPr/>
        </p:nvSpPr>
        <p:spPr>
          <a:xfrm>
            <a:off x="548640" y="1618488"/>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7" name="TextBox 6"/>
          <p:cNvSpPr txBox="1"/>
          <p:nvPr/>
        </p:nvSpPr>
        <p:spPr>
          <a:xfrm>
            <a:off x="1234440" y="1600200"/>
            <a:ext cx="10408615" cy="791870"/>
          </a:xfrm>
          <a:prstGeom prst="rect">
            <a:avLst/>
          </a:prstGeom>
          <a:noFill/>
        </p:spPr>
        <p:txBody>
          <a:bodyPr wrap="square" anchor="t" lIns="0" rIns="0" tIns="0" bIns="0"/>
          <a:lstStyle/>
          <a:p>
            <a:pPr algn="l"/>
            <a:r>
              <a:rPr sz="2200" b="0" i="0">
                <a:solidFill>
                  <a:srgbClr val="202122"/>
                </a:solidFill>
                <a:latin typeface="Calibri"/>
              </a:rPr>
              <a:t>Which governance principle says every purchase must be evaluated for risk?</a:t>
            </a:r>
          </a:p>
        </p:txBody>
      </p:sp>
      <p:sp>
        <p:nvSpPr>
          <p:cNvPr id="8" name="Oval 7"/>
          <p:cNvSpPr/>
          <p:nvPr/>
        </p:nvSpPr>
        <p:spPr>
          <a:xfrm>
            <a:off x="548640" y="2574950"/>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9" name="TextBox 8"/>
          <p:cNvSpPr txBox="1"/>
          <p:nvPr/>
        </p:nvSpPr>
        <p:spPr>
          <a:xfrm>
            <a:off x="1234440" y="2556662"/>
            <a:ext cx="10408615" cy="791870"/>
          </a:xfrm>
          <a:prstGeom prst="rect">
            <a:avLst/>
          </a:prstGeom>
          <a:noFill/>
        </p:spPr>
        <p:txBody>
          <a:bodyPr wrap="square" anchor="t" lIns="0" rIns="0" tIns="0" bIns="0"/>
          <a:lstStyle/>
          <a:p>
            <a:pPr algn="l"/>
            <a:r>
              <a:rPr sz="2200" b="0" i="0">
                <a:solidFill>
                  <a:srgbClr val="202122"/>
                </a:solidFill>
                <a:latin typeface="Calibri"/>
              </a:rPr>
              <a:t>What is a CMDB used for?</a:t>
            </a:r>
          </a:p>
        </p:txBody>
      </p:sp>
      <p:sp>
        <p:nvSpPr>
          <p:cNvPr id="10" name="Oval 9"/>
          <p:cNvSpPr/>
          <p:nvPr/>
        </p:nvSpPr>
        <p:spPr>
          <a:xfrm>
            <a:off x="548640" y="3531412"/>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1" name="TextBox 10"/>
          <p:cNvSpPr txBox="1"/>
          <p:nvPr/>
        </p:nvSpPr>
        <p:spPr>
          <a:xfrm>
            <a:off x="1234440" y="3513124"/>
            <a:ext cx="10408615" cy="791870"/>
          </a:xfrm>
          <a:prstGeom prst="rect">
            <a:avLst/>
          </a:prstGeom>
          <a:noFill/>
        </p:spPr>
        <p:txBody>
          <a:bodyPr wrap="square" anchor="t" lIns="0" rIns="0" tIns="0" bIns="0"/>
          <a:lstStyle/>
          <a:p>
            <a:pPr algn="l"/>
            <a:r>
              <a:rPr sz="2200" b="0" i="0">
                <a:solidFill>
                  <a:srgbClr val="202122"/>
                </a:solidFill>
                <a:latin typeface="Calibri"/>
              </a:rPr>
              <a:t>Name the five stages of the ITIL lifecycle.</a:t>
            </a:r>
          </a:p>
        </p:txBody>
      </p:sp>
      <p:sp>
        <p:nvSpPr>
          <p:cNvPr id="12" name="Oval 11"/>
          <p:cNvSpPr/>
          <p:nvPr/>
        </p:nvSpPr>
        <p:spPr>
          <a:xfrm>
            <a:off x="548640" y="4487875"/>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3" name="TextBox 12"/>
          <p:cNvSpPr txBox="1"/>
          <p:nvPr/>
        </p:nvSpPr>
        <p:spPr>
          <a:xfrm>
            <a:off x="1234440" y="4469587"/>
            <a:ext cx="10408615" cy="791870"/>
          </a:xfrm>
          <a:prstGeom prst="rect">
            <a:avLst/>
          </a:prstGeom>
          <a:noFill/>
        </p:spPr>
        <p:txBody>
          <a:bodyPr wrap="square" anchor="t" lIns="0" rIns="0" tIns="0" bIns="0"/>
          <a:lstStyle/>
          <a:p>
            <a:pPr algn="l"/>
            <a:r>
              <a:rPr sz="2200" b="0" i="0">
                <a:solidFill>
                  <a:srgbClr val="202122"/>
                </a:solidFill>
                <a:latin typeface="Calibri"/>
              </a:rPr>
              <a:t>Which standard is used to certify an ISMS?</a:t>
            </a:r>
          </a:p>
        </p:txBody>
      </p:sp>
      <p:sp>
        <p:nvSpPr>
          <p:cNvPr id="14" name="Oval 13"/>
          <p:cNvSpPr/>
          <p:nvPr/>
        </p:nvSpPr>
        <p:spPr>
          <a:xfrm>
            <a:off x="548640" y="5444337"/>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15" name="TextBox 14"/>
          <p:cNvSpPr txBox="1"/>
          <p:nvPr/>
        </p:nvSpPr>
        <p:spPr>
          <a:xfrm>
            <a:off x="1234440" y="5426049"/>
            <a:ext cx="10408615" cy="791870"/>
          </a:xfrm>
          <a:prstGeom prst="rect">
            <a:avLst/>
          </a:prstGeom>
          <a:noFill/>
        </p:spPr>
        <p:txBody>
          <a:bodyPr wrap="square" anchor="t" lIns="0" rIns="0" tIns="0" bIns="0"/>
          <a:lstStyle/>
          <a:p>
            <a:pPr algn="l"/>
            <a:r>
              <a:rPr sz="2200" b="0" i="0">
                <a:solidFill>
                  <a:srgbClr val="202122"/>
                </a:solidFill>
                <a:latin typeface="Calibri"/>
              </a:rPr>
              <a:t>Give three things to check before approving a security request.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Answers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Governance, ITSM and Frameworks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20</a:t>
            </a:r>
          </a:p>
        </p:txBody>
      </p:sp>
      <p:sp>
        <p:nvSpPr>
          <p:cNvPr id="6" name="Oval 5"/>
          <p:cNvSpPr/>
          <p:nvPr/>
        </p:nvSpPr>
        <p:spPr>
          <a:xfrm>
            <a:off x="548640" y="1618488"/>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7" name="TextBox 6"/>
          <p:cNvSpPr txBox="1"/>
          <p:nvPr/>
        </p:nvSpPr>
        <p:spPr>
          <a:xfrm>
            <a:off x="1234440" y="1600200"/>
            <a:ext cx="10408615" cy="791870"/>
          </a:xfrm>
          <a:prstGeom prst="rect">
            <a:avLst/>
          </a:prstGeom>
          <a:noFill/>
        </p:spPr>
        <p:txBody>
          <a:bodyPr wrap="square" anchor="t" lIns="0" rIns="0" tIns="0" bIns="0"/>
          <a:lstStyle/>
          <a:p>
            <a:pPr algn="l"/>
            <a:r>
              <a:rPr sz="1800" b="0" i="0">
                <a:solidFill>
                  <a:srgbClr val="54595D"/>
                </a:solidFill>
                <a:latin typeface="Calibri"/>
              </a:rPr>
              <a:t>Which governance principle says every purchase must be evaluated for risk?</a:t>
            </a:r>
          </a:p>
          <a:p>
            <a:r>
              <a:rPr sz="1800" b="1">
                <a:solidFill>
                  <a:srgbClr val="03306E"/>
                </a:solidFill>
                <a:latin typeface="Calibri"/>
              </a:rPr>
              <a:t>Acquisition.</a:t>
            </a:r>
          </a:p>
        </p:txBody>
      </p:sp>
      <p:sp>
        <p:nvSpPr>
          <p:cNvPr id="8" name="Oval 7"/>
          <p:cNvSpPr/>
          <p:nvPr/>
        </p:nvSpPr>
        <p:spPr>
          <a:xfrm>
            <a:off x="548640" y="2574950"/>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9" name="TextBox 8"/>
          <p:cNvSpPr txBox="1"/>
          <p:nvPr/>
        </p:nvSpPr>
        <p:spPr>
          <a:xfrm>
            <a:off x="1234440" y="2556662"/>
            <a:ext cx="10408615" cy="791870"/>
          </a:xfrm>
          <a:prstGeom prst="rect">
            <a:avLst/>
          </a:prstGeom>
          <a:noFill/>
        </p:spPr>
        <p:txBody>
          <a:bodyPr wrap="square" anchor="t" lIns="0" rIns="0" tIns="0" bIns="0"/>
          <a:lstStyle/>
          <a:p>
            <a:pPr algn="l"/>
            <a:r>
              <a:rPr sz="1800" b="0" i="0">
                <a:solidFill>
                  <a:srgbClr val="54595D"/>
                </a:solidFill>
                <a:latin typeface="Calibri"/>
              </a:rPr>
              <a:t>What is a CMDB used for?</a:t>
            </a:r>
          </a:p>
          <a:p>
            <a:r>
              <a:rPr sz="1800" b="1">
                <a:solidFill>
                  <a:srgbClr val="03306E"/>
                </a:solidFill>
                <a:latin typeface="Calibri"/>
              </a:rPr>
              <a:t>Tracking IT assets and their configuration.</a:t>
            </a:r>
          </a:p>
        </p:txBody>
      </p:sp>
      <p:sp>
        <p:nvSpPr>
          <p:cNvPr id="10" name="Oval 9"/>
          <p:cNvSpPr/>
          <p:nvPr/>
        </p:nvSpPr>
        <p:spPr>
          <a:xfrm>
            <a:off x="548640" y="3531412"/>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1" name="TextBox 10"/>
          <p:cNvSpPr txBox="1"/>
          <p:nvPr/>
        </p:nvSpPr>
        <p:spPr>
          <a:xfrm>
            <a:off x="1234440" y="3513124"/>
            <a:ext cx="10408615" cy="791870"/>
          </a:xfrm>
          <a:prstGeom prst="rect">
            <a:avLst/>
          </a:prstGeom>
          <a:noFill/>
        </p:spPr>
        <p:txBody>
          <a:bodyPr wrap="square" anchor="t" lIns="0" rIns="0" tIns="0" bIns="0"/>
          <a:lstStyle/>
          <a:p>
            <a:pPr algn="l"/>
            <a:r>
              <a:rPr sz="1800" b="0" i="0">
                <a:solidFill>
                  <a:srgbClr val="54595D"/>
                </a:solidFill>
                <a:latin typeface="Calibri"/>
              </a:rPr>
              <a:t>Name the five stages of the ITIL lifecycle.</a:t>
            </a:r>
          </a:p>
          <a:p>
            <a:r>
              <a:rPr sz="1800" b="1">
                <a:solidFill>
                  <a:srgbClr val="03306E"/>
                </a:solidFill>
                <a:latin typeface="Calibri"/>
              </a:rPr>
              <a:t>Strategy, design, transition, operation, continual improvement.</a:t>
            </a:r>
          </a:p>
        </p:txBody>
      </p:sp>
      <p:sp>
        <p:nvSpPr>
          <p:cNvPr id="12" name="Oval 11"/>
          <p:cNvSpPr/>
          <p:nvPr/>
        </p:nvSpPr>
        <p:spPr>
          <a:xfrm>
            <a:off x="548640" y="4487875"/>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3" name="TextBox 12"/>
          <p:cNvSpPr txBox="1"/>
          <p:nvPr/>
        </p:nvSpPr>
        <p:spPr>
          <a:xfrm>
            <a:off x="1234440" y="4469587"/>
            <a:ext cx="10408615" cy="791870"/>
          </a:xfrm>
          <a:prstGeom prst="rect">
            <a:avLst/>
          </a:prstGeom>
          <a:noFill/>
        </p:spPr>
        <p:txBody>
          <a:bodyPr wrap="square" anchor="t" lIns="0" rIns="0" tIns="0" bIns="0"/>
          <a:lstStyle/>
          <a:p>
            <a:pPr algn="l"/>
            <a:r>
              <a:rPr sz="1800" b="0" i="0">
                <a:solidFill>
                  <a:srgbClr val="54595D"/>
                </a:solidFill>
                <a:latin typeface="Calibri"/>
              </a:rPr>
              <a:t>Which standard is used to certify an ISMS?</a:t>
            </a:r>
          </a:p>
          <a:p>
            <a:r>
              <a:rPr sz="1800" b="1">
                <a:solidFill>
                  <a:srgbClr val="03306E"/>
                </a:solidFill>
                <a:latin typeface="Calibri"/>
              </a:rPr>
              <a:t>ISO 27001.</a:t>
            </a:r>
          </a:p>
        </p:txBody>
      </p:sp>
      <p:sp>
        <p:nvSpPr>
          <p:cNvPr id="14" name="Oval 13"/>
          <p:cNvSpPr/>
          <p:nvPr/>
        </p:nvSpPr>
        <p:spPr>
          <a:xfrm>
            <a:off x="548640" y="5444337"/>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15" name="TextBox 14"/>
          <p:cNvSpPr txBox="1"/>
          <p:nvPr/>
        </p:nvSpPr>
        <p:spPr>
          <a:xfrm>
            <a:off x="1234440" y="5426049"/>
            <a:ext cx="10408615" cy="791870"/>
          </a:xfrm>
          <a:prstGeom prst="rect">
            <a:avLst/>
          </a:prstGeom>
          <a:noFill/>
        </p:spPr>
        <p:txBody>
          <a:bodyPr wrap="square" anchor="t" lIns="0" rIns="0" tIns="0" bIns="0"/>
          <a:lstStyle/>
          <a:p>
            <a:pPr algn="l"/>
            <a:r>
              <a:rPr sz="1800" b="0" i="0">
                <a:solidFill>
                  <a:srgbClr val="54595D"/>
                </a:solidFill>
                <a:latin typeface="Calibri"/>
              </a:rPr>
              <a:t>Give three things to check before approving a security request.</a:t>
            </a:r>
          </a:p>
          <a:p>
            <a:r>
              <a:rPr sz="1800" b="1">
                <a:solidFill>
                  <a:srgbClr val="03306E"/>
                </a:solidFill>
                <a:latin typeface="Calibri"/>
              </a:rPr>
              <a:t>Any three of: origin, reason, requestor, sensitivity, new risk, compliance.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Activity: Request triage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Governance, ITSM and Frameworks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21</a:t>
            </a:r>
          </a:p>
        </p:txBody>
      </p:sp>
      <p:sp>
        <p:nvSpPr>
          <p:cNvPr id="6" name="Rounded Rectangle 5"/>
          <p:cNvSpPr/>
          <p:nvPr/>
        </p:nvSpPr>
        <p:spPr>
          <a:xfrm>
            <a:off x="548640" y="1508760"/>
            <a:ext cx="2011680" cy="457200"/>
          </a:xfrm>
          <a:prstGeom prst="roundRect">
            <a:avLst>
              <a:gd name="adj" fmla="val 50000"/>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508760"/>
            <a:ext cx="2011680" cy="457200"/>
          </a:xfrm>
          <a:prstGeom prst="rect">
            <a:avLst/>
          </a:prstGeom>
          <a:noFill/>
        </p:spPr>
        <p:txBody>
          <a:bodyPr wrap="square" anchor="ctr" lIns="0" rIns="0" tIns="0" bIns="0"/>
          <a:lstStyle/>
          <a:p>
            <a:pPr algn="ctr"/>
            <a:r>
              <a:rPr sz="1400" b="1" i="0">
                <a:solidFill>
                  <a:srgbClr val="FFFFFF"/>
                </a:solidFill>
                <a:latin typeface="Calibri"/>
              </a:rPr>
              <a:t>20 minutes</a:t>
            </a:r>
          </a:p>
        </p:txBody>
      </p:sp>
      <p:sp>
        <p:nvSpPr>
          <p:cNvPr id="8" name="TextBox 7"/>
          <p:cNvSpPr txBox="1"/>
          <p:nvPr/>
        </p:nvSpPr>
        <p:spPr>
          <a:xfrm>
            <a:off x="2743200" y="1508760"/>
            <a:ext cx="4754880" cy="457200"/>
          </a:xfrm>
          <a:prstGeom prst="rect">
            <a:avLst/>
          </a:prstGeom>
          <a:noFill/>
        </p:spPr>
        <p:txBody>
          <a:bodyPr wrap="square" anchor="ctr" lIns="0" rIns="0" tIns="0" bIns="0"/>
          <a:lstStyle/>
          <a:p>
            <a:pPr algn="l"/>
            <a:r>
              <a:rPr sz="1400" b="0" i="1">
                <a:solidFill>
                  <a:srgbClr val="54595D"/>
                </a:solidFill>
                <a:latin typeface="Calibri"/>
              </a:rPr>
              <a:t>Pairs</a:t>
            </a:r>
          </a:p>
        </p:txBody>
      </p:sp>
      <p:sp>
        <p:nvSpPr>
          <p:cNvPr id="9" name="Oval 8"/>
          <p:cNvSpPr/>
          <p:nvPr/>
        </p:nvSpPr>
        <p:spPr>
          <a:xfrm>
            <a:off x="548640" y="2482596"/>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0" name="TextBox 9"/>
          <p:cNvSpPr txBox="1"/>
          <p:nvPr/>
        </p:nvSpPr>
        <p:spPr>
          <a:xfrm>
            <a:off x="1143000" y="2240280"/>
            <a:ext cx="5943600" cy="868680"/>
          </a:xfrm>
          <a:prstGeom prst="rect">
            <a:avLst/>
          </a:prstGeom>
          <a:noFill/>
        </p:spPr>
        <p:txBody>
          <a:bodyPr wrap="square" anchor="ctr" lIns="0" rIns="0" tIns="0" bIns="0"/>
          <a:lstStyle/>
          <a:p>
            <a:pPr algn="l"/>
            <a:r>
              <a:rPr sz="1700" b="0" i="0">
                <a:solidFill>
                  <a:srgbClr val="202122"/>
                </a:solidFill>
                <a:latin typeface="Calibri"/>
              </a:rPr>
              <a:t>Your teacher gives you five security requests (e.g. open a firewall port, grant admin rights, share a folder externally).</a:t>
            </a:r>
          </a:p>
        </p:txBody>
      </p:sp>
      <p:sp>
        <p:nvSpPr>
          <p:cNvPr id="11" name="Oval 10"/>
          <p:cNvSpPr/>
          <p:nvPr/>
        </p:nvSpPr>
        <p:spPr>
          <a:xfrm>
            <a:off x="548640" y="3461004"/>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1143000" y="3218688"/>
            <a:ext cx="5943600" cy="868680"/>
          </a:xfrm>
          <a:prstGeom prst="rect">
            <a:avLst/>
          </a:prstGeom>
          <a:noFill/>
        </p:spPr>
        <p:txBody>
          <a:bodyPr wrap="square" anchor="ctr" lIns="0" rIns="0" tIns="0" bIns="0"/>
          <a:lstStyle/>
          <a:p>
            <a:pPr algn="l"/>
            <a:r>
              <a:rPr sz="1700" b="0" i="0">
                <a:solidFill>
                  <a:srgbClr val="202122"/>
                </a:solidFill>
                <a:latin typeface="Calibri"/>
              </a:rPr>
              <a:t>Assess each against the six request factors.</a:t>
            </a:r>
          </a:p>
        </p:txBody>
      </p:sp>
      <p:sp>
        <p:nvSpPr>
          <p:cNvPr id="13" name="Oval 12"/>
          <p:cNvSpPr/>
          <p:nvPr/>
        </p:nvSpPr>
        <p:spPr>
          <a:xfrm>
            <a:off x="548640" y="4439412"/>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4" name="TextBox 13"/>
          <p:cNvSpPr txBox="1"/>
          <p:nvPr/>
        </p:nvSpPr>
        <p:spPr>
          <a:xfrm>
            <a:off x="1143000" y="4197096"/>
            <a:ext cx="5943600" cy="868680"/>
          </a:xfrm>
          <a:prstGeom prst="rect">
            <a:avLst/>
          </a:prstGeom>
          <a:noFill/>
        </p:spPr>
        <p:txBody>
          <a:bodyPr wrap="square" anchor="ctr" lIns="0" rIns="0" tIns="0" bIns="0"/>
          <a:lstStyle/>
          <a:p>
            <a:pPr algn="l"/>
            <a:r>
              <a:rPr sz="1700" b="0" i="0">
                <a:solidFill>
                  <a:srgbClr val="202122"/>
                </a:solidFill>
                <a:latin typeface="Calibri"/>
              </a:rPr>
              <a:t>Approve, reject or escalate each one.</a:t>
            </a:r>
          </a:p>
        </p:txBody>
      </p:sp>
      <p:sp>
        <p:nvSpPr>
          <p:cNvPr id="15" name="Oval 14"/>
          <p:cNvSpPr/>
          <p:nvPr/>
        </p:nvSpPr>
        <p:spPr>
          <a:xfrm>
            <a:off x="548640" y="5417820"/>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6" name="TextBox 15"/>
          <p:cNvSpPr txBox="1"/>
          <p:nvPr/>
        </p:nvSpPr>
        <p:spPr>
          <a:xfrm>
            <a:off x="1143000" y="5175504"/>
            <a:ext cx="5943600" cy="868680"/>
          </a:xfrm>
          <a:prstGeom prst="rect">
            <a:avLst/>
          </a:prstGeom>
          <a:noFill/>
        </p:spPr>
        <p:txBody>
          <a:bodyPr wrap="square" anchor="ctr" lIns="0" rIns="0" tIns="0" bIns="0"/>
          <a:lstStyle/>
          <a:p>
            <a:pPr algn="l"/>
            <a:r>
              <a:rPr sz="1700" b="0" i="0">
                <a:solidFill>
                  <a:srgbClr val="202122"/>
                </a:solidFill>
                <a:latin typeface="Calibri"/>
              </a:rPr>
              <a:t>Write a short, professional reply to each requestor.</a:t>
            </a:r>
          </a:p>
        </p:txBody>
      </p:sp>
      <p:sp>
        <p:nvSpPr>
          <p:cNvPr id="17" name="Rounded Rectangle 16"/>
          <p:cNvSpPr/>
          <p:nvPr/>
        </p:nvSpPr>
        <p:spPr>
          <a:xfrm>
            <a:off x="7772400" y="1508760"/>
            <a:ext cx="3867912" cy="45720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SUCCESS CRITERIA</a:t>
            </a:r>
          </a:p>
        </p:txBody>
      </p:sp>
      <p:sp>
        <p:nvSpPr>
          <p:cNvPr id="19" name="TextBox 18"/>
          <p:cNvSpPr txBox="1"/>
          <p:nvPr/>
        </p:nvSpPr>
        <p:spPr>
          <a:xfrm>
            <a:off x="8046720" y="2240280"/>
            <a:ext cx="3337560" cy="3657600"/>
          </a:xfrm>
          <a:prstGeom prst="rect">
            <a:avLst/>
          </a:prstGeom>
          <a:noFill/>
        </p:spPr>
        <p:txBody>
          <a:bodyPr wrap="square" lIns="0" rIns="0" tIns="0" bIns="0">
            <a:spAutoFit/>
          </a:bodyPr>
          <a:lstStyle/>
          <a:p>
            <a:pPr marL="274320" indent="-274320">
              <a:spcAft>
                <a:spcPts val="810"/>
              </a:spcAft>
              <a:buClr>
                <a:srgbClr val="0645AD"/>
              </a:buClr>
              <a:buFont typeface="Arial"/>
              <a:buChar char="•"/>
            </a:pPr>
            <a:r>
              <a:rPr sz="1800" b="0">
                <a:solidFill>
                  <a:srgbClr val="202122"/>
                </a:solidFill>
                <a:latin typeface="Calibri"/>
              </a:rPr>
              <a:t>Every factor considered</a:t>
            </a:r>
          </a:p>
          <a:p>
            <a:pPr marL="274320" indent="-274320">
              <a:spcAft>
                <a:spcPts val="810"/>
              </a:spcAft>
              <a:buClr>
                <a:srgbClr val="0645AD"/>
              </a:buClr>
              <a:buFont typeface="Arial"/>
              <a:buChar char="•"/>
            </a:pPr>
            <a:r>
              <a:rPr sz="1800" b="0">
                <a:solidFill>
                  <a:srgbClr val="202122"/>
                </a:solidFill>
                <a:latin typeface="Calibri"/>
              </a:rPr>
              <a:t>Decisions are justified</a:t>
            </a:r>
          </a:p>
          <a:p>
            <a:pPr marL="274320" indent="-274320">
              <a:spcAft>
                <a:spcPts val="810"/>
              </a:spcAft>
              <a:buClr>
                <a:srgbClr val="0645AD"/>
              </a:buClr>
              <a:buFont typeface="Arial"/>
              <a:buChar char="•"/>
            </a:pPr>
            <a:r>
              <a:rPr sz="1800" b="0">
                <a:solidFill>
                  <a:srgbClr val="202122"/>
                </a:solidFill>
                <a:latin typeface="Calibri"/>
              </a:rPr>
              <a:t>Replies are polite and clear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A9C8F0"/>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FFFFFF"/>
                </a:solidFill>
                <a:latin typeface="Cambria"/>
              </a:rPr>
              <a:t>Exit ticket</a:t>
            </a:r>
          </a:p>
        </p:txBody>
      </p:sp>
      <p:sp>
        <p:nvSpPr>
          <p:cNvPr id="4" name="Oval 3"/>
          <p:cNvSpPr/>
          <p:nvPr/>
        </p:nvSpPr>
        <p:spPr>
          <a:xfrm>
            <a:off x="548640" y="173736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1</a:t>
            </a:r>
          </a:p>
        </p:txBody>
      </p:sp>
      <p:sp>
        <p:nvSpPr>
          <p:cNvPr id="5" name="TextBox 4"/>
          <p:cNvSpPr txBox="1"/>
          <p:nvPr/>
        </p:nvSpPr>
        <p:spPr>
          <a:xfrm>
            <a:off x="1325880" y="1645920"/>
            <a:ext cx="6583680" cy="822960"/>
          </a:xfrm>
          <a:prstGeom prst="rect">
            <a:avLst/>
          </a:prstGeom>
          <a:noFill/>
        </p:spPr>
        <p:txBody>
          <a:bodyPr wrap="square" anchor="ctr" lIns="0" rIns="0" tIns="0" bIns="0"/>
          <a:lstStyle/>
          <a:p>
            <a:pPr algn="l"/>
            <a:r>
              <a:rPr sz="2000" b="0" i="0">
                <a:solidFill>
                  <a:srgbClr val="FFFFFF"/>
                </a:solidFill>
                <a:latin typeface="Calibri"/>
              </a:rPr>
              <a:t>Which ITSM process would handle adding a new firewall rule?</a:t>
            </a:r>
          </a:p>
        </p:txBody>
      </p:sp>
      <p:sp>
        <p:nvSpPr>
          <p:cNvPr id="6" name="Oval 5"/>
          <p:cNvSpPr/>
          <p:nvPr/>
        </p:nvSpPr>
        <p:spPr>
          <a:xfrm>
            <a:off x="548640" y="269748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2</a:t>
            </a:r>
          </a:p>
        </p:txBody>
      </p:sp>
      <p:sp>
        <p:nvSpPr>
          <p:cNvPr id="7" name="TextBox 6"/>
          <p:cNvSpPr txBox="1"/>
          <p:nvPr/>
        </p:nvSpPr>
        <p:spPr>
          <a:xfrm>
            <a:off x="1325880" y="2606040"/>
            <a:ext cx="6583680" cy="822960"/>
          </a:xfrm>
          <a:prstGeom prst="rect">
            <a:avLst/>
          </a:prstGeom>
          <a:noFill/>
        </p:spPr>
        <p:txBody>
          <a:bodyPr wrap="square" anchor="ctr" lIns="0" rIns="0" tIns="0" bIns="0"/>
          <a:lstStyle/>
          <a:p>
            <a:pPr algn="l"/>
            <a:r>
              <a:rPr sz="2000" b="0" i="0">
                <a:solidFill>
                  <a:srgbClr val="FFFFFF"/>
                </a:solidFill>
                <a:latin typeface="Calibri"/>
              </a:rPr>
              <a:t>Why does governance need defined roles?</a:t>
            </a:r>
          </a:p>
        </p:txBody>
      </p:sp>
      <p:sp>
        <p:nvSpPr>
          <p:cNvPr id="8" name="Oval 7"/>
          <p:cNvSpPr/>
          <p:nvPr/>
        </p:nvSpPr>
        <p:spPr>
          <a:xfrm>
            <a:off x="548640" y="365760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3</a:t>
            </a:r>
          </a:p>
        </p:txBody>
      </p:sp>
      <p:sp>
        <p:nvSpPr>
          <p:cNvPr id="9" name="TextBox 8"/>
          <p:cNvSpPr txBox="1"/>
          <p:nvPr/>
        </p:nvSpPr>
        <p:spPr>
          <a:xfrm>
            <a:off x="1325880" y="3566160"/>
            <a:ext cx="6583680" cy="822960"/>
          </a:xfrm>
          <a:prstGeom prst="rect">
            <a:avLst/>
          </a:prstGeom>
          <a:noFill/>
        </p:spPr>
        <p:txBody>
          <a:bodyPr wrap="square" anchor="ctr" lIns="0" rIns="0" tIns="0" bIns="0"/>
          <a:lstStyle/>
          <a:p>
            <a:pPr algn="l"/>
            <a:r>
              <a:rPr sz="2000" b="0" i="0">
                <a:solidFill>
                  <a:srgbClr val="FFFFFF"/>
                </a:solidFill>
                <a:latin typeface="Calibri"/>
              </a:rPr>
              <a:t>What is the difference between a framework and a standard?</a:t>
            </a:r>
          </a:p>
        </p:txBody>
      </p:sp>
      <p:sp>
        <p:nvSpPr>
          <p:cNvPr id="10" name="Rounded Rectangle 9"/>
          <p:cNvSpPr/>
          <p:nvPr/>
        </p:nvSpPr>
        <p:spPr>
          <a:xfrm>
            <a:off x="8229600" y="1645920"/>
            <a:ext cx="3410712" cy="2926080"/>
          </a:xfrm>
          <a:prstGeom prst="roundRect">
            <a:avLst>
              <a:gd name="adj" fmla="val 8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0" y="1874519"/>
            <a:ext cx="2926080" cy="365760"/>
          </a:xfrm>
          <a:prstGeom prst="rect">
            <a:avLst/>
          </a:prstGeom>
          <a:noFill/>
        </p:spPr>
        <p:txBody>
          <a:bodyPr wrap="square" anchor="t" lIns="0" rIns="0" tIns="0" bIns="0"/>
          <a:lstStyle/>
          <a:p>
            <a:pPr algn="l"/>
            <a:r>
              <a:rPr sz="1300" b="1" i="0">
                <a:solidFill>
                  <a:srgbClr val="A9C8F0"/>
                </a:solidFill>
                <a:latin typeface="Calibri"/>
              </a:rPr>
              <a:t>REVISE THIS TOPIC</a:t>
            </a:r>
          </a:p>
        </p:txBody>
      </p:sp>
      <p:sp>
        <p:nvSpPr>
          <p:cNvPr id="12" name="TextBox 11"/>
          <p:cNvSpPr txBox="1"/>
          <p:nvPr/>
        </p:nvSpPr>
        <p:spPr>
          <a:xfrm>
            <a:off x="8503920" y="2286000"/>
            <a:ext cx="2926080" cy="548640"/>
          </a:xfrm>
          <a:prstGeom prst="rect">
            <a:avLst/>
          </a:prstGeom>
          <a:noFill/>
        </p:spPr>
        <p:txBody>
          <a:bodyPr wrap="square" anchor="t" lIns="0" rIns="0" tIns="0" bIns="0"/>
          <a:lstStyle/>
          <a:p>
            <a:pPr algn="l"/>
            <a:r>
              <a:rPr sz="1400" b="0" i="0">
                <a:solidFill>
                  <a:srgbClr val="FFFFFF"/>
                </a:solidFill>
                <a:latin typeface="Calibri"/>
              </a:rPr>
              <a:t>Revision notes for this lesson are on the study wiki:</a:t>
            </a:r>
          </a:p>
        </p:txBody>
      </p:sp>
      <p:sp>
        <p:nvSpPr>
          <p:cNvPr id="13" name="TextBox 12"/>
          <p:cNvSpPr txBox="1"/>
          <p:nvPr/>
        </p:nvSpPr>
        <p:spPr>
          <a:xfrm>
            <a:off x="8503920" y="2926080"/>
            <a:ext cx="2926080" cy="1463040"/>
          </a:xfrm>
          <a:prstGeom prst="rect">
            <a:avLst/>
          </a:prstGeom>
          <a:noFill/>
        </p:spPr>
        <p:txBody>
          <a:bodyPr wrap="square" anchor="t" lIns="0" rIns="0" tIns="0" bIns="0"/>
          <a:lstStyle/>
          <a:p>
            <a:pPr algn="l"/>
            <a:r>
              <a:rPr sz="2000" b="1" i="0">
                <a:solidFill>
                  <a:srgbClr val="FFFFFF"/>
                </a:solidFill>
                <a:latin typeface="Cambria"/>
              </a:rPr>
              <a:t>Cyber Security - Security Procedures and Controls</a:t>
            </a:r>
          </a:p>
        </p:txBody>
      </p:sp>
      <p:sp>
        <p:nvSpPr>
          <p:cNvPr id="14" name="TextBox 13"/>
          <p:cNvSpPr txBox="1"/>
          <p:nvPr/>
        </p:nvSpPr>
        <p:spPr>
          <a:xfrm>
            <a:off x="548640" y="5669280"/>
            <a:ext cx="11094415" cy="548640"/>
          </a:xfrm>
          <a:prstGeom prst="rect">
            <a:avLst/>
          </a:prstGeom>
          <a:noFill/>
        </p:spPr>
        <p:txBody>
          <a:bodyPr wrap="square" anchor="t" lIns="0" rIns="0" tIns="0" bIns="0"/>
          <a:lstStyle/>
          <a:p>
            <a:pPr algn="l"/>
            <a:r>
              <a:rPr sz="1200" b="0" i="0">
                <a:solidFill>
                  <a:srgbClr val="A9C8F0"/>
                </a:solidFill>
                <a:latin typeface="Calibri"/>
              </a:rPr>
              <a:t>https://lana6478.github.io/Digital-Suport-and-security-T-levle/#/02-occupational-specialisms/cyber-security/01-security-procedures-and-controls.md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Security Governance, ITSM and Frameworks</dc:title>
  <dc:subject>Digital Support and Security T Level: Cyber Security Content Area 1</dc:subject>
  <dc:creator>Samuel O'Connell</dc:creator>
  <cp:keywords>T Level; Digital Support and Security; lesson slides; 1.1, 1.2, 1.7, 1.8, 1.10, 1.24</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