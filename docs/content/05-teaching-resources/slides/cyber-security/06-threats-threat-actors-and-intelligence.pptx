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notesMaster" Target="notesMasters/notesMaster1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Most malware is spotted through scan reports, slower devices or unusual behaviour.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Threat intelligence gathers information to analyse and prioritise threats: finding unknown threats, revealing motivations and supporting fast mitigation decisions.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Give students a few minutes to answer on mini whiteboards or paper, then reveal the answers on the next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Talk through any answers the class found difficult.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Students answer on a sticky note or in the chat before leaving.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306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595360" y="1005840"/>
            <a:ext cx="3291840" cy="3291840"/>
          </a:xfrm>
          <a:prstGeom prst="ellipse">
            <a:avLst/>
          </a:prstGeom>
          <a:solidFill>
            <a:srgbClr val="0645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Oval 2"/>
          <p:cNvSpPr/>
          <p:nvPr/>
        </p:nvSpPr>
        <p:spPr>
          <a:xfrm>
            <a:off x="9966960" y="3200400"/>
            <a:ext cx="2377440" cy="2377440"/>
          </a:xfrm>
          <a:prstGeom prst="ellipse">
            <a:avLst/>
          </a:prstGeom>
          <a:solidFill>
            <a:srgbClr val="E04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Oval 3"/>
          <p:cNvSpPr/>
          <p:nvPr/>
        </p:nvSpPr>
        <p:spPr>
          <a:xfrm>
            <a:off x="8138160" y="4023360"/>
            <a:ext cx="1371600" cy="1371600"/>
          </a:xfrm>
          <a:prstGeom prst="ellipse">
            <a:avLst/>
          </a:prstGeom>
          <a:solidFill>
            <a:srgbClr val="A9C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48640" y="91440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400" b="1" i="0">
                <a:solidFill>
                  <a:srgbClr val="E0463A"/>
                </a:solidFill>
                <a:latin typeface="Calibri"/>
              </a:rPr>
              <a:t>CYBER SECURITY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7315200" cy="2286000"/>
          </a:xfrm>
          <a:prstGeom prst="rect">
            <a:avLst/>
          </a:prstGeom>
          <a:noFill/>
        </p:spPr>
        <p:txBody>
          <a:bodyPr wrap="square" anchor="b" lIns="0" rIns="0" tIns="0" bIns="0"/>
          <a:lstStyle/>
          <a:p>
            <a:pPr algn="l"/>
            <a:r>
              <a:rPr sz="4400" b="1" i="0">
                <a:solidFill>
                  <a:srgbClr val="FFFFFF"/>
                </a:solidFill>
                <a:latin typeface="Cambria"/>
              </a:rPr>
              <a:t>Threats, Threat Actors and Threat Intelligence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840480"/>
            <a:ext cx="7315200" cy="4572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800" b="0" i="0">
                <a:solidFill>
                  <a:srgbClr val="A9C8F0"/>
                </a:solidFill>
                <a:latin typeface="Calibri"/>
              </a:rPr>
              <a:t>Cyber Security Content Areas 2 and 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4297680"/>
            <a:ext cx="7315200" cy="4572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400" b="0" i="0">
                <a:solidFill>
                  <a:srgbClr val="A9C8F0"/>
                </a:solidFill>
                <a:latin typeface="Calibri"/>
              </a:rPr>
              <a:t>Specification reference: 2.2, 2.3, 3.8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5760720"/>
            <a:ext cx="7498079" cy="6400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0" i="0">
                <a:solidFill>
                  <a:srgbClr val="A9C8F0"/>
                </a:solidFill>
                <a:latin typeface="Calibri"/>
              </a:rPr>
              <a:t>Digital Support and Security T Level  ·  Lesson slides</a:t>
            </a:r>
          </a:p>
          <a:p>
            <a:pPr algn="l"/>
            <a:r>
              <a:rPr sz="1100" b="0" i="0">
                <a:solidFill>
                  <a:srgbClr val="A9C8F0"/>
                </a:solidFill>
                <a:latin typeface="Calibri"/>
              </a:rPr>
              <a:t>Unofficial teaching resource. Check the official Pearson specification for assessment detail.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CYBER SECURITY  ·  Cyber Security Content Areas 2 and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Learning 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Digital Support and Security T Level  ·  Threats, Threat Actors and Threat Intelligence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508760"/>
            <a:ext cx="676656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600" b="0" i="1">
                <a:solidFill>
                  <a:srgbClr val="54595D"/>
                </a:solidFill>
                <a:latin typeface="Calibri"/>
              </a:rPr>
              <a:t>By the end of this lesson you should be able to:</a:t>
            </a:r>
          </a:p>
        </p:txBody>
      </p:sp>
      <p:sp>
        <p:nvSpPr>
          <p:cNvPr id="7" name="Oval 6"/>
          <p:cNvSpPr/>
          <p:nvPr/>
        </p:nvSpPr>
        <p:spPr>
          <a:xfrm>
            <a:off x="548640" y="2234565"/>
            <a:ext cx="457200" cy="457200"/>
          </a:xfrm>
          <a:prstGeom prst="ellipse">
            <a:avLst/>
          </a:prstGeom>
          <a:solidFill>
            <a:srgbClr val="E04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2011680"/>
            <a:ext cx="6035040" cy="902969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900" b="0" i="0">
                <a:solidFill>
                  <a:srgbClr val="202122"/>
                </a:solidFill>
                <a:latin typeface="Calibri"/>
              </a:rPr>
              <a:t>Recognise social engineering, denial of service, malware and password attacks and their indicators.</a:t>
            </a:r>
          </a:p>
        </p:txBody>
      </p:sp>
      <p:sp>
        <p:nvSpPr>
          <p:cNvPr id="9" name="Oval 8"/>
          <p:cNvSpPr/>
          <p:nvPr/>
        </p:nvSpPr>
        <p:spPr>
          <a:xfrm>
            <a:off x="548640" y="3274695"/>
            <a:ext cx="457200" cy="457200"/>
          </a:xfrm>
          <a:prstGeom prst="ellipse">
            <a:avLst/>
          </a:prstGeom>
          <a:solidFill>
            <a:srgbClr val="E04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3051810"/>
            <a:ext cx="6035040" cy="902969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Describe threat actors and their motivations.</a:t>
            </a:r>
          </a:p>
        </p:txBody>
      </p:sp>
      <p:sp>
        <p:nvSpPr>
          <p:cNvPr id="11" name="Oval 10"/>
          <p:cNvSpPr/>
          <p:nvPr/>
        </p:nvSpPr>
        <p:spPr>
          <a:xfrm>
            <a:off x="548640" y="4314825"/>
            <a:ext cx="457200" cy="457200"/>
          </a:xfrm>
          <a:prstGeom prst="ellipse">
            <a:avLst/>
          </a:prstGeom>
          <a:solidFill>
            <a:srgbClr val="E04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34440" y="4091939"/>
            <a:ext cx="6035040" cy="902969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Explain the value of threat intelligence.</a:t>
            </a:r>
          </a:p>
        </p:txBody>
      </p:sp>
      <p:sp>
        <p:nvSpPr>
          <p:cNvPr id="13" name="Oval 12"/>
          <p:cNvSpPr/>
          <p:nvPr/>
        </p:nvSpPr>
        <p:spPr>
          <a:xfrm>
            <a:off x="548640" y="5354954"/>
            <a:ext cx="457200" cy="457200"/>
          </a:xfrm>
          <a:prstGeom prst="ellipse">
            <a:avLst/>
          </a:prstGeom>
          <a:solidFill>
            <a:srgbClr val="E04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34440" y="5132069"/>
            <a:ext cx="6035040" cy="902969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Describe cyber security impacts on critical national infrastructure.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0" y="1508760"/>
            <a:ext cx="3867912" cy="4526280"/>
          </a:xfrm>
          <a:prstGeom prst="roundRect">
            <a:avLst>
              <a:gd name="adj" fmla="val 8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8046720" y="1737360"/>
            <a:ext cx="329184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300" b="1" i="0">
                <a:solidFill>
                  <a:srgbClr val="0645AD"/>
                </a:solidFill>
                <a:latin typeface="Calibri"/>
              </a:rPr>
              <a:t>STARTER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46720" y="2194560"/>
            <a:ext cx="3291840" cy="36576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200" b="0" i="0">
                <a:solidFill>
                  <a:srgbClr val="03306E"/>
                </a:solidFill>
                <a:latin typeface="Cambria"/>
              </a:rPr>
              <a:t>Who do you think is most likely to attack a school's network: a nation state, a criminal gang or a student? Why?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CYBER SECURITY  ·  Cyber Security Content Areas 2 and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Social engineering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Digital Support and Security T Level  ·  Threats, Threat Actors and Threat Intelligence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3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600200"/>
          <a:ext cx="11094414" cy="452627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22086"/>
                <a:gridCol w="4386164"/>
                <a:gridCol w="4386164"/>
              </a:tblGrid>
              <a:tr h="646611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</a:rPr>
                        <a:t>Attack</a:t>
                      </a:r>
                    </a:p>
                  </a:txBody>
                  <a:tcPr marL="91440" marR="91440" anchor="ctr">
                    <a:solidFill>
                      <a:srgbClr val="03306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</a:rPr>
                        <a:t>How it works</a:t>
                      </a:r>
                    </a:p>
                  </a:txBody>
                  <a:tcPr marL="91440" marR="91440" anchor="ctr">
                    <a:solidFill>
                      <a:srgbClr val="03306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</a:rPr>
                        <a:t>Warning signs</a:t>
                      </a:r>
                    </a:p>
                  </a:txBody>
                  <a:tcPr marL="91440" marR="91440" anchor="ctr">
                    <a:solidFill>
                      <a:srgbClr val="03306E"/>
                    </a:solidFill>
                  </a:tcPr>
                </a:tc>
              </a:tr>
              <a:tr h="646611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03306E"/>
                          </a:solidFill>
                          <a:latin typeface="Calibri"/>
                        </a:rPr>
                        <a:t>Phishing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02122"/>
                          </a:solidFill>
                          <a:latin typeface="Calibri"/>
                        </a:rPr>
                        <a:t>Mass fraudulent messages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02122"/>
                          </a:solidFill>
                          <a:latin typeface="Calibri"/>
                        </a:rPr>
                        <a:t>Spoofed domains, poor writing, urgency, attachments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</a:tr>
              <a:tr h="646611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03306E"/>
                          </a:solidFill>
                          <a:latin typeface="Calibri"/>
                        </a:rPr>
                        <a:t>Spear phishing</a:t>
                      </a:r>
                    </a:p>
                  </a:txBody>
                  <a:tcPr marL="91440" marR="91440" anchor="ctr">
                    <a:solidFill>
                      <a:srgbClr val="EAF3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02122"/>
                          </a:solidFill>
                          <a:latin typeface="Calibri"/>
                        </a:rPr>
                        <a:t>Targeted at one person</a:t>
                      </a:r>
                    </a:p>
                  </a:txBody>
                  <a:tcPr marL="91440" marR="91440" anchor="ctr">
                    <a:solidFill>
                      <a:srgbClr val="EAF3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02122"/>
                          </a:solidFill>
                          <a:latin typeface="Calibri"/>
                        </a:rPr>
                        <a:t>Personal details used to build trust</a:t>
                      </a:r>
                    </a:p>
                  </a:txBody>
                  <a:tcPr marL="91440" marR="91440" anchor="ctr">
                    <a:solidFill>
                      <a:srgbClr val="EAF3FF"/>
                    </a:solidFill>
                  </a:tcPr>
                </a:tc>
              </a:tr>
              <a:tr h="646611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03306E"/>
                          </a:solidFill>
                          <a:latin typeface="Calibri"/>
                        </a:rPr>
                        <a:t>Vishing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02122"/>
                          </a:solidFill>
                          <a:latin typeface="Calibri"/>
                        </a:rPr>
                        <a:t>Fraudulent phone calls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02122"/>
                          </a:solidFill>
                          <a:latin typeface="Calibri"/>
                        </a:rPr>
                        <a:t>Pressure; claims to be HMRC or the bank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</a:tr>
              <a:tr h="646611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03306E"/>
                          </a:solidFill>
                          <a:latin typeface="Calibri"/>
                        </a:rPr>
                        <a:t>Smishing</a:t>
                      </a:r>
                    </a:p>
                  </a:txBody>
                  <a:tcPr marL="91440" marR="91440" anchor="ctr">
                    <a:solidFill>
                      <a:srgbClr val="EAF3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02122"/>
                          </a:solidFill>
                          <a:latin typeface="Calibri"/>
                        </a:rPr>
                        <a:t>Fraudulent texts</a:t>
                      </a:r>
                    </a:p>
                  </a:txBody>
                  <a:tcPr marL="91440" marR="91440" anchor="ctr">
                    <a:solidFill>
                      <a:srgbClr val="EAF3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02122"/>
                          </a:solidFill>
                          <a:latin typeface="Calibri"/>
                        </a:rPr>
                        <a:t>Suspicious links</a:t>
                      </a:r>
                    </a:p>
                  </a:txBody>
                  <a:tcPr marL="91440" marR="91440" anchor="ctr">
                    <a:solidFill>
                      <a:srgbClr val="EAF3FF"/>
                    </a:solidFill>
                  </a:tcPr>
                </a:tc>
              </a:tr>
              <a:tr h="646611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03306E"/>
                          </a:solidFill>
                          <a:latin typeface="Calibri"/>
                        </a:rPr>
                        <a:t>Shoulder surfing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02122"/>
                          </a:solidFill>
                          <a:latin typeface="Calibri"/>
                        </a:rPr>
                        <a:t>Watching someone type credentials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02122"/>
                          </a:solidFill>
                          <a:latin typeface="Calibri"/>
                        </a:rPr>
                        <a:t>Someone standing too close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</a:tr>
              <a:tr h="646611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03306E"/>
                          </a:solidFill>
                          <a:latin typeface="Calibri"/>
                        </a:rPr>
                        <a:t>Dumpster diving</a:t>
                      </a:r>
                    </a:p>
                  </a:txBody>
                  <a:tcPr marL="91440" marR="91440" anchor="ctr">
                    <a:solidFill>
                      <a:srgbClr val="EAF3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02122"/>
                          </a:solidFill>
                          <a:latin typeface="Calibri"/>
                        </a:rPr>
                        <a:t>Searching discarded paperwork</a:t>
                      </a:r>
                    </a:p>
                  </a:txBody>
                  <a:tcPr marL="91440" marR="91440" anchor="ctr">
                    <a:solidFill>
                      <a:srgbClr val="EAF3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02122"/>
                          </a:solidFill>
                          <a:latin typeface="Calibri"/>
                        </a:rPr>
                        <a:t>Unshredded documents in bins</a:t>
                      </a:r>
                    </a:p>
                  </a:txBody>
                  <a:tcPr marL="91440" marR="91440" anchor="ctr">
                    <a:solidFill>
                      <a:srgbClr val="EAF3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CYBER SECURITY  ·  Cyber Security Content Areas 2 and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Malware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Digital Support and Security T Level  ·  Threats, Threat Actors and Threat Intelligence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00200"/>
            <a:ext cx="3515258" cy="2148840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Oval 6"/>
          <p:cNvSpPr/>
          <p:nvPr/>
        </p:nvSpPr>
        <p:spPr>
          <a:xfrm>
            <a:off x="777240" y="1828800"/>
            <a:ext cx="457200" cy="457200"/>
          </a:xfrm>
          <a:prstGeom prst="ellipse">
            <a:avLst/>
          </a:prstGeom>
          <a:solidFill>
            <a:srgbClr val="E04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801368"/>
            <a:ext cx="2509418" cy="51206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900" b="1" i="0">
                <a:solidFill>
                  <a:srgbClr val="03306E"/>
                </a:solidFill>
                <a:latin typeface="Calibri"/>
              </a:rPr>
              <a:t>Virus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468880"/>
            <a:ext cx="3058058" cy="11430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Spreads and damages data or software.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38218" y="1600200"/>
            <a:ext cx="3515258" cy="2148840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Oval 10"/>
          <p:cNvSpPr/>
          <p:nvPr/>
        </p:nvSpPr>
        <p:spPr>
          <a:xfrm>
            <a:off x="4566818" y="1828800"/>
            <a:ext cx="457200" cy="457200"/>
          </a:xfrm>
          <a:prstGeom prst="ellipse">
            <a:avLst/>
          </a:prstGeom>
          <a:solidFill>
            <a:srgbClr val="E04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61178" y="1801368"/>
            <a:ext cx="2509418" cy="51206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900" b="1" i="0">
                <a:solidFill>
                  <a:srgbClr val="03306E"/>
                </a:solidFill>
                <a:latin typeface="Calibri"/>
              </a:rPr>
              <a:t>Adware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66818" y="2468880"/>
            <a:ext cx="3058058" cy="11430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Unwanted ads, browser changes, slow performance.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27796" y="1600200"/>
            <a:ext cx="3515258" cy="2148840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Oval 14"/>
          <p:cNvSpPr/>
          <p:nvPr/>
        </p:nvSpPr>
        <p:spPr>
          <a:xfrm>
            <a:off x="8356396" y="1828800"/>
            <a:ext cx="457200" cy="457200"/>
          </a:xfrm>
          <a:prstGeom prst="ellipse">
            <a:avLst/>
          </a:prstGeom>
          <a:solidFill>
            <a:srgbClr val="E04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50756" y="1801368"/>
            <a:ext cx="2509418" cy="51206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900" b="1" i="0">
                <a:solidFill>
                  <a:srgbClr val="03306E"/>
                </a:solidFill>
                <a:latin typeface="Calibri"/>
              </a:rPr>
              <a:t>Ransomware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56396" y="2468880"/>
            <a:ext cx="3058058" cy="11430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Blocks, deletes or encrypts data for payment.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4023360"/>
            <a:ext cx="3515258" cy="2148840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Oval 18"/>
          <p:cNvSpPr/>
          <p:nvPr/>
        </p:nvSpPr>
        <p:spPr>
          <a:xfrm>
            <a:off x="777240" y="4251960"/>
            <a:ext cx="457200" cy="457200"/>
          </a:xfrm>
          <a:prstGeom prst="ellipse">
            <a:avLst/>
          </a:prstGeom>
          <a:solidFill>
            <a:srgbClr val="E04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4224528"/>
            <a:ext cx="2509418" cy="51206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900" b="1" i="0">
                <a:solidFill>
                  <a:srgbClr val="03306E"/>
                </a:solidFill>
                <a:latin typeface="Calibri"/>
              </a:rPr>
              <a:t>Trojan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4892040"/>
            <a:ext cx="3058058" cy="11430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Disguised as legitimate software.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338218" y="4023360"/>
            <a:ext cx="3515258" cy="2148840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Oval 22"/>
          <p:cNvSpPr/>
          <p:nvPr/>
        </p:nvSpPr>
        <p:spPr>
          <a:xfrm>
            <a:off x="4566818" y="4251960"/>
            <a:ext cx="457200" cy="457200"/>
          </a:xfrm>
          <a:prstGeom prst="ellipse">
            <a:avLst/>
          </a:prstGeom>
          <a:solidFill>
            <a:srgbClr val="E04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161178" y="4224528"/>
            <a:ext cx="2509418" cy="51206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900" b="1" i="0">
                <a:solidFill>
                  <a:srgbClr val="03306E"/>
                </a:solidFill>
                <a:latin typeface="Calibri"/>
              </a:rPr>
              <a:t>Botnet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66818" y="4892040"/>
            <a:ext cx="3058058" cy="11430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Network of compromised devices under attacker control.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127796" y="4023360"/>
            <a:ext cx="3515258" cy="2148840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Oval 26"/>
          <p:cNvSpPr/>
          <p:nvPr/>
        </p:nvSpPr>
        <p:spPr>
          <a:xfrm>
            <a:off x="8356396" y="4251960"/>
            <a:ext cx="457200" cy="457200"/>
          </a:xfrm>
          <a:prstGeom prst="ellipse">
            <a:avLst/>
          </a:prstGeom>
          <a:solidFill>
            <a:srgbClr val="E04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950756" y="4224528"/>
            <a:ext cx="2509418" cy="51206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900" b="1" i="0">
                <a:solidFill>
                  <a:srgbClr val="03306E"/>
                </a:solidFill>
                <a:latin typeface="Calibri"/>
              </a:rPr>
              <a:t>Spyware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56396" y="4892040"/>
            <a:ext cx="3058058" cy="11430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Hides and steals sensitive data.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CYBER SECURITY  ·  Cyber Security Content Areas 2 and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Other attacks and how to spot them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Digital Support and Security T Level  ·  Threats, Threat Actors and Threat Intelligence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5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600200"/>
          <a:ext cx="11094414" cy="4526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54125"/>
                <a:gridCol w="7740289"/>
              </a:tblGrid>
              <a:tr h="905256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</a:rPr>
                        <a:t>Attack</a:t>
                      </a:r>
                    </a:p>
                  </a:txBody>
                  <a:tcPr marL="91440" marR="91440" anchor="ctr">
                    <a:solidFill>
                      <a:srgbClr val="03306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</a:rPr>
                        <a:t>Indicators</a:t>
                      </a:r>
                    </a:p>
                  </a:txBody>
                  <a:tcPr marL="91440" marR="91440" anchor="ctr">
                    <a:solidFill>
                      <a:srgbClr val="03306E"/>
                    </a:solidFill>
                  </a:tcPr>
                </a:tc>
              </a:tr>
              <a:tr h="905256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03306E"/>
                          </a:solidFill>
                          <a:latin typeface="Calibri"/>
                        </a:rPr>
                        <a:t>DoS / DDoS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02122"/>
                          </a:solidFill>
                          <a:latin typeface="Calibri"/>
                        </a:rPr>
                        <a:t>Degraded performance, traffic spikes, repeated requests from one source, outages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</a:tr>
              <a:tr h="905256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03306E"/>
                          </a:solidFill>
                          <a:latin typeface="Calibri"/>
                        </a:rPr>
                        <a:t>Zero-day</a:t>
                      </a:r>
                    </a:p>
                  </a:txBody>
                  <a:tcPr marL="91440" marR="91440" anchor="ctr">
                    <a:solidFill>
                      <a:srgbClr val="EAF3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02122"/>
                          </a:solidFill>
                          <a:latin typeface="Calibri"/>
                        </a:rPr>
                        <a:t>Vendor statistics, unusual scanning, ML-based monitoring, odd interaction patterns</a:t>
                      </a:r>
                    </a:p>
                  </a:txBody>
                  <a:tcPr marL="91440" marR="91440" anchor="ctr">
                    <a:solidFill>
                      <a:srgbClr val="EAF3FF"/>
                    </a:solidFill>
                  </a:tcPr>
                </a:tc>
              </a:tr>
              <a:tr h="905256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03306E"/>
                          </a:solidFill>
                          <a:latin typeface="Calibri"/>
                        </a:rPr>
                        <a:t>Brute force / dictionary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02122"/>
                          </a:solidFill>
                          <a:latin typeface="Calibri"/>
                        </a:rPr>
                        <a:t>More network activity, repeated failed logins from one IP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</a:tr>
              <a:tr h="905256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03306E"/>
                          </a:solidFill>
                          <a:latin typeface="Calibri"/>
                        </a:rPr>
                        <a:t>Man in the middle</a:t>
                      </a:r>
                    </a:p>
                  </a:txBody>
                  <a:tcPr marL="91440" marR="91440" anchor="ctr">
                    <a:solidFill>
                      <a:srgbClr val="EAF3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02122"/>
                          </a:solidFill>
                          <a:latin typeface="Calibri"/>
                        </a:rPr>
                        <a:t>Browser security warnings, repeated unexpected disconnections</a:t>
                      </a:r>
                    </a:p>
                  </a:txBody>
                  <a:tcPr marL="91440" marR="91440" anchor="ctr">
                    <a:solidFill>
                      <a:srgbClr val="EAF3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CYBER SECURITY  ·  Cyber Security Content Areas 2 and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Threat actors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Digital Support and Security T Level  ·  Threats, Threat Actors and Threat Intelligence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00200"/>
            <a:ext cx="3515258" cy="2148840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Oval 6"/>
          <p:cNvSpPr/>
          <p:nvPr/>
        </p:nvSpPr>
        <p:spPr>
          <a:xfrm>
            <a:off x="777240" y="1828800"/>
            <a:ext cx="457200" cy="457200"/>
          </a:xfrm>
          <a:prstGeom prst="ellipse">
            <a:avLst/>
          </a:prstGeom>
          <a:solidFill>
            <a:srgbClr val="E04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801368"/>
            <a:ext cx="2509418" cy="51206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900" b="1" i="0">
                <a:solidFill>
                  <a:srgbClr val="03306E"/>
                </a:solidFill>
                <a:latin typeface="Calibri"/>
              </a:rPr>
              <a:t>Cyber criminals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468880"/>
            <a:ext cx="3058058" cy="11430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Financial gain through ransomware, social engineering and malware.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38218" y="1600200"/>
            <a:ext cx="3515258" cy="2148840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Oval 10"/>
          <p:cNvSpPr/>
          <p:nvPr/>
        </p:nvSpPr>
        <p:spPr>
          <a:xfrm>
            <a:off x="4566818" y="1828800"/>
            <a:ext cx="457200" cy="457200"/>
          </a:xfrm>
          <a:prstGeom prst="ellipse">
            <a:avLst/>
          </a:prstGeom>
          <a:solidFill>
            <a:srgbClr val="E04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61178" y="1801368"/>
            <a:ext cx="2509418" cy="51206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900" b="1" i="0">
                <a:solidFill>
                  <a:srgbClr val="03306E"/>
                </a:solidFill>
                <a:latin typeface="Calibri"/>
              </a:rPr>
              <a:t>Insiders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66818" y="2468880"/>
            <a:ext cx="3058058" cy="11430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Current or former staff misusing access for revenge or gain.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27796" y="1600200"/>
            <a:ext cx="3515258" cy="2148840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Oval 14"/>
          <p:cNvSpPr/>
          <p:nvPr/>
        </p:nvSpPr>
        <p:spPr>
          <a:xfrm>
            <a:off x="8356396" y="1828800"/>
            <a:ext cx="457200" cy="457200"/>
          </a:xfrm>
          <a:prstGeom prst="ellipse">
            <a:avLst/>
          </a:prstGeom>
          <a:solidFill>
            <a:srgbClr val="E04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50756" y="1801368"/>
            <a:ext cx="2509418" cy="51206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900" b="1" i="0">
                <a:solidFill>
                  <a:srgbClr val="03306E"/>
                </a:solidFill>
                <a:latin typeface="Calibri"/>
              </a:rPr>
              <a:t>Nation states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56396" y="2468880"/>
            <a:ext cx="3058058" cy="11430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Political gain: stealing data, damaging infrastructure.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4023360"/>
            <a:ext cx="3515258" cy="2148840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Oval 18"/>
          <p:cNvSpPr/>
          <p:nvPr/>
        </p:nvSpPr>
        <p:spPr>
          <a:xfrm>
            <a:off x="777240" y="4251960"/>
            <a:ext cx="457200" cy="457200"/>
          </a:xfrm>
          <a:prstGeom prst="ellipse">
            <a:avLst/>
          </a:prstGeom>
          <a:solidFill>
            <a:srgbClr val="E04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4224528"/>
            <a:ext cx="2509418" cy="51206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900" b="1" i="0">
                <a:solidFill>
                  <a:srgbClr val="03306E"/>
                </a:solidFill>
                <a:latin typeface="Calibri"/>
              </a:rPr>
              <a:t>Terrorists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4892040"/>
            <a:ext cx="3058058" cy="11430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Disruption for a cause.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338218" y="4023360"/>
            <a:ext cx="3515258" cy="2148840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Oval 22"/>
          <p:cNvSpPr/>
          <p:nvPr/>
        </p:nvSpPr>
        <p:spPr>
          <a:xfrm>
            <a:off x="4566818" y="4251960"/>
            <a:ext cx="457200" cy="457200"/>
          </a:xfrm>
          <a:prstGeom prst="ellipse">
            <a:avLst/>
          </a:prstGeom>
          <a:solidFill>
            <a:srgbClr val="E04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161178" y="4224528"/>
            <a:ext cx="2509418" cy="51206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900" b="1" i="0">
                <a:solidFill>
                  <a:srgbClr val="03306E"/>
                </a:solidFill>
                <a:latin typeface="Calibri"/>
              </a:rPr>
              <a:t>Hacktivists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66818" y="4892040"/>
            <a:ext cx="3058058" cy="11430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Exposing perceived wrongdoing.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127796" y="4023360"/>
            <a:ext cx="3515258" cy="2148840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Oval 26"/>
          <p:cNvSpPr/>
          <p:nvPr/>
        </p:nvSpPr>
        <p:spPr>
          <a:xfrm>
            <a:off x="8356396" y="4251960"/>
            <a:ext cx="457200" cy="457200"/>
          </a:xfrm>
          <a:prstGeom prst="ellipse">
            <a:avLst/>
          </a:prstGeom>
          <a:solidFill>
            <a:srgbClr val="E04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950756" y="4224528"/>
            <a:ext cx="2509418" cy="51206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900" b="1" i="0">
                <a:solidFill>
                  <a:srgbClr val="03306E"/>
                </a:solidFill>
                <a:latin typeface="Calibri"/>
              </a:rPr>
              <a:t>Script kiddies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56396" y="4892040"/>
            <a:ext cx="3058058" cy="11430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Inexperienced attackers looking for a challenge.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CYBER SECURITY  ·  Cyber Security Content Areas 2 and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Critical national infrastructure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Digital Support and Security T Level  ·  Threats, Threat Actors and Threat Intelligence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00200"/>
            <a:ext cx="3515258" cy="2148840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Oval 6"/>
          <p:cNvSpPr/>
          <p:nvPr/>
        </p:nvSpPr>
        <p:spPr>
          <a:xfrm>
            <a:off x="777240" y="1828800"/>
            <a:ext cx="457200" cy="457200"/>
          </a:xfrm>
          <a:prstGeom prst="ellipse">
            <a:avLst/>
          </a:prstGeom>
          <a:solidFill>
            <a:srgbClr val="E04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801368"/>
            <a:ext cx="2509418" cy="51206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900" b="1" i="0">
                <a:solidFill>
                  <a:srgbClr val="03306E"/>
                </a:solidFill>
                <a:latin typeface="Calibri"/>
              </a:rPr>
              <a:t>Energy and water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468880"/>
            <a:ext cx="3058058" cy="11430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Power cuts, surges, loss of gas or water supply, flooding.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38218" y="1600200"/>
            <a:ext cx="3515258" cy="2148840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Oval 10"/>
          <p:cNvSpPr/>
          <p:nvPr/>
        </p:nvSpPr>
        <p:spPr>
          <a:xfrm>
            <a:off x="4566818" y="1828800"/>
            <a:ext cx="457200" cy="457200"/>
          </a:xfrm>
          <a:prstGeom prst="ellipse">
            <a:avLst/>
          </a:prstGeom>
          <a:solidFill>
            <a:srgbClr val="E04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61178" y="1801368"/>
            <a:ext cx="2509418" cy="51206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900" b="1" i="0">
                <a:solidFill>
                  <a:srgbClr val="03306E"/>
                </a:solidFill>
                <a:latin typeface="Calibri"/>
              </a:rPr>
              <a:t>Finance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66818" y="2468880"/>
            <a:ext cx="3058058" cy="11430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Failed payments and interrupted transfers.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27796" y="1600200"/>
            <a:ext cx="3515258" cy="2148840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Oval 14"/>
          <p:cNvSpPr/>
          <p:nvPr/>
        </p:nvSpPr>
        <p:spPr>
          <a:xfrm>
            <a:off x="8356396" y="1828800"/>
            <a:ext cx="457200" cy="457200"/>
          </a:xfrm>
          <a:prstGeom prst="ellipse">
            <a:avLst/>
          </a:prstGeom>
          <a:solidFill>
            <a:srgbClr val="E04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50756" y="1801368"/>
            <a:ext cx="2509418" cy="51206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900" b="1" i="0">
                <a:solidFill>
                  <a:srgbClr val="03306E"/>
                </a:solidFill>
                <a:latin typeface="Calibri"/>
              </a:rPr>
              <a:t>Healthcare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56396" y="2468880"/>
            <a:ext cx="3058058" cy="11430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Compromised patient records, disrupted treatment.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4023360"/>
            <a:ext cx="3515258" cy="2148840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Oval 18"/>
          <p:cNvSpPr/>
          <p:nvPr/>
        </p:nvSpPr>
        <p:spPr>
          <a:xfrm>
            <a:off x="777240" y="4251960"/>
            <a:ext cx="457200" cy="457200"/>
          </a:xfrm>
          <a:prstGeom prst="ellipse">
            <a:avLst/>
          </a:prstGeom>
          <a:solidFill>
            <a:srgbClr val="E04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4224528"/>
            <a:ext cx="2509418" cy="51206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900" b="1" i="0">
                <a:solidFill>
                  <a:srgbClr val="03306E"/>
                </a:solidFill>
                <a:latin typeface="Calibri"/>
              </a:rPr>
              <a:t>Communications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4892040"/>
            <a:ext cx="3058058" cy="11430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Service loss, eavesdropping, impersonation.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338218" y="4023360"/>
            <a:ext cx="3515258" cy="2148840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Oval 22"/>
          <p:cNvSpPr/>
          <p:nvPr/>
        </p:nvSpPr>
        <p:spPr>
          <a:xfrm>
            <a:off x="4566818" y="4251960"/>
            <a:ext cx="457200" cy="457200"/>
          </a:xfrm>
          <a:prstGeom prst="ellipse">
            <a:avLst/>
          </a:prstGeom>
          <a:solidFill>
            <a:srgbClr val="E04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161178" y="4224528"/>
            <a:ext cx="2509418" cy="51206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600" b="1" i="0">
                <a:solidFill>
                  <a:srgbClr val="03306E"/>
                </a:solidFill>
                <a:latin typeface="Calibri"/>
              </a:rPr>
              <a:t>Government and defence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66818" y="4892040"/>
            <a:ext cx="3058058" cy="11430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Interrupted policy and reduced defence capability.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127796" y="4023360"/>
            <a:ext cx="3515258" cy="2148840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Oval 26"/>
          <p:cNvSpPr/>
          <p:nvPr/>
        </p:nvSpPr>
        <p:spPr>
          <a:xfrm>
            <a:off x="8356396" y="4251960"/>
            <a:ext cx="457200" cy="457200"/>
          </a:xfrm>
          <a:prstGeom prst="ellipse">
            <a:avLst/>
          </a:prstGeom>
          <a:solidFill>
            <a:srgbClr val="E04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950756" y="4224528"/>
            <a:ext cx="2509418" cy="51206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800" b="1" i="0">
                <a:solidFill>
                  <a:srgbClr val="03306E"/>
                </a:solidFill>
                <a:latin typeface="Calibri"/>
              </a:rPr>
              <a:t>Transport and supply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56396" y="4892040"/>
            <a:ext cx="3058058" cy="11430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Disrupted travel, emergency dispatch, food and raw materials.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CYBER SECURITY  ·  Cyber Security Content Areas 2 and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Check your understanding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Digital Support and Security T Level  ·  Threats, Threat Actors and Threat Intelligence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8</a:t>
            </a:r>
          </a:p>
        </p:txBody>
      </p:sp>
      <p:sp>
        <p:nvSpPr>
          <p:cNvPr id="6" name="Oval 5"/>
          <p:cNvSpPr/>
          <p:nvPr/>
        </p:nvSpPr>
        <p:spPr>
          <a:xfrm>
            <a:off x="548640" y="1618488"/>
            <a:ext cx="411480" cy="411480"/>
          </a:xfrm>
          <a:prstGeom prst="ellipse">
            <a:avLst/>
          </a:prstGeom>
          <a:solidFill>
            <a:srgbClr val="E04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34440" y="1600200"/>
            <a:ext cx="10408615" cy="79187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200" b="0" i="0">
                <a:solidFill>
                  <a:srgbClr val="202122"/>
                </a:solidFill>
                <a:latin typeface="Calibri"/>
              </a:rPr>
              <a:t>What is the difference between vishing and smishing?</a:t>
            </a:r>
          </a:p>
        </p:txBody>
      </p:sp>
      <p:sp>
        <p:nvSpPr>
          <p:cNvPr id="8" name="Oval 7"/>
          <p:cNvSpPr/>
          <p:nvPr/>
        </p:nvSpPr>
        <p:spPr>
          <a:xfrm>
            <a:off x="548640" y="2574950"/>
            <a:ext cx="411480" cy="411480"/>
          </a:xfrm>
          <a:prstGeom prst="ellipse">
            <a:avLst/>
          </a:prstGeom>
          <a:solidFill>
            <a:srgbClr val="E04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2556662"/>
            <a:ext cx="10408615" cy="79187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200" b="0" i="0">
                <a:solidFill>
                  <a:srgbClr val="202122"/>
                </a:solidFill>
                <a:latin typeface="Calibri"/>
              </a:rPr>
              <a:t>Which malware disguises itself as legitimate software?</a:t>
            </a:r>
          </a:p>
        </p:txBody>
      </p:sp>
      <p:sp>
        <p:nvSpPr>
          <p:cNvPr id="10" name="Oval 9"/>
          <p:cNvSpPr/>
          <p:nvPr/>
        </p:nvSpPr>
        <p:spPr>
          <a:xfrm>
            <a:off x="548640" y="3531412"/>
            <a:ext cx="411480" cy="411480"/>
          </a:xfrm>
          <a:prstGeom prst="ellipse">
            <a:avLst/>
          </a:prstGeom>
          <a:solidFill>
            <a:srgbClr val="E04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3513124"/>
            <a:ext cx="10408615" cy="79187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200" b="0" i="0">
                <a:solidFill>
                  <a:srgbClr val="202122"/>
                </a:solidFill>
                <a:latin typeface="Calibri"/>
              </a:rPr>
              <a:t>Give one sign of a brute force attack.</a:t>
            </a:r>
          </a:p>
        </p:txBody>
      </p:sp>
      <p:sp>
        <p:nvSpPr>
          <p:cNvPr id="12" name="Oval 11"/>
          <p:cNvSpPr/>
          <p:nvPr/>
        </p:nvSpPr>
        <p:spPr>
          <a:xfrm>
            <a:off x="548640" y="4487875"/>
            <a:ext cx="411480" cy="411480"/>
          </a:xfrm>
          <a:prstGeom prst="ellipse">
            <a:avLst/>
          </a:prstGeom>
          <a:solidFill>
            <a:srgbClr val="E04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4469587"/>
            <a:ext cx="10408615" cy="79187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200" b="0" i="0">
                <a:solidFill>
                  <a:srgbClr val="202122"/>
                </a:solidFill>
                <a:latin typeface="Calibri"/>
              </a:rPr>
              <a:t>Which threat actor misuses authorised access?</a:t>
            </a:r>
          </a:p>
        </p:txBody>
      </p:sp>
      <p:sp>
        <p:nvSpPr>
          <p:cNvPr id="14" name="Oval 13"/>
          <p:cNvSpPr/>
          <p:nvPr/>
        </p:nvSpPr>
        <p:spPr>
          <a:xfrm>
            <a:off x="548640" y="5444337"/>
            <a:ext cx="411480" cy="411480"/>
          </a:xfrm>
          <a:prstGeom prst="ellipse">
            <a:avLst/>
          </a:prstGeom>
          <a:solidFill>
            <a:srgbClr val="E04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34440" y="5426049"/>
            <a:ext cx="10408615" cy="79187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200" b="0" i="0">
                <a:solidFill>
                  <a:srgbClr val="202122"/>
                </a:solidFill>
                <a:latin typeface="Calibri"/>
              </a:rPr>
              <a:t>Give one impact of an attack on healthcare infrastructure.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CYBER SECURITY  ·  Cyber Security Content Areas 2 and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Answers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Digital Support and Security T Level  ·  Threats, Threat Actors and Threat Intelligence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9</a:t>
            </a:r>
          </a:p>
        </p:txBody>
      </p:sp>
      <p:sp>
        <p:nvSpPr>
          <p:cNvPr id="6" name="Oval 5"/>
          <p:cNvSpPr/>
          <p:nvPr/>
        </p:nvSpPr>
        <p:spPr>
          <a:xfrm>
            <a:off x="548640" y="1618488"/>
            <a:ext cx="411480" cy="411480"/>
          </a:xfrm>
          <a:prstGeom prst="ellipse">
            <a:avLst/>
          </a:prstGeom>
          <a:solidFill>
            <a:srgbClr val="E04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34440" y="1600200"/>
            <a:ext cx="10408615" cy="79187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800" b="0" i="0">
                <a:solidFill>
                  <a:srgbClr val="54595D"/>
                </a:solidFill>
                <a:latin typeface="Calibri"/>
              </a:rPr>
              <a:t>What is the difference between vishing and smishing?</a:t>
            </a:r>
          </a:p>
          <a:p>
            <a:r>
              <a:rPr sz="1800" b="1">
                <a:solidFill>
                  <a:srgbClr val="03306E"/>
                </a:solidFill>
                <a:latin typeface="Calibri"/>
              </a:rPr>
              <a:t>Vishing is by phone call; smishing is by text message.</a:t>
            </a:r>
          </a:p>
        </p:txBody>
      </p:sp>
      <p:sp>
        <p:nvSpPr>
          <p:cNvPr id="8" name="Oval 7"/>
          <p:cNvSpPr/>
          <p:nvPr/>
        </p:nvSpPr>
        <p:spPr>
          <a:xfrm>
            <a:off x="548640" y="2574950"/>
            <a:ext cx="411480" cy="411480"/>
          </a:xfrm>
          <a:prstGeom prst="ellipse">
            <a:avLst/>
          </a:prstGeom>
          <a:solidFill>
            <a:srgbClr val="E04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2556662"/>
            <a:ext cx="10408615" cy="79187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800" b="0" i="0">
                <a:solidFill>
                  <a:srgbClr val="54595D"/>
                </a:solidFill>
                <a:latin typeface="Calibri"/>
              </a:rPr>
              <a:t>Which malware disguises itself as legitimate software?</a:t>
            </a:r>
          </a:p>
          <a:p>
            <a:r>
              <a:rPr sz="1800" b="1">
                <a:solidFill>
                  <a:srgbClr val="03306E"/>
                </a:solidFill>
                <a:latin typeface="Calibri"/>
              </a:rPr>
              <a:t>A trojan.</a:t>
            </a:r>
          </a:p>
        </p:txBody>
      </p:sp>
      <p:sp>
        <p:nvSpPr>
          <p:cNvPr id="10" name="Oval 9"/>
          <p:cNvSpPr/>
          <p:nvPr/>
        </p:nvSpPr>
        <p:spPr>
          <a:xfrm>
            <a:off x="548640" y="3531412"/>
            <a:ext cx="411480" cy="411480"/>
          </a:xfrm>
          <a:prstGeom prst="ellipse">
            <a:avLst/>
          </a:prstGeom>
          <a:solidFill>
            <a:srgbClr val="E04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3513124"/>
            <a:ext cx="10408615" cy="79187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800" b="0" i="0">
                <a:solidFill>
                  <a:srgbClr val="54595D"/>
                </a:solidFill>
                <a:latin typeface="Calibri"/>
              </a:rPr>
              <a:t>Give one sign of a brute force attack.</a:t>
            </a:r>
          </a:p>
          <a:p>
            <a:r>
              <a:rPr sz="1800" b="1">
                <a:solidFill>
                  <a:srgbClr val="03306E"/>
                </a:solidFill>
                <a:latin typeface="Calibri"/>
              </a:rPr>
              <a:t>Repeated failed logins from one IP address.</a:t>
            </a:r>
          </a:p>
        </p:txBody>
      </p:sp>
      <p:sp>
        <p:nvSpPr>
          <p:cNvPr id="12" name="Oval 11"/>
          <p:cNvSpPr/>
          <p:nvPr/>
        </p:nvSpPr>
        <p:spPr>
          <a:xfrm>
            <a:off x="548640" y="4487875"/>
            <a:ext cx="411480" cy="411480"/>
          </a:xfrm>
          <a:prstGeom prst="ellipse">
            <a:avLst/>
          </a:prstGeom>
          <a:solidFill>
            <a:srgbClr val="E04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4469587"/>
            <a:ext cx="10408615" cy="79187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800" b="0" i="0">
                <a:solidFill>
                  <a:srgbClr val="54595D"/>
                </a:solidFill>
                <a:latin typeface="Calibri"/>
              </a:rPr>
              <a:t>Which threat actor misuses authorised access?</a:t>
            </a:r>
          </a:p>
          <a:p>
            <a:r>
              <a:rPr sz="1800" b="1">
                <a:solidFill>
                  <a:srgbClr val="03306E"/>
                </a:solidFill>
                <a:latin typeface="Calibri"/>
              </a:rPr>
              <a:t>An insider.</a:t>
            </a:r>
          </a:p>
        </p:txBody>
      </p:sp>
      <p:sp>
        <p:nvSpPr>
          <p:cNvPr id="14" name="Oval 13"/>
          <p:cNvSpPr/>
          <p:nvPr/>
        </p:nvSpPr>
        <p:spPr>
          <a:xfrm>
            <a:off x="548640" y="5444337"/>
            <a:ext cx="411480" cy="411480"/>
          </a:xfrm>
          <a:prstGeom prst="ellipse">
            <a:avLst/>
          </a:prstGeom>
          <a:solidFill>
            <a:srgbClr val="E04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34440" y="5426049"/>
            <a:ext cx="10408615" cy="79187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800" b="0" i="0">
                <a:solidFill>
                  <a:srgbClr val="54595D"/>
                </a:solidFill>
                <a:latin typeface="Calibri"/>
              </a:rPr>
              <a:t>Give one impact of an attack on healthcare infrastructure.</a:t>
            </a:r>
          </a:p>
          <a:p>
            <a:r>
              <a:rPr sz="1800" b="1">
                <a:solidFill>
                  <a:srgbClr val="03306E"/>
                </a:solidFill>
                <a:latin typeface="Calibri"/>
              </a:rPr>
              <a:t>Compromised patient records or disrupted treatment.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CYBER SECURITY  ·  Cyber Security Content Areas 2 and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Activity: Threat profile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Digital Support and Security T Level  ·  Threats, Threat Actors and Threat Intelligence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508760"/>
            <a:ext cx="2011680" cy="457200"/>
          </a:xfrm>
          <a:prstGeom prst="roundRect">
            <a:avLst>
              <a:gd name="adj" fmla="val 50000"/>
            </a:avLst>
          </a:prstGeom>
          <a:solidFill>
            <a:srgbClr val="E04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548640" y="1508760"/>
            <a:ext cx="2011680" cy="45720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25 minutes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0" y="1508760"/>
            <a:ext cx="4754880" cy="45720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400" b="0" i="1">
                <a:solidFill>
                  <a:srgbClr val="54595D"/>
                </a:solidFill>
                <a:latin typeface="Calibri"/>
              </a:rPr>
              <a:t>Small groups</a:t>
            </a:r>
          </a:p>
        </p:txBody>
      </p:sp>
      <p:sp>
        <p:nvSpPr>
          <p:cNvPr id="9" name="Oval 8"/>
          <p:cNvSpPr/>
          <p:nvPr/>
        </p:nvSpPr>
        <p:spPr>
          <a:xfrm>
            <a:off x="548640" y="2482596"/>
            <a:ext cx="384048" cy="384048"/>
          </a:xfrm>
          <a:prstGeom prst="ellipse">
            <a:avLst/>
          </a:prstGeom>
          <a:solidFill>
            <a:srgbClr val="0645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2240280"/>
            <a:ext cx="5943600" cy="86868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700" b="0" i="0">
                <a:solidFill>
                  <a:srgbClr val="202122"/>
                </a:solidFill>
                <a:latin typeface="Calibri"/>
              </a:rPr>
              <a:t>Choose an organisation: a hospital, a football club, or an online retailer.</a:t>
            </a:r>
          </a:p>
        </p:txBody>
      </p:sp>
      <p:sp>
        <p:nvSpPr>
          <p:cNvPr id="11" name="Oval 10"/>
          <p:cNvSpPr/>
          <p:nvPr/>
        </p:nvSpPr>
        <p:spPr>
          <a:xfrm>
            <a:off x="548640" y="3461004"/>
            <a:ext cx="384048" cy="384048"/>
          </a:xfrm>
          <a:prstGeom prst="ellipse">
            <a:avLst/>
          </a:prstGeom>
          <a:solidFill>
            <a:srgbClr val="0645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" y="3218688"/>
            <a:ext cx="5943600" cy="86868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700" b="0" i="0">
                <a:solidFill>
                  <a:srgbClr val="202122"/>
                </a:solidFill>
                <a:latin typeface="Calibri"/>
              </a:rPr>
              <a:t>Identify the three most likely threat actors and their motives.</a:t>
            </a:r>
          </a:p>
        </p:txBody>
      </p:sp>
      <p:sp>
        <p:nvSpPr>
          <p:cNvPr id="13" name="Oval 12"/>
          <p:cNvSpPr/>
          <p:nvPr/>
        </p:nvSpPr>
        <p:spPr>
          <a:xfrm>
            <a:off x="548640" y="4439412"/>
            <a:ext cx="384048" cy="384048"/>
          </a:xfrm>
          <a:prstGeom prst="ellipse">
            <a:avLst/>
          </a:prstGeom>
          <a:solidFill>
            <a:srgbClr val="0645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4197096"/>
            <a:ext cx="5943600" cy="86868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700" b="0" i="0">
                <a:solidFill>
                  <a:srgbClr val="202122"/>
                </a:solidFill>
                <a:latin typeface="Calibri"/>
              </a:rPr>
              <a:t>For each actor, name the attack they would most likely use and its indicators.</a:t>
            </a:r>
          </a:p>
        </p:txBody>
      </p:sp>
      <p:sp>
        <p:nvSpPr>
          <p:cNvPr id="15" name="Oval 14"/>
          <p:cNvSpPr/>
          <p:nvPr/>
        </p:nvSpPr>
        <p:spPr>
          <a:xfrm>
            <a:off x="548640" y="5417820"/>
            <a:ext cx="384048" cy="384048"/>
          </a:xfrm>
          <a:prstGeom prst="ellipse">
            <a:avLst/>
          </a:prstGeom>
          <a:solidFill>
            <a:srgbClr val="0645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43000" y="5175504"/>
            <a:ext cx="5943600" cy="86868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700" b="0" i="0">
                <a:solidFill>
                  <a:srgbClr val="202122"/>
                </a:solidFill>
                <a:latin typeface="Calibri"/>
              </a:rPr>
              <a:t>Rank the threats by likelihood and severity.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0" y="1508760"/>
            <a:ext cx="3867912" cy="4572000"/>
          </a:xfrm>
          <a:prstGeom prst="roundRect">
            <a:avLst>
              <a:gd name="adj" fmla="val 8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046720" y="1737360"/>
            <a:ext cx="329184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300" b="1" i="0">
                <a:solidFill>
                  <a:srgbClr val="0645AD"/>
                </a:solidFill>
                <a:latin typeface="Calibri"/>
              </a:rPr>
              <a:t>SUCCESS CRITERIA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46720" y="2240280"/>
            <a:ext cx="3337560" cy="365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74320" indent="-274320">
              <a:spcAft>
                <a:spcPts val="810"/>
              </a:spcAft>
              <a:buClr>
                <a:srgbClr val="0645AD"/>
              </a:buClr>
              <a:buFont typeface="Arial"/>
              <a:buChar char="•"/>
            </a:pPr>
            <a:r>
              <a:rPr sz="1800" b="0">
                <a:solidFill>
                  <a:srgbClr val="202122"/>
                </a:solidFill>
                <a:latin typeface="Calibri"/>
              </a:rPr>
              <a:t>Motives match the organisation</a:t>
            </a:r>
          </a:p>
          <a:p>
            <a:pPr marL="274320" indent="-274320">
              <a:spcAft>
                <a:spcPts val="810"/>
              </a:spcAft>
              <a:buClr>
                <a:srgbClr val="0645AD"/>
              </a:buClr>
              <a:buFont typeface="Arial"/>
              <a:buChar char="•"/>
            </a:pPr>
            <a:r>
              <a:rPr sz="1800" b="0">
                <a:solidFill>
                  <a:srgbClr val="202122"/>
                </a:solidFill>
                <a:latin typeface="Calibri"/>
              </a:rPr>
              <a:t>Indicators are specific</a:t>
            </a:r>
          </a:p>
          <a:p>
            <a:pPr marL="274320" indent="-274320">
              <a:spcAft>
                <a:spcPts val="810"/>
              </a:spcAft>
              <a:buClr>
                <a:srgbClr val="0645AD"/>
              </a:buClr>
              <a:buFont typeface="Arial"/>
              <a:buChar char="•"/>
            </a:pPr>
            <a:r>
              <a:rPr sz="1800" b="0">
                <a:solidFill>
                  <a:srgbClr val="202122"/>
                </a:solidFill>
                <a:latin typeface="Calibri"/>
              </a:rPr>
              <a:t>Ranking is justified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306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A9C8F0"/>
                </a:solidFill>
                <a:latin typeface="Calibri"/>
              </a:rPr>
              <a:t>CYBER SECURITY  ·  Cyber Security Content Areas 2 and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FFFFFF"/>
                </a:solidFill>
                <a:latin typeface="Cambria"/>
              </a:rPr>
              <a:t>Exit ticket</a:t>
            </a:r>
          </a:p>
        </p:txBody>
      </p:sp>
      <p:sp>
        <p:nvSpPr>
          <p:cNvPr id="4" name="Oval 3"/>
          <p:cNvSpPr/>
          <p:nvPr/>
        </p:nvSpPr>
        <p:spPr>
          <a:xfrm>
            <a:off x="548640" y="1737360"/>
            <a:ext cx="502920" cy="502920"/>
          </a:xfrm>
          <a:prstGeom prst="ellipse">
            <a:avLst/>
          </a:prstGeom>
          <a:solidFill>
            <a:srgbClr val="E04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7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25880" y="1645920"/>
            <a:ext cx="6583680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0" i="0">
                <a:solidFill>
                  <a:srgbClr val="FFFFFF"/>
                </a:solidFill>
                <a:latin typeface="Calibri"/>
              </a:rPr>
              <a:t>Which threat actor worries you most for a small business, and why?</a:t>
            </a:r>
          </a:p>
        </p:txBody>
      </p:sp>
      <p:sp>
        <p:nvSpPr>
          <p:cNvPr id="6" name="Oval 5"/>
          <p:cNvSpPr/>
          <p:nvPr/>
        </p:nvSpPr>
        <p:spPr>
          <a:xfrm>
            <a:off x="548640" y="2697480"/>
            <a:ext cx="502920" cy="502920"/>
          </a:xfrm>
          <a:prstGeom prst="ellipse">
            <a:avLst/>
          </a:prstGeom>
          <a:solidFill>
            <a:srgbClr val="E04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7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25880" y="2606040"/>
            <a:ext cx="6583680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0" i="0">
                <a:solidFill>
                  <a:srgbClr val="FFFFFF"/>
                </a:solidFill>
                <a:latin typeface="Calibri"/>
              </a:rPr>
              <a:t>What is a zero-day attack?</a:t>
            </a:r>
          </a:p>
        </p:txBody>
      </p:sp>
      <p:sp>
        <p:nvSpPr>
          <p:cNvPr id="8" name="Oval 7"/>
          <p:cNvSpPr/>
          <p:nvPr/>
        </p:nvSpPr>
        <p:spPr>
          <a:xfrm>
            <a:off x="548640" y="3657600"/>
            <a:ext cx="502920" cy="502920"/>
          </a:xfrm>
          <a:prstGeom prst="ellipse">
            <a:avLst/>
          </a:prstGeom>
          <a:solidFill>
            <a:srgbClr val="E04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7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25880" y="3566160"/>
            <a:ext cx="6583680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0" i="0">
                <a:solidFill>
                  <a:srgbClr val="FFFFFF"/>
                </a:solidFill>
                <a:latin typeface="Calibri"/>
              </a:rPr>
              <a:t>How does threat intelligence help defenders?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0" y="1645920"/>
            <a:ext cx="3410712" cy="2926080"/>
          </a:xfrm>
          <a:prstGeom prst="roundRect">
            <a:avLst>
              <a:gd name="adj" fmla="val 8000"/>
            </a:avLst>
          </a:prstGeom>
          <a:solidFill>
            <a:srgbClr val="0645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8503920" y="1874519"/>
            <a:ext cx="292608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300" b="1" i="0">
                <a:solidFill>
                  <a:srgbClr val="A9C8F0"/>
                </a:solidFill>
                <a:latin typeface="Calibri"/>
              </a:rPr>
              <a:t>REVISE THIS TOPIC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03920" y="2286000"/>
            <a:ext cx="2926080" cy="5486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Revision notes for this lesson are on the study wiki: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03920" y="2926080"/>
            <a:ext cx="2926080" cy="14630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000" b="1" i="0">
                <a:solidFill>
                  <a:srgbClr val="FFFFFF"/>
                </a:solidFill>
                <a:latin typeface="Cambria"/>
              </a:rPr>
              <a:t>Cyber Security - Propose Remediation Advice for a Security Risk Assessment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5669280"/>
            <a:ext cx="11094415" cy="5486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200" b="0" i="0">
                <a:solidFill>
                  <a:srgbClr val="A9C8F0"/>
                </a:solidFill>
                <a:latin typeface="Calibri"/>
              </a:rPr>
              <a:t>https://lana6478.github.io/Digital-Suport-and-security-T-levle/#/02-occupational-specialisms/cyber-security/02-remediation-and-risk-assessment.md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Threats, Threat Actors and Threat Intelligence</dc:title>
  <dc:subject>Digital Support and Security T Level: Cyber Security Content Areas 2 and 3</dc:subject>
  <dc:creator>Samuel O'Connell</dc:creator>
  <cp:keywords>T Level; Digital Support and Security; lesson slides; 2.2, 2.3, 3.8</cp:keywords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