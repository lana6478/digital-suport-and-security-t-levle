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Access controls, monitoring and separation of duties.</a:t>
            </a:r>
          </a:p>
          <a:p>
            <a:r>
              <a:t>2. Checking its security before trusting it with data.</a:t>
            </a:r>
          </a:p>
          <a:p>
            <a:r>
              <a:t>3. Securely wiped and disposed of in line with the law.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One that can't be changed, overwritten or deleted.</a:t>
            </a:r>
          </a:p>
          <a:p>
            <a:r>
              <a:t>2. So victims can't recover without paying.</a:t>
            </a:r>
          </a:p>
          <a:p>
            <a:r>
              <a:t>3. To prove the backups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To keep them current and check they're followed.</a:t>
            </a:r>
          </a:p>
          <a:p>
            <a:r>
              <a:t>2. Whether what actually happens matches what should happen.</a:t>
            </a:r>
          </a:p>
          <a:p>
            <a:r>
              <a:t>3. ISO 27001.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CYBER SECURITY</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Mitigation, Backups, Policies and Compliance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Cyber Security Content Area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2.11, 2.21, 2.23, 2.24, 2.25</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Match privacy-breach threats to mitigations.</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Apply the five NCSC Cyber Essentials controls.</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Compare backup types, including immutable backups.</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organisational policies and how compliance is monitored.</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Ransomware often tries to delete backups before encrypting files. How could you stop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Mitigating privacy-breach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Most privacy breaches come from predictable sources, each with a matching control.</a:t>
            </a:r>
          </a:p>
          <a:p>
            <a:pPr>
              <a:spcAft>
                <a:spcPts val="1320"/>
              </a:spcAft>
            </a:pPr>
            <a:r>
              <a:rPr sz="2200" b="0">
                <a:solidFill>
                  <a:srgbClr val="202122"/>
                </a:solidFill>
                <a:latin typeface="Calibri"/>
              </a:rPr>
              <a:t>Social engineering is tackled by raising awareness of current scams. Unmanaged personal devices are restricted by policy. Untrained staff get training and clear procedures. Insider threats are limited by access controls, monitoring for unusual activity and separating duties. Unpatched applications are kept updated. Third-party suppliers are checked with due diligence before being trusted with data. Improperly disposed devices are prevented by secure wiping and following DPA 2018.</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firm checks its new payroll provider's security certifications and contract terms before sending it any staff data: third-party due diligence.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Mitigating privacy-breach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870144"/>
                <a:gridCol w="7224270"/>
              </a:tblGrid>
              <a:tr h="565785">
                <a:tc>
                  <a:txBody>
                    <a:bodyPr wrap="square"/>
                    <a:lstStyle/>
                    <a:p>
                      <a:r>
                        <a:rPr sz="1600" b="1">
                          <a:solidFill>
                            <a:srgbClr val="FFFFFF"/>
                          </a:solidFill>
                          <a:latin typeface="Calibri"/>
                        </a:rPr>
                        <a:t>Threat</a:t>
                      </a:r>
                    </a:p>
                  </a:txBody>
                  <a:tcPr marL="91440" marR="91440" anchor="ctr">
                    <a:solidFill>
                      <a:srgbClr val="03306E"/>
                    </a:solidFill>
                  </a:tcPr>
                </a:tc>
                <a:tc>
                  <a:txBody>
                    <a:bodyPr wrap="square"/>
                    <a:lstStyle/>
                    <a:p>
                      <a:r>
                        <a:rPr sz="1600" b="1">
                          <a:solidFill>
                            <a:srgbClr val="FFFFFF"/>
                          </a:solidFill>
                          <a:latin typeface="Calibri"/>
                        </a:rPr>
                        <a:t>Mitigation</a:t>
                      </a:r>
                    </a:p>
                  </a:txBody>
                  <a:tcPr marL="91440" marR="91440" anchor="ctr">
                    <a:solidFill>
                      <a:srgbClr val="03306E"/>
                    </a:solidFill>
                  </a:tcPr>
                </a:tc>
              </a:tr>
              <a:tr h="565785">
                <a:tc>
                  <a:txBody>
                    <a:bodyPr wrap="square"/>
                    <a:lstStyle/>
                    <a:p>
                      <a:r>
                        <a:rPr sz="1600" b="1">
                          <a:solidFill>
                            <a:srgbClr val="03306E"/>
                          </a:solidFill>
                          <a:latin typeface="Calibri"/>
                        </a:rPr>
                        <a:t>Social engineering</a:t>
                      </a:r>
                    </a:p>
                  </a:txBody>
                  <a:tcPr marL="91440" marR="91440" anchor="ctr">
                    <a:solidFill>
                      <a:srgbClr val="FFFFFF"/>
                    </a:solidFill>
                  </a:tcPr>
                </a:tc>
                <a:tc>
                  <a:txBody>
                    <a:bodyPr wrap="square"/>
                    <a:lstStyle/>
                    <a:p>
                      <a:r>
                        <a:rPr sz="1600" b="0">
                          <a:solidFill>
                            <a:srgbClr val="202122"/>
                          </a:solidFill>
                          <a:latin typeface="Calibri"/>
                        </a:rPr>
                        <a:t>Raise awareness of current scams</a:t>
                      </a:r>
                    </a:p>
                  </a:txBody>
                  <a:tcPr marL="91440" marR="91440" anchor="ctr">
                    <a:solidFill>
                      <a:srgbClr val="FFFFFF"/>
                    </a:solidFill>
                  </a:tcPr>
                </a:tc>
              </a:tr>
              <a:tr h="565785">
                <a:tc>
                  <a:txBody>
                    <a:bodyPr wrap="square"/>
                    <a:lstStyle/>
                    <a:p>
                      <a:r>
                        <a:rPr sz="1600" b="1">
                          <a:solidFill>
                            <a:srgbClr val="03306E"/>
                          </a:solidFill>
                          <a:latin typeface="Calibri"/>
                        </a:rPr>
                        <a:t>Unmanaged devices</a:t>
                      </a:r>
                    </a:p>
                  </a:txBody>
                  <a:tcPr marL="91440" marR="91440" anchor="ctr">
                    <a:solidFill>
                      <a:srgbClr val="EAF3FF"/>
                    </a:solidFill>
                  </a:tcPr>
                </a:tc>
                <a:tc>
                  <a:txBody>
                    <a:bodyPr wrap="square"/>
                    <a:lstStyle/>
                    <a:p>
                      <a:r>
                        <a:rPr sz="1600" b="0">
                          <a:solidFill>
                            <a:srgbClr val="202122"/>
                          </a:solidFill>
                          <a:latin typeface="Calibri"/>
                        </a:rPr>
                        <a:t>Company policy restricting their use</a:t>
                      </a:r>
                    </a:p>
                  </a:txBody>
                  <a:tcPr marL="91440" marR="91440" anchor="ctr">
                    <a:solidFill>
                      <a:srgbClr val="EAF3FF"/>
                    </a:solidFill>
                  </a:tcPr>
                </a:tc>
              </a:tr>
              <a:tr h="565785">
                <a:tc>
                  <a:txBody>
                    <a:bodyPr wrap="square"/>
                    <a:lstStyle/>
                    <a:p>
                      <a:r>
                        <a:rPr sz="1600" b="1">
                          <a:solidFill>
                            <a:srgbClr val="03306E"/>
                          </a:solidFill>
                          <a:latin typeface="Calibri"/>
                        </a:rPr>
                        <a:t>Untrained staff</a:t>
                      </a:r>
                    </a:p>
                  </a:txBody>
                  <a:tcPr marL="91440" marR="91440" anchor="ctr">
                    <a:solidFill>
                      <a:srgbClr val="FFFFFF"/>
                    </a:solidFill>
                  </a:tcPr>
                </a:tc>
                <a:tc>
                  <a:txBody>
                    <a:bodyPr wrap="square"/>
                    <a:lstStyle/>
                    <a:p>
                      <a:r>
                        <a:rPr sz="1600" b="0">
                          <a:solidFill>
                            <a:srgbClr val="202122"/>
                          </a:solidFill>
                          <a:latin typeface="Calibri"/>
                        </a:rPr>
                        <a:t>Training and SOPs</a:t>
                      </a:r>
                    </a:p>
                  </a:txBody>
                  <a:tcPr marL="91440" marR="91440" anchor="ctr">
                    <a:solidFill>
                      <a:srgbClr val="FFFFFF"/>
                    </a:solidFill>
                  </a:tcPr>
                </a:tc>
              </a:tr>
              <a:tr h="565785">
                <a:tc>
                  <a:txBody>
                    <a:bodyPr wrap="square"/>
                    <a:lstStyle/>
                    <a:p>
                      <a:r>
                        <a:rPr sz="1600" b="1">
                          <a:solidFill>
                            <a:srgbClr val="03306E"/>
                          </a:solidFill>
                          <a:latin typeface="Calibri"/>
                        </a:rPr>
                        <a:t>Insider threats</a:t>
                      </a:r>
                    </a:p>
                  </a:txBody>
                  <a:tcPr marL="91440" marR="91440" anchor="ctr">
                    <a:solidFill>
                      <a:srgbClr val="EAF3FF"/>
                    </a:solidFill>
                  </a:tcPr>
                </a:tc>
                <a:tc>
                  <a:txBody>
                    <a:bodyPr wrap="square"/>
                    <a:lstStyle/>
                    <a:p>
                      <a:r>
                        <a:rPr sz="1600" b="0">
                          <a:solidFill>
                            <a:srgbClr val="202122"/>
                          </a:solidFill>
                          <a:latin typeface="Calibri"/>
                        </a:rPr>
                        <a:t>Access controls, monitoring, segregation of duties</a:t>
                      </a:r>
                    </a:p>
                  </a:txBody>
                  <a:tcPr marL="91440" marR="91440" anchor="ctr">
                    <a:solidFill>
                      <a:srgbClr val="EAF3FF"/>
                    </a:solidFill>
                  </a:tcPr>
                </a:tc>
              </a:tr>
              <a:tr h="565785">
                <a:tc>
                  <a:txBody>
                    <a:bodyPr wrap="square"/>
                    <a:lstStyle/>
                    <a:p>
                      <a:r>
                        <a:rPr sz="1600" b="1">
                          <a:solidFill>
                            <a:srgbClr val="03306E"/>
                          </a:solidFill>
                          <a:latin typeface="Calibri"/>
                        </a:rPr>
                        <a:t>Unpatched applications</a:t>
                      </a:r>
                    </a:p>
                  </a:txBody>
                  <a:tcPr marL="91440" marR="91440" anchor="ctr">
                    <a:solidFill>
                      <a:srgbClr val="FFFFFF"/>
                    </a:solidFill>
                  </a:tcPr>
                </a:tc>
                <a:tc>
                  <a:txBody>
                    <a:bodyPr wrap="square"/>
                    <a:lstStyle/>
                    <a:p>
                      <a:r>
                        <a:rPr sz="1600" b="0">
                          <a:solidFill>
                            <a:srgbClr val="202122"/>
                          </a:solidFill>
                          <a:latin typeface="Calibri"/>
                        </a:rPr>
                        <a:t>Make sure updates are applied</a:t>
                      </a:r>
                    </a:p>
                  </a:txBody>
                  <a:tcPr marL="91440" marR="91440" anchor="ctr">
                    <a:solidFill>
                      <a:srgbClr val="FFFFFF"/>
                    </a:solidFill>
                  </a:tcPr>
                </a:tc>
              </a:tr>
              <a:tr h="565785">
                <a:tc>
                  <a:txBody>
                    <a:bodyPr wrap="square"/>
                    <a:lstStyle/>
                    <a:p>
                      <a:r>
                        <a:rPr sz="1600" b="1">
                          <a:solidFill>
                            <a:srgbClr val="03306E"/>
                          </a:solidFill>
                          <a:latin typeface="Calibri"/>
                        </a:rPr>
                        <a:t>Third parties</a:t>
                      </a:r>
                    </a:p>
                  </a:txBody>
                  <a:tcPr marL="91440" marR="91440" anchor="ctr">
                    <a:solidFill>
                      <a:srgbClr val="EAF3FF"/>
                    </a:solidFill>
                  </a:tcPr>
                </a:tc>
                <a:tc>
                  <a:txBody>
                    <a:bodyPr wrap="square"/>
                    <a:lstStyle/>
                    <a:p>
                      <a:r>
                        <a:rPr sz="1600" b="0">
                          <a:solidFill>
                            <a:srgbClr val="202122"/>
                          </a:solidFill>
                          <a:latin typeface="Calibri"/>
                        </a:rPr>
                        <a:t>Supplier due diligence</a:t>
                      </a:r>
                    </a:p>
                  </a:txBody>
                  <a:tcPr marL="91440" marR="91440" anchor="ctr">
                    <a:solidFill>
                      <a:srgbClr val="EAF3FF"/>
                    </a:solidFill>
                  </a:tcPr>
                </a:tc>
              </a:tr>
              <a:tr h="565785">
                <a:tc>
                  <a:txBody>
                    <a:bodyPr wrap="square"/>
                    <a:lstStyle/>
                    <a:p>
                      <a:r>
                        <a:rPr sz="1600" b="1">
                          <a:solidFill>
                            <a:srgbClr val="03306E"/>
                          </a:solidFill>
                          <a:latin typeface="Calibri"/>
                        </a:rPr>
                        <a:t>Improper disposal</a:t>
                      </a:r>
                    </a:p>
                  </a:txBody>
                  <a:tcPr marL="91440" marR="91440" anchor="ctr">
                    <a:solidFill>
                      <a:srgbClr val="FFFFFF"/>
                    </a:solidFill>
                  </a:tcPr>
                </a:tc>
                <a:tc>
                  <a:txBody>
                    <a:bodyPr wrap="square"/>
                    <a:lstStyle/>
                    <a:p>
                      <a:r>
                        <a:rPr sz="1600" b="0">
                          <a:solidFill>
                            <a:srgbClr val="202122"/>
                          </a:solidFill>
                          <a:latin typeface="Calibri"/>
                        </a:rPr>
                        <a:t>Secure wiping and DPA 2018 compliance</a:t>
                      </a:r>
                    </a:p>
                  </a:txBody>
                  <a:tcPr marL="91440" marR="9144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Mitigating privacy-breach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are insider threats reduced?</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due diligence on a supplier?</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should old devices be disposed of?</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Applying Cyber Essentials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Boundary firewalls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Restrict traffic flowing in and out.</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800" b="1" i="0">
                <a:solidFill>
                  <a:srgbClr val="03306E"/>
                </a:solidFill>
                <a:latin typeface="Calibri"/>
              </a:rPr>
              <a:t>Secure configuration</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Enable only the functions needed.</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Malware protection</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Current anti-malware and regular scans.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Security updates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Keep patches current.</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Access control</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Least privilege, with PAM for super-user and privileged accounts.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Backup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Backups are the last line of defence against ransomware and failure.</a:t>
            </a:r>
          </a:p>
          <a:p>
            <a:pPr>
              <a:spcAft>
                <a:spcPts val="1200"/>
              </a:spcAft>
            </a:pPr>
            <a:r>
              <a:rPr sz="2000" b="0">
                <a:solidFill>
                  <a:srgbClr val="202122"/>
                </a:solidFill>
                <a:latin typeface="Calibri"/>
              </a:rPr>
              <a:t>Full backups copy everything; incremental copy changes since the last backup; differential copy changes since the last full backup; a mirror is a live exact copy.</a:t>
            </a:r>
          </a:p>
          <a:p>
            <a:pPr>
              <a:spcAft>
                <a:spcPts val="1200"/>
              </a:spcAft>
            </a:pPr>
            <a:r>
              <a:rPr sz="2000" b="0">
                <a:solidFill>
                  <a:srgbClr val="202122"/>
                </a:solidFill>
                <a:latin typeface="Calibri"/>
              </a:rPr>
              <a:t>Immutable backups can't be changed, overwritten or deleted for a set period, even by an administrator. Ransomware often tries to destroy backups first, so immutable or offline copies are essential.</a:t>
            </a:r>
          </a:p>
          <a:p>
            <a:pPr>
              <a:spcAft>
                <a:spcPts val="1200"/>
              </a:spcAft>
            </a:pPr>
            <a:r>
              <a:rPr sz="2000" b="0">
                <a:solidFill>
                  <a:srgbClr val="202122"/>
                </a:solidFill>
                <a:latin typeface="Calibri"/>
              </a:rPr>
              <a:t>A backup strategy sets frequency, source, destination, storage medium and location, how long copies are kept, and regular test restores.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Ransomware encrypts a company's server and its connected backup drive, but the immutable cloud backup survives, so the company recovers without paying.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Backup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graphicFrame>
        <p:nvGraphicFramePr>
          <p:cNvPr id="6" name="Table 5"/>
          <p:cNvGraphicFramePr>
            <a:graphicFrameLocks noGrp="1"/>
          </p:cNvGraphicFramePr>
          <p:nvPr/>
        </p:nvGraphicFramePr>
        <p:xfrm>
          <a:off x="548640" y="1600200"/>
          <a:ext cx="11094414" cy="3977640"/>
        </p:xfrm>
        <a:graphic>
          <a:graphicData uri="http://schemas.openxmlformats.org/drawingml/2006/table">
            <a:tbl>
              <a:tblPr firstRow="1" bandRow="1">
                <a:tableStyleId>{5C22544A-7EE6-4342-B048-85BDC9FD1C3A}</a:tableStyleId>
              </a:tblPr>
              <a:tblGrid>
                <a:gridCol w="2580096"/>
                <a:gridCol w="8514318"/>
              </a:tblGrid>
              <a:tr h="662940">
                <a:tc>
                  <a:txBody>
                    <a:bodyPr wrap="square"/>
                    <a:lstStyle/>
                    <a:p>
                      <a:r>
                        <a:rPr sz="1600" b="1">
                          <a:solidFill>
                            <a:srgbClr val="FFFFFF"/>
                          </a:solidFill>
                          <a:latin typeface="Calibri"/>
                        </a:rPr>
                        <a:t>Type</a:t>
                      </a:r>
                    </a:p>
                  </a:txBody>
                  <a:tcPr marL="91440" marR="91440" anchor="ctr">
                    <a:solidFill>
                      <a:srgbClr val="03306E"/>
                    </a:solidFill>
                  </a:tcPr>
                </a:tc>
                <a:tc>
                  <a:txBody>
                    <a:bodyPr wrap="square"/>
                    <a:lstStyle/>
                    <a:p>
                      <a:r>
                        <a:rPr sz="1600" b="1">
                          <a:solidFill>
                            <a:srgbClr val="FFFFFF"/>
                          </a:solidFill>
                          <a:latin typeface="Calibri"/>
                        </a:rPr>
                        <a:t>Description</a:t>
                      </a:r>
                    </a:p>
                  </a:txBody>
                  <a:tcPr marL="91440" marR="91440" anchor="ctr">
                    <a:solidFill>
                      <a:srgbClr val="03306E"/>
                    </a:solidFill>
                  </a:tcPr>
                </a:tc>
              </a:tr>
              <a:tr h="662940">
                <a:tc>
                  <a:txBody>
                    <a:bodyPr wrap="square"/>
                    <a:lstStyle/>
                    <a:p>
                      <a:r>
                        <a:rPr sz="1600" b="1">
                          <a:solidFill>
                            <a:srgbClr val="03306E"/>
                          </a:solidFill>
                          <a:latin typeface="Calibri"/>
                        </a:rPr>
                        <a:t>Full</a:t>
                      </a:r>
                    </a:p>
                  </a:txBody>
                  <a:tcPr marL="91440" marR="91440" anchor="ctr">
                    <a:solidFill>
                      <a:srgbClr val="FFFFFF"/>
                    </a:solidFill>
                  </a:tcPr>
                </a:tc>
                <a:tc>
                  <a:txBody>
                    <a:bodyPr wrap="square"/>
                    <a:lstStyle/>
                    <a:p>
                      <a:r>
                        <a:rPr sz="1600" b="0">
                          <a:solidFill>
                            <a:srgbClr val="202122"/>
                          </a:solidFill>
                          <a:latin typeface="Calibri"/>
                        </a:rPr>
                        <a:t>Complete copy of all data</a:t>
                      </a:r>
                    </a:p>
                  </a:txBody>
                  <a:tcPr marL="91440" marR="91440" anchor="ctr">
                    <a:solidFill>
                      <a:srgbClr val="FFFFFF"/>
                    </a:solidFill>
                  </a:tcPr>
                </a:tc>
              </a:tr>
              <a:tr h="662940">
                <a:tc>
                  <a:txBody>
                    <a:bodyPr wrap="square"/>
                    <a:lstStyle/>
                    <a:p>
                      <a:r>
                        <a:rPr sz="1600" b="1">
                          <a:solidFill>
                            <a:srgbClr val="03306E"/>
                          </a:solidFill>
                          <a:latin typeface="Calibri"/>
                        </a:rPr>
                        <a:t>Incremental</a:t>
                      </a:r>
                    </a:p>
                  </a:txBody>
                  <a:tcPr marL="91440" marR="91440" anchor="ctr">
                    <a:solidFill>
                      <a:srgbClr val="EAF3FF"/>
                    </a:solidFill>
                  </a:tcPr>
                </a:tc>
                <a:tc>
                  <a:txBody>
                    <a:bodyPr wrap="square"/>
                    <a:lstStyle/>
                    <a:p>
                      <a:r>
                        <a:rPr sz="1600" b="0">
                          <a:solidFill>
                            <a:srgbClr val="202122"/>
                          </a:solidFill>
                          <a:latin typeface="Calibri"/>
                        </a:rPr>
                        <a:t>Changes since the last backup of any type</a:t>
                      </a:r>
                    </a:p>
                  </a:txBody>
                  <a:tcPr marL="91440" marR="91440" anchor="ctr">
                    <a:solidFill>
                      <a:srgbClr val="EAF3FF"/>
                    </a:solidFill>
                  </a:tcPr>
                </a:tc>
              </a:tr>
              <a:tr h="662940">
                <a:tc>
                  <a:txBody>
                    <a:bodyPr wrap="square"/>
                    <a:lstStyle/>
                    <a:p>
                      <a:r>
                        <a:rPr sz="1600" b="1">
                          <a:solidFill>
                            <a:srgbClr val="03306E"/>
                          </a:solidFill>
                          <a:latin typeface="Calibri"/>
                        </a:rPr>
                        <a:t>Differential</a:t>
                      </a:r>
                    </a:p>
                  </a:txBody>
                  <a:tcPr marL="91440" marR="91440" anchor="ctr">
                    <a:solidFill>
                      <a:srgbClr val="FFFFFF"/>
                    </a:solidFill>
                  </a:tcPr>
                </a:tc>
                <a:tc>
                  <a:txBody>
                    <a:bodyPr wrap="square"/>
                    <a:lstStyle/>
                    <a:p>
                      <a:r>
                        <a:rPr sz="1600" b="0">
                          <a:solidFill>
                            <a:srgbClr val="202122"/>
                          </a:solidFill>
                          <a:latin typeface="Calibri"/>
                        </a:rPr>
                        <a:t>Changes since the last full backup</a:t>
                      </a:r>
                    </a:p>
                  </a:txBody>
                  <a:tcPr marL="91440" marR="91440" anchor="ctr">
                    <a:solidFill>
                      <a:srgbClr val="FFFFFF"/>
                    </a:solidFill>
                  </a:tcPr>
                </a:tc>
              </a:tr>
              <a:tr h="662940">
                <a:tc>
                  <a:txBody>
                    <a:bodyPr wrap="square"/>
                    <a:lstStyle/>
                    <a:p>
                      <a:r>
                        <a:rPr sz="1600" b="1">
                          <a:solidFill>
                            <a:srgbClr val="03306E"/>
                          </a:solidFill>
                          <a:latin typeface="Calibri"/>
                        </a:rPr>
                        <a:t>Mirror</a:t>
                      </a:r>
                    </a:p>
                  </a:txBody>
                  <a:tcPr marL="91440" marR="91440" anchor="ctr">
                    <a:solidFill>
                      <a:srgbClr val="EAF3FF"/>
                    </a:solidFill>
                  </a:tcPr>
                </a:tc>
                <a:tc>
                  <a:txBody>
                    <a:bodyPr wrap="square"/>
                    <a:lstStyle/>
                    <a:p>
                      <a:r>
                        <a:rPr sz="1600" b="0">
                          <a:solidFill>
                            <a:srgbClr val="202122"/>
                          </a:solidFill>
                          <a:latin typeface="Calibri"/>
                        </a:rPr>
                        <a:t>Exact live copy, including deletions</a:t>
                      </a:r>
                    </a:p>
                  </a:txBody>
                  <a:tcPr marL="91440" marR="91440" anchor="ctr">
                    <a:solidFill>
                      <a:srgbClr val="EAF3FF"/>
                    </a:solidFill>
                  </a:tcPr>
                </a:tc>
              </a:tr>
              <a:tr h="662940">
                <a:tc>
                  <a:txBody>
                    <a:bodyPr wrap="square"/>
                    <a:lstStyle/>
                    <a:p>
                      <a:r>
                        <a:rPr sz="1600" b="1">
                          <a:solidFill>
                            <a:srgbClr val="03306E"/>
                          </a:solidFill>
                          <a:latin typeface="Calibri"/>
                        </a:rPr>
                        <a:t>Immutable</a:t>
                      </a:r>
                    </a:p>
                  </a:txBody>
                  <a:tcPr marL="91440" marR="91440" anchor="ctr">
                    <a:solidFill>
                      <a:srgbClr val="FFFFFF"/>
                    </a:solidFill>
                  </a:tcPr>
                </a:tc>
                <a:tc>
                  <a:txBody>
                    <a:bodyPr wrap="square"/>
                    <a:lstStyle/>
                    <a:p>
                      <a:r>
                        <a:rPr sz="1600" b="0">
                          <a:solidFill>
                            <a:srgbClr val="202122"/>
                          </a:solidFill>
                          <a:latin typeface="Calibri"/>
                        </a:rPr>
                        <a:t>Cannot be changed, overwritten or deleted: a defence against ransomware</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Criteria: frequency, source, destination, storage medium and location, retention period and regular restore 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Backup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an immutable backup?</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does ransomware target backups?</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test restores?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Policies that support risk mitigation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Data</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Data protection, data retention, asset classification.</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Access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Access control, password, acceptable use.</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Devices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Mobile device, BYOD, asset disposal.</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Resilience</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Backup policy, incident response procedure, information security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Monitoring compliance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Policies only protect an organisation if people follow them and they stay up to date.</a:t>
            </a:r>
          </a:p>
          <a:p>
            <a:pPr>
              <a:spcAft>
                <a:spcPts val="1320"/>
              </a:spcAft>
            </a:pPr>
            <a:r>
              <a:rPr sz="2200" b="0">
                <a:solidFill>
                  <a:srgbClr val="202122"/>
                </a:solidFill>
                <a:latin typeface="Calibri"/>
              </a:rPr>
              <a:t>Compliance monitoring audits processes and policies, such as reviewing the information security policy each year, and improves them where needed.</a:t>
            </a:r>
          </a:p>
          <a:p>
            <a:pPr>
              <a:spcAft>
                <a:spcPts val="1320"/>
              </a:spcAft>
            </a:pPr>
            <a:r>
              <a:rPr sz="2200" b="0">
                <a:solidFill>
                  <a:srgbClr val="202122"/>
                </a:solidFill>
                <a:latin typeface="Calibri"/>
              </a:rPr>
              <a:t>It compares and checks the accuracy of processes, logs and incident reports: do the logs show what the procedures say should happen?</a:t>
            </a:r>
          </a:p>
          <a:p>
            <a:pPr>
              <a:spcAft>
                <a:spcPts val="1320"/>
              </a:spcAft>
            </a:pPr>
            <a:r>
              <a:rPr sz="2200" b="0">
                <a:solidFill>
                  <a:srgbClr val="202122"/>
                </a:solidFill>
                <a:latin typeface="Calibri"/>
              </a:rPr>
              <a:t>It also checks the organisation meets the ISO standards it claims, such as ISO 27001.</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audit finds the policy says leavers' accounts are disabled within 24 hours, but logs show some took three weeks. The process is fixed and rechecked next quarter.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Monitoring compliance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Audit processes and policies to check they are current, e.g. review the information security policy.</a:t>
            </a:r>
          </a:p>
          <a:p>
            <a:pPr marL="274320" indent="-274320">
              <a:spcAft>
                <a:spcPts val="1080"/>
              </a:spcAft>
              <a:buClr>
                <a:srgbClr val="0645AD"/>
              </a:buClr>
              <a:buFont typeface="Arial"/>
              <a:buChar char="•"/>
            </a:pPr>
            <a:r>
              <a:rPr sz="2400" b="0">
                <a:solidFill>
                  <a:srgbClr val="202122"/>
                </a:solidFill>
                <a:latin typeface="Calibri"/>
              </a:rPr>
              <a:t>Improve them where needed.</a:t>
            </a:r>
          </a:p>
          <a:p>
            <a:pPr marL="274320" indent="-274320">
              <a:spcAft>
                <a:spcPts val="1080"/>
              </a:spcAft>
              <a:buClr>
                <a:srgbClr val="0645AD"/>
              </a:buClr>
              <a:buFont typeface="Arial"/>
              <a:buChar char="•"/>
            </a:pPr>
            <a:r>
              <a:rPr sz="2400" b="0">
                <a:solidFill>
                  <a:srgbClr val="202122"/>
                </a:solidFill>
                <a:latin typeface="Calibri"/>
              </a:rPr>
              <a:t>Compare and check the accuracy of processes, logs and incident reports.</a:t>
            </a:r>
          </a:p>
          <a:p>
            <a:pPr marL="274320" indent="-274320">
              <a:spcAft>
                <a:spcPts val="1080"/>
              </a:spcAft>
              <a:buClr>
                <a:srgbClr val="0645AD"/>
              </a:buClr>
              <a:buFont typeface="Arial"/>
              <a:buChar char="•"/>
            </a:pPr>
            <a:r>
              <a:rPr sz="2400" b="0">
                <a:solidFill>
                  <a:srgbClr val="202122"/>
                </a:solidFill>
                <a:latin typeface="Calibri"/>
              </a:rPr>
              <a:t>Comply with relevant ISO standards.</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A policy nobody checks is a wish, not a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Monitoring compliance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audit policies regularly?</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comparing logs with procedures show?</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an ISO standard compliance might check.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makes a backup immutable?</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What is PAM used for?</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Give a mitigation for insider threats.</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Name four organisational policies.</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Why test restoring backups?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makes a backup immutable?</a:t>
            </a:r>
          </a:p>
          <a:p>
            <a:r>
              <a:rPr sz="1800" b="1">
                <a:solidFill>
                  <a:srgbClr val="03306E"/>
                </a:solidFill>
                <a:latin typeface="Calibri"/>
              </a:rPr>
              <a:t>It cannot be changed, overwritten or deleted.</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What is PAM used for?</a:t>
            </a:r>
          </a:p>
          <a:p>
            <a:r>
              <a:rPr sz="1800" b="1">
                <a:solidFill>
                  <a:srgbClr val="03306E"/>
                </a:solidFill>
                <a:latin typeface="Calibri"/>
              </a:rPr>
              <a:t>Managing privileged (elevated) access such as super-user accounts.</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Give a mitigation for insider threats.</a:t>
            </a:r>
          </a:p>
          <a:p>
            <a:r>
              <a:rPr sz="1800" b="1">
                <a:solidFill>
                  <a:srgbClr val="03306E"/>
                </a:solidFill>
                <a:latin typeface="Calibri"/>
              </a:rPr>
              <a:t>Access controls, monitoring unusual activity or segregation of duties.</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Name four organisational policies.</a:t>
            </a:r>
          </a:p>
          <a:p>
            <a:r>
              <a:rPr sz="1800" b="1">
                <a:solidFill>
                  <a:srgbClr val="03306E"/>
                </a:solidFill>
                <a:latin typeface="Calibri"/>
              </a:rPr>
              <a:t>Any four from the list, e.g. AUP, password, BYOD, backup.</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Why test restoring backups?</a:t>
            </a:r>
          </a:p>
          <a:p>
            <a:r>
              <a:rPr sz="1800" b="1">
                <a:solidFill>
                  <a:srgbClr val="03306E"/>
                </a:solidFill>
                <a:latin typeface="Calibri"/>
              </a:rPr>
              <a:t>To prove the backups actually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Ransomware-proof the backups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Mitigation, Backups, Policies and Compliance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A design agency backs up to a USB drive left plugged in to the server.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Explain why this would fail against ransomware.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Design a new backup strategy using the backup criteria.</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the backup policy rules staff must follow.</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Includes an immutable or offline copy</a:t>
            </a:r>
          </a:p>
          <a:p>
            <a:pPr marL="274320" indent="-274320">
              <a:spcAft>
                <a:spcPts val="810"/>
              </a:spcAft>
              <a:buClr>
                <a:srgbClr val="0645AD"/>
              </a:buClr>
              <a:buFont typeface="Arial"/>
              <a:buChar char="•"/>
            </a:pPr>
            <a:r>
              <a:rPr sz="1800" b="0">
                <a:solidFill>
                  <a:srgbClr val="202122"/>
                </a:solidFill>
                <a:latin typeface="Calibri"/>
              </a:rPr>
              <a:t>All six criteria addressed</a:t>
            </a:r>
          </a:p>
          <a:p>
            <a:pPr marL="274320" indent="-274320">
              <a:spcAft>
                <a:spcPts val="810"/>
              </a:spcAft>
              <a:buClr>
                <a:srgbClr val="0645AD"/>
              </a:buClr>
              <a:buFont typeface="Arial"/>
              <a:buChar char="•"/>
            </a:pPr>
            <a:r>
              <a:rPr sz="1800" b="0">
                <a:solidFill>
                  <a:srgbClr val="202122"/>
                </a:solidFill>
                <a:latin typeface="Calibri"/>
              </a:rPr>
              <a:t>Restore testing is scheduled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Cyber Essentials control relates to least privilege?</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is a USB backup left plugged in risky?</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How often should an information security policy be reviewed?</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Cyber Security - Propose Remediation Advice for a Security Risk Assessment</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https://lana6478.github.io/Digital-Suport-and-security-T-levle/#/02-occupational-specialisms/cyber-security/02-remediation-and-risk-assessment.md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Mitigation, Backups, Policies and Compliance</dc:title>
  <dc:subject>Digital Support and Security T Level: Cyber Security Content Area 2</dc:subject>
  <dc:creator>Samuel O'Connell</dc:creator>
  <cp:keywords>T Level; Digital Support and Security; lesson slides; 2.11, 2.21, 2.23, 2.24, 2.25</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