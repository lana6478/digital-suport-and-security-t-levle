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notesMaster" Target="notesMasters/notesMaster1.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Answers:</a:t>
            </a:r>
          </a:p>
          <a:p>
            <a:r>
              <a:t>1. Identify vulnerabilities.</a:t>
            </a:r>
          </a:p>
          <a:p>
            <a:r>
              <a:t>2. Remediate removes the flaw; mitigate reduces its risk.</a:t>
            </a:r>
          </a:p>
          <a:p>
            <a:r>
              <a:t>3. Which systems, what access, and what is being tested.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Answers:</a:t>
            </a:r>
          </a:p>
          <a:p>
            <a:r>
              <a:t>1. A publicly listed known vulnerability with a unique ID.</a:t>
            </a:r>
          </a:p>
          <a:p>
            <a:r>
              <a:t>2. 0 to 10.</a:t>
            </a:r>
          </a:p>
          <a:p>
            <a:r>
              <a:t>3. Your own context, such as exposure and business impact, also matters.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Answers:</a:t>
            </a:r>
          </a:p>
          <a:p>
            <a:r>
              <a:t>1. A reported problem that doesn't really exist.</a:t>
            </a:r>
          </a:p>
          <a:p>
            <a:r>
              <a:t>2. No, only known issues.</a:t>
            </a:r>
          </a:p>
          <a:p>
            <a:r>
              <a:t>3. E.g. SQL injection, broken authentication.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Answers:</a:t>
            </a:r>
          </a:p>
          <a:p>
            <a:r>
              <a:t>1. Rules of engagement, timing and legal boundaries.</a:t>
            </a:r>
          </a:p>
          <a:p>
            <a:r>
              <a:t>2. Gathering information about the target.</a:t>
            </a:r>
          </a:p>
          <a:p>
            <a:r>
              <a:t>3. Evidence that a vulnerability can really be exploited.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Recommendations must be documented logically and pitched in the right technical language for the audience.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Give students a few minutes to answer on mini whiteboards or paper, then reveal the answers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through any answers the class found difficult.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Include a high CVSS finding on an isolated test box and a medium one on the payment server to show why context matters.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Students answer on a sticky note or in the chat before leaving.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3306E"/>
        </a:solidFill>
        <a:effectLst/>
      </p:bgPr>
    </p:bg>
    <p:spTree>
      <p:nvGrpSpPr>
        <p:cNvPr id="1" name=""/>
        <p:cNvGrpSpPr/>
        <p:nvPr/>
      </p:nvGrpSpPr>
      <p:grpSpPr/>
      <p:sp>
        <p:nvSpPr>
          <p:cNvPr id="2" name="Oval 1"/>
          <p:cNvSpPr/>
          <p:nvPr/>
        </p:nvSpPr>
        <p:spPr>
          <a:xfrm>
            <a:off x="8595360" y="1005840"/>
            <a:ext cx="3291840" cy="3291840"/>
          </a:xfrm>
          <a:prstGeom prst="ellipse">
            <a:avLst/>
          </a:prstGeom>
          <a:solidFill>
            <a:srgbClr val="0645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Oval 2"/>
          <p:cNvSpPr/>
          <p:nvPr/>
        </p:nvSpPr>
        <p:spPr>
          <a:xfrm>
            <a:off x="9966960" y="3200400"/>
            <a:ext cx="2377440" cy="2377440"/>
          </a:xfrm>
          <a:prstGeom prst="ellipse">
            <a:avLst/>
          </a:prstGeom>
          <a:solidFill>
            <a:srgbClr val="E046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Oval 3"/>
          <p:cNvSpPr/>
          <p:nvPr/>
        </p:nvSpPr>
        <p:spPr>
          <a:xfrm>
            <a:off x="8138160" y="4023360"/>
            <a:ext cx="1371600" cy="1371600"/>
          </a:xfrm>
          <a:prstGeom prst="ellipse">
            <a:avLst/>
          </a:prstGeom>
          <a:solidFill>
            <a:srgbClr val="A9C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548640" y="914400"/>
            <a:ext cx="7315200" cy="365760"/>
          </a:xfrm>
          <a:prstGeom prst="rect">
            <a:avLst/>
          </a:prstGeom>
          <a:noFill/>
        </p:spPr>
        <p:txBody>
          <a:bodyPr wrap="square" anchor="t" lIns="0" rIns="0" tIns="0" bIns="0"/>
          <a:lstStyle/>
          <a:p>
            <a:pPr algn="l"/>
            <a:r>
              <a:rPr sz="1400" b="1" i="0">
                <a:solidFill>
                  <a:srgbClr val="E0463A"/>
                </a:solidFill>
                <a:latin typeface="Calibri"/>
              </a:rPr>
              <a:t>CYBER SECURITY</a:t>
            </a:r>
          </a:p>
        </p:txBody>
      </p:sp>
      <p:sp>
        <p:nvSpPr>
          <p:cNvPr id="6" name="TextBox 5"/>
          <p:cNvSpPr txBox="1"/>
          <p:nvPr/>
        </p:nvSpPr>
        <p:spPr>
          <a:xfrm>
            <a:off x="548640" y="1371600"/>
            <a:ext cx="7315200" cy="2286000"/>
          </a:xfrm>
          <a:prstGeom prst="rect">
            <a:avLst/>
          </a:prstGeom>
          <a:noFill/>
        </p:spPr>
        <p:txBody>
          <a:bodyPr wrap="square" anchor="b" lIns="0" rIns="0" tIns="0" bIns="0"/>
          <a:lstStyle/>
          <a:p>
            <a:pPr algn="l"/>
            <a:r>
              <a:rPr sz="4400" b="1" i="0">
                <a:solidFill>
                  <a:srgbClr val="FFFFFF"/>
                </a:solidFill>
                <a:latin typeface="Cambria"/>
              </a:rPr>
              <a:t>Vulnerability Assessment and Penetration Testing</a:t>
            </a:r>
          </a:p>
        </p:txBody>
      </p:sp>
      <p:sp>
        <p:nvSpPr>
          <p:cNvPr id="7" name="TextBox 6"/>
          <p:cNvSpPr txBox="1"/>
          <p:nvPr/>
        </p:nvSpPr>
        <p:spPr>
          <a:xfrm>
            <a:off x="548640" y="3840480"/>
            <a:ext cx="7315200" cy="457200"/>
          </a:xfrm>
          <a:prstGeom prst="rect">
            <a:avLst/>
          </a:prstGeom>
          <a:noFill/>
        </p:spPr>
        <p:txBody>
          <a:bodyPr wrap="square" anchor="t" lIns="0" rIns="0" tIns="0" bIns="0"/>
          <a:lstStyle/>
          <a:p>
            <a:pPr algn="l"/>
            <a:r>
              <a:rPr sz="1800" b="0" i="0">
                <a:solidFill>
                  <a:srgbClr val="A9C8F0"/>
                </a:solidFill>
                <a:latin typeface="Calibri"/>
              </a:rPr>
              <a:t>Cyber Security Content Area 2</a:t>
            </a:r>
          </a:p>
        </p:txBody>
      </p:sp>
      <p:sp>
        <p:nvSpPr>
          <p:cNvPr id="8" name="TextBox 7"/>
          <p:cNvSpPr txBox="1"/>
          <p:nvPr/>
        </p:nvSpPr>
        <p:spPr>
          <a:xfrm>
            <a:off x="548640" y="4297680"/>
            <a:ext cx="7315200" cy="457200"/>
          </a:xfrm>
          <a:prstGeom prst="rect">
            <a:avLst/>
          </a:prstGeom>
          <a:noFill/>
        </p:spPr>
        <p:txBody>
          <a:bodyPr wrap="square" anchor="t" lIns="0" rIns="0" tIns="0" bIns="0"/>
          <a:lstStyle/>
          <a:p>
            <a:pPr algn="l"/>
            <a:r>
              <a:rPr sz="1400" b="0" i="0">
                <a:solidFill>
                  <a:srgbClr val="A9C8F0"/>
                </a:solidFill>
                <a:latin typeface="Calibri"/>
              </a:rPr>
              <a:t>Specification reference: 2.4, 2.5, 2.6, 2.8, 2.9, 2.17</a:t>
            </a:r>
          </a:p>
        </p:txBody>
      </p:sp>
      <p:sp>
        <p:nvSpPr>
          <p:cNvPr id="9" name="TextBox 8"/>
          <p:cNvSpPr txBox="1"/>
          <p:nvPr/>
        </p:nvSpPr>
        <p:spPr>
          <a:xfrm>
            <a:off x="548640" y="5760720"/>
            <a:ext cx="7498079" cy="640080"/>
          </a:xfrm>
          <a:prstGeom prst="rect">
            <a:avLst/>
          </a:prstGeom>
          <a:noFill/>
        </p:spPr>
        <p:txBody>
          <a:bodyPr wrap="square" anchor="t" lIns="0" rIns="0" tIns="0" bIns="0"/>
          <a:lstStyle/>
          <a:p>
            <a:pPr algn="l"/>
            <a:r>
              <a:rPr sz="1100" b="0" i="0">
                <a:solidFill>
                  <a:srgbClr val="A9C8F0"/>
                </a:solidFill>
                <a:latin typeface="Calibri"/>
              </a:rPr>
              <a:t>Digital Support and Security T Level  ·  Lesson slides</a:t>
            </a:r>
          </a:p>
          <a:p>
            <a:pPr algn="l"/>
            <a:r>
              <a:rPr sz="1100" b="0" i="0">
                <a:solidFill>
                  <a:srgbClr val="A9C8F0"/>
                </a:solidFill>
                <a:latin typeface="Calibri"/>
              </a:rPr>
              <a:t>Unofficial teaching resource. Check the official Pearson specification for assessment detail.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CYBER SECURITY  ·  Cyber Security Content Area 2</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Learning objectives</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Vulnerability Assessment and Penetration Testing</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2</a:t>
            </a:r>
          </a:p>
        </p:txBody>
      </p:sp>
      <p:sp>
        <p:nvSpPr>
          <p:cNvPr id="6" name="TextBox 5"/>
          <p:cNvSpPr txBox="1"/>
          <p:nvPr/>
        </p:nvSpPr>
        <p:spPr>
          <a:xfrm>
            <a:off x="548640" y="1508760"/>
            <a:ext cx="6766560" cy="365760"/>
          </a:xfrm>
          <a:prstGeom prst="rect">
            <a:avLst/>
          </a:prstGeom>
          <a:noFill/>
        </p:spPr>
        <p:txBody>
          <a:bodyPr wrap="square" anchor="t" lIns="0" rIns="0" tIns="0" bIns="0"/>
          <a:lstStyle/>
          <a:p>
            <a:pPr algn="l"/>
            <a:r>
              <a:rPr sz="1600" b="0" i="1">
                <a:solidFill>
                  <a:srgbClr val="54595D"/>
                </a:solidFill>
                <a:latin typeface="Calibri"/>
              </a:rPr>
              <a:t>By the end of this lesson you should be able to:</a:t>
            </a:r>
          </a:p>
        </p:txBody>
      </p:sp>
      <p:sp>
        <p:nvSpPr>
          <p:cNvPr id="7" name="Oval 6"/>
          <p:cNvSpPr/>
          <p:nvPr/>
        </p:nvSpPr>
        <p:spPr>
          <a:xfrm>
            <a:off x="548640" y="2234565"/>
            <a:ext cx="457200" cy="457200"/>
          </a:xfrm>
          <a:prstGeom prst="ellipse">
            <a:avLst/>
          </a:prstGeom>
          <a:solidFill>
            <a:srgbClr val="E046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1</a:t>
            </a:r>
          </a:p>
        </p:txBody>
      </p:sp>
      <p:sp>
        <p:nvSpPr>
          <p:cNvPr id="8" name="TextBox 7"/>
          <p:cNvSpPr txBox="1"/>
          <p:nvPr/>
        </p:nvSpPr>
        <p:spPr>
          <a:xfrm>
            <a:off x="1234440" y="2011680"/>
            <a:ext cx="6035040" cy="902969"/>
          </a:xfrm>
          <a:prstGeom prst="rect">
            <a:avLst/>
          </a:prstGeom>
          <a:noFill/>
        </p:spPr>
        <p:txBody>
          <a:bodyPr wrap="square" anchor="ctr" lIns="0" rIns="0" tIns="0" bIns="0"/>
          <a:lstStyle/>
          <a:p>
            <a:pPr algn="l"/>
            <a:r>
              <a:rPr sz="2000" b="0" i="0">
                <a:solidFill>
                  <a:srgbClr val="202122"/>
                </a:solidFill>
                <a:latin typeface="Calibri"/>
              </a:rPr>
              <a:t>Describe the stages of a vulnerability assessment and how to scope it.</a:t>
            </a:r>
          </a:p>
        </p:txBody>
      </p:sp>
      <p:sp>
        <p:nvSpPr>
          <p:cNvPr id="9" name="Oval 8"/>
          <p:cNvSpPr/>
          <p:nvPr/>
        </p:nvSpPr>
        <p:spPr>
          <a:xfrm>
            <a:off x="548640" y="3274695"/>
            <a:ext cx="457200" cy="457200"/>
          </a:xfrm>
          <a:prstGeom prst="ellipse">
            <a:avLst/>
          </a:prstGeom>
          <a:solidFill>
            <a:srgbClr val="E046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2</a:t>
            </a:r>
          </a:p>
        </p:txBody>
      </p:sp>
      <p:sp>
        <p:nvSpPr>
          <p:cNvPr id="10" name="TextBox 9"/>
          <p:cNvSpPr txBox="1"/>
          <p:nvPr/>
        </p:nvSpPr>
        <p:spPr>
          <a:xfrm>
            <a:off x="1234440" y="3051810"/>
            <a:ext cx="6035040" cy="902969"/>
          </a:xfrm>
          <a:prstGeom prst="rect">
            <a:avLst/>
          </a:prstGeom>
          <a:noFill/>
        </p:spPr>
        <p:txBody>
          <a:bodyPr wrap="square" anchor="ctr" lIns="0" rIns="0" tIns="0" bIns="0"/>
          <a:lstStyle/>
          <a:p>
            <a:pPr algn="l"/>
            <a:r>
              <a:rPr sz="2000" b="0" i="0">
                <a:solidFill>
                  <a:srgbClr val="202122"/>
                </a:solidFill>
                <a:latin typeface="Calibri"/>
              </a:rPr>
              <a:t>Use CVEs and CVSS scores to research vulnerabilities.</a:t>
            </a:r>
          </a:p>
        </p:txBody>
      </p:sp>
      <p:sp>
        <p:nvSpPr>
          <p:cNvPr id="11" name="Oval 10"/>
          <p:cNvSpPr/>
          <p:nvPr/>
        </p:nvSpPr>
        <p:spPr>
          <a:xfrm>
            <a:off x="548640" y="4314825"/>
            <a:ext cx="457200" cy="457200"/>
          </a:xfrm>
          <a:prstGeom prst="ellipse">
            <a:avLst/>
          </a:prstGeom>
          <a:solidFill>
            <a:srgbClr val="E046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3</a:t>
            </a:r>
          </a:p>
        </p:txBody>
      </p:sp>
      <p:sp>
        <p:nvSpPr>
          <p:cNvPr id="12" name="TextBox 11"/>
          <p:cNvSpPr txBox="1"/>
          <p:nvPr/>
        </p:nvSpPr>
        <p:spPr>
          <a:xfrm>
            <a:off x="1234440" y="4091939"/>
            <a:ext cx="6035040" cy="902969"/>
          </a:xfrm>
          <a:prstGeom prst="rect">
            <a:avLst/>
          </a:prstGeom>
          <a:noFill/>
        </p:spPr>
        <p:txBody>
          <a:bodyPr wrap="square" anchor="ctr" lIns="0" rIns="0" tIns="0" bIns="0"/>
          <a:lstStyle/>
          <a:p>
            <a:pPr algn="l"/>
            <a:r>
              <a:rPr sz="2000" b="0" i="0">
                <a:solidFill>
                  <a:srgbClr val="202122"/>
                </a:solidFill>
                <a:latin typeface="Calibri"/>
              </a:rPr>
              <a:t>Compare the strengths and weaknesses of vulnerability assessment tools.</a:t>
            </a:r>
          </a:p>
        </p:txBody>
      </p:sp>
      <p:sp>
        <p:nvSpPr>
          <p:cNvPr id="13" name="Oval 12"/>
          <p:cNvSpPr/>
          <p:nvPr/>
        </p:nvSpPr>
        <p:spPr>
          <a:xfrm>
            <a:off x="548640" y="5354954"/>
            <a:ext cx="457200" cy="457200"/>
          </a:xfrm>
          <a:prstGeom prst="ellipse">
            <a:avLst/>
          </a:prstGeom>
          <a:solidFill>
            <a:srgbClr val="E046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4</a:t>
            </a:r>
          </a:p>
        </p:txBody>
      </p:sp>
      <p:sp>
        <p:nvSpPr>
          <p:cNvPr id="14" name="TextBox 13"/>
          <p:cNvSpPr txBox="1"/>
          <p:nvPr/>
        </p:nvSpPr>
        <p:spPr>
          <a:xfrm>
            <a:off x="1234440" y="5132069"/>
            <a:ext cx="6035040" cy="902969"/>
          </a:xfrm>
          <a:prstGeom prst="rect">
            <a:avLst/>
          </a:prstGeom>
          <a:noFill/>
        </p:spPr>
        <p:txBody>
          <a:bodyPr wrap="square" anchor="ctr" lIns="0" rIns="0" tIns="0" bIns="0"/>
          <a:lstStyle/>
          <a:p>
            <a:pPr algn="l"/>
            <a:r>
              <a:rPr sz="2000" b="0" i="0">
                <a:solidFill>
                  <a:srgbClr val="202122"/>
                </a:solidFill>
                <a:latin typeface="Calibri"/>
              </a:rPr>
              <a:t>Describe the stages of a penetration test and make evidence-based recommendations.</a:t>
            </a:r>
          </a:p>
        </p:txBody>
      </p:sp>
      <p:sp>
        <p:nvSpPr>
          <p:cNvPr id="15" name="Rounded Rectangle 14"/>
          <p:cNvSpPr/>
          <p:nvPr/>
        </p:nvSpPr>
        <p:spPr>
          <a:xfrm>
            <a:off x="7772400" y="1508760"/>
            <a:ext cx="3867912" cy="4526280"/>
          </a:xfrm>
          <a:prstGeom prst="roundRect">
            <a:avLst>
              <a:gd name="adj" fmla="val 8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8046720" y="1737360"/>
            <a:ext cx="3291840" cy="365760"/>
          </a:xfrm>
          <a:prstGeom prst="rect">
            <a:avLst/>
          </a:prstGeom>
          <a:noFill/>
        </p:spPr>
        <p:txBody>
          <a:bodyPr wrap="square" anchor="t" lIns="0" rIns="0" tIns="0" bIns="0"/>
          <a:lstStyle/>
          <a:p>
            <a:pPr algn="l"/>
            <a:r>
              <a:rPr sz="1300" b="1" i="0">
                <a:solidFill>
                  <a:srgbClr val="0645AD"/>
                </a:solidFill>
                <a:latin typeface="Calibri"/>
              </a:rPr>
              <a:t>STARTER</a:t>
            </a:r>
          </a:p>
        </p:txBody>
      </p:sp>
      <p:sp>
        <p:nvSpPr>
          <p:cNvPr id="17" name="TextBox 16"/>
          <p:cNvSpPr txBox="1"/>
          <p:nvPr/>
        </p:nvSpPr>
        <p:spPr>
          <a:xfrm>
            <a:off x="8046720" y="2194560"/>
            <a:ext cx="3291840" cy="3657600"/>
          </a:xfrm>
          <a:prstGeom prst="rect">
            <a:avLst/>
          </a:prstGeom>
          <a:noFill/>
        </p:spPr>
        <p:txBody>
          <a:bodyPr wrap="square" anchor="t" lIns="0" rIns="0" tIns="0" bIns="0"/>
          <a:lstStyle/>
          <a:p>
            <a:pPr algn="l"/>
            <a:r>
              <a:rPr sz="2200" b="0" i="0">
                <a:solidFill>
                  <a:srgbClr val="03306E"/>
                </a:solidFill>
                <a:latin typeface="Cambria"/>
              </a:rPr>
              <a:t>A scanner reports 400 vulnerabilities on your network. You have one day. Where do you start?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CYBER SECURITY  ·  Cyber Security Content Area 2</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Vulnerability assessment stages</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Vulnerability Assessment and Penetration Testing</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3</a:t>
            </a:r>
          </a:p>
        </p:txBody>
      </p:sp>
      <p:sp>
        <p:nvSpPr>
          <p:cNvPr id="6" name="TextBox 5"/>
          <p:cNvSpPr txBox="1"/>
          <p:nvPr/>
        </p:nvSpPr>
        <p:spPr>
          <a:xfrm>
            <a:off x="548640" y="1554480"/>
            <a:ext cx="6720840" cy="4617720"/>
          </a:xfrm>
          <a:prstGeom prst="rect">
            <a:avLst/>
          </a:prstGeom>
          <a:noFill/>
        </p:spPr>
        <p:txBody>
          <a:bodyPr wrap="square" lIns="0" rIns="0" tIns="0" bIns="0">
            <a:spAutoFit/>
          </a:bodyPr>
          <a:lstStyle/>
          <a:p>
            <a:pPr>
              <a:spcAft>
                <a:spcPts val="1260"/>
              </a:spcAft>
            </a:pPr>
            <a:r>
              <a:rPr sz="2100" b="0">
                <a:solidFill>
                  <a:srgbClr val="202122"/>
                </a:solidFill>
                <a:latin typeface="Calibri"/>
              </a:rPr>
              <a:t>A vulnerability assessment systematically finds and fixes weaknesses.</a:t>
            </a:r>
          </a:p>
          <a:p>
            <a:pPr>
              <a:spcAft>
                <a:spcPts val="1260"/>
              </a:spcAft>
            </a:pPr>
            <a:r>
              <a:rPr sz="2100" b="0">
                <a:solidFill>
                  <a:srgbClr val="202122"/>
                </a:solidFill>
                <a:latin typeface="Calibri"/>
              </a:rPr>
              <a:t>Identify vulnerabilities using scans and log analysis. Analyse each one: is it exploitable, and how severe? Identify the associated risk and prioritise. Remediate by updating or removing the affected hardware or software. Mitigate what can't be fixed with countermeasures, closing items off and escalating anything still risky.</a:t>
            </a:r>
          </a:p>
          <a:p>
            <a:pPr>
              <a:spcAft>
                <a:spcPts val="1260"/>
              </a:spcAft>
            </a:pPr>
            <a:r>
              <a:rPr sz="2100" b="1">
                <a:solidFill>
                  <a:srgbClr val="202122"/>
                </a:solidFill>
                <a:latin typeface="Calibri"/>
              </a:rPr>
              <a:t>Before starting, scope it:</a:t>
            </a:r>
            <a:r>
              <a:rPr sz="2100" b="0">
                <a:solidFill>
                  <a:srgbClr val="202122"/>
                </a:solidFill>
                <a:latin typeface="Calibri"/>
              </a:rPr>
              <a:t> which systems are included, what access testers need and what they're testing for. Afterwards, evaluate the business impact of each finding and document the results.</a:t>
            </a:r>
          </a:p>
        </p:txBody>
      </p:sp>
      <p:sp>
        <p:nvSpPr>
          <p:cNvPr id="7" name="Rounded Rectangle 6"/>
          <p:cNvSpPr/>
          <p:nvPr/>
        </p:nvSpPr>
        <p:spPr>
          <a:xfrm>
            <a:off x="7772400" y="1554480"/>
            <a:ext cx="3867912" cy="4526280"/>
          </a:xfrm>
          <a:prstGeom prst="roundRect">
            <a:avLst>
              <a:gd name="adj" fmla="val 8000"/>
            </a:avLst>
          </a:prstGeom>
          <a:solidFill>
            <a:srgbClr val="0330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8046720" y="1828800"/>
            <a:ext cx="548640" cy="548640"/>
          </a:xfrm>
          <a:prstGeom prst="ellipse">
            <a:avLst/>
          </a:prstGeom>
          <a:solidFill>
            <a:srgbClr val="E046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e.g.</a:t>
            </a:r>
          </a:p>
        </p:txBody>
      </p:sp>
      <p:sp>
        <p:nvSpPr>
          <p:cNvPr id="9" name="TextBox 8"/>
          <p:cNvSpPr txBox="1"/>
          <p:nvPr/>
        </p:nvSpPr>
        <p:spPr>
          <a:xfrm>
            <a:off x="8046720" y="2560320"/>
            <a:ext cx="3291840" cy="365760"/>
          </a:xfrm>
          <a:prstGeom prst="rect">
            <a:avLst/>
          </a:prstGeom>
          <a:noFill/>
        </p:spPr>
        <p:txBody>
          <a:bodyPr wrap="square" anchor="t" lIns="0" rIns="0" tIns="0" bIns="0"/>
          <a:lstStyle/>
          <a:p>
            <a:pPr algn="l"/>
            <a:r>
              <a:rPr sz="1300" b="1" i="0">
                <a:solidFill>
                  <a:srgbClr val="A9C8F0"/>
                </a:solidFill>
                <a:latin typeface="Calibri"/>
              </a:rPr>
              <a:t>EXAMPLE</a:t>
            </a:r>
          </a:p>
        </p:txBody>
      </p:sp>
      <p:sp>
        <p:nvSpPr>
          <p:cNvPr id="10" name="TextBox 9"/>
          <p:cNvSpPr txBox="1"/>
          <p:nvPr/>
        </p:nvSpPr>
        <p:spPr>
          <a:xfrm>
            <a:off x="8046720" y="2971800"/>
            <a:ext cx="3291840" cy="2971800"/>
          </a:xfrm>
          <a:prstGeom prst="rect">
            <a:avLst/>
          </a:prstGeom>
          <a:noFill/>
        </p:spPr>
        <p:txBody>
          <a:bodyPr wrap="square" anchor="t" lIns="0" rIns="0" tIns="0" bIns="0"/>
          <a:lstStyle/>
          <a:p>
            <a:pPr algn="l"/>
            <a:r>
              <a:rPr sz="1900" b="0" i="0">
                <a:solidFill>
                  <a:srgbClr val="FFFFFF"/>
                </a:solidFill>
                <a:latin typeface="Cambria"/>
              </a:rPr>
              <a:t>A scan finds an old FTP server with a known flaw. It isn't needed, so it's switched off (remediate) rather than patched.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CYBER SECURITY  ·  Cyber Security Content Area 2</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Vulnerability assessment stages</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Vulnerability Assessment and Penetration Testing</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4</a:t>
            </a:r>
          </a:p>
        </p:txBody>
      </p:sp>
      <p:sp>
        <p:nvSpPr>
          <p:cNvPr id="6" name="Rectangle 5"/>
          <p:cNvSpPr/>
          <p:nvPr/>
        </p:nvSpPr>
        <p:spPr>
          <a:xfrm>
            <a:off x="1603217" y="2427732"/>
            <a:ext cx="8985260" cy="36576"/>
          </a:xfrm>
          <a:prstGeom prst="rect">
            <a:avLst/>
          </a:prstGeom>
          <a:solidFill>
            <a:srgbClr val="A9C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1283177" y="2125980"/>
            <a:ext cx="640080" cy="640080"/>
          </a:xfrm>
          <a:prstGeom prst="ellipse">
            <a:avLst/>
          </a:prstGeom>
          <a:solidFill>
            <a:srgbClr val="E046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1</a:t>
            </a:r>
          </a:p>
        </p:txBody>
      </p:sp>
      <p:sp>
        <p:nvSpPr>
          <p:cNvPr id="8" name="TextBox 7"/>
          <p:cNvSpPr txBox="1"/>
          <p:nvPr/>
        </p:nvSpPr>
        <p:spPr>
          <a:xfrm>
            <a:off x="548640" y="2903220"/>
            <a:ext cx="2109155" cy="731520"/>
          </a:xfrm>
          <a:prstGeom prst="rect">
            <a:avLst/>
          </a:prstGeom>
          <a:noFill/>
        </p:spPr>
        <p:txBody>
          <a:bodyPr wrap="square" anchor="t" lIns="0" rIns="0" tIns="0" bIns="0"/>
          <a:lstStyle/>
          <a:p>
            <a:pPr algn="ctr"/>
            <a:r>
              <a:rPr sz="1700" b="1" i="0">
                <a:solidFill>
                  <a:srgbClr val="03306E"/>
                </a:solidFill>
                <a:latin typeface="Calibri"/>
              </a:rPr>
              <a:t>Identify</a:t>
            </a:r>
          </a:p>
        </p:txBody>
      </p:sp>
      <p:sp>
        <p:nvSpPr>
          <p:cNvPr id="9" name="Rounded Rectangle 8"/>
          <p:cNvSpPr/>
          <p:nvPr/>
        </p:nvSpPr>
        <p:spPr>
          <a:xfrm>
            <a:off x="548640" y="3680460"/>
            <a:ext cx="2109155" cy="114300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85800" y="3817620"/>
            <a:ext cx="1834835" cy="868680"/>
          </a:xfrm>
          <a:prstGeom prst="rect">
            <a:avLst/>
          </a:prstGeom>
          <a:noFill/>
        </p:spPr>
        <p:txBody>
          <a:bodyPr wrap="square" anchor="t" lIns="0" rIns="0" tIns="0" bIns="0"/>
          <a:lstStyle/>
          <a:p>
            <a:pPr algn="l"/>
            <a:r>
              <a:rPr sz="1600" b="0" i="0">
                <a:solidFill>
                  <a:srgbClr val="202122"/>
                </a:solidFill>
                <a:latin typeface="Calibri"/>
              </a:rPr>
              <a:t>Scan and analyse logs for anomalies.</a:t>
            </a:r>
          </a:p>
        </p:txBody>
      </p:sp>
      <p:sp>
        <p:nvSpPr>
          <p:cNvPr id="11" name="Oval 10"/>
          <p:cNvSpPr/>
          <p:nvPr/>
        </p:nvSpPr>
        <p:spPr>
          <a:xfrm>
            <a:off x="3529492" y="2125980"/>
            <a:ext cx="640080" cy="640080"/>
          </a:xfrm>
          <a:prstGeom prst="ellipse">
            <a:avLst/>
          </a:prstGeom>
          <a:solidFill>
            <a:srgbClr val="E046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2</a:t>
            </a:r>
          </a:p>
        </p:txBody>
      </p:sp>
      <p:sp>
        <p:nvSpPr>
          <p:cNvPr id="12" name="TextBox 11"/>
          <p:cNvSpPr txBox="1"/>
          <p:nvPr/>
        </p:nvSpPr>
        <p:spPr>
          <a:xfrm>
            <a:off x="2794955" y="2903220"/>
            <a:ext cx="2109155" cy="731520"/>
          </a:xfrm>
          <a:prstGeom prst="rect">
            <a:avLst/>
          </a:prstGeom>
          <a:noFill/>
        </p:spPr>
        <p:txBody>
          <a:bodyPr wrap="square" anchor="t" lIns="0" rIns="0" tIns="0" bIns="0"/>
          <a:lstStyle/>
          <a:p>
            <a:pPr algn="ctr"/>
            <a:r>
              <a:rPr sz="1700" b="1" i="0">
                <a:solidFill>
                  <a:srgbClr val="03306E"/>
                </a:solidFill>
                <a:latin typeface="Calibri"/>
              </a:rPr>
              <a:t>Analyse</a:t>
            </a:r>
          </a:p>
        </p:txBody>
      </p:sp>
      <p:sp>
        <p:nvSpPr>
          <p:cNvPr id="13" name="Rounded Rectangle 12"/>
          <p:cNvSpPr/>
          <p:nvPr/>
        </p:nvSpPr>
        <p:spPr>
          <a:xfrm>
            <a:off x="2794955" y="3680460"/>
            <a:ext cx="2109155" cy="114300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2932115" y="3817620"/>
            <a:ext cx="1834835" cy="868680"/>
          </a:xfrm>
          <a:prstGeom prst="rect">
            <a:avLst/>
          </a:prstGeom>
          <a:noFill/>
        </p:spPr>
        <p:txBody>
          <a:bodyPr wrap="square" anchor="t" lIns="0" rIns="0" tIns="0" bIns="0"/>
          <a:lstStyle/>
          <a:p>
            <a:pPr algn="l"/>
            <a:r>
              <a:rPr sz="1600" b="0" i="0">
                <a:solidFill>
                  <a:srgbClr val="202122"/>
                </a:solidFill>
                <a:latin typeface="Calibri"/>
              </a:rPr>
              <a:t>Is it exploitable? How severe?</a:t>
            </a:r>
          </a:p>
        </p:txBody>
      </p:sp>
      <p:sp>
        <p:nvSpPr>
          <p:cNvPr id="15" name="Oval 14"/>
          <p:cNvSpPr/>
          <p:nvPr/>
        </p:nvSpPr>
        <p:spPr>
          <a:xfrm>
            <a:off x="5775807" y="2125980"/>
            <a:ext cx="640080" cy="640080"/>
          </a:xfrm>
          <a:prstGeom prst="ellipse">
            <a:avLst/>
          </a:prstGeom>
          <a:solidFill>
            <a:srgbClr val="E046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3</a:t>
            </a:r>
          </a:p>
        </p:txBody>
      </p:sp>
      <p:sp>
        <p:nvSpPr>
          <p:cNvPr id="16" name="TextBox 15"/>
          <p:cNvSpPr txBox="1"/>
          <p:nvPr/>
        </p:nvSpPr>
        <p:spPr>
          <a:xfrm>
            <a:off x="5041270" y="2903220"/>
            <a:ext cx="2109155" cy="731520"/>
          </a:xfrm>
          <a:prstGeom prst="rect">
            <a:avLst/>
          </a:prstGeom>
          <a:noFill/>
        </p:spPr>
        <p:txBody>
          <a:bodyPr wrap="square" anchor="t" lIns="0" rIns="0" tIns="0" bIns="0"/>
          <a:lstStyle/>
          <a:p>
            <a:pPr algn="ctr"/>
            <a:r>
              <a:rPr sz="1700" b="1" i="0">
                <a:solidFill>
                  <a:srgbClr val="03306E"/>
                </a:solidFill>
                <a:latin typeface="Calibri"/>
              </a:rPr>
              <a:t>Identify risk</a:t>
            </a:r>
          </a:p>
        </p:txBody>
      </p:sp>
      <p:sp>
        <p:nvSpPr>
          <p:cNvPr id="17" name="Rounded Rectangle 16"/>
          <p:cNvSpPr/>
          <p:nvPr/>
        </p:nvSpPr>
        <p:spPr>
          <a:xfrm>
            <a:off x="5041270" y="3680460"/>
            <a:ext cx="2109155" cy="114300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5178430" y="3817620"/>
            <a:ext cx="1834835" cy="868680"/>
          </a:xfrm>
          <a:prstGeom prst="rect">
            <a:avLst/>
          </a:prstGeom>
          <a:noFill/>
        </p:spPr>
        <p:txBody>
          <a:bodyPr wrap="square" anchor="t" lIns="0" rIns="0" tIns="0" bIns="0"/>
          <a:lstStyle/>
          <a:p>
            <a:pPr algn="l"/>
            <a:r>
              <a:rPr sz="1600" b="0" i="0">
                <a:solidFill>
                  <a:srgbClr val="202122"/>
                </a:solidFill>
                <a:latin typeface="Calibri"/>
              </a:rPr>
              <a:t>Prioritise by associated risk.</a:t>
            </a:r>
          </a:p>
        </p:txBody>
      </p:sp>
      <p:sp>
        <p:nvSpPr>
          <p:cNvPr id="19" name="Oval 18"/>
          <p:cNvSpPr/>
          <p:nvPr/>
        </p:nvSpPr>
        <p:spPr>
          <a:xfrm>
            <a:off x="8022122" y="2125980"/>
            <a:ext cx="640080" cy="640080"/>
          </a:xfrm>
          <a:prstGeom prst="ellipse">
            <a:avLst/>
          </a:prstGeom>
          <a:solidFill>
            <a:srgbClr val="E046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4</a:t>
            </a:r>
          </a:p>
        </p:txBody>
      </p:sp>
      <p:sp>
        <p:nvSpPr>
          <p:cNvPr id="20" name="TextBox 19"/>
          <p:cNvSpPr txBox="1"/>
          <p:nvPr/>
        </p:nvSpPr>
        <p:spPr>
          <a:xfrm>
            <a:off x="7287585" y="2903220"/>
            <a:ext cx="2109155" cy="731520"/>
          </a:xfrm>
          <a:prstGeom prst="rect">
            <a:avLst/>
          </a:prstGeom>
          <a:noFill/>
        </p:spPr>
        <p:txBody>
          <a:bodyPr wrap="square" anchor="t" lIns="0" rIns="0" tIns="0" bIns="0"/>
          <a:lstStyle/>
          <a:p>
            <a:pPr algn="ctr"/>
            <a:r>
              <a:rPr sz="1700" b="1" i="0">
                <a:solidFill>
                  <a:srgbClr val="03306E"/>
                </a:solidFill>
                <a:latin typeface="Calibri"/>
              </a:rPr>
              <a:t>Remediate</a:t>
            </a:r>
          </a:p>
        </p:txBody>
      </p:sp>
      <p:sp>
        <p:nvSpPr>
          <p:cNvPr id="21" name="Rounded Rectangle 20"/>
          <p:cNvSpPr/>
          <p:nvPr/>
        </p:nvSpPr>
        <p:spPr>
          <a:xfrm>
            <a:off x="7287585" y="3680460"/>
            <a:ext cx="2109155" cy="114300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7424745" y="3817620"/>
            <a:ext cx="1834835" cy="868680"/>
          </a:xfrm>
          <a:prstGeom prst="rect">
            <a:avLst/>
          </a:prstGeom>
          <a:noFill/>
        </p:spPr>
        <p:txBody>
          <a:bodyPr wrap="square" anchor="t" lIns="0" rIns="0" tIns="0" bIns="0"/>
          <a:lstStyle/>
          <a:p>
            <a:pPr algn="l"/>
            <a:r>
              <a:rPr sz="1600" b="0" i="0">
                <a:solidFill>
                  <a:srgbClr val="202122"/>
                </a:solidFill>
                <a:latin typeface="Calibri"/>
              </a:rPr>
              <a:t>Update or remove the affected hardware or software.</a:t>
            </a:r>
          </a:p>
        </p:txBody>
      </p:sp>
      <p:sp>
        <p:nvSpPr>
          <p:cNvPr id="23" name="Oval 22"/>
          <p:cNvSpPr/>
          <p:nvPr/>
        </p:nvSpPr>
        <p:spPr>
          <a:xfrm>
            <a:off x="10268437" y="2125980"/>
            <a:ext cx="640080" cy="640080"/>
          </a:xfrm>
          <a:prstGeom prst="ellipse">
            <a:avLst/>
          </a:prstGeom>
          <a:solidFill>
            <a:srgbClr val="E046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5</a:t>
            </a:r>
          </a:p>
        </p:txBody>
      </p:sp>
      <p:sp>
        <p:nvSpPr>
          <p:cNvPr id="24" name="TextBox 23"/>
          <p:cNvSpPr txBox="1"/>
          <p:nvPr/>
        </p:nvSpPr>
        <p:spPr>
          <a:xfrm>
            <a:off x="9533900" y="2903220"/>
            <a:ext cx="2109155" cy="731520"/>
          </a:xfrm>
          <a:prstGeom prst="rect">
            <a:avLst/>
          </a:prstGeom>
          <a:noFill/>
        </p:spPr>
        <p:txBody>
          <a:bodyPr wrap="square" anchor="t" lIns="0" rIns="0" tIns="0" bIns="0"/>
          <a:lstStyle/>
          <a:p>
            <a:pPr algn="ctr"/>
            <a:r>
              <a:rPr sz="1700" b="1" i="0">
                <a:solidFill>
                  <a:srgbClr val="03306E"/>
                </a:solidFill>
                <a:latin typeface="Calibri"/>
              </a:rPr>
              <a:t>Mitigate</a:t>
            </a:r>
          </a:p>
        </p:txBody>
      </p:sp>
      <p:sp>
        <p:nvSpPr>
          <p:cNvPr id="25" name="Rounded Rectangle 24"/>
          <p:cNvSpPr/>
          <p:nvPr/>
        </p:nvSpPr>
        <p:spPr>
          <a:xfrm>
            <a:off x="9533900" y="3680460"/>
            <a:ext cx="2109155" cy="114300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9671060" y="3817620"/>
            <a:ext cx="1834835" cy="868680"/>
          </a:xfrm>
          <a:prstGeom prst="rect">
            <a:avLst/>
          </a:prstGeom>
          <a:noFill/>
        </p:spPr>
        <p:txBody>
          <a:bodyPr wrap="square" anchor="t" lIns="0" rIns="0" tIns="0" bIns="0"/>
          <a:lstStyle/>
          <a:p>
            <a:pPr algn="l"/>
            <a:r>
              <a:rPr sz="1600" b="0" i="0">
                <a:solidFill>
                  <a:srgbClr val="202122"/>
                </a:solidFill>
                <a:latin typeface="Calibri"/>
              </a:rPr>
              <a:t>Apply countermeasures; escalate what remains.</a:t>
            </a:r>
          </a:p>
        </p:txBody>
      </p:sp>
      <p:sp>
        <p:nvSpPr>
          <p:cNvPr id="27" name="TextBox 26"/>
          <p:cNvSpPr txBox="1"/>
          <p:nvPr/>
        </p:nvSpPr>
        <p:spPr>
          <a:xfrm>
            <a:off x="548640" y="5097780"/>
            <a:ext cx="11094415" cy="548640"/>
          </a:xfrm>
          <a:prstGeom prst="rect">
            <a:avLst/>
          </a:prstGeom>
          <a:noFill/>
        </p:spPr>
        <p:txBody>
          <a:bodyPr wrap="square" anchor="t" lIns="0" rIns="0" tIns="0" bIns="0"/>
          <a:lstStyle/>
          <a:p>
            <a:pPr algn="l"/>
            <a:r>
              <a:rPr sz="1600" b="0" i="1">
                <a:solidFill>
                  <a:srgbClr val="54595D"/>
                </a:solidFill>
                <a:latin typeface="Calibri"/>
              </a:rPr>
              <a:t>Scoping defines the in-scope systems, access needed and vulnerabilities tested. Evaluation classifies each finding's risk and business impact.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CYBER SECURITY  ·  Cyber Security Content Area 2</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Quick check: Vulnerability assessment stages</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Vulnerability Assessment and Penetration Testing</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5</a:t>
            </a:r>
          </a:p>
        </p:txBody>
      </p:sp>
      <p:sp>
        <p:nvSpPr>
          <p:cNvPr id="6" name="Oval 5"/>
          <p:cNvSpPr/>
          <p:nvPr/>
        </p:nvSpPr>
        <p:spPr>
          <a:xfrm>
            <a:off x="548640" y="1691640"/>
            <a:ext cx="502920" cy="502920"/>
          </a:xfrm>
          <a:prstGeom prst="ellipse">
            <a:avLst/>
          </a:prstGeom>
          <a:solidFill>
            <a:srgbClr val="E046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1</a:t>
            </a:r>
          </a:p>
        </p:txBody>
      </p:sp>
      <p:sp>
        <p:nvSpPr>
          <p:cNvPr id="7" name="TextBox 6"/>
          <p:cNvSpPr txBox="1"/>
          <p:nvPr/>
        </p:nvSpPr>
        <p:spPr>
          <a:xfrm>
            <a:off x="1371600" y="1645920"/>
            <a:ext cx="10271455" cy="1188720"/>
          </a:xfrm>
          <a:prstGeom prst="rect">
            <a:avLst/>
          </a:prstGeom>
          <a:noFill/>
        </p:spPr>
        <p:txBody>
          <a:bodyPr wrap="square" anchor="t" lIns="0" rIns="0" tIns="0" bIns="0"/>
          <a:lstStyle/>
          <a:p>
            <a:pPr algn="l"/>
            <a:r>
              <a:rPr sz="2400" b="0" i="0">
                <a:solidFill>
                  <a:srgbClr val="202122"/>
                </a:solidFill>
                <a:latin typeface="Calibri"/>
              </a:rPr>
              <a:t>What is the first stage?</a:t>
            </a:r>
          </a:p>
        </p:txBody>
      </p:sp>
      <p:sp>
        <p:nvSpPr>
          <p:cNvPr id="8" name="Oval 7"/>
          <p:cNvSpPr/>
          <p:nvPr/>
        </p:nvSpPr>
        <p:spPr>
          <a:xfrm>
            <a:off x="548640" y="3108960"/>
            <a:ext cx="502920" cy="502920"/>
          </a:xfrm>
          <a:prstGeom prst="ellipse">
            <a:avLst/>
          </a:prstGeom>
          <a:solidFill>
            <a:srgbClr val="E046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2</a:t>
            </a:r>
          </a:p>
        </p:txBody>
      </p:sp>
      <p:sp>
        <p:nvSpPr>
          <p:cNvPr id="9" name="TextBox 8"/>
          <p:cNvSpPr txBox="1"/>
          <p:nvPr/>
        </p:nvSpPr>
        <p:spPr>
          <a:xfrm>
            <a:off x="1371600" y="3063240"/>
            <a:ext cx="10271455" cy="1188720"/>
          </a:xfrm>
          <a:prstGeom prst="rect">
            <a:avLst/>
          </a:prstGeom>
          <a:noFill/>
        </p:spPr>
        <p:txBody>
          <a:bodyPr wrap="square" anchor="t" lIns="0" rIns="0" tIns="0" bIns="0"/>
          <a:lstStyle/>
          <a:p>
            <a:pPr algn="l"/>
            <a:r>
              <a:rPr sz="2400" b="0" i="0">
                <a:solidFill>
                  <a:srgbClr val="202122"/>
                </a:solidFill>
                <a:latin typeface="Calibri"/>
              </a:rPr>
              <a:t>What is the difference between remediate and mitigate?</a:t>
            </a:r>
          </a:p>
        </p:txBody>
      </p:sp>
      <p:sp>
        <p:nvSpPr>
          <p:cNvPr id="10" name="Oval 9"/>
          <p:cNvSpPr/>
          <p:nvPr/>
        </p:nvSpPr>
        <p:spPr>
          <a:xfrm>
            <a:off x="548640" y="4526280"/>
            <a:ext cx="502920" cy="502920"/>
          </a:xfrm>
          <a:prstGeom prst="ellipse">
            <a:avLst/>
          </a:prstGeom>
          <a:solidFill>
            <a:srgbClr val="E046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3</a:t>
            </a:r>
          </a:p>
        </p:txBody>
      </p:sp>
      <p:sp>
        <p:nvSpPr>
          <p:cNvPr id="11" name="TextBox 10"/>
          <p:cNvSpPr txBox="1"/>
          <p:nvPr/>
        </p:nvSpPr>
        <p:spPr>
          <a:xfrm>
            <a:off x="1371600" y="4480560"/>
            <a:ext cx="10271455" cy="1188720"/>
          </a:xfrm>
          <a:prstGeom prst="rect">
            <a:avLst/>
          </a:prstGeom>
          <a:noFill/>
        </p:spPr>
        <p:txBody>
          <a:bodyPr wrap="square" anchor="t" lIns="0" rIns="0" tIns="0" bIns="0"/>
          <a:lstStyle/>
          <a:p>
            <a:pPr algn="l"/>
            <a:r>
              <a:rPr sz="2400" b="0" i="0">
                <a:solidFill>
                  <a:srgbClr val="202122"/>
                </a:solidFill>
                <a:latin typeface="Calibri"/>
              </a:rPr>
              <a:t>What does scoping define?</a:t>
            </a:r>
          </a:p>
        </p:txBody>
      </p:sp>
      <p:sp>
        <p:nvSpPr>
          <p:cNvPr id="12" name="TextBox 11"/>
          <p:cNvSpPr txBox="1"/>
          <p:nvPr/>
        </p:nvSpPr>
        <p:spPr>
          <a:xfrm>
            <a:off x="548640" y="5852160"/>
            <a:ext cx="11094415" cy="365760"/>
          </a:xfrm>
          <a:prstGeom prst="rect">
            <a:avLst/>
          </a:prstGeom>
          <a:noFill/>
        </p:spPr>
        <p:txBody>
          <a:bodyPr wrap="square" anchor="t" lIns="0" rIns="0" tIns="0" bIns="0"/>
          <a:lstStyle/>
          <a:p>
            <a:pPr algn="l"/>
            <a:r>
              <a:rPr sz="1300" b="0" i="1">
                <a:solidFill>
                  <a:srgbClr val="54595D"/>
                </a:solidFill>
                <a:latin typeface="Calibri"/>
              </a:rPr>
              <a:t>Answer on mini whiteboards or in your book. Answers are in the speaker notes.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CYBER SECURITY  ·  Cyber Security Content Area 2</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CVEs and CVSS</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Vulnerability Assessment and Penetration Testing</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6</a:t>
            </a:r>
          </a:p>
        </p:txBody>
      </p:sp>
      <p:sp>
        <p:nvSpPr>
          <p:cNvPr id="6" name="TextBox 5"/>
          <p:cNvSpPr txBox="1"/>
          <p:nvPr/>
        </p:nvSpPr>
        <p:spPr>
          <a:xfrm>
            <a:off x="548640" y="1554480"/>
            <a:ext cx="6720840" cy="4617720"/>
          </a:xfrm>
          <a:prstGeom prst="rect">
            <a:avLst/>
          </a:prstGeom>
          <a:noFill/>
        </p:spPr>
        <p:txBody>
          <a:bodyPr wrap="square" lIns="0" rIns="0" tIns="0" bIns="0">
            <a:spAutoFit/>
          </a:bodyPr>
          <a:lstStyle/>
          <a:p>
            <a:pPr>
              <a:spcAft>
                <a:spcPts val="1320"/>
              </a:spcAft>
            </a:pPr>
            <a:r>
              <a:rPr sz="2200" b="0">
                <a:solidFill>
                  <a:srgbClr val="202122"/>
                </a:solidFill>
                <a:latin typeface="Calibri"/>
              </a:rPr>
              <a:t>CVE (Common Vulnerabilities and Exposures) is a public list of known vulnerabilities, each with a unique ID, published by vendors and security researchers.</a:t>
            </a:r>
          </a:p>
          <a:p>
            <a:pPr>
              <a:spcAft>
                <a:spcPts val="1320"/>
              </a:spcAft>
            </a:pPr>
            <a:r>
              <a:rPr sz="2200" b="0">
                <a:solidFill>
                  <a:srgbClr val="202122"/>
                </a:solidFill>
                <a:latin typeface="Calibri"/>
              </a:rPr>
              <a:t>CVSS (Common Vulnerability Scoring System) scores each one from 0 to 10 based on its impact, how easy it is to exploit and its severity. 9 or above is critical.</a:t>
            </a:r>
          </a:p>
          <a:p>
            <a:pPr>
              <a:spcAft>
                <a:spcPts val="1320"/>
              </a:spcAft>
            </a:pPr>
            <a:r>
              <a:rPr sz="2200" b="0">
                <a:solidFill>
                  <a:srgbClr val="202122"/>
                </a:solidFill>
                <a:latin typeface="Calibri"/>
              </a:rPr>
              <a:t>When a new CVE affects you, research it, check which of your systems are affected, find the recommended mitigation and apply it. CVSS helps prioritise, but your own context matters too.</a:t>
            </a:r>
          </a:p>
        </p:txBody>
      </p:sp>
      <p:sp>
        <p:nvSpPr>
          <p:cNvPr id="7" name="Rounded Rectangle 6"/>
          <p:cNvSpPr/>
          <p:nvPr/>
        </p:nvSpPr>
        <p:spPr>
          <a:xfrm>
            <a:off x="7772400" y="1554480"/>
            <a:ext cx="3867912" cy="4526280"/>
          </a:xfrm>
          <a:prstGeom prst="roundRect">
            <a:avLst>
              <a:gd name="adj" fmla="val 8000"/>
            </a:avLst>
          </a:prstGeom>
          <a:solidFill>
            <a:srgbClr val="0330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8046720" y="1828800"/>
            <a:ext cx="548640" cy="548640"/>
          </a:xfrm>
          <a:prstGeom prst="ellipse">
            <a:avLst/>
          </a:prstGeom>
          <a:solidFill>
            <a:srgbClr val="E046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e.g.</a:t>
            </a:r>
          </a:p>
        </p:txBody>
      </p:sp>
      <p:sp>
        <p:nvSpPr>
          <p:cNvPr id="9" name="TextBox 8"/>
          <p:cNvSpPr txBox="1"/>
          <p:nvPr/>
        </p:nvSpPr>
        <p:spPr>
          <a:xfrm>
            <a:off x="8046720" y="2560320"/>
            <a:ext cx="3291840" cy="365760"/>
          </a:xfrm>
          <a:prstGeom prst="rect">
            <a:avLst/>
          </a:prstGeom>
          <a:noFill/>
        </p:spPr>
        <p:txBody>
          <a:bodyPr wrap="square" anchor="t" lIns="0" rIns="0" tIns="0" bIns="0"/>
          <a:lstStyle/>
          <a:p>
            <a:pPr algn="l"/>
            <a:r>
              <a:rPr sz="1300" b="1" i="0">
                <a:solidFill>
                  <a:srgbClr val="A9C8F0"/>
                </a:solidFill>
                <a:latin typeface="Calibri"/>
              </a:rPr>
              <a:t>EXAMPLE</a:t>
            </a:r>
          </a:p>
        </p:txBody>
      </p:sp>
      <p:sp>
        <p:nvSpPr>
          <p:cNvPr id="10" name="TextBox 9"/>
          <p:cNvSpPr txBox="1"/>
          <p:nvPr/>
        </p:nvSpPr>
        <p:spPr>
          <a:xfrm>
            <a:off x="8046720" y="2971800"/>
            <a:ext cx="3291840" cy="2971800"/>
          </a:xfrm>
          <a:prstGeom prst="rect">
            <a:avLst/>
          </a:prstGeom>
          <a:noFill/>
        </p:spPr>
        <p:txBody>
          <a:bodyPr wrap="square" anchor="t" lIns="0" rIns="0" tIns="0" bIns="0"/>
          <a:lstStyle/>
          <a:p>
            <a:pPr algn="l"/>
            <a:r>
              <a:rPr sz="1900" b="0" i="0">
                <a:solidFill>
                  <a:srgbClr val="FFFFFF"/>
                </a:solidFill>
                <a:latin typeface="Cambria"/>
              </a:rPr>
              <a:t>A CVSS 9.8 flaw in an internet-facing VPN server is fixed tonight; a CVSS 7 flaw on an isolated test PC can wait for the normal patch cycle.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CYBER SECURITY  ·  Cyber Security Content Area 2</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CVEs and CVSS</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Vulnerability Assessment and Penetration Testing</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7</a:t>
            </a:r>
          </a:p>
        </p:txBody>
      </p:sp>
      <p:sp>
        <p:nvSpPr>
          <p:cNvPr id="6" name="Rounded Rectangle 5"/>
          <p:cNvSpPr/>
          <p:nvPr/>
        </p:nvSpPr>
        <p:spPr>
          <a:xfrm>
            <a:off x="548640" y="1600200"/>
            <a:ext cx="5364327" cy="640080"/>
          </a:xfrm>
          <a:prstGeom prst="roundRect">
            <a:avLst>
              <a:gd name="adj" fmla="val 15000"/>
            </a:avLst>
          </a:prstGeom>
          <a:solidFill>
            <a:srgbClr val="0330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1600200"/>
            <a:ext cx="4907127" cy="640080"/>
          </a:xfrm>
          <a:prstGeom prst="rect">
            <a:avLst/>
          </a:prstGeom>
          <a:noFill/>
        </p:spPr>
        <p:txBody>
          <a:bodyPr wrap="square" anchor="ctr" lIns="0" rIns="0" tIns="0" bIns="0"/>
          <a:lstStyle/>
          <a:p>
            <a:pPr algn="l"/>
            <a:r>
              <a:rPr sz="1900" b="1" i="0">
                <a:solidFill>
                  <a:srgbClr val="FFFFFF"/>
                </a:solidFill>
                <a:latin typeface="Calibri"/>
              </a:rPr>
              <a:t>Common Vulnerabilities and Exposures</a:t>
            </a:r>
          </a:p>
        </p:txBody>
      </p:sp>
      <p:sp>
        <p:nvSpPr>
          <p:cNvPr id="8" name="Rounded Rectangle 7"/>
          <p:cNvSpPr/>
          <p:nvPr/>
        </p:nvSpPr>
        <p:spPr>
          <a:xfrm>
            <a:off x="548640" y="2377440"/>
            <a:ext cx="5364327" cy="3794760"/>
          </a:xfrm>
          <a:prstGeom prst="roundRect">
            <a:avLst>
              <a:gd name="adj" fmla="val 4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22959" y="2606040"/>
            <a:ext cx="4815687" cy="3337560"/>
          </a:xfrm>
          <a:prstGeom prst="rect">
            <a:avLst/>
          </a:prstGeom>
          <a:noFill/>
        </p:spPr>
        <p:txBody>
          <a:bodyPr wrap="square" lIns="0" rIns="0" tIns="0" bIns="0">
            <a:spAutoFit/>
          </a:bodyPr>
          <a:lstStyle/>
          <a:p>
            <a:pPr marL="274320" indent="-274320">
              <a:spcAft>
                <a:spcPts val="990"/>
              </a:spcAft>
              <a:buClr>
                <a:srgbClr val="0645AD"/>
              </a:buClr>
              <a:buFont typeface="Arial"/>
              <a:buChar char="•"/>
            </a:pPr>
            <a:r>
              <a:rPr sz="2200" b="0">
                <a:solidFill>
                  <a:srgbClr val="202122"/>
                </a:solidFill>
                <a:latin typeface="Calibri"/>
              </a:rPr>
              <a:t>A public list of known vulnerabilities</a:t>
            </a:r>
          </a:p>
          <a:p>
            <a:pPr marL="274320" indent="-274320">
              <a:spcAft>
                <a:spcPts val="990"/>
              </a:spcAft>
              <a:buClr>
                <a:srgbClr val="0645AD"/>
              </a:buClr>
              <a:buFont typeface="Arial"/>
              <a:buChar char="•"/>
            </a:pPr>
            <a:r>
              <a:rPr sz="2200" b="0">
                <a:solidFill>
                  <a:srgbClr val="202122"/>
                </a:solidFill>
                <a:latin typeface="Calibri"/>
              </a:rPr>
              <a:t>Published by vendors and testers</a:t>
            </a:r>
          </a:p>
          <a:p>
            <a:pPr marL="274320" indent="-274320">
              <a:spcAft>
                <a:spcPts val="990"/>
              </a:spcAft>
              <a:buClr>
                <a:srgbClr val="0645AD"/>
              </a:buClr>
              <a:buFont typeface="Arial"/>
              <a:buChar char="•"/>
            </a:pPr>
            <a:r>
              <a:rPr sz="2200" b="0">
                <a:solidFill>
                  <a:srgbClr val="202122"/>
                </a:solidFill>
                <a:latin typeface="Calibri"/>
              </a:rPr>
              <a:t>Each has a unique ID, e.g. CVE-2024-12345</a:t>
            </a:r>
          </a:p>
        </p:txBody>
      </p:sp>
      <p:sp>
        <p:nvSpPr>
          <p:cNvPr id="10" name="Rounded Rectangle 9"/>
          <p:cNvSpPr/>
          <p:nvPr/>
        </p:nvSpPr>
        <p:spPr>
          <a:xfrm>
            <a:off x="6278727" y="1600200"/>
            <a:ext cx="5364327" cy="640080"/>
          </a:xfrm>
          <a:prstGeom prst="roundRect">
            <a:avLst>
              <a:gd name="adj" fmla="val 15000"/>
            </a:avLst>
          </a:prstGeom>
          <a:solidFill>
            <a:srgbClr val="0645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07327" y="1600200"/>
            <a:ext cx="4907127" cy="640080"/>
          </a:xfrm>
          <a:prstGeom prst="rect">
            <a:avLst/>
          </a:prstGeom>
          <a:noFill/>
        </p:spPr>
        <p:txBody>
          <a:bodyPr wrap="square" anchor="ctr" lIns="0" rIns="0" tIns="0" bIns="0"/>
          <a:lstStyle/>
          <a:p>
            <a:pPr algn="l"/>
            <a:r>
              <a:rPr sz="2000" b="1" i="0">
                <a:solidFill>
                  <a:srgbClr val="FFFFFF"/>
                </a:solidFill>
                <a:latin typeface="Calibri"/>
              </a:rPr>
              <a:t>Working with a CVE</a:t>
            </a:r>
          </a:p>
        </p:txBody>
      </p:sp>
      <p:sp>
        <p:nvSpPr>
          <p:cNvPr id="12" name="Rounded Rectangle 11"/>
          <p:cNvSpPr/>
          <p:nvPr/>
        </p:nvSpPr>
        <p:spPr>
          <a:xfrm>
            <a:off x="6278727" y="2377440"/>
            <a:ext cx="5364327" cy="3794760"/>
          </a:xfrm>
          <a:prstGeom prst="roundRect">
            <a:avLst>
              <a:gd name="adj" fmla="val 4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553047" y="2606040"/>
            <a:ext cx="4815687" cy="3337560"/>
          </a:xfrm>
          <a:prstGeom prst="rect">
            <a:avLst/>
          </a:prstGeom>
          <a:noFill/>
        </p:spPr>
        <p:txBody>
          <a:bodyPr wrap="square" lIns="0" rIns="0" tIns="0" bIns="0">
            <a:spAutoFit/>
          </a:bodyPr>
          <a:lstStyle/>
          <a:p>
            <a:pPr marL="274320" indent="-274320">
              <a:spcAft>
                <a:spcPts val="990"/>
              </a:spcAft>
              <a:buClr>
                <a:srgbClr val="0645AD"/>
              </a:buClr>
              <a:buFont typeface="Arial"/>
              <a:buChar char="•"/>
            </a:pPr>
            <a:r>
              <a:rPr sz="2200" b="0">
                <a:solidFill>
                  <a:srgbClr val="202122"/>
                </a:solidFill>
                <a:latin typeface="Calibri"/>
              </a:rPr>
              <a:t>Research it and score it with CVSS (0 to 10)</a:t>
            </a:r>
          </a:p>
          <a:p>
            <a:pPr marL="274320" indent="-274320">
              <a:spcAft>
                <a:spcPts val="990"/>
              </a:spcAft>
              <a:buClr>
                <a:srgbClr val="0645AD"/>
              </a:buClr>
              <a:buFont typeface="Arial"/>
              <a:buChar char="•"/>
            </a:pPr>
            <a:r>
              <a:rPr sz="2200" b="0">
                <a:solidFill>
                  <a:srgbClr val="202122"/>
                </a:solidFill>
                <a:latin typeface="Calibri"/>
              </a:rPr>
              <a:t>Score reflects impact, exploitability and severity</a:t>
            </a:r>
          </a:p>
          <a:p>
            <a:pPr marL="274320" indent="-274320">
              <a:spcAft>
                <a:spcPts val="990"/>
              </a:spcAft>
              <a:buClr>
                <a:srgbClr val="0645AD"/>
              </a:buClr>
              <a:buFont typeface="Arial"/>
              <a:buChar char="•"/>
            </a:pPr>
            <a:r>
              <a:rPr sz="2200" b="0">
                <a:solidFill>
                  <a:srgbClr val="202122"/>
                </a:solidFill>
                <a:latin typeface="Calibri"/>
              </a:rPr>
              <a:t>Identify affected systems and possible mitigations</a:t>
            </a:r>
          </a:p>
          <a:p>
            <a:pPr marL="274320" indent="-274320">
              <a:spcAft>
                <a:spcPts val="990"/>
              </a:spcAft>
              <a:buClr>
                <a:srgbClr val="0645AD"/>
              </a:buClr>
              <a:buFont typeface="Arial"/>
              <a:buChar char="•"/>
            </a:pPr>
            <a:r>
              <a:rPr sz="2200" b="0">
                <a:solidFill>
                  <a:srgbClr val="202122"/>
                </a:solidFill>
                <a:latin typeface="Calibri"/>
              </a:rPr>
              <a:t>Implement the mitigation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CYBER SECURITY  ·  Cyber Security Content Area 2</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Quick check: CVEs and CVSS</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Vulnerability Assessment and Penetration Testing</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8</a:t>
            </a:r>
          </a:p>
        </p:txBody>
      </p:sp>
      <p:sp>
        <p:nvSpPr>
          <p:cNvPr id="6" name="Oval 5"/>
          <p:cNvSpPr/>
          <p:nvPr/>
        </p:nvSpPr>
        <p:spPr>
          <a:xfrm>
            <a:off x="548640" y="1691640"/>
            <a:ext cx="502920" cy="502920"/>
          </a:xfrm>
          <a:prstGeom prst="ellipse">
            <a:avLst/>
          </a:prstGeom>
          <a:solidFill>
            <a:srgbClr val="E046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1</a:t>
            </a:r>
          </a:p>
        </p:txBody>
      </p:sp>
      <p:sp>
        <p:nvSpPr>
          <p:cNvPr id="7" name="TextBox 6"/>
          <p:cNvSpPr txBox="1"/>
          <p:nvPr/>
        </p:nvSpPr>
        <p:spPr>
          <a:xfrm>
            <a:off x="1371600" y="1645920"/>
            <a:ext cx="10271455" cy="1188720"/>
          </a:xfrm>
          <a:prstGeom prst="rect">
            <a:avLst/>
          </a:prstGeom>
          <a:noFill/>
        </p:spPr>
        <p:txBody>
          <a:bodyPr wrap="square" anchor="t" lIns="0" rIns="0" tIns="0" bIns="0"/>
          <a:lstStyle/>
          <a:p>
            <a:pPr algn="l"/>
            <a:r>
              <a:rPr sz="2400" b="0" i="0">
                <a:solidFill>
                  <a:srgbClr val="202122"/>
                </a:solidFill>
                <a:latin typeface="Calibri"/>
              </a:rPr>
              <a:t>What is a CVE?</a:t>
            </a:r>
          </a:p>
        </p:txBody>
      </p:sp>
      <p:sp>
        <p:nvSpPr>
          <p:cNvPr id="8" name="Oval 7"/>
          <p:cNvSpPr/>
          <p:nvPr/>
        </p:nvSpPr>
        <p:spPr>
          <a:xfrm>
            <a:off x="548640" y="3108960"/>
            <a:ext cx="502920" cy="502920"/>
          </a:xfrm>
          <a:prstGeom prst="ellipse">
            <a:avLst/>
          </a:prstGeom>
          <a:solidFill>
            <a:srgbClr val="E046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2</a:t>
            </a:r>
          </a:p>
        </p:txBody>
      </p:sp>
      <p:sp>
        <p:nvSpPr>
          <p:cNvPr id="9" name="TextBox 8"/>
          <p:cNvSpPr txBox="1"/>
          <p:nvPr/>
        </p:nvSpPr>
        <p:spPr>
          <a:xfrm>
            <a:off x="1371600" y="3063240"/>
            <a:ext cx="10271455" cy="1188720"/>
          </a:xfrm>
          <a:prstGeom prst="rect">
            <a:avLst/>
          </a:prstGeom>
          <a:noFill/>
        </p:spPr>
        <p:txBody>
          <a:bodyPr wrap="square" anchor="t" lIns="0" rIns="0" tIns="0" bIns="0"/>
          <a:lstStyle/>
          <a:p>
            <a:pPr algn="l"/>
            <a:r>
              <a:rPr sz="2400" b="0" i="0">
                <a:solidFill>
                  <a:srgbClr val="202122"/>
                </a:solidFill>
                <a:latin typeface="Calibri"/>
              </a:rPr>
              <a:t>What range do CVSS scores use?</a:t>
            </a:r>
          </a:p>
        </p:txBody>
      </p:sp>
      <p:sp>
        <p:nvSpPr>
          <p:cNvPr id="10" name="Oval 9"/>
          <p:cNvSpPr/>
          <p:nvPr/>
        </p:nvSpPr>
        <p:spPr>
          <a:xfrm>
            <a:off x="548640" y="4526280"/>
            <a:ext cx="502920" cy="502920"/>
          </a:xfrm>
          <a:prstGeom prst="ellipse">
            <a:avLst/>
          </a:prstGeom>
          <a:solidFill>
            <a:srgbClr val="E046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3</a:t>
            </a:r>
          </a:p>
        </p:txBody>
      </p:sp>
      <p:sp>
        <p:nvSpPr>
          <p:cNvPr id="11" name="TextBox 10"/>
          <p:cNvSpPr txBox="1"/>
          <p:nvPr/>
        </p:nvSpPr>
        <p:spPr>
          <a:xfrm>
            <a:off x="1371600" y="4480560"/>
            <a:ext cx="10271455" cy="1188720"/>
          </a:xfrm>
          <a:prstGeom prst="rect">
            <a:avLst/>
          </a:prstGeom>
          <a:noFill/>
        </p:spPr>
        <p:txBody>
          <a:bodyPr wrap="square" anchor="t" lIns="0" rIns="0" tIns="0" bIns="0"/>
          <a:lstStyle/>
          <a:p>
            <a:pPr algn="l"/>
            <a:r>
              <a:rPr sz="2400" b="0" i="0">
                <a:solidFill>
                  <a:srgbClr val="202122"/>
                </a:solidFill>
                <a:latin typeface="Calibri"/>
              </a:rPr>
              <a:t>Why isn't CVSS the only factor in prioritising?</a:t>
            </a:r>
          </a:p>
        </p:txBody>
      </p:sp>
      <p:sp>
        <p:nvSpPr>
          <p:cNvPr id="12" name="TextBox 11"/>
          <p:cNvSpPr txBox="1"/>
          <p:nvPr/>
        </p:nvSpPr>
        <p:spPr>
          <a:xfrm>
            <a:off x="548640" y="5852160"/>
            <a:ext cx="11094415" cy="365760"/>
          </a:xfrm>
          <a:prstGeom prst="rect">
            <a:avLst/>
          </a:prstGeom>
          <a:noFill/>
        </p:spPr>
        <p:txBody>
          <a:bodyPr wrap="square" anchor="t" lIns="0" rIns="0" tIns="0" bIns="0"/>
          <a:lstStyle/>
          <a:p>
            <a:pPr algn="l"/>
            <a:r>
              <a:rPr sz="1300" b="0" i="1">
                <a:solidFill>
                  <a:srgbClr val="54595D"/>
                </a:solidFill>
                <a:latin typeface="Calibri"/>
              </a:rPr>
              <a:t>Answer on mini whiteboards or in your book. Answers are in the speaker notes.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CYBER SECURITY  ·  Cyber Security Content Area 2</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Types of risk assessment</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Vulnerability Assessment and Penetration Testing</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9</a:t>
            </a:r>
          </a:p>
        </p:txBody>
      </p:sp>
      <p:graphicFrame>
        <p:nvGraphicFramePr>
          <p:cNvPr id="6" name="Table 5"/>
          <p:cNvGraphicFramePr>
            <a:graphicFrameLocks noGrp="1"/>
          </p:cNvGraphicFramePr>
          <p:nvPr/>
        </p:nvGraphicFramePr>
        <p:xfrm>
          <a:off x="548640" y="1600200"/>
          <a:ext cx="11094414" cy="4526280"/>
        </p:xfrm>
        <a:graphic>
          <a:graphicData uri="http://schemas.openxmlformats.org/drawingml/2006/table">
            <a:tbl>
              <a:tblPr firstRow="1" bandRow="1">
                <a:tableStyleId>{5C22544A-7EE6-4342-B048-85BDC9FD1C3A}</a:tableStyleId>
              </a:tblPr>
              <a:tblGrid>
                <a:gridCol w="2838106"/>
                <a:gridCol w="8256308"/>
              </a:tblGrid>
              <a:tr h="905256">
                <a:tc>
                  <a:txBody>
                    <a:bodyPr wrap="square"/>
                    <a:lstStyle/>
                    <a:p>
                      <a:r>
                        <a:rPr sz="1600" b="1">
                          <a:solidFill>
                            <a:srgbClr val="FFFFFF"/>
                          </a:solidFill>
                          <a:latin typeface="Calibri"/>
                        </a:rPr>
                        <a:t>Type</a:t>
                      </a:r>
                    </a:p>
                  </a:txBody>
                  <a:tcPr marL="91440" marR="91440" anchor="ctr">
                    <a:solidFill>
                      <a:srgbClr val="03306E"/>
                    </a:solidFill>
                  </a:tcPr>
                </a:tc>
                <a:tc>
                  <a:txBody>
                    <a:bodyPr wrap="square"/>
                    <a:lstStyle/>
                    <a:p>
                      <a:r>
                        <a:rPr sz="1600" b="1">
                          <a:solidFill>
                            <a:srgbClr val="FFFFFF"/>
                          </a:solidFill>
                          <a:latin typeface="Calibri"/>
                        </a:rPr>
                        <a:t>Looks for</a:t>
                      </a:r>
                    </a:p>
                  </a:txBody>
                  <a:tcPr marL="91440" marR="91440" anchor="ctr">
                    <a:solidFill>
                      <a:srgbClr val="03306E"/>
                    </a:solidFill>
                  </a:tcPr>
                </a:tc>
              </a:tr>
              <a:tr h="905256">
                <a:tc>
                  <a:txBody>
                    <a:bodyPr wrap="square"/>
                    <a:lstStyle/>
                    <a:p>
                      <a:r>
                        <a:rPr sz="1600" b="1">
                          <a:solidFill>
                            <a:srgbClr val="03306E"/>
                          </a:solidFill>
                          <a:latin typeface="Calibri"/>
                        </a:rPr>
                        <a:t>Host based</a:t>
                      </a:r>
                    </a:p>
                  </a:txBody>
                  <a:tcPr marL="91440" marR="91440" anchor="ctr">
                    <a:solidFill>
                      <a:srgbClr val="FFFFFF"/>
                    </a:solidFill>
                  </a:tcPr>
                </a:tc>
                <a:tc>
                  <a:txBody>
                    <a:bodyPr wrap="square"/>
                    <a:lstStyle/>
                    <a:p>
                      <a:r>
                        <a:rPr sz="1600" b="0">
                          <a:solidFill>
                            <a:srgbClr val="202122"/>
                          </a:solidFill>
                          <a:latin typeface="Calibri"/>
                        </a:rPr>
                        <a:t>Vulnerabilities, configuration and patch status of workstations and servers</a:t>
                      </a:r>
                    </a:p>
                  </a:txBody>
                  <a:tcPr marL="91440" marR="91440" anchor="ctr">
                    <a:solidFill>
                      <a:srgbClr val="FFFFFF"/>
                    </a:solidFill>
                  </a:tcPr>
                </a:tc>
              </a:tr>
              <a:tr h="905256">
                <a:tc>
                  <a:txBody>
                    <a:bodyPr wrap="square"/>
                    <a:lstStyle/>
                    <a:p>
                      <a:r>
                        <a:rPr sz="1600" b="1">
                          <a:solidFill>
                            <a:srgbClr val="03306E"/>
                          </a:solidFill>
                          <a:latin typeface="Calibri"/>
                        </a:rPr>
                        <a:t>Network based</a:t>
                      </a:r>
                    </a:p>
                  </a:txBody>
                  <a:tcPr marL="91440" marR="91440" anchor="ctr">
                    <a:solidFill>
                      <a:srgbClr val="EAF3FF"/>
                    </a:solidFill>
                  </a:tcPr>
                </a:tc>
                <a:tc>
                  <a:txBody>
                    <a:bodyPr wrap="square"/>
                    <a:lstStyle/>
                    <a:p>
                      <a:r>
                        <a:rPr sz="1600" b="0">
                          <a:solidFill>
                            <a:srgbClr val="202122"/>
                          </a:solidFill>
                          <a:latin typeface="Calibri"/>
                        </a:rPr>
                        <a:t>Possible network attacks and vulnerable systems</a:t>
                      </a:r>
                    </a:p>
                  </a:txBody>
                  <a:tcPr marL="91440" marR="91440" anchor="ctr">
                    <a:solidFill>
                      <a:srgbClr val="EAF3FF"/>
                    </a:solidFill>
                  </a:tcPr>
                </a:tc>
              </a:tr>
              <a:tr h="905256">
                <a:tc>
                  <a:txBody>
                    <a:bodyPr wrap="square"/>
                    <a:lstStyle/>
                    <a:p>
                      <a:r>
                        <a:rPr sz="1600" b="1">
                          <a:solidFill>
                            <a:srgbClr val="03306E"/>
                          </a:solidFill>
                          <a:latin typeface="Calibri"/>
                        </a:rPr>
                        <a:t>Wireless based</a:t>
                      </a:r>
                    </a:p>
                  </a:txBody>
                  <a:tcPr marL="91440" marR="91440" anchor="ctr">
                    <a:solidFill>
                      <a:srgbClr val="FFFFFF"/>
                    </a:solidFill>
                  </a:tcPr>
                </a:tc>
                <a:tc>
                  <a:txBody>
                    <a:bodyPr wrap="square"/>
                    <a:lstStyle/>
                    <a:p>
                      <a:r>
                        <a:rPr sz="1600" b="0">
                          <a:solidFill>
                            <a:srgbClr val="202122"/>
                          </a:solidFill>
                          <a:latin typeface="Calibri"/>
                        </a:rPr>
                        <a:t>Rogue access points and insecure wireless configuration</a:t>
                      </a:r>
                    </a:p>
                  </a:txBody>
                  <a:tcPr marL="91440" marR="91440" anchor="ctr">
                    <a:solidFill>
                      <a:srgbClr val="FFFFFF"/>
                    </a:solidFill>
                  </a:tcPr>
                </a:tc>
              </a:tr>
              <a:tr h="905256">
                <a:tc>
                  <a:txBody>
                    <a:bodyPr wrap="square"/>
                    <a:lstStyle/>
                    <a:p>
                      <a:r>
                        <a:rPr sz="1600" b="1">
                          <a:solidFill>
                            <a:srgbClr val="03306E"/>
                          </a:solidFill>
                          <a:latin typeface="Calibri"/>
                        </a:rPr>
                        <a:t>Application based</a:t>
                      </a:r>
                    </a:p>
                  </a:txBody>
                  <a:tcPr marL="91440" marR="91440" anchor="ctr">
                    <a:solidFill>
                      <a:srgbClr val="EAF3FF"/>
                    </a:solidFill>
                  </a:tcPr>
                </a:tc>
                <a:tc>
                  <a:txBody>
                    <a:bodyPr wrap="square"/>
                    <a:lstStyle/>
                    <a:p>
                      <a:r>
                        <a:rPr sz="1600" b="0">
                          <a:solidFill>
                            <a:srgbClr val="202122"/>
                          </a:solidFill>
                          <a:latin typeface="Calibri"/>
                        </a:rPr>
                        <a:t>Known software flaws and misconfigurations, e.g. SQL injection</a:t>
                      </a:r>
                    </a:p>
                  </a:txBody>
                  <a:tcPr marL="91440" marR="91440" anchor="ctr">
                    <a:solidFill>
                      <a:srgbClr val="EAF3FF"/>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CYBER SECURITY  ·  Cyber Security Content Area 2</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Scanning tools: strengths and weaknesses</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Vulnerability Assessment and Penetration Testing</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10</a:t>
            </a:r>
          </a:p>
        </p:txBody>
      </p:sp>
      <p:sp>
        <p:nvSpPr>
          <p:cNvPr id="6" name="TextBox 5"/>
          <p:cNvSpPr txBox="1"/>
          <p:nvPr/>
        </p:nvSpPr>
        <p:spPr>
          <a:xfrm>
            <a:off x="548640" y="1554480"/>
            <a:ext cx="6720840" cy="4617720"/>
          </a:xfrm>
          <a:prstGeom prst="rect">
            <a:avLst/>
          </a:prstGeom>
          <a:noFill/>
        </p:spPr>
        <p:txBody>
          <a:bodyPr wrap="square" lIns="0" rIns="0" tIns="0" bIns="0">
            <a:spAutoFit/>
          </a:bodyPr>
          <a:lstStyle/>
          <a:p>
            <a:pPr>
              <a:spcAft>
                <a:spcPts val="1200"/>
              </a:spcAft>
            </a:pPr>
            <a:r>
              <a:rPr sz="2000" b="0">
                <a:solidFill>
                  <a:srgbClr val="202122"/>
                </a:solidFill>
                <a:latin typeface="Calibri"/>
              </a:rPr>
              <a:t>Different scanners find different problems.</a:t>
            </a:r>
          </a:p>
          <a:p>
            <a:pPr>
              <a:spcAft>
                <a:spcPts val="1200"/>
              </a:spcAft>
            </a:pPr>
            <a:r>
              <a:rPr sz="2000" b="0">
                <a:solidFill>
                  <a:srgbClr val="202122"/>
                </a:solidFill>
                <a:latin typeface="Calibri"/>
              </a:rPr>
              <a:t>Infrastructure scanners check hosts, networks and wireless for missing patches, unsupported systems, weak passwords, exposed services and poor hardening.</a:t>
            </a:r>
          </a:p>
          <a:p>
            <a:pPr>
              <a:spcAft>
                <a:spcPts val="1200"/>
              </a:spcAft>
            </a:pPr>
            <a:r>
              <a:rPr sz="2000" b="0">
                <a:solidFill>
                  <a:srgbClr val="202122"/>
                </a:solidFill>
                <a:latin typeface="Calibri"/>
              </a:rPr>
              <a:t>Web application scanners look for SQL injection, broken authentication, exposed data, weak access control, vulnerable components and unencrypted communication.</a:t>
            </a:r>
          </a:p>
          <a:p>
            <a:pPr>
              <a:spcAft>
                <a:spcPts val="1200"/>
              </a:spcAft>
            </a:pPr>
            <a:r>
              <a:rPr sz="2000" b="0">
                <a:solidFill>
                  <a:srgbClr val="202122"/>
                </a:solidFill>
                <a:latin typeface="Calibri"/>
              </a:rPr>
              <a:t>Software scanners check for missing updates and vendor-specific issues.</a:t>
            </a:r>
          </a:p>
          <a:p>
            <a:pPr>
              <a:spcAft>
                <a:spcPts val="1200"/>
              </a:spcAft>
            </a:pPr>
            <a:r>
              <a:rPr sz="2000" b="1">
                <a:solidFill>
                  <a:srgbClr val="202122"/>
                </a:solidFill>
                <a:latin typeface="Calibri"/>
              </a:rPr>
              <a:t>All share limits:</a:t>
            </a:r>
            <a:r>
              <a:rPr sz="2000" b="0">
                <a:solidFill>
                  <a:srgbClr val="202122"/>
                </a:solidFill>
                <a:latin typeface="Calibri"/>
              </a:rPr>
              <a:t> they only find known issues, can give false positives and false negatives, use system resources, and don't stop an attack in progress.</a:t>
            </a:r>
          </a:p>
        </p:txBody>
      </p:sp>
      <p:sp>
        <p:nvSpPr>
          <p:cNvPr id="7" name="Rounded Rectangle 6"/>
          <p:cNvSpPr/>
          <p:nvPr/>
        </p:nvSpPr>
        <p:spPr>
          <a:xfrm>
            <a:off x="7772400" y="1554480"/>
            <a:ext cx="3867912" cy="4526280"/>
          </a:xfrm>
          <a:prstGeom prst="roundRect">
            <a:avLst>
              <a:gd name="adj" fmla="val 8000"/>
            </a:avLst>
          </a:prstGeom>
          <a:solidFill>
            <a:srgbClr val="0330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8046720" y="1828800"/>
            <a:ext cx="548640" cy="548640"/>
          </a:xfrm>
          <a:prstGeom prst="ellipse">
            <a:avLst/>
          </a:prstGeom>
          <a:solidFill>
            <a:srgbClr val="E046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e.g.</a:t>
            </a:r>
          </a:p>
        </p:txBody>
      </p:sp>
      <p:sp>
        <p:nvSpPr>
          <p:cNvPr id="9" name="TextBox 8"/>
          <p:cNvSpPr txBox="1"/>
          <p:nvPr/>
        </p:nvSpPr>
        <p:spPr>
          <a:xfrm>
            <a:off x="8046720" y="2560320"/>
            <a:ext cx="3291840" cy="365760"/>
          </a:xfrm>
          <a:prstGeom prst="rect">
            <a:avLst/>
          </a:prstGeom>
          <a:noFill/>
        </p:spPr>
        <p:txBody>
          <a:bodyPr wrap="square" anchor="t" lIns="0" rIns="0" tIns="0" bIns="0"/>
          <a:lstStyle/>
          <a:p>
            <a:pPr algn="l"/>
            <a:r>
              <a:rPr sz="1300" b="1" i="0">
                <a:solidFill>
                  <a:srgbClr val="A9C8F0"/>
                </a:solidFill>
                <a:latin typeface="Calibri"/>
              </a:rPr>
              <a:t>EXAMPLE</a:t>
            </a:r>
          </a:p>
        </p:txBody>
      </p:sp>
      <p:sp>
        <p:nvSpPr>
          <p:cNvPr id="10" name="TextBox 9"/>
          <p:cNvSpPr txBox="1"/>
          <p:nvPr/>
        </p:nvSpPr>
        <p:spPr>
          <a:xfrm>
            <a:off x="8046720" y="2971800"/>
            <a:ext cx="3291840" cy="2971800"/>
          </a:xfrm>
          <a:prstGeom prst="rect">
            <a:avLst/>
          </a:prstGeom>
          <a:noFill/>
        </p:spPr>
        <p:txBody>
          <a:bodyPr wrap="square" anchor="t" lIns="0" rIns="0" tIns="0" bIns="0"/>
          <a:lstStyle/>
          <a:p>
            <a:pPr algn="l"/>
            <a:r>
              <a:rPr sz="1900" b="0" i="0">
                <a:solidFill>
                  <a:srgbClr val="FFFFFF"/>
                </a:solidFill>
                <a:latin typeface="Cambria"/>
              </a:rPr>
              <a:t>A scanner flags a 'critical' flaw that turns out not to apply to your configuration: a false positive, which is why results must be checked by a person.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CYBER SECURITY  ·  Cyber Security Content Area 2</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Scanning tools: strengths and weaknesses</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Vulnerability Assessment and Penetration Testing</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11</a:t>
            </a:r>
          </a:p>
        </p:txBody>
      </p:sp>
      <p:graphicFrame>
        <p:nvGraphicFramePr>
          <p:cNvPr id="6" name="Table 5"/>
          <p:cNvGraphicFramePr>
            <a:graphicFrameLocks noGrp="1"/>
          </p:cNvGraphicFramePr>
          <p:nvPr/>
        </p:nvGraphicFramePr>
        <p:xfrm>
          <a:off x="548640" y="1600200"/>
          <a:ext cx="11094414" cy="4526280"/>
        </p:xfrm>
        <a:graphic>
          <a:graphicData uri="http://schemas.openxmlformats.org/drawingml/2006/table">
            <a:tbl>
              <a:tblPr firstRow="1" bandRow="1">
                <a:tableStyleId>{5C22544A-7EE6-4342-B048-85BDC9FD1C3A}</a:tableStyleId>
              </a:tblPr>
              <a:tblGrid>
                <a:gridCol w="2465425"/>
                <a:gridCol w="4437766"/>
                <a:gridCol w="4191223"/>
              </a:tblGrid>
              <a:tr h="1131570">
                <a:tc>
                  <a:txBody>
                    <a:bodyPr wrap="square"/>
                    <a:lstStyle/>
                    <a:p>
                      <a:r>
                        <a:rPr sz="1600" b="1">
                          <a:solidFill>
                            <a:srgbClr val="FFFFFF"/>
                          </a:solidFill>
                          <a:latin typeface="Calibri"/>
                        </a:rPr>
                        <a:t>Tool</a:t>
                      </a:r>
                    </a:p>
                  </a:txBody>
                  <a:tcPr marL="91440" marR="91440" anchor="ctr">
                    <a:solidFill>
                      <a:srgbClr val="03306E"/>
                    </a:solidFill>
                  </a:tcPr>
                </a:tc>
                <a:tc>
                  <a:txBody>
                    <a:bodyPr wrap="square"/>
                    <a:lstStyle/>
                    <a:p>
                      <a:r>
                        <a:rPr sz="1600" b="1">
                          <a:solidFill>
                            <a:srgbClr val="FFFFFF"/>
                          </a:solidFill>
                          <a:latin typeface="Calibri"/>
                        </a:rPr>
                        <a:t>Finds</a:t>
                      </a:r>
                    </a:p>
                  </a:txBody>
                  <a:tcPr marL="91440" marR="91440" anchor="ctr">
                    <a:solidFill>
                      <a:srgbClr val="03306E"/>
                    </a:solidFill>
                  </a:tcPr>
                </a:tc>
                <a:tc>
                  <a:txBody>
                    <a:bodyPr wrap="square"/>
                    <a:lstStyle/>
                    <a:p>
                      <a:r>
                        <a:rPr sz="1600" b="1">
                          <a:solidFill>
                            <a:srgbClr val="FFFFFF"/>
                          </a:solidFill>
                          <a:latin typeface="Calibri"/>
                        </a:rPr>
                        <a:t>Limitations</a:t>
                      </a:r>
                    </a:p>
                  </a:txBody>
                  <a:tcPr marL="91440" marR="91440" anchor="ctr">
                    <a:solidFill>
                      <a:srgbClr val="03306E"/>
                    </a:solidFill>
                  </a:tcPr>
                </a:tc>
              </a:tr>
              <a:tr h="1131570">
                <a:tc>
                  <a:txBody>
                    <a:bodyPr wrap="square"/>
                    <a:lstStyle/>
                    <a:p>
                      <a:r>
                        <a:rPr sz="1600" b="1">
                          <a:solidFill>
                            <a:srgbClr val="03306E"/>
                          </a:solidFill>
                          <a:latin typeface="Calibri"/>
                        </a:rPr>
                        <a:t>Infrastructure scanners</a:t>
                      </a:r>
                    </a:p>
                  </a:txBody>
                  <a:tcPr marL="91440" marR="91440" anchor="ctr">
                    <a:solidFill>
                      <a:srgbClr val="FFFFFF"/>
                    </a:solidFill>
                  </a:tcPr>
                </a:tc>
                <a:tc>
                  <a:txBody>
                    <a:bodyPr wrap="square"/>
                    <a:lstStyle/>
                    <a:p>
                      <a:r>
                        <a:rPr sz="1600" b="0">
                          <a:solidFill>
                            <a:srgbClr val="202122"/>
                          </a:solidFill>
                          <a:latin typeface="Calibri"/>
                        </a:rPr>
                        <a:t>Missing patches, weak passwords, exposed services, missing hardening</a:t>
                      </a:r>
                    </a:p>
                  </a:txBody>
                  <a:tcPr marL="91440" marR="91440" anchor="ctr">
                    <a:solidFill>
                      <a:srgbClr val="FFFFFF"/>
                    </a:solidFill>
                  </a:tcPr>
                </a:tc>
                <a:tc>
                  <a:txBody>
                    <a:bodyPr wrap="square"/>
                    <a:lstStyle/>
                    <a:p>
                      <a:r>
                        <a:rPr sz="1600" b="0">
                          <a:solidFill>
                            <a:srgbClr val="202122"/>
                          </a:solidFill>
                          <a:latin typeface="Calibri"/>
                        </a:rPr>
                        <a:t>Only known issues; may be inaccurate; can affect live services</a:t>
                      </a:r>
                    </a:p>
                  </a:txBody>
                  <a:tcPr marL="91440" marR="91440" anchor="ctr">
                    <a:solidFill>
                      <a:srgbClr val="FFFFFF"/>
                    </a:solidFill>
                  </a:tcPr>
                </a:tc>
              </a:tr>
              <a:tr h="1131570">
                <a:tc>
                  <a:txBody>
                    <a:bodyPr wrap="square"/>
                    <a:lstStyle/>
                    <a:p>
                      <a:r>
                        <a:rPr sz="1600" b="1">
                          <a:solidFill>
                            <a:srgbClr val="03306E"/>
                          </a:solidFill>
                          <a:latin typeface="Calibri"/>
                        </a:rPr>
                        <a:t>Web app scanners</a:t>
                      </a:r>
                    </a:p>
                  </a:txBody>
                  <a:tcPr marL="91440" marR="91440" anchor="ctr">
                    <a:solidFill>
                      <a:srgbClr val="EAF3FF"/>
                    </a:solidFill>
                  </a:tcPr>
                </a:tc>
                <a:tc>
                  <a:txBody>
                    <a:bodyPr wrap="square"/>
                    <a:lstStyle/>
                    <a:p>
                      <a:r>
                        <a:rPr sz="1600" b="0">
                          <a:solidFill>
                            <a:srgbClr val="202122"/>
                          </a:solidFill>
                          <a:latin typeface="Calibri"/>
                        </a:rPr>
                        <a:t>SQL injection, broken authentication, data exposure, weak encryption</a:t>
                      </a:r>
                    </a:p>
                  </a:txBody>
                  <a:tcPr marL="91440" marR="91440" anchor="ctr">
                    <a:solidFill>
                      <a:srgbClr val="EAF3FF"/>
                    </a:solidFill>
                  </a:tcPr>
                </a:tc>
                <a:tc>
                  <a:txBody>
                    <a:bodyPr wrap="square"/>
                    <a:lstStyle/>
                    <a:p>
                      <a:r>
                        <a:rPr sz="1600" b="0">
                          <a:solidFill>
                            <a:srgbClr val="202122"/>
                          </a:solidFill>
                          <a:latin typeface="Calibri"/>
                        </a:rPr>
                        <a:t>False positives and negatives; uses resources</a:t>
                      </a:r>
                    </a:p>
                  </a:txBody>
                  <a:tcPr marL="91440" marR="91440" anchor="ctr">
                    <a:solidFill>
                      <a:srgbClr val="EAF3FF"/>
                    </a:solidFill>
                  </a:tcPr>
                </a:tc>
              </a:tr>
              <a:tr h="1131570">
                <a:tc>
                  <a:txBody>
                    <a:bodyPr wrap="square"/>
                    <a:lstStyle/>
                    <a:p>
                      <a:r>
                        <a:rPr sz="1600" b="1">
                          <a:solidFill>
                            <a:srgbClr val="03306E"/>
                          </a:solidFill>
                          <a:latin typeface="Calibri"/>
                        </a:rPr>
                        <a:t>Software scanners</a:t>
                      </a:r>
                    </a:p>
                  </a:txBody>
                  <a:tcPr marL="91440" marR="91440" anchor="ctr">
                    <a:solidFill>
                      <a:srgbClr val="FFFFFF"/>
                    </a:solidFill>
                  </a:tcPr>
                </a:tc>
                <a:tc>
                  <a:txBody>
                    <a:bodyPr wrap="square"/>
                    <a:lstStyle/>
                    <a:p>
                      <a:r>
                        <a:rPr sz="1600" b="0">
                          <a:solidFill>
                            <a:srgbClr val="202122"/>
                          </a:solidFill>
                          <a:latin typeface="Calibri"/>
                        </a:rPr>
                        <a:t>Missing updates and patches, vendor checks</a:t>
                      </a:r>
                    </a:p>
                  </a:txBody>
                  <a:tcPr marL="91440" marR="91440" anchor="ctr">
                    <a:solidFill>
                      <a:srgbClr val="FFFFFF"/>
                    </a:solidFill>
                  </a:tcPr>
                </a:tc>
                <a:tc>
                  <a:txBody>
                    <a:bodyPr wrap="square"/>
                    <a:lstStyle/>
                    <a:p>
                      <a:r>
                        <a:rPr sz="1600" b="0">
                          <a:solidFill>
                            <a:srgbClr val="202122"/>
                          </a:solidFill>
                          <a:latin typeface="Calibri"/>
                        </a:rPr>
                        <a:t>Need regular updates; business impact hard to judge</a:t>
                      </a:r>
                    </a:p>
                  </a:txBody>
                  <a:tcPr marL="91440" marR="91440" anchor="ctr">
                    <a:solidFill>
                      <a:srgbClr val="FFFFFF"/>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CYBER SECURITY  ·  Cyber Security Content Area 2</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100" b="1" i="0">
                <a:solidFill>
                  <a:srgbClr val="03306E"/>
                </a:solidFill>
                <a:latin typeface="Cambria"/>
              </a:rPr>
              <a:t>Quick check: Scanning tools: strengths and weaknesses</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Vulnerability Assessment and Penetration Testing</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12</a:t>
            </a:r>
          </a:p>
        </p:txBody>
      </p:sp>
      <p:sp>
        <p:nvSpPr>
          <p:cNvPr id="6" name="Oval 5"/>
          <p:cNvSpPr/>
          <p:nvPr/>
        </p:nvSpPr>
        <p:spPr>
          <a:xfrm>
            <a:off x="548640" y="1691640"/>
            <a:ext cx="502920" cy="502920"/>
          </a:xfrm>
          <a:prstGeom prst="ellipse">
            <a:avLst/>
          </a:prstGeom>
          <a:solidFill>
            <a:srgbClr val="E046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1</a:t>
            </a:r>
          </a:p>
        </p:txBody>
      </p:sp>
      <p:sp>
        <p:nvSpPr>
          <p:cNvPr id="7" name="TextBox 6"/>
          <p:cNvSpPr txBox="1"/>
          <p:nvPr/>
        </p:nvSpPr>
        <p:spPr>
          <a:xfrm>
            <a:off x="1371600" y="1645920"/>
            <a:ext cx="10271455" cy="1188720"/>
          </a:xfrm>
          <a:prstGeom prst="rect">
            <a:avLst/>
          </a:prstGeom>
          <a:noFill/>
        </p:spPr>
        <p:txBody>
          <a:bodyPr wrap="square" anchor="t" lIns="0" rIns="0" tIns="0" bIns="0"/>
          <a:lstStyle/>
          <a:p>
            <a:pPr algn="l"/>
            <a:r>
              <a:rPr sz="2400" b="0" i="0">
                <a:solidFill>
                  <a:srgbClr val="202122"/>
                </a:solidFill>
                <a:latin typeface="Calibri"/>
              </a:rPr>
              <a:t>What is a false positive?</a:t>
            </a:r>
          </a:p>
        </p:txBody>
      </p:sp>
      <p:sp>
        <p:nvSpPr>
          <p:cNvPr id="8" name="Oval 7"/>
          <p:cNvSpPr/>
          <p:nvPr/>
        </p:nvSpPr>
        <p:spPr>
          <a:xfrm>
            <a:off x="548640" y="3108960"/>
            <a:ext cx="502920" cy="502920"/>
          </a:xfrm>
          <a:prstGeom prst="ellipse">
            <a:avLst/>
          </a:prstGeom>
          <a:solidFill>
            <a:srgbClr val="E046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2</a:t>
            </a:r>
          </a:p>
        </p:txBody>
      </p:sp>
      <p:sp>
        <p:nvSpPr>
          <p:cNvPr id="9" name="TextBox 8"/>
          <p:cNvSpPr txBox="1"/>
          <p:nvPr/>
        </p:nvSpPr>
        <p:spPr>
          <a:xfrm>
            <a:off x="1371600" y="3063240"/>
            <a:ext cx="10271455" cy="1188720"/>
          </a:xfrm>
          <a:prstGeom prst="rect">
            <a:avLst/>
          </a:prstGeom>
          <a:noFill/>
        </p:spPr>
        <p:txBody>
          <a:bodyPr wrap="square" anchor="t" lIns="0" rIns="0" tIns="0" bIns="0"/>
          <a:lstStyle/>
          <a:p>
            <a:pPr algn="l"/>
            <a:r>
              <a:rPr sz="2400" b="0" i="0">
                <a:solidFill>
                  <a:srgbClr val="202122"/>
                </a:solidFill>
                <a:latin typeface="Calibri"/>
              </a:rPr>
              <a:t>Can scanners find brand-new (unknown) vulnerabilities?</a:t>
            </a:r>
          </a:p>
        </p:txBody>
      </p:sp>
      <p:sp>
        <p:nvSpPr>
          <p:cNvPr id="10" name="Oval 9"/>
          <p:cNvSpPr/>
          <p:nvPr/>
        </p:nvSpPr>
        <p:spPr>
          <a:xfrm>
            <a:off x="548640" y="4526280"/>
            <a:ext cx="502920" cy="502920"/>
          </a:xfrm>
          <a:prstGeom prst="ellipse">
            <a:avLst/>
          </a:prstGeom>
          <a:solidFill>
            <a:srgbClr val="E046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3</a:t>
            </a:r>
          </a:p>
        </p:txBody>
      </p:sp>
      <p:sp>
        <p:nvSpPr>
          <p:cNvPr id="11" name="TextBox 10"/>
          <p:cNvSpPr txBox="1"/>
          <p:nvPr/>
        </p:nvSpPr>
        <p:spPr>
          <a:xfrm>
            <a:off x="1371600" y="4480560"/>
            <a:ext cx="10271455" cy="1188720"/>
          </a:xfrm>
          <a:prstGeom prst="rect">
            <a:avLst/>
          </a:prstGeom>
          <a:noFill/>
        </p:spPr>
        <p:txBody>
          <a:bodyPr wrap="square" anchor="t" lIns="0" rIns="0" tIns="0" bIns="0"/>
          <a:lstStyle/>
          <a:p>
            <a:pPr algn="l"/>
            <a:r>
              <a:rPr sz="2400" b="0" i="0">
                <a:solidFill>
                  <a:srgbClr val="202122"/>
                </a:solidFill>
                <a:latin typeface="Calibri"/>
              </a:rPr>
              <a:t>Name one thing a web application scanner looks for.</a:t>
            </a:r>
          </a:p>
        </p:txBody>
      </p:sp>
      <p:sp>
        <p:nvSpPr>
          <p:cNvPr id="12" name="TextBox 11"/>
          <p:cNvSpPr txBox="1"/>
          <p:nvPr/>
        </p:nvSpPr>
        <p:spPr>
          <a:xfrm>
            <a:off x="548640" y="5852160"/>
            <a:ext cx="11094415" cy="365760"/>
          </a:xfrm>
          <a:prstGeom prst="rect">
            <a:avLst/>
          </a:prstGeom>
          <a:noFill/>
        </p:spPr>
        <p:txBody>
          <a:bodyPr wrap="square" anchor="t" lIns="0" rIns="0" tIns="0" bIns="0"/>
          <a:lstStyle/>
          <a:p>
            <a:pPr algn="l"/>
            <a:r>
              <a:rPr sz="1300" b="0" i="1">
                <a:solidFill>
                  <a:srgbClr val="54595D"/>
                </a:solidFill>
                <a:latin typeface="Calibri"/>
              </a:rPr>
              <a:t>Answer on mini whiteboards or in your book. Answers are in the speaker notes.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CYBER SECURITY  ·  Cyber Security Content Area 2</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Penetration testing stages</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Vulnerability Assessment and Penetration Testing</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13</a:t>
            </a:r>
          </a:p>
        </p:txBody>
      </p:sp>
      <p:sp>
        <p:nvSpPr>
          <p:cNvPr id="6" name="TextBox 5"/>
          <p:cNvSpPr txBox="1"/>
          <p:nvPr/>
        </p:nvSpPr>
        <p:spPr>
          <a:xfrm>
            <a:off x="548640" y="1554480"/>
            <a:ext cx="6720840" cy="4617720"/>
          </a:xfrm>
          <a:prstGeom prst="rect">
            <a:avLst/>
          </a:prstGeom>
          <a:noFill/>
        </p:spPr>
        <p:txBody>
          <a:bodyPr wrap="square" lIns="0" rIns="0" tIns="0" bIns="0">
            <a:spAutoFit/>
          </a:bodyPr>
          <a:lstStyle/>
          <a:p>
            <a:pPr>
              <a:spcAft>
                <a:spcPts val="1260"/>
              </a:spcAft>
            </a:pPr>
            <a:r>
              <a:rPr sz="2100" b="0">
                <a:solidFill>
                  <a:srgbClr val="202122"/>
                </a:solidFill>
                <a:latin typeface="Calibri"/>
              </a:rPr>
              <a:t>A penetration test simulates a real attack, with permission, in six stages.</a:t>
            </a:r>
          </a:p>
          <a:p>
            <a:pPr>
              <a:spcAft>
                <a:spcPts val="1260"/>
              </a:spcAft>
            </a:pPr>
            <a:r>
              <a:rPr sz="2100" b="1">
                <a:solidFill>
                  <a:srgbClr val="202122"/>
                </a:solidFill>
                <a:latin typeface="Calibri"/>
              </a:rPr>
              <a:t>Planning and scoping:</a:t>
            </a:r>
            <a:r>
              <a:rPr sz="2100" b="0">
                <a:solidFill>
                  <a:srgbClr val="202122"/>
                </a:solidFill>
                <a:latin typeface="Calibri"/>
              </a:rPr>
              <a:t> agree rules of engagement, timing, and the legal and contractual boundaries. Reconnaissance: gather information about the target's network, OS and applications. Scanning: find open ports and services. Vulnerability assessment: identify and test weaknesses. Exploitation: attempt to gain access, within the agreed limits. Reporting: document findings and remediation advice.</a:t>
            </a:r>
          </a:p>
          <a:p>
            <a:pPr>
              <a:spcAft>
                <a:spcPts val="1260"/>
              </a:spcAft>
            </a:pPr>
            <a:r>
              <a:rPr sz="2100" b="0">
                <a:solidFill>
                  <a:srgbClr val="202122"/>
                </a:solidFill>
                <a:latin typeface="Calibri"/>
              </a:rPr>
              <a:t>A proof of concept demonstrates that a vulnerability can really be exploited.</a:t>
            </a:r>
          </a:p>
        </p:txBody>
      </p:sp>
      <p:sp>
        <p:nvSpPr>
          <p:cNvPr id="7" name="Rounded Rectangle 6"/>
          <p:cNvSpPr/>
          <p:nvPr/>
        </p:nvSpPr>
        <p:spPr>
          <a:xfrm>
            <a:off x="7772400" y="1554480"/>
            <a:ext cx="3867912" cy="4526280"/>
          </a:xfrm>
          <a:prstGeom prst="roundRect">
            <a:avLst>
              <a:gd name="adj" fmla="val 8000"/>
            </a:avLst>
          </a:prstGeom>
          <a:solidFill>
            <a:srgbClr val="0330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8046720" y="1828800"/>
            <a:ext cx="548640" cy="548640"/>
          </a:xfrm>
          <a:prstGeom prst="ellipse">
            <a:avLst/>
          </a:prstGeom>
          <a:solidFill>
            <a:srgbClr val="E046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e.g.</a:t>
            </a:r>
          </a:p>
        </p:txBody>
      </p:sp>
      <p:sp>
        <p:nvSpPr>
          <p:cNvPr id="9" name="TextBox 8"/>
          <p:cNvSpPr txBox="1"/>
          <p:nvPr/>
        </p:nvSpPr>
        <p:spPr>
          <a:xfrm>
            <a:off x="8046720" y="2560320"/>
            <a:ext cx="3291840" cy="365760"/>
          </a:xfrm>
          <a:prstGeom prst="rect">
            <a:avLst/>
          </a:prstGeom>
          <a:noFill/>
        </p:spPr>
        <p:txBody>
          <a:bodyPr wrap="square" anchor="t" lIns="0" rIns="0" tIns="0" bIns="0"/>
          <a:lstStyle/>
          <a:p>
            <a:pPr algn="l"/>
            <a:r>
              <a:rPr sz="1300" b="1" i="0">
                <a:solidFill>
                  <a:srgbClr val="A9C8F0"/>
                </a:solidFill>
                <a:latin typeface="Calibri"/>
              </a:rPr>
              <a:t>EXAMPLE</a:t>
            </a:r>
          </a:p>
        </p:txBody>
      </p:sp>
      <p:sp>
        <p:nvSpPr>
          <p:cNvPr id="10" name="TextBox 9"/>
          <p:cNvSpPr txBox="1"/>
          <p:nvPr/>
        </p:nvSpPr>
        <p:spPr>
          <a:xfrm>
            <a:off x="8046720" y="2971800"/>
            <a:ext cx="3291840" cy="2971800"/>
          </a:xfrm>
          <a:prstGeom prst="rect">
            <a:avLst/>
          </a:prstGeom>
          <a:noFill/>
        </p:spPr>
        <p:txBody>
          <a:bodyPr wrap="square" anchor="t" lIns="0" rIns="0" tIns="0" bIns="0"/>
          <a:lstStyle/>
          <a:p>
            <a:pPr algn="l"/>
            <a:r>
              <a:rPr sz="1900" b="0" i="0">
                <a:solidFill>
                  <a:srgbClr val="FFFFFF"/>
                </a:solidFill>
                <a:latin typeface="Cambria"/>
              </a:rPr>
              <a:t>A tester gains access to a web server via an outdated plugin, stops there as agreed, and the report recommends updating it and removing unused plugins.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CYBER SECURITY  ·  Cyber Security Content Area 2</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Penetration testing stages</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Vulnerability Assessment and Penetration Testing</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14</a:t>
            </a:r>
          </a:p>
        </p:txBody>
      </p:sp>
      <p:sp>
        <p:nvSpPr>
          <p:cNvPr id="6" name="Rectangle 5"/>
          <p:cNvSpPr/>
          <p:nvPr/>
        </p:nvSpPr>
        <p:spPr>
          <a:xfrm>
            <a:off x="1416024" y="2595372"/>
            <a:ext cx="9359646" cy="36576"/>
          </a:xfrm>
          <a:prstGeom prst="rect">
            <a:avLst/>
          </a:prstGeom>
          <a:solidFill>
            <a:srgbClr val="A9C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1095984" y="2293620"/>
            <a:ext cx="640080" cy="640080"/>
          </a:xfrm>
          <a:prstGeom prst="ellipse">
            <a:avLst/>
          </a:prstGeom>
          <a:solidFill>
            <a:srgbClr val="E046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1</a:t>
            </a:r>
          </a:p>
        </p:txBody>
      </p:sp>
      <p:sp>
        <p:nvSpPr>
          <p:cNvPr id="8" name="TextBox 7"/>
          <p:cNvSpPr txBox="1"/>
          <p:nvPr/>
        </p:nvSpPr>
        <p:spPr>
          <a:xfrm>
            <a:off x="548640" y="3070859"/>
            <a:ext cx="1734769" cy="731520"/>
          </a:xfrm>
          <a:prstGeom prst="rect">
            <a:avLst/>
          </a:prstGeom>
          <a:noFill/>
        </p:spPr>
        <p:txBody>
          <a:bodyPr wrap="square" anchor="t" lIns="0" rIns="0" tIns="0" bIns="0"/>
          <a:lstStyle/>
          <a:p>
            <a:pPr algn="ctr"/>
            <a:r>
              <a:rPr sz="1500" b="1" i="0">
                <a:solidFill>
                  <a:srgbClr val="03306E"/>
                </a:solidFill>
                <a:latin typeface="Calibri"/>
              </a:rPr>
              <a:t>Plan and scope</a:t>
            </a:r>
          </a:p>
        </p:txBody>
      </p:sp>
      <p:sp>
        <p:nvSpPr>
          <p:cNvPr id="9" name="Rounded Rectangle 8"/>
          <p:cNvSpPr/>
          <p:nvPr/>
        </p:nvSpPr>
        <p:spPr>
          <a:xfrm>
            <a:off x="548640" y="3848099"/>
            <a:ext cx="1734769" cy="163068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85800" y="3985260"/>
            <a:ext cx="1460449" cy="1356359"/>
          </a:xfrm>
          <a:prstGeom prst="rect">
            <a:avLst/>
          </a:prstGeom>
          <a:noFill/>
        </p:spPr>
        <p:txBody>
          <a:bodyPr wrap="square" anchor="t" lIns="0" rIns="0" tIns="0" bIns="0"/>
          <a:lstStyle/>
          <a:p>
            <a:pPr algn="l"/>
            <a:r>
              <a:rPr sz="1600" b="0" i="0">
                <a:solidFill>
                  <a:srgbClr val="202122"/>
                </a:solidFill>
                <a:latin typeface="Calibri"/>
              </a:rPr>
              <a:t>Rules of engagement, timing, legal and contractual limits.</a:t>
            </a:r>
          </a:p>
        </p:txBody>
      </p:sp>
      <p:sp>
        <p:nvSpPr>
          <p:cNvPr id="11" name="Oval 10"/>
          <p:cNvSpPr/>
          <p:nvPr/>
        </p:nvSpPr>
        <p:spPr>
          <a:xfrm>
            <a:off x="2967913" y="2293620"/>
            <a:ext cx="640080" cy="640080"/>
          </a:xfrm>
          <a:prstGeom prst="ellipse">
            <a:avLst/>
          </a:prstGeom>
          <a:solidFill>
            <a:srgbClr val="E046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2</a:t>
            </a:r>
          </a:p>
        </p:txBody>
      </p:sp>
      <p:sp>
        <p:nvSpPr>
          <p:cNvPr id="12" name="TextBox 11"/>
          <p:cNvSpPr txBox="1"/>
          <p:nvPr/>
        </p:nvSpPr>
        <p:spPr>
          <a:xfrm>
            <a:off x="2420569" y="3070859"/>
            <a:ext cx="1734769" cy="731520"/>
          </a:xfrm>
          <a:prstGeom prst="rect">
            <a:avLst/>
          </a:prstGeom>
          <a:noFill/>
        </p:spPr>
        <p:txBody>
          <a:bodyPr wrap="square" anchor="t" lIns="0" rIns="0" tIns="0" bIns="0"/>
          <a:lstStyle/>
          <a:p>
            <a:pPr algn="ctr"/>
            <a:r>
              <a:rPr sz="1500" b="1" i="0">
                <a:solidFill>
                  <a:srgbClr val="03306E"/>
                </a:solidFill>
                <a:latin typeface="Calibri"/>
              </a:rPr>
              <a:t>Reconnaissance</a:t>
            </a:r>
          </a:p>
        </p:txBody>
      </p:sp>
      <p:sp>
        <p:nvSpPr>
          <p:cNvPr id="13" name="Rounded Rectangle 12"/>
          <p:cNvSpPr/>
          <p:nvPr/>
        </p:nvSpPr>
        <p:spPr>
          <a:xfrm>
            <a:off x="2420569" y="3848099"/>
            <a:ext cx="1734769" cy="163068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2557729" y="3985260"/>
            <a:ext cx="1460449" cy="1356359"/>
          </a:xfrm>
          <a:prstGeom prst="rect">
            <a:avLst/>
          </a:prstGeom>
          <a:noFill/>
        </p:spPr>
        <p:txBody>
          <a:bodyPr wrap="square" anchor="t" lIns="0" rIns="0" tIns="0" bIns="0"/>
          <a:lstStyle/>
          <a:p>
            <a:pPr algn="l"/>
            <a:r>
              <a:rPr sz="1600" b="0" i="0">
                <a:solidFill>
                  <a:srgbClr val="202122"/>
                </a:solidFill>
                <a:latin typeface="Calibri"/>
              </a:rPr>
              <a:t>Topology, OS and applications.</a:t>
            </a:r>
          </a:p>
        </p:txBody>
      </p:sp>
      <p:sp>
        <p:nvSpPr>
          <p:cNvPr id="15" name="Oval 14"/>
          <p:cNvSpPr/>
          <p:nvPr/>
        </p:nvSpPr>
        <p:spPr>
          <a:xfrm>
            <a:off x="4839843" y="2293620"/>
            <a:ext cx="640080" cy="640080"/>
          </a:xfrm>
          <a:prstGeom prst="ellipse">
            <a:avLst/>
          </a:prstGeom>
          <a:solidFill>
            <a:srgbClr val="E046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3</a:t>
            </a:r>
          </a:p>
        </p:txBody>
      </p:sp>
      <p:sp>
        <p:nvSpPr>
          <p:cNvPr id="16" name="TextBox 15"/>
          <p:cNvSpPr txBox="1"/>
          <p:nvPr/>
        </p:nvSpPr>
        <p:spPr>
          <a:xfrm>
            <a:off x="4292498" y="3070859"/>
            <a:ext cx="1734769" cy="731520"/>
          </a:xfrm>
          <a:prstGeom prst="rect">
            <a:avLst/>
          </a:prstGeom>
          <a:noFill/>
        </p:spPr>
        <p:txBody>
          <a:bodyPr wrap="square" anchor="t" lIns="0" rIns="0" tIns="0" bIns="0"/>
          <a:lstStyle/>
          <a:p>
            <a:pPr algn="ctr"/>
            <a:r>
              <a:rPr sz="1500" b="1" i="0">
                <a:solidFill>
                  <a:srgbClr val="03306E"/>
                </a:solidFill>
                <a:latin typeface="Calibri"/>
              </a:rPr>
              <a:t>Scanning</a:t>
            </a:r>
          </a:p>
        </p:txBody>
      </p:sp>
      <p:sp>
        <p:nvSpPr>
          <p:cNvPr id="17" name="Rounded Rectangle 16"/>
          <p:cNvSpPr/>
          <p:nvPr/>
        </p:nvSpPr>
        <p:spPr>
          <a:xfrm>
            <a:off x="4292498" y="3848099"/>
            <a:ext cx="1734769" cy="163068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4429658" y="3985260"/>
            <a:ext cx="1460449" cy="1356359"/>
          </a:xfrm>
          <a:prstGeom prst="rect">
            <a:avLst/>
          </a:prstGeom>
          <a:noFill/>
        </p:spPr>
        <p:txBody>
          <a:bodyPr wrap="square" anchor="t" lIns="0" rIns="0" tIns="0" bIns="0"/>
          <a:lstStyle/>
          <a:p>
            <a:pPr algn="l"/>
            <a:r>
              <a:rPr sz="1600" b="0" i="0">
                <a:solidFill>
                  <a:srgbClr val="202122"/>
                </a:solidFill>
                <a:latin typeface="Calibri"/>
              </a:rPr>
              <a:t>Open ports and services.</a:t>
            </a:r>
          </a:p>
        </p:txBody>
      </p:sp>
      <p:sp>
        <p:nvSpPr>
          <p:cNvPr id="19" name="Oval 18"/>
          <p:cNvSpPr/>
          <p:nvPr/>
        </p:nvSpPr>
        <p:spPr>
          <a:xfrm>
            <a:off x="6711772" y="2293620"/>
            <a:ext cx="640080" cy="640080"/>
          </a:xfrm>
          <a:prstGeom prst="ellipse">
            <a:avLst/>
          </a:prstGeom>
          <a:solidFill>
            <a:srgbClr val="E046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4</a:t>
            </a:r>
          </a:p>
        </p:txBody>
      </p:sp>
      <p:sp>
        <p:nvSpPr>
          <p:cNvPr id="20" name="TextBox 19"/>
          <p:cNvSpPr txBox="1"/>
          <p:nvPr/>
        </p:nvSpPr>
        <p:spPr>
          <a:xfrm>
            <a:off x="6164427" y="3070859"/>
            <a:ext cx="1734769" cy="731520"/>
          </a:xfrm>
          <a:prstGeom prst="rect">
            <a:avLst/>
          </a:prstGeom>
          <a:noFill/>
        </p:spPr>
        <p:txBody>
          <a:bodyPr wrap="square" anchor="t" lIns="0" rIns="0" tIns="0" bIns="0"/>
          <a:lstStyle/>
          <a:p>
            <a:pPr algn="ctr"/>
            <a:r>
              <a:rPr sz="1500" b="1" i="0">
                <a:solidFill>
                  <a:srgbClr val="03306E"/>
                </a:solidFill>
                <a:latin typeface="Calibri"/>
              </a:rPr>
              <a:t>Vulnerability assessment</a:t>
            </a:r>
          </a:p>
        </p:txBody>
      </p:sp>
      <p:sp>
        <p:nvSpPr>
          <p:cNvPr id="21" name="Rounded Rectangle 20"/>
          <p:cNvSpPr/>
          <p:nvPr/>
        </p:nvSpPr>
        <p:spPr>
          <a:xfrm>
            <a:off x="6164427" y="3848099"/>
            <a:ext cx="1734769" cy="163068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01587" y="3985260"/>
            <a:ext cx="1460449" cy="1356359"/>
          </a:xfrm>
          <a:prstGeom prst="rect">
            <a:avLst/>
          </a:prstGeom>
          <a:noFill/>
        </p:spPr>
        <p:txBody>
          <a:bodyPr wrap="square" anchor="t" lIns="0" rIns="0" tIns="0" bIns="0"/>
          <a:lstStyle/>
          <a:p>
            <a:pPr algn="l"/>
            <a:r>
              <a:rPr sz="1600" b="0" i="0">
                <a:solidFill>
                  <a:srgbClr val="202122"/>
                </a:solidFill>
                <a:latin typeface="Calibri"/>
              </a:rPr>
              <a:t>Test for exploitable flaws.</a:t>
            </a:r>
          </a:p>
        </p:txBody>
      </p:sp>
      <p:sp>
        <p:nvSpPr>
          <p:cNvPr id="23" name="Oval 22"/>
          <p:cNvSpPr/>
          <p:nvPr/>
        </p:nvSpPr>
        <p:spPr>
          <a:xfrm>
            <a:off x="8583701" y="2293620"/>
            <a:ext cx="640080" cy="640080"/>
          </a:xfrm>
          <a:prstGeom prst="ellipse">
            <a:avLst/>
          </a:prstGeom>
          <a:solidFill>
            <a:srgbClr val="E046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5</a:t>
            </a:r>
          </a:p>
        </p:txBody>
      </p:sp>
      <p:sp>
        <p:nvSpPr>
          <p:cNvPr id="24" name="TextBox 23"/>
          <p:cNvSpPr txBox="1"/>
          <p:nvPr/>
        </p:nvSpPr>
        <p:spPr>
          <a:xfrm>
            <a:off x="8036356" y="3070859"/>
            <a:ext cx="1734769" cy="731520"/>
          </a:xfrm>
          <a:prstGeom prst="rect">
            <a:avLst/>
          </a:prstGeom>
          <a:noFill/>
        </p:spPr>
        <p:txBody>
          <a:bodyPr wrap="square" anchor="t" lIns="0" rIns="0" tIns="0" bIns="0"/>
          <a:lstStyle/>
          <a:p>
            <a:pPr algn="ctr"/>
            <a:r>
              <a:rPr sz="1500" b="1" i="0">
                <a:solidFill>
                  <a:srgbClr val="03306E"/>
                </a:solidFill>
                <a:latin typeface="Calibri"/>
              </a:rPr>
              <a:t>Exploitation</a:t>
            </a:r>
          </a:p>
        </p:txBody>
      </p:sp>
      <p:sp>
        <p:nvSpPr>
          <p:cNvPr id="25" name="Rounded Rectangle 24"/>
          <p:cNvSpPr/>
          <p:nvPr/>
        </p:nvSpPr>
        <p:spPr>
          <a:xfrm>
            <a:off x="8036356" y="3848099"/>
            <a:ext cx="1734769" cy="163068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173516" y="3985260"/>
            <a:ext cx="1460449" cy="1356359"/>
          </a:xfrm>
          <a:prstGeom prst="rect">
            <a:avLst/>
          </a:prstGeom>
          <a:noFill/>
        </p:spPr>
        <p:txBody>
          <a:bodyPr wrap="square" anchor="t" lIns="0" rIns="0" tIns="0" bIns="0"/>
          <a:lstStyle/>
          <a:p>
            <a:pPr algn="l"/>
            <a:r>
              <a:rPr sz="1600" b="0" i="0">
                <a:solidFill>
                  <a:srgbClr val="202122"/>
                </a:solidFill>
                <a:latin typeface="Calibri"/>
              </a:rPr>
              <a:t>Attempt access within agreed limits.</a:t>
            </a:r>
          </a:p>
        </p:txBody>
      </p:sp>
      <p:sp>
        <p:nvSpPr>
          <p:cNvPr id="27" name="Oval 26"/>
          <p:cNvSpPr/>
          <p:nvPr/>
        </p:nvSpPr>
        <p:spPr>
          <a:xfrm>
            <a:off x="10455630" y="2293620"/>
            <a:ext cx="640080" cy="640080"/>
          </a:xfrm>
          <a:prstGeom prst="ellipse">
            <a:avLst/>
          </a:prstGeom>
          <a:solidFill>
            <a:srgbClr val="E046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6</a:t>
            </a:r>
          </a:p>
        </p:txBody>
      </p:sp>
      <p:sp>
        <p:nvSpPr>
          <p:cNvPr id="28" name="TextBox 27"/>
          <p:cNvSpPr txBox="1"/>
          <p:nvPr/>
        </p:nvSpPr>
        <p:spPr>
          <a:xfrm>
            <a:off x="9908286" y="3070859"/>
            <a:ext cx="1734769" cy="731520"/>
          </a:xfrm>
          <a:prstGeom prst="rect">
            <a:avLst/>
          </a:prstGeom>
          <a:noFill/>
        </p:spPr>
        <p:txBody>
          <a:bodyPr wrap="square" anchor="t" lIns="0" rIns="0" tIns="0" bIns="0"/>
          <a:lstStyle/>
          <a:p>
            <a:pPr algn="ctr"/>
            <a:r>
              <a:rPr sz="1500" b="1" i="0">
                <a:solidFill>
                  <a:srgbClr val="03306E"/>
                </a:solidFill>
                <a:latin typeface="Calibri"/>
              </a:rPr>
              <a:t>Reporting</a:t>
            </a:r>
          </a:p>
        </p:txBody>
      </p:sp>
      <p:sp>
        <p:nvSpPr>
          <p:cNvPr id="29" name="Rounded Rectangle 28"/>
          <p:cNvSpPr/>
          <p:nvPr/>
        </p:nvSpPr>
        <p:spPr>
          <a:xfrm>
            <a:off x="9908286" y="3848099"/>
            <a:ext cx="1734769" cy="163068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10045446" y="3985260"/>
            <a:ext cx="1460449" cy="1356359"/>
          </a:xfrm>
          <a:prstGeom prst="rect">
            <a:avLst/>
          </a:prstGeom>
          <a:noFill/>
        </p:spPr>
        <p:txBody>
          <a:bodyPr wrap="square" anchor="t" lIns="0" rIns="0" tIns="0" bIns="0"/>
          <a:lstStyle/>
          <a:p>
            <a:pPr algn="l"/>
            <a:r>
              <a:rPr sz="1600" b="0" i="0">
                <a:solidFill>
                  <a:srgbClr val="202122"/>
                </a:solidFill>
                <a:latin typeface="Calibri"/>
              </a:rPr>
              <a:t>Findings and remediation advice.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CYBER SECURITY  ·  Cyber Security Content Area 2</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Quick check: Penetration testing stages</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Vulnerability Assessment and Penetration Testing</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15</a:t>
            </a:r>
          </a:p>
        </p:txBody>
      </p:sp>
      <p:sp>
        <p:nvSpPr>
          <p:cNvPr id="6" name="Oval 5"/>
          <p:cNvSpPr/>
          <p:nvPr/>
        </p:nvSpPr>
        <p:spPr>
          <a:xfrm>
            <a:off x="548640" y="1691640"/>
            <a:ext cx="502920" cy="502920"/>
          </a:xfrm>
          <a:prstGeom prst="ellipse">
            <a:avLst/>
          </a:prstGeom>
          <a:solidFill>
            <a:srgbClr val="E046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1</a:t>
            </a:r>
          </a:p>
        </p:txBody>
      </p:sp>
      <p:sp>
        <p:nvSpPr>
          <p:cNvPr id="7" name="TextBox 6"/>
          <p:cNvSpPr txBox="1"/>
          <p:nvPr/>
        </p:nvSpPr>
        <p:spPr>
          <a:xfrm>
            <a:off x="1371600" y="1645920"/>
            <a:ext cx="10271455" cy="1188720"/>
          </a:xfrm>
          <a:prstGeom prst="rect">
            <a:avLst/>
          </a:prstGeom>
          <a:noFill/>
        </p:spPr>
        <p:txBody>
          <a:bodyPr wrap="square" anchor="t" lIns="0" rIns="0" tIns="0" bIns="0"/>
          <a:lstStyle/>
          <a:p>
            <a:pPr algn="l"/>
            <a:r>
              <a:rPr sz="2400" b="0" i="0">
                <a:solidFill>
                  <a:srgbClr val="202122"/>
                </a:solidFill>
                <a:latin typeface="Calibri"/>
              </a:rPr>
              <a:t>What is agreed during planning and scoping?</a:t>
            </a:r>
          </a:p>
        </p:txBody>
      </p:sp>
      <p:sp>
        <p:nvSpPr>
          <p:cNvPr id="8" name="Oval 7"/>
          <p:cNvSpPr/>
          <p:nvPr/>
        </p:nvSpPr>
        <p:spPr>
          <a:xfrm>
            <a:off x="548640" y="3108960"/>
            <a:ext cx="502920" cy="502920"/>
          </a:xfrm>
          <a:prstGeom prst="ellipse">
            <a:avLst/>
          </a:prstGeom>
          <a:solidFill>
            <a:srgbClr val="E046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2</a:t>
            </a:r>
          </a:p>
        </p:txBody>
      </p:sp>
      <p:sp>
        <p:nvSpPr>
          <p:cNvPr id="9" name="TextBox 8"/>
          <p:cNvSpPr txBox="1"/>
          <p:nvPr/>
        </p:nvSpPr>
        <p:spPr>
          <a:xfrm>
            <a:off x="1371600" y="3063240"/>
            <a:ext cx="10271455" cy="1188720"/>
          </a:xfrm>
          <a:prstGeom prst="rect">
            <a:avLst/>
          </a:prstGeom>
          <a:noFill/>
        </p:spPr>
        <p:txBody>
          <a:bodyPr wrap="square" anchor="t" lIns="0" rIns="0" tIns="0" bIns="0"/>
          <a:lstStyle/>
          <a:p>
            <a:pPr algn="l"/>
            <a:r>
              <a:rPr sz="2400" b="0" i="0">
                <a:solidFill>
                  <a:srgbClr val="202122"/>
                </a:solidFill>
                <a:latin typeface="Calibri"/>
              </a:rPr>
              <a:t>What happens during reconnaissance?</a:t>
            </a:r>
          </a:p>
        </p:txBody>
      </p:sp>
      <p:sp>
        <p:nvSpPr>
          <p:cNvPr id="10" name="Oval 9"/>
          <p:cNvSpPr/>
          <p:nvPr/>
        </p:nvSpPr>
        <p:spPr>
          <a:xfrm>
            <a:off x="548640" y="4526280"/>
            <a:ext cx="502920" cy="502920"/>
          </a:xfrm>
          <a:prstGeom prst="ellipse">
            <a:avLst/>
          </a:prstGeom>
          <a:solidFill>
            <a:srgbClr val="E046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3</a:t>
            </a:r>
          </a:p>
        </p:txBody>
      </p:sp>
      <p:sp>
        <p:nvSpPr>
          <p:cNvPr id="11" name="TextBox 10"/>
          <p:cNvSpPr txBox="1"/>
          <p:nvPr/>
        </p:nvSpPr>
        <p:spPr>
          <a:xfrm>
            <a:off x="1371600" y="4480560"/>
            <a:ext cx="10271455" cy="1188720"/>
          </a:xfrm>
          <a:prstGeom prst="rect">
            <a:avLst/>
          </a:prstGeom>
          <a:noFill/>
        </p:spPr>
        <p:txBody>
          <a:bodyPr wrap="square" anchor="t" lIns="0" rIns="0" tIns="0" bIns="0"/>
          <a:lstStyle/>
          <a:p>
            <a:pPr algn="l"/>
            <a:r>
              <a:rPr sz="2400" b="0" i="0">
                <a:solidFill>
                  <a:srgbClr val="202122"/>
                </a:solidFill>
                <a:latin typeface="Calibri"/>
              </a:rPr>
              <a:t>What is a proof of concept?</a:t>
            </a:r>
          </a:p>
        </p:txBody>
      </p:sp>
      <p:sp>
        <p:nvSpPr>
          <p:cNvPr id="12" name="TextBox 11"/>
          <p:cNvSpPr txBox="1"/>
          <p:nvPr/>
        </p:nvSpPr>
        <p:spPr>
          <a:xfrm>
            <a:off x="548640" y="5852160"/>
            <a:ext cx="11094415" cy="365760"/>
          </a:xfrm>
          <a:prstGeom prst="rect">
            <a:avLst/>
          </a:prstGeom>
          <a:noFill/>
        </p:spPr>
        <p:txBody>
          <a:bodyPr wrap="square" anchor="t" lIns="0" rIns="0" tIns="0" bIns="0"/>
          <a:lstStyle/>
          <a:p>
            <a:pPr algn="l"/>
            <a:r>
              <a:rPr sz="1300" b="0" i="1">
                <a:solidFill>
                  <a:srgbClr val="54595D"/>
                </a:solidFill>
                <a:latin typeface="Calibri"/>
              </a:rPr>
              <a:t>Answer on mini whiteboards or in your book. Answers are in the speaker notes.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CYBER SECURITY  ·  Cyber Security Content Area 2</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Making recommendations</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Vulnerability Assessment and Penetration Testing</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16</a:t>
            </a:r>
          </a:p>
        </p:txBody>
      </p:sp>
      <p:sp>
        <p:nvSpPr>
          <p:cNvPr id="6" name="Rounded Rectangle 5"/>
          <p:cNvSpPr/>
          <p:nvPr/>
        </p:nvSpPr>
        <p:spPr>
          <a:xfrm>
            <a:off x="548640" y="1600200"/>
            <a:ext cx="5410047" cy="214884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777240" y="1828800"/>
            <a:ext cx="457200" cy="457200"/>
          </a:xfrm>
          <a:prstGeom prst="ellipse">
            <a:avLst/>
          </a:prstGeom>
          <a:solidFill>
            <a:srgbClr val="E046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1</a:t>
            </a:r>
          </a:p>
        </p:txBody>
      </p:sp>
      <p:sp>
        <p:nvSpPr>
          <p:cNvPr id="8" name="TextBox 7"/>
          <p:cNvSpPr txBox="1"/>
          <p:nvPr/>
        </p:nvSpPr>
        <p:spPr>
          <a:xfrm>
            <a:off x="1371600" y="1801368"/>
            <a:ext cx="4404207" cy="512064"/>
          </a:xfrm>
          <a:prstGeom prst="rect">
            <a:avLst/>
          </a:prstGeom>
          <a:noFill/>
        </p:spPr>
        <p:txBody>
          <a:bodyPr wrap="square" anchor="ctr" lIns="0" rIns="0" tIns="0" bIns="0"/>
          <a:lstStyle/>
          <a:p>
            <a:pPr algn="l"/>
            <a:r>
              <a:rPr sz="1900" b="1" i="0">
                <a:solidFill>
                  <a:srgbClr val="03306E"/>
                </a:solidFill>
                <a:latin typeface="Calibri"/>
              </a:rPr>
              <a:t>Impact</a:t>
            </a:r>
          </a:p>
        </p:txBody>
      </p:sp>
      <p:sp>
        <p:nvSpPr>
          <p:cNvPr id="9" name="TextBox 8"/>
          <p:cNvSpPr txBox="1"/>
          <p:nvPr/>
        </p:nvSpPr>
        <p:spPr>
          <a:xfrm>
            <a:off x="777240" y="2468880"/>
            <a:ext cx="4952847" cy="1143000"/>
          </a:xfrm>
          <a:prstGeom prst="rect">
            <a:avLst/>
          </a:prstGeom>
          <a:noFill/>
        </p:spPr>
        <p:txBody>
          <a:bodyPr wrap="square" anchor="t" lIns="0" rIns="0" tIns="0" bIns="0"/>
          <a:lstStyle/>
          <a:p>
            <a:pPr algn="l"/>
            <a:r>
              <a:rPr sz="2000" b="0" i="0">
                <a:solidFill>
                  <a:srgbClr val="202122"/>
                </a:solidFill>
                <a:latin typeface="Calibri"/>
              </a:rPr>
              <a:t>Business, operational and infrastructure impact.</a:t>
            </a:r>
          </a:p>
        </p:txBody>
      </p:sp>
      <p:sp>
        <p:nvSpPr>
          <p:cNvPr id="10" name="Rounded Rectangle 9"/>
          <p:cNvSpPr/>
          <p:nvPr/>
        </p:nvSpPr>
        <p:spPr>
          <a:xfrm>
            <a:off x="6233007" y="1600200"/>
            <a:ext cx="5410047" cy="214884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6461607" y="1828800"/>
            <a:ext cx="457200" cy="457200"/>
          </a:xfrm>
          <a:prstGeom prst="ellipse">
            <a:avLst/>
          </a:prstGeom>
          <a:solidFill>
            <a:srgbClr val="E046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2</a:t>
            </a:r>
          </a:p>
        </p:txBody>
      </p:sp>
      <p:sp>
        <p:nvSpPr>
          <p:cNvPr id="12" name="TextBox 11"/>
          <p:cNvSpPr txBox="1"/>
          <p:nvPr/>
        </p:nvSpPr>
        <p:spPr>
          <a:xfrm>
            <a:off x="7055967" y="1801368"/>
            <a:ext cx="4404207" cy="512064"/>
          </a:xfrm>
          <a:prstGeom prst="rect">
            <a:avLst/>
          </a:prstGeom>
          <a:noFill/>
        </p:spPr>
        <p:txBody>
          <a:bodyPr wrap="square" anchor="ctr" lIns="0" rIns="0" tIns="0" bIns="0"/>
          <a:lstStyle/>
          <a:p>
            <a:pPr algn="l"/>
            <a:r>
              <a:rPr sz="1900" b="1" i="0">
                <a:solidFill>
                  <a:srgbClr val="03306E"/>
                </a:solidFill>
                <a:latin typeface="Calibri"/>
              </a:rPr>
              <a:t>Cost</a:t>
            </a:r>
          </a:p>
        </p:txBody>
      </p:sp>
      <p:sp>
        <p:nvSpPr>
          <p:cNvPr id="13" name="TextBox 12"/>
          <p:cNvSpPr txBox="1"/>
          <p:nvPr/>
        </p:nvSpPr>
        <p:spPr>
          <a:xfrm>
            <a:off x="6461607" y="2468880"/>
            <a:ext cx="4952847" cy="1143000"/>
          </a:xfrm>
          <a:prstGeom prst="rect">
            <a:avLst/>
          </a:prstGeom>
          <a:noFill/>
        </p:spPr>
        <p:txBody>
          <a:bodyPr wrap="square" anchor="t" lIns="0" rIns="0" tIns="0" bIns="0"/>
          <a:lstStyle/>
          <a:p>
            <a:pPr algn="l"/>
            <a:r>
              <a:rPr sz="2000" b="0" i="0">
                <a:solidFill>
                  <a:srgbClr val="202122"/>
                </a:solidFill>
                <a:latin typeface="Calibri"/>
              </a:rPr>
              <a:t>The cost of acting against the cost of not acting.</a:t>
            </a:r>
          </a:p>
        </p:txBody>
      </p:sp>
      <p:sp>
        <p:nvSpPr>
          <p:cNvPr id="14" name="Rounded Rectangle 13"/>
          <p:cNvSpPr/>
          <p:nvPr/>
        </p:nvSpPr>
        <p:spPr>
          <a:xfrm>
            <a:off x="548640" y="4023360"/>
            <a:ext cx="5410047" cy="214884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777240" y="4251960"/>
            <a:ext cx="457200" cy="457200"/>
          </a:xfrm>
          <a:prstGeom prst="ellipse">
            <a:avLst/>
          </a:prstGeom>
          <a:solidFill>
            <a:srgbClr val="E046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3</a:t>
            </a:r>
          </a:p>
        </p:txBody>
      </p:sp>
      <p:sp>
        <p:nvSpPr>
          <p:cNvPr id="16" name="TextBox 15"/>
          <p:cNvSpPr txBox="1"/>
          <p:nvPr/>
        </p:nvSpPr>
        <p:spPr>
          <a:xfrm>
            <a:off x="1371600" y="4224528"/>
            <a:ext cx="4404207" cy="512064"/>
          </a:xfrm>
          <a:prstGeom prst="rect">
            <a:avLst/>
          </a:prstGeom>
          <a:noFill/>
        </p:spPr>
        <p:txBody>
          <a:bodyPr wrap="square" anchor="ctr" lIns="0" rIns="0" tIns="0" bIns="0"/>
          <a:lstStyle/>
          <a:p>
            <a:pPr algn="l"/>
            <a:r>
              <a:rPr sz="1900" b="1" i="0">
                <a:solidFill>
                  <a:srgbClr val="03306E"/>
                </a:solidFill>
                <a:latin typeface="Calibri"/>
              </a:rPr>
              <a:t>Severity and scope</a:t>
            </a:r>
          </a:p>
        </p:txBody>
      </p:sp>
      <p:sp>
        <p:nvSpPr>
          <p:cNvPr id="17" name="TextBox 16"/>
          <p:cNvSpPr txBox="1"/>
          <p:nvPr/>
        </p:nvSpPr>
        <p:spPr>
          <a:xfrm>
            <a:off x="777240" y="4892040"/>
            <a:ext cx="4952847" cy="1143000"/>
          </a:xfrm>
          <a:prstGeom prst="rect">
            <a:avLst/>
          </a:prstGeom>
          <a:noFill/>
        </p:spPr>
        <p:txBody>
          <a:bodyPr wrap="square" anchor="t" lIns="0" rIns="0" tIns="0" bIns="0"/>
          <a:lstStyle/>
          <a:p>
            <a:pPr algn="l"/>
            <a:r>
              <a:rPr sz="2000" b="0" i="0">
                <a:solidFill>
                  <a:srgbClr val="202122"/>
                </a:solidFill>
                <a:latin typeface="Calibri"/>
              </a:rPr>
              <a:t>Vulnerability type, CVE priority and Proof of Concept results.</a:t>
            </a:r>
          </a:p>
        </p:txBody>
      </p:sp>
      <p:sp>
        <p:nvSpPr>
          <p:cNvPr id="18" name="Rounded Rectangle 17"/>
          <p:cNvSpPr/>
          <p:nvPr/>
        </p:nvSpPr>
        <p:spPr>
          <a:xfrm>
            <a:off x="6233007" y="4023360"/>
            <a:ext cx="5410047" cy="214884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6461607" y="4251960"/>
            <a:ext cx="457200" cy="457200"/>
          </a:xfrm>
          <a:prstGeom prst="ellipse">
            <a:avLst/>
          </a:prstGeom>
          <a:solidFill>
            <a:srgbClr val="E046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4</a:t>
            </a:r>
          </a:p>
        </p:txBody>
      </p:sp>
      <p:sp>
        <p:nvSpPr>
          <p:cNvPr id="20" name="TextBox 19"/>
          <p:cNvSpPr txBox="1"/>
          <p:nvPr/>
        </p:nvSpPr>
        <p:spPr>
          <a:xfrm>
            <a:off x="7055967" y="4224528"/>
            <a:ext cx="4404207" cy="512064"/>
          </a:xfrm>
          <a:prstGeom prst="rect">
            <a:avLst/>
          </a:prstGeom>
          <a:noFill/>
        </p:spPr>
        <p:txBody>
          <a:bodyPr wrap="square" anchor="ctr" lIns="0" rIns="0" tIns="0" bIns="0"/>
          <a:lstStyle/>
          <a:p>
            <a:pPr algn="l"/>
            <a:r>
              <a:rPr sz="1900" b="1" i="0">
                <a:solidFill>
                  <a:srgbClr val="03306E"/>
                </a:solidFill>
                <a:latin typeface="Calibri"/>
              </a:rPr>
              <a:t>Resources and time</a:t>
            </a:r>
          </a:p>
        </p:txBody>
      </p:sp>
      <p:sp>
        <p:nvSpPr>
          <p:cNvPr id="21" name="TextBox 20"/>
          <p:cNvSpPr txBox="1"/>
          <p:nvPr/>
        </p:nvSpPr>
        <p:spPr>
          <a:xfrm>
            <a:off x="6461607" y="4892040"/>
            <a:ext cx="4952847" cy="1143000"/>
          </a:xfrm>
          <a:prstGeom prst="rect">
            <a:avLst/>
          </a:prstGeom>
          <a:noFill/>
        </p:spPr>
        <p:txBody>
          <a:bodyPr wrap="square" anchor="t" lIns="0" rIns="0" tIns="0" bIns="0"/>
          <a:lstStyle/>
          <a:p>
            <a:pPr algn="l"/>
            <a:r>
              <a:rPr sz="2000" b="0" i="0">
                <a:solidFill>
                  <a:srgbClr val="202122"/>
                </a:solidFill>
                <a:latin typeface="Calibri"/>
              </a:rPr>
              <a:t>People, money, technology and reporting deadlines.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CYBER SECURITY  ·  Cyber Security Content Area 2</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Check your understanding</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Vulnerability Assessment and Penetration Testing</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17</a:t>
            </a:r>
          </a:p>
        </p:txBody>
      </p:sp>
      <p:sp>
        <p:nvSpPr>
          <p:cNvPr id="6" name="Oval 5"/>
          <p:cNvSpPr/>
          <p:nvPr/>
        </p:nvSpPr>
        <p:spPr>
          <a:xfrm>
            <a:off x="548640" y="1618488"/>
            <a:ext cx="411480" cy="411480"/>
          </a:xfrm>
          <a:prstGeom prst="ellipse">
            <a:avLst/>
          </a:prstGeom>
          <a:solidFill>
            <a:srgbClr val="E046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1</a:t>
            </a:r>
          </a:p>
        </p:txBody>
      </p:sp>
      <p:sp>
        <p:nvSpPr>
          <p:cNvPr id="7" name="TextBox 6"/>
          <p:cNvSpPr txBox="1"/>
          <p:nvPr/>
        </p:nvSpPr>
        <p:spPr>
          <a:xfrm>
            <a:off x="1234440" y="1600200"/>
            <a:ext cx="10408615" cy="791870"/>
          </a:xfrm>
          <a:prstGeom prst="rect">
            <a:avLst/>
          </a:prstGeom>
          <a:noFill/>
        </p:spPr>
        <p:txBody>
          <a:bodyPr wrap="square" anchor="t" lIns="0" rIns="0" tIns="0" bIns="0"/>
          <a:lstStyle/>
          <a:p>
            <a:pPr algn="l"/>
            <a:r>
              <a:rPr sz="2200" b="0" i="0">
                <a:solidFill>
                  <a:srgbClr val="202122"/>
                </a:solidFill>
                <a:latin typeface="Calibri"/>
              </a:rPr>
              <a:t>What does CVSS measure, and on what scale?</a:t>
            </a:r>
          </a:p>
        </p:txBody>
      </p:sp>
      <p:sp>
        <p:nvSpPr>
          <p:cNvPr id="8" name="Oval 7"/>
          <p:cNvSpPr/>
          <p:nvPr/>
        </p:nvSpPr>
        <p:spPr>
          <a:xfrm>
            <a:off x="548640" y="2574950"/>
            <a:ext cx="411480" cy="411480"/>
          </a:xfrm>
          <a:prstGeom prst="ellipse">
            <a:avLst/>
          </a:prstGeom>
          <a:solidFill>
            <a:srgbClr val="E046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2</a:t>
            </a:r>
          </a:p>
        </p:txBody>
      </p:sp>
      <p:sp>
        <p:nvSpPr>
          <p:cNvPr id="9" name="TextBox 8"/>
          <p:cNvSpPr txBox="1"/>
          <p:nvPr/>
        </p:nvSpPr>
        <p:spPr>
          <a:xfrm>
            <a:off x="1234440" y="2556662"/>
            <a:ext cx="10408615" cy="791870"/>
          </a:xfrm>
          <a:prstGeom prst="rect">
            <a:avLst/>
          </a:prstGeom>
          <a:noFill/>
        </p:spPr>
        <p:txBody>
          <a:bodyPr wrap="square" anchor="t" lIns="0" rIns="0" tIns="0" bIns="0"/>
          <a:lstStyle/>
          <a:p>
            <a:pPr algn="l"/>
            <a:r>
              <a:rPr sz="2200" b="0" i="0">
                <a:solidFill>
                  <a:srgbClr val="202122"/>
                </a:solidFill>
                <a:latin typeface="Calibri"/>
              </a:rPr>
              <a:t>Which assessment type would find a rogue access point?</a:t>
            </a:r>
          </a:p>
        </p:txBody>
      </p:sp>
      <p:sp>
        <p:nvSpPr>
          <p:cNvPr id="10" name="Oval 9"/>
          <p:cNvSpPr/>
          <p:nvPr/>
        </p:nvSpPr>
        <p:spPr>
          <a:xfrm>
            <a:off x="548640" y="3531412"/>
            <a:ext cx="411480" cy="411480"/>
          </a:xfrm>
          <a:prstGeom prst="ellipse">
            <a:avLst/>
          </a:prstGeom>
          <a:solidFill>
            <a:srgbClr val="E046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3</a:t>
            </a:r>
          </a:p>
        </p:txBody>
      </p:sp>
      <p:sp>
        <p:nvSpPr>
          <p:cNvPr id="11" name="TextBox 10"/>
          <p:cNvSpPr txBox="1"/>
          <p:nvPr/>
        </p:nvSpPr>
        <p:spPr>
          <a:xfrm>
            <a:off x="1234440" y="3513124"/>
            <a:ext cx="10408615" cy="791870"/>
          </a:xfrm>
          <a:prstGeom prst="rect">
            <a:avLst/>
          </a:prstGeom>
          <a:noFill/>
        </p:spPr>
        <p:txBody>
          <a:bodyPr wrap="square" anchor="t" lIns="0" rIns="0" tIns="0" bIns="0"/>
          <a:lstStyle/>
          <a:p>
            <a:pPr algn="l"/>
            <a:r>
              <a:rPr sz="2200" b="0" i="0">
                <a:solidFill>
                  <a:srgbClr val="202122"/>
                </a:solidFill>
                <a:latin typeface="Calibri"/>
              </a:rPr>
              <a:t>Give one weakness of infrastructure scanners.</a:t>
            </a:r>
          </a:p>
        </p:txBody>
      </p:sp>
      <p:sp>
        <p:nvSpPr>
          <p:cNvPr id="12" name="Oval 11"/>
          <p:cNvSpPr/>
          <p:nvPr/>
        </p:nvSpPr>
        <p:spPr>
          <a:xfrm>
            <a:off x="548640" y="4487875"/>
            <a:ext cx="411480" cy="411480"/>
          </a:xfrm>
          <a:prstGeom prst="ellipse">
            <a:avLst/>
          </a:prstGeom>
          <a:solidFill>
            <a:srgbClr val="E046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4</a:t>
            </a:r>
          </a:p>
        </p:txBody>
      </p:sp>
      <p:sp>
        <p:nvSpPr>
          <p:cNvPr id="13" name="TextBox 12"/>
          <p:cNvSpPr txBox="1"/>
          <p:nvPr/>
        </p:nvSpPr>
        <p:spPr>
          <a:xfrm>
            <a:off x="1234440" y="4469587"/>
            <a:ext cx="10408615" cy="791870"/>
          </a:xfrm>
          <a:prstGeom prst="rect">
            <a:avLst/>
          </a:prstGeom>
          <a:noFill/>
        </p:spPr>
        <p:txBody>
          <a:bodyPr wrap="square" anchor="t" lIns="0" rIns="0" tIns="0" bIns="0"/>
          <a:lstStyle/>
          <a:p>
            <a:pPr algn="l"/>
            <a:r>
              <a:rPr sz="2200" b="0" i="0">
                <a:solidFill>
                  <a:srgbClr val="202122"/>
                </a:solidFill>
                <a:latin typeface="Calibri"/>
              </a:rPr>
              <a:t>What is agreed in the planning and scoping stage of a pen test?</a:t>
            </a:r>
          </a:p>
        </p:txBody>
      </p:sp>
      <p:sp>
        <p:nvSpPr>
          <p:cNvPr id="14" name="Oval 13"/>
          <p:cNvSpPr/>
          <p:nvPr/>
        </p:nvSpPr>
        <p:spPr>
          <a:xfrm>
            <a:off x="548640" y="5444337"/>
            <a:ext cx="411480" cy="411480"/>
          </a:xfrm>
          <a:prstGeom prst="ellipse">
            <a:avLst/>
          </a:prstGeom>
          <a:solidFill>
            <a:srgbClr val="E046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5</a:t>
            </a:r>
          </a:p>
        </p:txBody>
      </p:sp>
      <p:sp>
        <p:nvSpPr>
          <p:cNvPr id="15" name="TextBox 14"/>
          <p:cNvSpPr txBox="1"/>
          <p:nvPr/>
        </p:nvSpPr>
        <p:spPr>
          <a:xfrm>
            <a:off x="1234440" y="5426049"/>
            <a:ext cx="10408615" cy="791870"/>
          </a:xfrm>
          <a:prstGeom prst="rect">
            <a:avLst/>
          </a:prstGeom>
          <a:noFill/>
        </p:spPr>
        <p:txBody>
          <a:bodyPr wrap="square" anchor="t" lIns="0" rIns="0" tIns="0" bIns="0"/>
          <a:lstStyle/>
          <a:p>
            <a:pPr algn="l"/>
            <a:r>
              <a:rPr sz="2200" b="0" i="0">
                <a:solidFill>
                  <a:srgbClr val="202122"/>
                </a:solidFill>
                <a:latin typeface="Calibri"/>
              </a:rPr>
              <a:t>What is a Proof of Concept?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CYBER SECURITY  ·  Cyber Security Content Area 2</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Answers</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Vulnerability Assessment and Penetration Testing</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18</a:t>
            </a:r>
          </a:p>
        </p:txBody>
      </p:sp>
      <p:sp>
        <p:nvSpPr>
          <p:cNvPr id="6" name="Oval 5"/>
          <p:cNvSpPr/>
          <p:nvPr/>
        </p:nvSpPr>
        <p:spPr>
          <a:xfrm>
            <a:off x="548640" y="1618488"/>
            <a:ext cx="411480" cy="411480"/>
          </a:xfrm>
          <a:prstGeom prst="ellipse">
            <a:avLst/>
          </a:prstGeom>
          <a:solidFill>
            <a:srgbClr val="E046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1</a:t>
            </a:r>
          </a:p>
        </p:txBody>
      </p:sp>
      <p:sp>
        <p:nvSpPr>
          <p:cNvPr id="7" name="TextBox 6"/>
          <p:cNvSpPr txBox="1"/>
          <p:nvPr/>
        </p:nvSpPr>
        <p:spPr>
          <a:xfrm>
            <a:off x="1234440" y="1600200"/>
            <a:ext cx="10408615" cy="791870"/>
          </a:xfrm>
          <a:prstGeom prst="rect">
            <a:avLst/>
          </a:prstGeom>
          <a:noFill/>
        </p:spPr>
        <p:txBody>
          <a:bodyPr wrap="square" anchor="t" lIns="0" rIns="0" tIns="0" bIns="0"/>
          <a:lstStyle/>
          <a:p>
            <a:pPr algn="l"/>
            <a:r>
              <a:rPr sz="1800" b="0" i="0">
                <a:solidFill>
                  <a:srgbClr val="54595D"/>
                </a:solidFill>
                <a:latin typeface="Calibri"/>
              </a:rPr>
              <a:t>What does CVSS measure, and on what scale?</a:t>
            </a:r>
          </a:p>
          <a:p>
            <a:r>
              <a:rPr sz="1800" b="1">
                <a:solidFill>
                  <a:srgbClr val="03306E"/>
                </a:solidFill>
                <a:latin typeface="Calibri"/>
              </a:rPr>
              <a:t>The severity of a vulnerability, from 0 to 10.</a:t>
            </a:r>
          </a:p>
        </p:txBody>
      </p:sp>
      <p:sp>
        <p:nvSpPr>
          <p:cNvPr id="8" name="Oval 7"/>
          <p:cNvSpPr/>
          <p:nvPr/>
        </p:nvSpPr>
        <p:spPr>
          <a:xfrm>
            <a:off x="548640" y="2574950"/>
            <a:ext cx="411480" cy="411480"/>
          </a:xfrm>
          <a:prstGeom prst="ellipse">
            <a:avLst/>
          </a:prstGeom>
          <a:solidFill>
            <a:srgbClr val="E046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2</a:t>
            </a:r>
          </a:p>
        </p:txBody>
      </p:sp>
      <p:sp>
        <p:nvSpPr>
          <p:cNvPr id="9" name="TextBox 8"/>
          <p:cNvSpPr txBox="1"/>
          <p:nvPr/>
        </p:nvSpPr>
        <p:spPr>
          <a:xfrm>
            <a:off x="1234440" y="2556662"/>
            <a:ext cx="10408615" cy="791870"/>
          </a:xfrm>
          <a:prstGeom prst="rect">
            <a:avLst/>
          </a:prstGeom>
          <a:noFill/>
        </p:spPr>
        <p:txBody>
          <a:bodyPr wrap="square" anchor="t" lIns="0" rIns="0" tIns="0" bIns="0"/>
          <a:lstStyle/>
          <a:p>
            <a:pPr algn="l"/>
            <a:r>
              <a:rPr sz="1800" b="0" i="0">
                <a:solidFill>
                  <a:srgbClr val="54595D"/>
                </a:solidFill>
                <a:latin typeface="Calibri"/>
              </a:rPr>
              <a:t>Which assessment type would find a rogue access point?</a:t>
            </a:r>
          </a:p>
          <a:p>
            <a:r>
              <a:rPr sz="1800" b="1">
                <a:solidFill>
                  <a:srgbClr val="03306E"/>
                </a:solidFill>
                <a:latin typeface="Calibri"/>
              </a:rPr>
              <a:t>Wireless based.</a:t>
            </a:r>
          </a:p>
        </p:txBody>
      </p:sp>
      <p:sp>
        <p:nvSpPr>
          <p:cNvPr id="10" name="Oval 9"/>
          <p:cNvSpPr/>
          <p:nvPr/>
        </p:nvSpPr>
        <p:spPr>
          <a:xfrm>
            <a:off x="548640" y="3531412"/>
            <a:ext cx="411480" cy="411480"/>
          </a:xfrm>
          <a:prstGeom prst="ellipse">
            <a:avLst/>
          </a:prstGeom>
          <a:solidFill>
            <a:srgbClr val="E046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3</a:t>
            </a:r>
          </a:p>
        </p:txBody>
      </p:sp>
      <p:sp>
        <p:nvSpPr>
          <p:cNvPr id="11" name="TextBox 10"/>
          <p:cNvSpPr txBox="1"/>
          <p:nvPr/>
        </p:nvSpPr>
        <p:spPr>
          <a:xfrm>
            <a:off x="1234440" y="3513124"/>
            <a:ext cx="10408615" cy="791870"/>
          </a:xfrm>
          <a:prstGeom prst="rect">
            <a:avLst/>
          </a:prstGeom>
          <a:noFill/>
        </p:spPr>
        <p:txBody>
          <a:bodyPr wrap="square" anchor="t" lIns="0" rIns="0" tIns="0" bIns="0"/>
          <a:lstStyle/>
          <a:p>
            <a:pPr algn="l"/>
            <a:r>
              <a:rPr sz="1800" b="0" i="0">
                <a:solidFill>
                  <a:srgbClr val="54595D"/>
                </a:solidFill>
                <a:latin typeface="Calibri"/>
              </a:rPr>
              <a:t>Give one weakness of infrastructure scanners.</a:t>
            </a:r>
          </a:p>
          <a:p>
            <a:r>
              <a:rPr sz="1800" b="1">
                <a:solidFill>
                  <a:srgbClr val="03306E"/>
                </a:solidFill>
                <a:latin typeface="Calibri"/>
              </a:rPr>
              <a:t>Only find known issues, may be inaccurate, or can affect live services.</a:t>
            </a:r>
          </a:p>
        </p:txBody>
      </p:sp>
      <p:sp>
        <p:nvSpPr>
          <p:cNvPr id="12" name="Oval 11"/>
          <p:cNvSpPr/>
          <p:nvPr/>
        </p:nvSpPr>
        <p:spPr>
          <a:xfrm>
            <a:off x="548640" y="4487875"/>
            <a:ext cx="411480" cy="411480"/>
          </a:xfrm>
          <a:prstGeom prst="ellipse">
            <a:avLst/>
          </a:prstGeom>
          <a:solidFill>
            <a:srgbClr val="E046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4</a:t>
            </a:r>
          </a:p>
        </p:txBody>
      </p:sp>
      <p:sp>
        <p:nvSpPr>
          <p:cNvPr id="13" name="TextBox 12"/>
          <p:cNvSpPr txBox="1"/>
          <p:nvPr/>
        </p:nvSpPr>
        <p:spPr>
          <a:xfrm>
            <a:off x="1234440" y="4469587"/>
            <a:ext cx="10408615" cy="791870"/>
          </a:xfrm>
          <a:prstGeom prst="rect">
            <a:avLst/>
          </a:prstGeom>
          <a:noFill/>
        </p:spPr>
        <p:txBody>
          <a:bodyPr wrap="square" anchor="t" lIns="0" rIns="0" tIns="0" bIns="0"/>
          <a:lstStyle/>
          <a:p>
            <a:pPr algn="l"/>
            <a:r>
              <a:rPr sz="1800" b="0" i="0">
                <a:solidFill>
                  <a:srgbClr val="54595D"/>
                </a:solidFill>
                <a:latin typeface="Calibri"/>
              </a:rPr>
              <a:t>What is agreed in the planning and scoping stage of a pen test?</a:t>
            </a:r>
          </a:p>
          <a:p>
            <a:r>
              <a:rPr sz="1800" b="1">
                <a:solidFill>
                  <a:srgbClr val="03306E"/>
                </a:solidFill>
                <a:latin typeface="Calibri"/>
              </a:rPr>
              <a:t>Rules of engagement, timing, and legal and contractual boundaries.</a:t>
            </a:r>
          </a:p>
        </p:txBody>
      </p:sp>
      <p:sp>
        <p:nvSpPr>
          <p:cNvPr id="14" name="Oval 13"/>
          <p:cNvSpPr/>
          <p:nvPr/>
        </p:nvSpPr>
        <p:spPr>
          <a:xfrm>
            <a:off x="548640" y="5444337"/>
            <a:ext cx="411480" cy="411480"/>
          </a:xfrm>
          <a:prstGeom prst="ellipse">
            <a:avLst/>
          </a:prstGeom>
          <a:solidFill>
            <a:srgbClr val="E046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5</a:t>
            </a:r>
          </a:p>
        </p:txBody>
      </p:sp>
      <p:sp>
        <p:nvSpPr>
          <p:cNvPr id="15" name="TextBox 14"/>
          <p:cNvSpPr txBox="1"/>
          <p:nvPr/>
        </p:nvSpPr>
        <p:spPr>
          <a:xfrm>
            <a:off x="1234440" y="5426049"/>
            <a:ext cx="10408615" cy="791870"/>
          </a:xfrm>
          <a:prstGeom prst="rect">
            <a:avLst/>
          </a:prstGeom>
          <a:noFill/>
        </p:spPr>
        <p:txBody>
          <a:bodyPr wrap="square" anchor="t" lIns="0" rIns="0" tIns="0" bIns="0"/>
          <a:lstStyle/>
          <a:p>
            <a:pPr algn="l"/>
            <a:r>
              <a:rPr sz="1800" b="0" i="0">
                <a:solidFill>
                  <a:srgbClr val="54595D"/>
                </a:solidFill>
                <a:latin typeface="Calibri"/>
              </a:rPr>
              <a:t>What is a Proof of Concept?</a:t>
            </a:r>
          </a:p>
          <a:p>
            <a:r>
              <a:rPr sz="1800" b="1">
                <a:solidFill>
                  <a:srgbClr val="03306E"/>
                </a:solidFill>
                <a:latin typeface="Calibri"/>
              </a:rPr>
              <a:t>A demonstration confirming that a vulnerability can really be exploited.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CYBER SECURITY  ·  Cyber Security Content Area 2</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Activity: Prioritise the findings</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Vulnerability Assessment and Penetration Testing</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19</a:t>
            </a:r>
          </a:p>
        </p:txBody>
      </p:sp>
      <p:sp>
        <p:nvSpPr>
          <p:cNvPr id="6" name="Rounded Rectangle 5"/>
          <p:cNvSpPr/>
          <p:nvPr/>
        </p:nvSpPr>
        <p:spPr>
          <a:xfrm>
            <a:off x="548640" y="1508760"/>
            <a:ext cx="2011680" cy="457200"/>
          </a:xfrm>
          <a:prstGeom prst="roundRect">
            <a:avLst>
              <a:gd name="adj" fmla="val 50000"/>
            </a:avLst>
          </a:prstGeom>
          <a:solidFill>
            <a:srgbClr val="E046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48640" y="1508760"/>
            <a:ext cx="2011680" cy="457200"/>
          </a:xfrm>
          <a:prstGeom prst="rect">
            <a:avLst/>
          </a:prstGeom>
          <a:noFill/>
        </p:spPr>
        <p:txBody>
          <a:bodyPr wrap="square" anchor="ctr" lIns="0" rIns="0" tIns="0" bIns="0"/>
          <a:lstStyle/>
          <a:p>
            <a:pPr algn="ctr"/>
            <a:r>
              <a:rPr sz="1400" b="1" i="0">
                <a:solidFill>
                  <a:srgbClr val="FFFFFF"/>
                </a:solidFill>
                <a:latin typeface="Calibri"/>
              </a:rPr>
              <a:t>25 minutes</a:t>
            </a:r>
          </a:p>
        </p:txBody>
      </p:sp>
      <p:sp>
        <p:nvSpPr>
          <p:cNvPr id="8" name="TextBox 7"/>
          <p:cNvSpPr txBox="1"/>
          <p:nvPr/>
        </p:nvSpPr>
        <p:spPr>
          <a:xfrm>
            <a:off x="2743200" y="1508760"/>
            <a:ext cx="4754880" cy="457200"/>
          </a:xfrm>
          <a:prstGeom prst="rect">
            <a:avLst/>
          </a:prstGeom>
          <a:noFill/>
        </p:spPr>
        <p:txBody>
          <a:bodyPr wrap="square" anchor="ctr" lIns="0" rIns="0" tIns="0" bIns="0"/>
          <a:lstStyle/>
          <a:p>
            <a:pPr algn="l"/>
            <a:r>
              <a:rPr sz="1400" b="0" i="1">
                <a:solidFill>
                  <a:srgbClr val="54595D"/>
                </a:solidFill>
                <a:latin typeface="Calibri"/>
              </a:rPr>
              <a:t>Pairs</a:t>
            </a:r>
          </a:p>
        </p:txBody>
      </p:sp>
      <p:sp>
        <p:nvSpPr>
          <p:cNvPr id="9" name="Oval 8"/>
          <p:cNvSpPr/>
          <p:nvPr/>
        </p:nvSpPr>
        <p:spPr>
          <a:xfrm>
            <a:off x="548640" y="2482596"/>
            <a:ext cx="384048" cy="384048"/>
          </a:xfrm>
          <a:prstGeom prst="ellipse">
            <a:avLst/>
          </a:prstGeom>
          <a:solidFill>
            <a:srgbClr val="0645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1</a:t>
            </a:r>
          </a:p>
        </p:txBody>
      </p:sp>
      <p:sp>
        <p:nvSpPr>
          <p:cNvPr id="10" name="TextBox 9"/>
          <p:cNvSpPr txBox="1"/>
          <p:nvPr/>
        </p:nvSpPr>
        <p:spPr>
          <a:xfrm>
            <a:off x="1143000" y="2240280"/>
            <a:ext cx="5943600" cy="868680"/>
          </a:xfrm>
          <a:prstGeom prst="rect">
            <a:avLst/>
          </a:prstGeom>
          <a:noFill/>
        </p:spPr>
        <p:txBody>
          <a:bodyPr wrap="square" anchor="ctr" lIns="0" rIns="0" tIns="0" bIns="0"/>
          <a:lstStyle/>
          <a:p>
            <a:pPr algn="l"/>
            <a:r>
              <a:rPr sz="1700" b="0" i="0">
                <a:solidFill>
                  <a:srgbClr val="202122"/>
                </a:solidFill>
                <a:latin typeface="Calibri"/>
              </a:rPr>
              <a:t>Your teacher provides a list of ten scanner findings with CVSS scores and affected systems.</a:t>
            </a:r>
          </a:p>
        </p:txBody>
      </p:sp>
      <p:sp>
        <p:nvSpPr>
          <p:cNvPr id="11" name="Oval 10"/>
          <p:cNvSpPr/>
          <p:nvPr/>
        </p:nvSpPr>
        <p:spPr>
          <a:xfrm>
            <a:off x="548640" y="3461004"/>
            <a:ext cx="384048" cy="384048"/>
          </a:xfrm>
          <a:prstGeom prst="ellipse">
            <a:avLst/>
          </a:prstGeom>
          <a:solidFill>
            <a:srgbClr val="0645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2</a:t>
            </a:r>
          </a:p>
        </p:txBody>
      </p:sp>
      <p:sp>
        <p:nvSpPr>
          <p:cNvPr id="12" name="TextBox 11"/>
          <p:cNvSpPr txBox="1"/>
          <p:nvPr/>
        </p:nvSpPr>
        <p:spPr>
          <a:xfrm>
            <a:off x="1143000" y="3218688"/>
            <a:ext cx="5943600" cy="868680"/>
          </a:xfrm>
          <a:prstGeom prst="rect">
            <a:avLst/>
          </a:prstGeom>
          <a:noFill/>
        </p:spPr>
        <p:txBody>
          <a:bodyPr wrap="square" anchor="ctr" lIns="0" rIns="0" tIns="0" bIns="0"/>
          <a:lstStyle/>
          <a:p>
            <a:pPr algn="l"/>
            <a:r>
              <a:rPr sz="1700" b="0" i="0">
                <a:solidFill>
                  <a:srgbClr val="202122"/>
                </a:solidFill>
                <a:latin typeface="Calibri"/>
              </a:rPr>
              <a:t>Rank them for remediation, considering CVSS and business impact.</a:t>
            </a:r>
          </a:p>
        </p:txBody>
      </p:sp>
      <p:sp>
        <p:nvSpPr>
          <p:cNvPr id="13" name="Oval 12"/>
          <p:cNvSpPr/>
          <p:nvPr/>
        </p:nvSpPr>
        <p:spPr>
          <a:xfrm>
            <a:off x="548640" y="4439412"/>
            <a:ext cx="384048" cy="384048"/>
          </a:xfrm>
          <a:prstGeom prst="ellipse">
            <a:avLst/>
          </a:prstGeom>
          <a:solidFill>
            <a:srgbClr val="0645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3</a:t>
            </a:r>
          </a:p>
        </p:txBody>
      </p:sp>
      <p:sp>
        <p:nvSpPr>
          <p:cNvPr id="14" name="TextBox 13"/>
          <p:cNvSpPr txBox="1"/>
          <p:nvPr/>
        </p:nvSpPr>
        <p:spPr>
          <a:xfrm>
            <a:off x="1143000" y="4197096"/>
            <a:ext cx="5943600" cy="868680"/>
          </a:xfrm>
          <a:prstGeom prst="rect">
            <a:avLst/>
          </a:prstGeom>
          <a:noFill/>
        </p:spPr>
        <p:txBody>
          <a:bodyPr wrap="square" anchor="ctr" lIns="0" rIns="0" tIns="0" bIns="0"/>
          <a:lstStyle/>
          <a:p>
            <a:pPr algn="l"/>
            <a:r>
              <a:rPr sz="1700" b="0" i="0">
                <a:solidFill>
                  <a:srgbClr val="202122"/>
                </a:solidFill>
                <a:latin typeface="Calibri"/>
              </a:rPr>
              <a:t>Choose remediate, mitigate or accept for the top five.</a:t>
            </a:r>
          </a:p>
        </p:txBody>
      </p:sp>
      <p:sp>
        <p:nvSpPr>
          <p:cNvPr id="15" name="Oval 14"/>
          <p:cNvSpPr/>
          <p:nvPr/>
        </p:nvSpPr>
        <p:spPr>
          <a:xfrm>
            <a:off x="548640" y="5417820"/>
            <a:ext cx="384048" cy="384048"/>
          </a:xfrm>
          <a:prstGeom prst="ellipse">
            <a:avLst/>
          </a:prstGeom>
          <a:solidFill>
            <a:srgbClr val="0645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4</a:t>
            </a:r>
          </a:p>
        </p:txBody>
      </p:sp>
      <p:sp>
        <p:nvSpPr>
          <p:cNvPr id="16" name="TextBox 15"/>
          <p:cNvSpPr txBox="1"/>
          <p:nvPr/>
        </p:nvSpPr>
        <p:spPr>
          <a:xfrm>
            <a:off x="1143000" y="5175504"/>
            <a:ext cx="5943600" cy="868680"/>
          </a:xfrm>
          <a:prstGeom prst="rect">
            <a:avLst/>
          </a:prstGeom>
          <a:noFill/>
        </p:spPr>
        <p:txBody>
          <a:bodyPr wrap="square" anchor="ctr" lIns="0" rIns="0" tIns="0" bIns="0"/>
          <a:lstStyle/>
          <a:p>
            <a:pPr algn="l"/>
            <a:r>
              <a:rPr sz="1700" b="0" i="0">
                <a:solidFill>
                  <a:srgbClr val="202122"/>
                </a:solidFill>
                <a:latin typeface="Calibri"/>
              </a:rPr>
              <a:t>Write a short summary for a non-technical manager.</a:t>
            </a:r>
          </a:p>
        </p:txBody>
      </p:sp>
      <p:sp>
        <p:nvSpPr>
          <p:cNvPr id="17" name="Rounded Rectangle 16"/>
          <p:cNvSpPr/>
          <p:nvPr/>
        </p:nvSpPr>
        <p:spPr>
          <a:xfrm>
            <a:off x="7772400" y="1508760"/>
            <a:ext cx="3867912" cy="4572000"/>
          </a:xfrm>
          <a:prstGeom prst="roundRect">
            <a:avLst>
              <a:gd name="adj" fmla="val 8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046720" y="1737360"/>
            <a:ext cx="3291840" cy="365760"/>
          </a:xfrm>
          <a:prstGeom prst="rect">
            <a:avLst/>
          </a:prstGeom>
          <a:noFill/>
        </p:spPr>
        <p:txBody>
          <a:bodyPr wrap="square" anchor="t" lIns="0" rIns="0" tIns="0" bIns="0"/>
          <a:lstStyle/>
          <a:p>
            <a:pPr algn="l"/>
            <a:r>
              <a:rPr sz="1300" b="1" i="0">
                <a:solidFill>
                  <a:srgbClr val="0645AD"/>
                </a:solidFill>
                <a:latin typeface="Calibri"/>
              </a:rPr>
              <a:t>SUCCESS CRITERIA</a:t>
            </a:r>
          </a:p>
        </p:txBody>
      </p:sp>
      <p:sp>
        <p:nvSpPr>
          <p:cNvPr id="19" name="TextBox 18"/>
          <p:cNvSpPr txBox="1"/>
          <p:nvPr/>
        </p:nvSpPr>
        <p:spPr>
          <a:xfrm>
            <a:off x="8046720" y="2240280"/>
            <a:ext cx="3337560" cy="3657600"/>
          </a:xfrm>
          <a:prstGeom prst="rect">
            <a:avLst/>
          </a:prstGeom>
          <a:noFill/>
        </p:spPr>
        <p:txBody>
          <a:bodyPr wrap="square" lIns="0" rIns="0" tIns="0" bIns="0">
            <a:spAutoFit/>
          </a:bodyPr>
          <a:lstStyle/>
          <a:p>
            <a:pPr marL="274320" indent="-274320">
              <a:spcAft>
                <a:spcPts val="810"/>
              </a:spcAft>
              <a:buClr>
                <a:srgbClr val="0645AD"/>
              </a:buClr>
              <a:buFont typeface="Arial"/>
              <a:buChar char="•"/>
            </a:pPr>
            <a:r>
              <a:rPr sz="1800" b="0">
                <a:solidFill>
                  <a:srgbClr val="202122"/>
                </a:solidFill>
                <a:latin typeface="Calibri"/>
              </a:rPr>
              <a:t>Ranking considers more than the CVSS score alone</a:t>
            </a:r>
          </a:p>
          <a:p>
            <a:pPr marL="274320" indent="-274320">
              <a:spcAft>
                <a:spcPts val="810"/>
              </a:spcAft>
              <a:buClr>
                <a:srgbClr val="0645AD"/>
              </a:buClr>
              <a:buFont typeface="Arial"/>
              <a:buChar char="•"/>
            </a:pPr>
            <a:r>
              <a:rPr sz="1800" b="0">
                <a:solidFill>
                  <a:srgbClr val="202122"/>
                </a:solidFill>
                <a:latin typeface="Calibri"/>
              </a:rPr>
              <a:t>Actions suit each finding</a:t>
            </a:r>
          </a:p>
          <a:p>
            <a:pPr marL="274320" indent="-274320">
              <a:spcAft>
                <a:spcPts val="810"/>
              </a:spcAft>
              <a:buClr>
                <a:srgbClr val="0645AD"/>
              </a:buClr>
              <a:buFont typeface="Arial"/>
              <a:buChar char="•"/>
            </a:pPr>
            <a:r>
              <a:rPr sz="1800" b="0">
                <a:solidFill>
                  <a:srgbClr val="202122"/>
                </a:solidFill>
                <a:latin typeface="Calibri"/>
              </a:rPr>
              <a:t>Summary is jargon-free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3306E"/>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A9C8F0"/>
                </a:solidFill>
                <a:latin typeface="Calibri"/>
              </a:rPr>
              <a:t>CYBER SECURITY  ·  Cyber Security Content Area 2</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FFFFFF"/>
                </a:solidFill>
                <a:latin typeface="Cambria"/>
              </a:rPr>
              <a:t>Exit ticket</a:t>
            </a:r>
          </a:p>
        </p:txBody>
      </p:sp>
      <p:sp>
        <p:nvSpPr>
          <p:cNvPr id="4" name="Oval 3"/>
          <p:cNvSpPr/>
          <p:nvPr/>
        </p:nvSpPr>
        <p:spPr>
          <a:xfrm>
            <a:off x="548640" y="1737360"/>
            <a:ext cx="502920" cy="502920"/>
          </a:xfrm>
          <a:prstGeom prst="ellipse">
            <a:avLst/>
          </a:prstGeom>
          <a:solidFill>
            <a:srgbClr val="E046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1</a:t>
            </a:r>
          </a:p>
        </p:txBody>
      </p:sp>
      <p:sp>
        <p:nvSpPr>
          <p:cNvPr id="5" name="TextBox 4"/>
          <p:cNvSpPr txBox="1"/>
          <p:nvPr/>
        </p:nvSpPr>
        <p:spPr>
          <a:xfrm>
            <a:off x="1325880" y="1645920"/>
            <a:ext cx="6583680" cy="822960"/>
          </a:xfrm>
          <a:prstGeom prst="rect">
            <a:avLst/>
          </a:prstGeom>
          <a:noFill/>
        </p:spPr>
        <p:txBody>
          <a:bodyPr wrap="square" anchor="ctr" lIns="0" rIns="0" tIns="0" bIns="0"/>
          <a:lstStyle/>
          <a:p>
            <a:pPr algn="l"/>
            <a:r>
              <a:rPr sz="2000" b="0" i="0">
                <a:solidFill>
                  <a:srgbClr val="FFFFFF"/>
                </a:solidFill>
                <a:latin typeface="Calibri"/>
              </a:rPr>
              <a:t>Why might you fix a CVSS 6 before a CVSS 9?</a:t>
            </a:r>
          </a:p>
        </p:txBody>
      </p:sp>
      <p:sp>
        <p:nvSpPr>
          <p:cNvPr id="6" name="Oval 5"/>
          <p:cNvSpPr/>
          <p:nvPr/>
        </p:nvSpPr>
        <p:spPr>
          <a:xfrm>
            <a:off x="548640" y="2697480"/>
            <a:ext cx="502920" cy="502920"/>
          </a:xfrm>
          <a:prstGeom prst="ellipse">
            <a:avLst/>
          </a:prstGeom>
          <a:solidFill>
            <a:srgbClr val="E046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2</a:t>
            </a:r>
          </a:p>
        </p:txBody>
      </p:sp>
      <p:sp>
        <p:nvSpPr>
          <p:cNvPr id="7" name="TextBox 6"/>
          <p:cNvSpPr txBox="1"/>
          <p:nvPr/>
        </p:nvSpPr>
        <p:spPr>
          <a:xfrm>
            <a:off x="1325880" y="2606040"/>
            <a:ext cx="6583680" cy="822960"/>
          </a:xfrm>
          <a:prstGeom prst="rect">
            <a:avLst/>
          </a:prstGeom>
          <a:noFill/>
        </p:spPr>
        <p:txBody>
          <a:bodyPr wrap="square" anchor="ctr" lIns="0" rIns="0" tIns="0" bIns="0"/>
          <a:lstStyle/>
          <a:p>
            <a:pPr algn="l"/>
            <a:r>
              <a:rPr sz="2000" b="0" i="0">
                <a:solidFill>
                  <a:srgbClr val="FFFFFF"/>
                </a:solidFill>
                <a:latin typeface="Calibri"/>
              </a:rPr>
              <a:t>What is the difference between a vulnerability scan and a pen test?</a:t>
            </a:r>
          </a:p>
        </p:txBody>
      </p:sp>
      <p:sp>
        <p:nvSpPr>
          <p:cNvPr id="8" name="Oval 7"/>
          <p:cNvSpPr/>
          <p:nvPr/>
        </p:nvSpPr>
        <p:spPr>
          <a:xfrm>
            <a:off x="548640" y="3657600"/>
            <a:ext cx="502920" cy="502920"/>
          </a:xfrm>
          <a:prstGeom prst="ellipse">
            <a:avLst/>
          </a:prstGeom>
          <a:solidFill>
            <a:srgbClr val="E046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3</a:t>
            </a:r>
          </a:p>
        </p:txBody>
      </p:sp>
      <p:sp>
        <p:nvSpPr>
          <p:cNvPr id="9" name="TextBox 8"/>
          <p:cNvSpPr txBox="1"/>
          <p:nvPr/>
        </p:nvSpPr>
        <p:spPr>
          <a:xfrm>
            <a:off x="1325880" y="3566160"/>
            <a:ext cx="6583680" cy="822960"/>
          </a:xfrm>
          <a:prstGeom prst="rect">
            <a:avLst/>
          </a:prstGeom>
          <a:noFill/>
        </p:spPr>
        <p:txBody>
          <a:bodyPr wrap="square" anchor="ctr" lIns="0" rIns="0" tIns="0" bIns="0"/>
          <a:lstStyle/>
          <a:p>
            <a:pPr algn="l"/>
            <a:r>
              <a:rPr sz="2000" b="0" i="0">
                <a:solidFill>
                  <a:srgbClr val="FFFFFF"/>
                </a:solidFill>
                <a:latin typeface="Calibri"/>
              </a:rPr>
              <a:t>Name one type of web application vulnerability.</a:t>
            </a:r>
          </a:p>
        </p:txBody>
      </p:sp>
      <p:sp>
        <p:nvSpPr>
          <p:cNvPr id="10" name="Rounded Rectangle 9"/>
          <p:cNvSpPr/>
          <p:nvPr/>
        </p:nvSpPr>
        <p:spPr>
          <a:xfrm>
            <a:off x="8229600" y="1645920"/>
            <a:ext cx="3410712" cy="2926080"/>
          </a:xfrm>
          <a:prstGeom prst="roundRect">
            <a:avLst>
              <a:gd name="adj" fmla="val 8000"/>
            </a:avLst>
          </a:prstGeom>
          <a:solidFill>
            <a:srgbClr val="0645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8503920" y="1874519"/>
            <a:ext cx="2926080" cy="365760"/>
          </a:xfrm>
          <a:prstGeom prst="rect">
            <a:avLst/>
          </a:prstGeom>
          <a:noFill/>
        </p:spPr>
        <p:txBody>
          <a:bodyPr wrap="square" anchor="t" lIns="0" rIns="0" tIns="0" bIns="0"/>
          <a:lstStyle/>
          <a:p>
            <a:pPr algn="l"/>
            <a:r>
              <a:rPr sz="1300" b="1" i="0">
                <a:solidFill>
                  <a:srgbClr val="A9C8F0"/>
                </a:solidFill>
                <a:latin typeface="Calibri"/>
              </a:rPr>
              <a:t>REVISE THIS TOPIC</a:t>
            </a:r>
          </a:p>
        </p:txBody>
      </p:sp>
      <p:sp>
        <p:nvSpPr>
          <p:cNvPr id="12" name="TextBox 11"/>
          <p:cNvSpPr txBox="1"/>
          <p:nvPr/>
        </p:nvSpPr>
        <p:spPr>
          <a:xfrm>
            <a:off x="8503920" y="2286000"/>
            <a:ext cx="2926080" cy="548640"/>
          </a:xfrm>
          <a:prstGeom prst="rect">
            <a:avLst/>
          </a:prstGeom>
          <a:noFill/>
        </p:spPr>
        <p:txBody>
          <a:bodyPr wrap="square" anchor="t" lIns="0" rIns="0" tIns="0" bIns="0"/>
          <a:lstStyle/>
          <a:p>
            <a:pPr algn="l"/>
            <a:r>
              <a:rPr sz="1400" b="0" i="0">
                <a:solidFill>
                  <a:srgbClr val="FFFFFF"/>
                </a:solidFill>
                <a:latin typeface="Calibri"/>
              </a:rPr>
              <a:t>Revision notes for this lesson are on the study wiki:</a:t>
            </a:r>
          </a:p>
        </p:txBody>
      </p:sp>
      <p:sp>
        <p:nvSpPr>
          <p:cNvPr id="13" name="TextBox 12"/>
          <p:cNvSpPr txBox="1"/>
          <p:nvPr/>
        </p:nvSpPr>
        <p:spPr>
          <a:xfrm>
            <a:off x="8503920" y="2926080"/>
            <a:ext cx="2926080" cy="1463040"/>
          </a:xfrm>
          <a:prstGeom prst="rect">
            <a:avLst/>
          </a:prstGeom>
          <a:noFill/>
        </p:spPr>
        <p:txBody>
          <a:bodyPr wrap="square" anchor="t" lIns="0" rIns="0" tIns="0" bIns="0"/>
          <a:lstStyle/>
          <a:p>
            <a:pPr algn="l"/>
            <a:r>
              <a:rPr sz="2000" b="1" i="0">
                <a:solidFill>
                  <a:srgbClr val="FFFFFF"/>
                </a:solidFill>
                <a:latin typeface="Cambria"/>
              </a:rPr>
              <a:t>Cyber Security - Propose Remediation Advice for a Security Risk Assessment</a:t>
            </a:r>
          </a:p>
        </p:txBody>
      </p:sp>
      <p:sp>
        <p:nvSpPr>
          <p:cNvPr id="14" name="TextBox 13"/>
          <p:cNvSpPr txBox="1"/>
          <p:nvPr/>
        </p:nvSpPr>
        <p:spPr>
          <a:xfrm>
            <a:off x="548640" y="5669280"/>
            <a:ext cx="11094415" cy="548640"/>
          </a:xfrm>
          <a:prstGeom prst="rect">
            <a:avLst/>
          </a:prstGeom>
          <a:noFill/>
        </p:spPr>
        <p:txBody>
          <a:bodyPr wrap="square" anchor="t" lIns="0" rIns="0" tIns="0" bIns="0"/>
          <a:lstStyle/>
          <a:p>
            <a:pPr algn="l"/>
            <a:r>
              <a:rPr sz="1200" b="0" i="0">
                <a:solidFill>
                  <a:srgbClr val="A9C8F0"/>
                </a:solidFill>
                <a:latin typeface="Calibri"/>
              </a:rPr>
              <a:t>https://lana6478.github.io/Digital-Suport-and-security-T-levle/#/02-occupational-specialisms/cyber-security/02-remediation-and-risk-assessment.md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Vulnerability Assessment and Penetration Testing</dc:title>
  <dc:subject>Digital Support and Security T Level: Cyber Security Content Area 2</dc:subject>
  <dc:creator>Samuel O'Connell</dc:creator>
  <cp:keywords>T Level; Digital Support and Security; lesson slides; 2.4, 2.5, 2.6, 2.8, 2.9, 2.17</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