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Recommendations must be documented logically and pitched in the right technical language for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Include a high CVSS finding on an isolated test box and a medium one on the payment server to show why context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CYBER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Vulnerability Assessment and Penetration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Cyber Security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2.4, 2.5, 2.6, 2.8, 2.9, 2.17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Vulnerability Assessment and Penetration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stages of a vulnerability assessment and how to scope it.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 CVEs and CVSS scores to research vulnerabilities.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the strengths and weaknesses of vulnerability assessment tools.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stages of a penetration test and make evidence-based recommendations.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scanner reports 400 vulnerabilities on your network. You have one day. Where do you start?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Vulnerability assessment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Vulnerability Assessment and Penetration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42773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12598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032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80460"/>
            <a:ext cx="2109155" cy="1143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817620"/>
            <a:ext cx="1834835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Scan and analyse logs for anomalies.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12598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29032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Analyse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3680460"/>
            <a:ext cx="2109155" cy="1143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3817620"/>
            <a:ext cx="1834835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Is it exploitable? How severe?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12598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29032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Identify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3680460"/>
            <a:ext cx="2109155" cy="1143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3817620"/>
            <a:ext cx="1834835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Prioritise by associated risk.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12598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29032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Remediate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3680460"/>
            <a:ext cx="2109155" cy="1143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3817620"/>
            <a:ext cx="1834835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Update or remove the affected hardware or software.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12598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29032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Mitigate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3680460"/>
            <a:ext cx="2109155" cy="1143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3817620"/>
            <a:ext cx="1834835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Apply countermeasures; escalate what remains.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0977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Scoping defines the in-scope systems, access needed and vulnerabilities tested. Evaluation classifies each finding's risk and business impact.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CVEs and CVSS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Vulnerability Assessment and Penetration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Common Vulnerabilities and Exposures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 public list of known vulnerabilities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Published by vendors and testers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Each has a unique ID, e.g. CVE-2024-12345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Working with a CVE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Research it and score it with CVSS (0 to 10)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Score reflects impact, exploitability and severity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Identify affected systems and possible mitigations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Implement the mitigation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Types of 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Vulnerability Assessment and Penetration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106"/>
                <a:gridCol w="8256308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Looks for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Host based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Vulnerabilities, configuration and patch status of workstations and servers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Network based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Possible network attacks and vulnerable systems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Wireless based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Rogue access points and insecure wireless configuration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Application based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Known software flaws and misconfigurations, e.g. SQL injection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Scanning tools: strengths and weaknesses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Vulnerability Assessment and Penetration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5425"/>
                <a:gridCol w="4437766"/>
                <a:gridCol w="4191223"/>
              </a:tblGrid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Finds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Limitations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Infrastructure scanners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Missing patches, weak passwords, exposed services, missing hardening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Only known issues; may be inaccurate; can affect live services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Web app scanners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SQL injection, broken authentication, data exposure, weak encryption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False positives and negatives; uses resources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Software scanners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Missing updates and patches, vendor checks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Need regular updates; business impact hard to judge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Penetration testing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Vulnerability Assessment and Penetration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6024" y="2595372"/>
            <a:ext cx="935964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95984" y="229362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70859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500" b="1" i="0">
                <a:solidFill>
                  <a:srgbClr val="03306E"/>
                </a:solidFill>
                <a:latin typeface="Calibri"/>
              </a:rPr>
              <a:t>Plan and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8099"/>
            <a:ext cx="1734769" cy="163068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985260"/>
            <a:ext cx="1460449" cy="135635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Rules of engagement, timing, legal and contractual limits.</a:t>
            </a:r>
          </a:p>
        </p:txBody>
      </p:sp>
      <p:sp>
        <p:nvSpPr>
          <p:cNvPr id="11" name="Oval 10"/>
          <p:cNvSpPr/>
          <p:nvPr/>
        </p:nvSpPr>
        <p:spPr>
          <a:xfrm>
            <a:off x="2967913" y="229362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0569" y="3070859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500" b="1" i="0">
                <a:solidFill>
                  <a:srgbClr val="03306E"/>
                </a:solidFill>
                <a:latin typeface="Calibri"/>
              </a:rPr>
              <a:t>Reconnaissance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0569" y="3848099"/>
            <a:ext cx="1734769" cy="163068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57729" y="3985260"/>
            <a:ext cx="1460449" cy="135635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Topology, OS and applications.</a:t>
            </a:r>
          </a:p>
        </p:txBody>
      </p:sp>
      <p:sp>
        <p:nvSpPr>
          <p:cNvPr id="15" name="Oval 14"/>
          <p:cNvSpPr/>
          <p:nvPr/>
        </p:nvSpPr>
        <p:spPr>
          <a:xfrm>
            <a:off x="4839843" y="229362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2498" y="3070859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500" b="1" i="0">
                <a:solidFill>
                  <a:srgbClr val="03306E"/>
                </a:solidFill>
                <a:latin typeface="Calibri"/>
              </a:rPr>
              <a:t>Scanning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498" y="3848099"/>
            <a:ext cx="1734769" cy="163068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29658" y="3985260"/>
            <a:ext cx="1460449" cy="135635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Open ports and services.</a:t>
            </a:r>
          </a:p>
        </p:txBody>
      </p:sp>
      <p:sp>
        <p:nvSpPr>
          <p:cNvPr id="19" name="Oval 18"/>
          <p:cNvSpPr/>
          <p:nvPr/>
        </p:nvSpPr>
        <p:spPr>
          <a:xfrm>
            <a:off x="6711772" y="229362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427" y="3070859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500" b="1" i="0">
                <a:solidFill>
                  <a:srgbClr val="03306E"/>
                </a:solidFill>
                <a:latin typeface="Calibri"/>
              </a:rPr>
              <a:t>Vulnerability assessment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7" y="3848099"/>
            <a:ext cx="1734769" cy="163068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1587" y="3985260"/>
            <a:ext cx="1460449" cy="135635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Test for exploitable flaws.</a:t>
            </a:r>
          </a:p>
        </p:txBody>
      </p:sp>
      <p:sp>
        <p:nvSpPr>
          <p:cNvPr id="23" name="Oval 22"/>
          <p:cNvSpPr/>
          <p:nvPr/>
        </p:nvSpPr>
        <p:spPr>
          <a:xfrm>
            <a:off x="8583701" y="229362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6356" y="3070859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500" b="1" i="0">
                <a:solidFill>
                  <a:srgbClr val="03306E"/>
                </a:solidFill>
                <a:latin typeface="Calibri"/>
              </a:rPr>
              <a:t>Exploitation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6356" y="3848099"/>
            <a:ext cx="1734769" cy="163068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73516" y="3985260"/>
            <a:ext cx="1460449" cy="135635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Attempt access within agreed limits.</a:t>
            </a:r>
          </a:p>
        </p:txBody>
      </p:sp>
      <p:sp>
        <p:nvSpPr>
          <p:cNvPr id="27" name="Oval 26"/>
          <p:cNvSpPr/>
          <p:nvPr/>
        </p:nvSpPr>
        <p:spPr>
          <a:xfrm>
            <a:off x="10455630" y="229362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8286" y="3070859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500" b="1" i="0">
                <a:solidFill>
                  <a:srgbClr val="03306E"/>
                </a:solidFill>
                <a:latin typeface="Calibri"/>
              </a:rPr>
              <a:t>Reporting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8286" y="3848099"/>
            <a:ext cx="1734769" cy="163068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45446" y="3985260"/>
            <a:ext cx="1460449" cy="135635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Findings and remediation advice.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Making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Vulnerability Assessment and Penetration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Business, operational and infrastructure impact.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The cost of acting against the cost of not acting.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Severity and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Vulnerability type, CVE priority and Proof of Concept results.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Resources and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People, money, technology and reporting deadlines.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Vulnerability Assessment and Penetration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CVSS measure, and on what scale?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assessment type would find a rogue access point?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one weakness of infrastructure scanners.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agreed in the planning and scoping stage of a pen test?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Proof of Concept?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Vulnerability Assessment and Penetration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CVSS measure, and on what scale?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severity of a vulnerability, from 0 to 10.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assessment type would find a rogue access point?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Wireless based.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one weakness of infrastructure scanners.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Only find known issues, may be inaccurate, or can affect live services.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agreed in the planning and scoping stage of a pen test?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Rules of engagement, timing, and legal and contractual boundaries.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Proof of Concept?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demonstration confirming that a vulnerability can really be exploited.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Prioritise the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Vulnerability Assessment and Penetration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Your teacher provides a list of ten scanner findings with CVSS scores and affected systems.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Rank them for remediation, considering CVSS and business impact.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remediate, mitigate or accept for the top five.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 short summary for a non-technical manager.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Ranking considers more than the CVSS score alone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Actions suit each finding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Summary is jargon-free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might you fix a CVSS 6 before a CVSS 9?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difference between a vulnerability scan and a pen test?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type of web application vulnerability.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Cyber Security - Propose Remediation Advice for a Security Risk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https://lana6478.github.io/Digital-Suport-and-security-T-levle/#/02-occupational-specialisms/cyber-security/02-remediation-and-risk-assessment.md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Vulnerability Assessment and Penetration Testing</dc:title>
  <dc:subject>Digital Support and Security T Level: Cyber Security Content Area 2</dc:subject>
  <dc:creator>Samuel O'Connell</dc:creator>
  <cp:keywords>T Level; Digital Support and Security; lesson slides; 2.4, 2.5, 2.6, 2.8, 2.9, 2.17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