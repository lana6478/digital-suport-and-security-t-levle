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A service delivered to customers.</a:t>
            </a:r>
          </a:p>
          <a:p>
            <a:r>
              <a:t>2. Strategy, design, transition, operation, continual improvement.</a:t>
            </a:r>
          </a:p>
          <a:p>
            <a:r>
              <a:t>3. Service transition.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stage should be applied safely and documented.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Sandbox testing and sign-off.</a:t>
            </a:r>
          </a:p>
          <a:p>
            <a:r>
              <a:t>2. To limit the damage if something goes wrong.</a:t>
            </a:r>
          </a:p>
          <a:p>
            <a:r>
              <a:t>3. Decommission and migrate.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Defining servers and networks in scripts so they can be rebuilt automatically.</a:t>
            </a:r>
          </a:p>
          <a:p>
            <a:r>
              <a:t>2. Merging and testing small changes frequently.</a:t>
            </a:r>
          </a:p>
          <a:p>
            <a:r>
              <a:t>3. Any two: faster delivery, productivity, collaboration, scalability, fewer errors.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33C17A"/>
                </a:solidFill>
                <a:latin typeface="Calibri"/>
              </a:rPr>
              <a:t>DIGITAL INFRASTRUCTURE</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Service Management and the Solution Lifecycle</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Digital Infrastructure Content Area 2</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2.16, 2.17, 2.20 to 2.22, 2.24</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Digital Support and Security T Level  ·  Lesson slides</a:t>
            </a:r>
          </a:p>
          <a:p>
            <a:pPr algn="l"/>
            <a:r>
              <a:rPr sz="1100" b="0" i="0">
                <a:solidFill>
                  <a:srgbClr val="A9C8F0"/>
                </a:solidFill>
                <a:latin typeface="Calibri"/>
              </a:rPr>
              <a:t>Unofficial teaching resource. Check the official Pearson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Service Management and the Solution Lifecycle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34565"/>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02969"/>
          </a:xfrm>
          <a:prstGeom prst="rect">
            <a:avLst/>
          </a:prstGeom>
          <a:noFill/>
        </p:spPr>
        <p:txBody>
          <a:bodyPr wrap="square" anchor="ctr" lIns="0" rIns="0" tIns="0" bIns="0"/>
          <a:lstStyle/>
          <a:p>
            <a:pPr algn="l"/>
            <a:r>
              <a:rPr sz="2000" b="0" i="0">
                <a:solidFill>
                  <a:srgbClr val="202122"/>
                </a:solidFill>
                <a:latin typeface="Calibri"/>
              </a:rPr>
              <a:t>Describe ITSM principles and the ITIL service lifecycle.</a:t>
            </a:r>
          </a:p>
        </p:txBody>
      </p:sp>
      <p:sp>
        <p:nvSpPr>
          <p:cNvPr id="9" name="Oval 8"/>
          <p:cNvSpPr/>
          <p:nvPr/>
        </p:nvSpPr>
        <p:spPr>
          <a:xfrm>
            <a:off x="548640" y="3274695"/>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51810"/>
            <a:ext cx="6035040" cy="902969"/>
          </a:xfrm>
          <a:prstGeom prst="rect">
            <a:avLst/>
          </a:prstGeom>
          <a:noFill/>
        </p:spPr>
        <p:txBody>
          <a:bodyPr wrap="square" anchor="ctr" lIns="0" rIns="0" tIns="0" bIns="0"/>
          <a:lstStyle/>
          <a:p>
            <a:pPr algn="l"/>
            <a:r>
              <a:rPr sz="2000" b="0" i="0">
                <a:solidFill>
                  <a:srgbClr val="202122"/>
                </a:solidFill>
                <a:latin typeface="Calibri"/>
              </a:rPr>
              <a:t>Describe the stages of the solution lifecycle.</a:t>
            </a:r>
          </a:p>
        </p:txBody>
      </p:sp>
      <p:sp>
        <p:nvSpPr>
          <p:cNvPr id="11" name="Oval 10"/>
          <p:cNvSpPr/>
          <p:nvPr/>
        </p:nvSpPr>
        <p:spPr>
          <a:xfrm>
            <a:off x="548640" y="4314825"/>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091939"/>
            <a:ext cx="6035040" cy="902969"/>
          </a:xfrm>
          <a:prstGeom prst="rect">
            <a:avLst/>
          </a:prstGeom>
          <a:noFill/>
        </p:spPr>
        <p:txBody>
          <a:bodyPr wrap="square" anchor="ctr" lIns="0" rIns="0" tIns="0" bIns="0"/>
          <a:lstStyle/>
          <a:p>
            <a:pPr algn="l"/>
            <a:r>
              <a:rPr sz="2000" b="0" i="0">
                <a:solidFill>
                  <a:srgbClr val="202122"/>
                </a:solidFill>
                <a:latin typeface="Calibri"/>
              </a:rPr>
              <a:t>Explain DevOps principles and solution architecture.</a:t>
            </a:r>
          </a:p>
        </p:txBody>
      </p:sp>
      <p:sp>
        <p:nvSpPr>
          <p:cNvPr id="13" name="Oval 12"/>
          <p:cNvSpPr/>
          <p:nvPr/>
        </p:nvSpPr>
        <p:spPr>
          <a:xfrm>
            <a:off x="548640" y="5354954"/>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4</a:t>
            </a:r>
          </a:p>
        </p:txBody>
      </p:sp>
      <p:sp>
        <p:nvSpPr>
          <p:cNvPr id="14" name="TextBox 13"/>
          <p:cNvSpPr txBox="1"/>
          <p:nvPr/>
        </p:nvSpPr>
        <p:spPr>
          <a:xfrm>
            <a:off x="1234440" y="5132069"/>
            <a:ext cx="6035040" cy="902969"/>
          </a:xfrm>
          <a:prstGeom prst="rect">
            <a:avLst/>
          </a:prstGeom>
          <a:noFill/>
        </p:spPr>
        <p:txBody>
          <a:bodyPr wrap="square" anchor="ctr" lIns="0" rIns="0" tIns="0" bIns="0"/>
          <a:lstStyle/>
          <a:p>
            <a:pPr algn="l"/>
            <a:r>
              <a:rPr sz="2000" b="0" i="0">
                <a:solidFill>
                  <a:srgbClr val="202122"/>
                </a:solidFill>
                <a:latin typeface="Calibri"/>
              </a:rPr>
              <a:t>Apply continuous improvement to hardware and networks.</a:t>
            </a:r>
          </a:p>
        </p:txBody>
      </p:sp>
      <p:sp>
        <p:nvSpPr>
          <p:cNvPr id="15" name="Rounded Rectangle 14"/>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7" name="TextBox 16"/>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Your phone gets a software update every few weeks. Why not wait and release one big update a year?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ITSM and ITIL</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Service Management and the Solution Lifecycle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IT service management (ITSM) treats IT as a service delivered to customers, not just technology.</a:t>
            </a:r>
          </a:p>
          <a:p>
            <a:pPr>
              <a:spcAft>
                <a:spcPts val="1260"/>
              </a:spcAft>
            </a:pPr>
            <a:r>
              <a:rPr sz="2100" b="1">
                <a:solidFill>
                  <a:srgbClr val="202122"/>
                </a:solidFill>
                <a:latin typeface="Calibri"/>
              </a:rPr>
              <a:t>Its principles:</a:t>
            </a:r>
            <a:r>
              <a:rPr sz="2100" b="0">
                <a:solidFill>
                  <a:srgbClr val="202122"/>
                </a:solidFill>
                <a:latin typeface="Calibri"/>
              </a:rPr>
              <a:t> create value together with users, give a good customer experience, think about how a change affects the whole organisation, and work across departments.</a:t>
            </a:r>
          </a:p>
          <a:p>
            <a:pPr>
              <a:spcAft>
                <a:spcPts val="1260"/>
              </a:spcAft>
            </a:pPr>
            <a:r>
              <a:rPr sz="2100" b="0">
                <a:solidFill>
                  <a:srgbClr val="202122"/>
                </a:solidFill>
                <a:latin typeface="Calibri"/>
              </a:rPr>
              <a:t>ITIL is the most widely used framework for ITSM. Its lifecycle runs from service strategy (aligning services with business goals) through service design, service transition (building and deploying with managed change) and service operation (running it day to day), to continual service improvement.</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Rather than just 'install a VPN', ITSM asks what remote staff actually need, designs the service, rolls it out with support, and measures satisfaction afterwards.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ITSM and ITIL</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Service Management and the Solution Lifecycle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ITSM principles</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Co-create value through service relationships</a:t>
            </a:r>
          </a:p>
          <a:p>
            <a:pPr marL="274320" indent="-274320">
              <a:spcAft>
                <a:spcPts val="990"/>
              </a:spcAft>
              <a:buClr>
                <a:srgbClr val="0645AD"/>
              </a:buClr>
              <a:buFont typeface="Arial"/>
              <a:buChar char="•"/>
            </a:pPr>
            <a:r>
              <a:rPr sz="2200" b="0">
                <a:solidFill>
                  <a:srgbClr val="202122"/>
                </a:solidFill>
                <a:latin typeface="Calibri"/>
              </a:rPr>
              <a:t>Deliver a good customer experience</a:t>
            </a:r>
          </a:p>
          <a:p>
            <a:pPr marL="274320" indent="-274320">
              <a:spcAft>
                <a:spcPts val="990"/>
              </a:spcAft>
              <a:buClr>
                <a:srgbClr val="0645AD"/>
              </a:buClr>
              <a:buFont typeface="Arial"/>
              <a:buChar char="•"/>
            </a:pPr>
            <a:r>
              <a:rPr sz="2200" b="0">
                <a:solidFill>
                  <a:srgbClr val="202122"/>
                </a:solidFill>
                <a:latin typeface="Calibri"/>
              </a:rPr>
              <a:t>Consider the wider impact of change</a:t>
            </a:r>
          </a:p>
          <a:p>
            <a:pPr marL="274320" indent="-274320">
              <a:spcAft>
                <a:spcPts val="990"/>
              </a:spcAft>
              <a:buClr>
                <a:srgbClr val="0645AD"/>
              </a:buClr>
              <a:buFont typeface="Arial"/>
              <a:buChar char="•"/>
            </a:pPr>
            <a:r>
              <a:rPr sz="2200" b="0">
                <a:solidFill>
                  <a:srgbClr val="202122"/>
                </a:solidFill>
                <a:latin typeface="Calibri"/>
              </a:rPr>
              <a:t>Work across departments</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ITIL lifecycle</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Service strategy</a:t>
            </a:r>
          </a:p>
          <a:p>
            <a:pPr marL="274320" indent="-274320">
              <a:spcAft>
                <a:spcPts val="990"/>
              </a:spcAft>
              <a:buClr>
                <a:srgbClr val="0645AD"/>
              </a:buClr>
              <a:buFont typeface="Arial"/>
              <a:buChar char="•"/>
            </a:pPr>
            <a:r>
              <a:rPr sz="2200" b="0">
                <a:solidFill>
                  <a:srgbClr val="202122"/>
                </a:solidFill>
                <a:latin typeface="Calibri"/>
              </a:rPr>
              <a:t>Service design</a:t>
            </a:r>
          </a:p>
          <a:p>
            <a:pPr marL="274320" indent="-274320">
              <a:spcAft>
                <a:spcPts val="990"/>
              </a:spcAft>
              <a:buClr>
                <a:srgbClr val="0645AD"/>
              </a:buClr>
              <a:buFont typeface="Arial"/>
              <a:buChar char="•"/>
            </a:pPr>
            <a:r>
              <a:rPr sz="2200" b="0">
                <a:solidFill>
                  <a:srgbClr val="202122"/>
                </a:solidFill>
                <a:latin typeface="Calibri"/>
              </a:rPr>
              <a:t>Service transition</a:t>
            </a:r>
          </a:p>
          <a:p>
            <a:pPr marL="274320" indent="-274320">
              <a:spcAft>
                <a:spcPts val="990"/>
              </a:spcAft>
              <a:buClr>
                <a:srgbClr val="0645AD"/>
              </a:buClr>
              <a:buFont typeface="Arial"/>
              <a:buChar char="•"/>
            </a:pPr>
            <a:r>
              <a:rPr sz="2200" b="0">
                <a:solidFill>
                  <a:srgbClr val="202122"/>
                </a:solidFill>
                <a:latin typeface="Calibri"/>
              </a:rPr>
              <a:t>Service operation</a:t>
            </a:r>
          </a:p>
          <a:p>
            <a:pPr marL="274320" indent="-274320">
              <a:spcAft>
                <a:spcPts val="990"/>
              </a:spcAft>
              <a:buClr>
                <a:srgbClr val="0645AD"/>
              </a:buClr>
              <a:buFont typeface="Arial"/>
              <a:buChar char="•"/>
            </a:pPr>
            <a:r>
              <a:rPr sz="2200" b="0">
                <a:solidFill>
                  <a:srgbClr val="202122"/>
                </a:solidFill>
                <a:latin typeface="Calibri"/>
              </a:rPr>
              <a:t>Continual service improvement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ITSM and ITIL</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Service Management and the Solution Lifecycle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does ITSM treat IT as?</a:t>
            </a:r>
          </a:p>
        </p:txBody>
      </p:sp>
      <p:sp>
        <p:nvSpPr>
          <p:cNvPr id="8" name="Oval 7"/>
          <p:cNvSpPr/>
          <p:nvPr/>
        </p:nvSpPr>
        <p:spPr>
          <a:xfrm>
            <a:off x="548640" y="310896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Name the ITIL lifecycle stages.</a:t>
            </a:r>
          </a:p>
        </p:txBody>
      </p:sp>
      <p:sp>
        <p:nvSpPr>
          <p:cNvPr id="10" name="Oval 9"/>
          <p:cNvSpPr/>
          <p:nvPr/>
        </p:nvSpPr>
        <p:spPr>
          <a:xfrm>
            <a:off x="548640" y="452628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Which ITIL stage involves managed change?</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The solution lifecycle (SLC)</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Service Management and the Solution Lifecycle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The solution lifecycle takes an infrastructure solution from idea to retirement.</a:t>
            </a:r>
          </a:p>
          <a:p>
            <a:pPr>
              <a:spcAft>
                <a:spcPts val="1260"/>
              </a:spcAft>
            </a:pPr>
            <a:r>
              <a:rPr sz="2100" b="0">
                <a:solidFill>
                  <a:srgbClr val="202122"/>
                </a:solidFill>
                <a:latin typeface="Calibri"/>
              </a:rPr>
              <a:t>Discover the requirements and check feasibility. Plan, design and develop the solution, prototyping and integrating it with existing systems. Test and quality-assure its function and performance. Try it in pre-production, such as a sandbox, and get sign-off. Deploy it, using a staged rollout for high-impact changes. Monitor and evaluate it. Eventually decommission it and migrate to its replacement.</a:t>
            </a:r>
          </a:p>
          <a:p>
            <a:pPr>
              <a:spcAft>
                <a:spcPts val="1260"/>
              </a:spcAft>
            </a:pPr>
            <a:r>
              <a:rPr sz="2100" b="0">
                <a:solidFill>
                  <a:srgbClr val="202122"/>
                </a:solidFill>
                <a:latin typeface="Calibri"/>
              </a:rPr>
              <a:t>Every stage should be carried out safely and documented.</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new Wi-Fi system is tested in one building (pre-production), rolled out floor by floor (staged deployment), then the old access points are decommissioned.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The solution lifecycle (SLC)</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Service Management and the Solution Lifecycle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Rectangle 5"/>
          <p:cNvSpPr/>
          <p:nvPr/>
        </p:nvSpPr>
        <p:spPr>
          <a:xfrm>
            <a:off x="1282315" y="2808732"/>
            <a:ext cx="9627064" cy="36576"/>
          </a:xfrm>
          <a:prstGeom prst="rect">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962275" y="2506980"/>
            <a:ext cx="640080" cy="6400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1</a:t>
            </a:r>
          </a:p>
        </p:txBody>
      </p:sp>
      <p:sp>
        <p:nvSpPr>
          <p:cNvPr id="8" name="TextBox 7"/>
          <p:cNvSpPr txBox="1"/>
          <p:nvPr/>
        </p:nvSpPr>
        <p:spPr>
          <a:xfrm>
            <a:off x="548640" y="3284219"/>
            <a:ext cx="1467350" cy="731520"/>
          </a:xfrm>
          <a:prstGeom prst="rect">
            <a:avLst/>
          </a:prstGeom>
          <a:noFill/>
        </p:spPr>
        <p:txBody>
          <a:bodyPr wrap="square" anchor="t" lIns="0" rIns="0" tIns="0" bIns="0"/>
          <a:lstStyle/>
          <a:p>
            <a:pPr algn="ctr"/>
            <a:r>
              <a:rPr sz="1700" b="1" i="0">
                <a:solidFill>
                  <a:srgbClr val="03306E"/>
                </a:solidFill>
                <a:latin typeface="Calibri"/>
              </a:rPr>
              <a:t>Discover</a:t>
            </a:r>
          </a:p>
        </p:txBody>
      </p:sp>
      <p:sp>
        <p:nvSpPr>
          <p:cNvPr id="9" name="Rounded Rectangle 8"/>
          <p:cNvSpPr/>
          <p:nvPr/>
        </p:nvSpPr>
        <p:spPr>
          <a:xfrm>
            <a:off x="548640" y="4061460"/>
            <a:ext cx="1467350" cy="120396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4198620"/>
            <a:ext cx="1193030" cy="929640"/>
          </a:xfrm>
          <a:prstGeom prst="rect">
            <a:avLst/>
          </a:prstGeom>
          <a:noFill/>
        </p:spPr>
        <p:txBody>
          <a:bodyPr wrap="square" anchor="t" lIns="0" rIns="0" tIns="0" bIns="0"/>
          <a:lstStyle/>
          <a:p>
            <a:pPr algn="l"/>
            <a:r>
              <a:rPr sz="1300" b="0" i="0">
                <a:solidFill>
                  <a:srgbClr val="202122"/>
                </a:solidFill>
                <a:latin typeface="Calibri"/>
              </a:rPr>
              <a:t>Requirements, feasibility, concept.</a:t>
            </a:r>
          </a:p>
        </p:txBody>
      </p:sp>
      <p:sp>
        <p:nvSpPr>
          <p:cNvPr id="11" name="Oval 10"/>
          <p:cNvSpPr/>
          <p:nvPr/>
        </p:nvSpPr>
        <p:spPr>
          <a:xfrm>
            <a:off x="2566786" y="2506980"/>
            <a:ext cx="640080" cy="6400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2</a:t>
            </a:r>
          </a:p>
        </p:txBody>
      </p:sp>
      <p:sp>
        <p:nvSpPr>
          <p:cNvPr id="12" name="TextBox 11"/>
          <p:cNvSpPr txBox="1"/>
          <p:nvPr/>
        </p:nvSpPr>
        <p:spPr>
          <a:xfrm>
            <a:off x="2153150" y="3284219"/>
            <a:ext cx="1467350" cy="731520"/>
          </a:xfrm>
          <a:prstGeom prst="rect">
            <a:avLst/>
          </a:prstGeom>
          <a:noFill/>
        </p:spPr>
        <p:txBody>
          <a:bodyPr wrap="square" anchor="t" lIns="0" rIns="0" tIns="0" bIns="0"/>
          <a:lstStyle/>
          <a:p>
            <a:pPr algn="ctr"/>
            <a:r>
              <a:rPr sz="1700" b="1" i="0">
                <a:solidFill>
                  <a:srgbClr val="03306E"/>
                </a:solidFill>
                <a:latin typeface="Calibri"/>
              </a:rPr>
              <a:t>Design and develop</a:t>
            </a:r>
          </a:p>
        </p:txBody>
      </p:sp>
      <p:sp>
        <p:nvSpPr>
          <p:cNvPr id="13" name="Rounded Rectangle 12"/>
          <p:cNvSpPr/>
          <p:nvPr/>
        </p:nvSpPr>
        <p:spPr>
          <a:xfrm>
            <a:off x="2153150" y="4061460"/>
            <a:ext cx="1467350" cy="120396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290310" y="4198620"/>
            <a:ext cx="1193030" cy="929640"/>
          </a:xfrm>
          <a:prstGeom prst="rect">
            <a:avLst/>
          </a:prstGeom>
          <a:noFill/>
        </p:spPr>
        <p:txBody>
          <a:bodyPr wrap="square" anchor="t" lIns="0" rIns="0" tIns="0" bIns="0"/>
          <a:lstStyle/>
          <a:p>
            <a:pPr algn="l"/>
            <a:r>
              <a:rPr sz="1300" b="0" i="0">
                <a:solidFill>
                  <a:srgbClr val="202122"/>
                </a:solidFill>
                <a:latin typeface="Calibri"/>
              </a:rPr>
              <a:t>Detailed design, prototype, build, integrate.</a:t>
            </a:r>
          </a:p>
        </p:txBody>
      </p:sp>
      <p:sp>
        <p:nvSpPr>
          <p:cNvPr id="15" name="Oval 14"/>
          <p:cNvSpPr/>
          <p:nvPr/>
        </p:nvSpPr>
        <p:spPr>
          <a:xfrm>
            <a:off x="4171296" y="2506980"/>
            <a:ext cx="640080" cy="6400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3</a:t>
            </a:r>
          </a:p>
        </p:txBody>
      </p:sp>
      <p:sp>
        <p:nvSpPr>
          <p:cNvPr id="16" name="TextBox 15"/>
          <p:cNvSpPr txBox="1"/>
          <p:nvPr/>
        </p:nvSpPr>
        <p:spPr>
          <a:xfrm>
            <a:off x="3757661" y="3284219"/>
            <a:ext cx="1467350" cy="731520"/>
          </a:xfrm>
          <a:prstGeom prst="rect">
            <a:avLst/>
          </a:prstGeom>
          <a:noFill/>
        </p:spPr>
        <p:txBody>
          <a:bodyPr wrap="square" anchor="t" lIns="0" rIns="0" tIns="0" bIns="0"/>
          <a:lstStyle/>
          <a:p>
            <a:pPr algn="ctr"/>
            <a:r>
              <a:rPr sz="1700" b="1" i="0">
                <a:solidFill>
                  <a:srgbClr val="03306E"/>
                </a:solidFill>
                <a:latin typeface="Calibri"/>
              </a:rPr>
              <a:t>Test and QA</a:t>
            </a:r>
          </a:p>
        </p:txBody>
      </p:sp>
      <p:sp>
        <p:nvSpPr>
          <p:cNvPr id="17" name="Rounded Rectangle 16"/>
          <p:cNvSpPr/>
          <p:nvPr/>
        </p:nvSpPr>
        <p:spPr>
          <a:xfrm>
            <a:off x="3757661" y="4061460"/>
            <a:ext cx="1467350" cy="120396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894821" y="4198620"/>
            <a:ext cx="1193030" cy="929640"/>
          </a:xfrm>
          <a:prstGeom prst="rect">
            <a:avLst/>
          </a:prstGeom>
          <a:noFill/>
        </p:spPr>
        <p:txBody>
          <a:bodyPr wrap="square" anchor="t" lIns="0" rIns="0" tIns="0" bIns="0"/>
          <a:lstStyle/>
          <a:p>
            <a:pPr algn="l"/>
            <a:r>
              <a:rPr sz="1300" b="0" i="0">
                <a:solidFill>
                  <a:srgbClr val="202122"/>
                </a:solidFill>
                <a:latin typeface="Calibri"/>
              </a:rPr>
              <a:t>Functional and performance testing.</a:t>
            </a:r>
          </a:p>
        </p:txBody>
      </p:sp>
      <p:sp>
        <p:nvSpPr>
          <p:cNvPr id="19" name="Oval 18"/>
          <p:cNvSpPr/>
          <p:nvPr/>
        </p:nvSpPr>
        <p:spPr>
          <a:xfrm>
            <a:off x="5775807" y="2506980"/>
            <a:ext cx="640080" cy="6400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4</a:t>
            </a:r>
          </a:p>
        </p:txBody>
      </p:sp>
      <p:sp>
        <p:nvSpPr>
          <p:cNvPr id="20" name="TextBox 19"/>
          <p:cNvSpPr txBox="1"/>
          <p:nvPr/>
        </p:nvSpPr>
        <p:spPr>
          <a:xfrm>
            <a:off x="5362172" y="3284219"/>
            <a:ext cx="1467350" cy="731520"/>
          </a:xfrm>
          <a:prstGeom prst="rect">
            <a:avLst/>
          </a:prstGeom>
          <a:noFill/>
        </p:spPr>
        <p:txBody>
          <a:bodyPr wrap="square" anchor="t" lIns="0" rIns="0" tIns="0" bIns="0"/>
          <a:lstStyle/>
          <a:p>
            <a:pPr algn="ctr"/>
            <a:r>
              <a:rPr sz="1700" b="1" i="0">
                <a:solidFill>
                  <a:srgbClr val="03306E"/>
                </a:solidFill>
                <a:latin typeface="Calibri"/>
              </a:rPr>
              <a:t>Pre-production</a:t>
            </a:r>
          </a:p>
        </p:txBody>
      </p:sp>
      <p:sp>
        <p:nvSpPr>
          <p:cNvPr id="21" name="Rounded Rectangle 20"/>
          <p:cNvSpPr/>
          <p:nvPr/>
        </p:nvSpPr>
        <p:spPr>
          <a:xfrm>
            <a:off x="5362172" y="4061460"/>
            <a:ext cx="1467350" cy="120396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99332" y="4198620"/>
            <a:ext cx="1193030" cy="929640"/>
          </a:xfrm>
          <a:prstGeom prst="rect">
            <a:avLst/>
          </a:prstGeom>
          <a:noFill/>
        </p:spPr>
        <p:txBody>
          <a:bodyPr wrap="square" anchor="t" lIns="0" rIns="0" tIns="0" bIns="0"/>
          <a:lstStyle/>
          <a:p>
            <a:pPr algn="l"/>
            <a:r>
              <a:rPr sz="1300" b="0" i="0">
                <a:solidFill>
                  <a:srgbClr val="202122"/>
                </a:solidFill>
                <a:latin typeface="Calibri"/>
              </a:rPr>
              <a:t>Sandbox testing and sign-off.</a:t>
            </a:r>
          </a:p>
        </p:txBody>
      </p:sp>
      <p:sp>
        <p:nvSpPr>
          <p:cNvPr id="23" name="Oval 22"/>
          <p:cNvSpPr/>
          <p:nvPr/>
        </p:nvSpPr>
        <p:spPr>
          <a:xfrm>
            <a:off x="7380318" y="2506980"/>
            <a:ext cx="640080" cy="6400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5</a:t>
            </a:r>
          </a:p>
        </p:txBody>
      </p:sp>
      <p:sp>
        <p:nvSpPr>
          <p:cNvPr id="24" name="TextBox 23"/>
          <p:cNvSpPr txBox="1"/>
          <p:nvPr/>
        </p:nvSpPr>
        <p:spPr>
          <a:xfrm>
            <a:off x="6966682" y="3284219"/>
            <a:ext cx="1467350" cy="731520"/>
          </a:xfrm>
          <a:prstGeom prst="rect">
            <a:avLst/>
          </a:prstGeom>
          <a:noFill/>
        </p:spPr>
        <p:txBody>
          <a:bodyPr wrap="square" anchor="t" lIns="0" rIns="0" tIns="0" bIns="0"/>
          <a:lstStyle/>
          <a:p>
            <a:pPr algn="ctr"/>
            <a:r>
              <a:rPr sz="1700" b="1" i="0">
                <a:solidFill>
                  <a:srgbClr val="03306E"/>
                </a:solidFill>
                <a:latin typeface="Calibri"/>
              </a:rPr>
              <a:t>Deploy</a:t>
            </a:r>
          </a:p>
        </p:txBody>
      </p:sp>
      <p:sp>
        <p:nvSpPr>
          <p:cNvPr id="25" name="Rounded Rectangle 24"/>
          <p:cNvSpPr/>
          <p:nvPr/>
        </p:nvSpPr>
        <p:spPr>
          <a:xfrm>
            <a:off x="6966682" y="4061460"/>
            <a:ext cx="1467350" cy="120396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103842" y="4198620"/>
            <a:ext cx="1193030" cy="929640"/>
          </a:xfrm>
          <a:prstGeom prst="rect">
            <a:avLst/>
          </a:prstGeom>
          <a:noFill/>
        </p:spPr>
        <p:txBody>
          <a:bodyPr wrap="square" anchor="t" lIns="0" rIns="0" tIns="0" bIns="0"/>
          <a:lstStyle/>
          <a:p>
            <a:pPr algn="l"/>
            <a:r>
              <a:rPr sz="1300" b="0" i="0">
                <a:solidFill>
                  <a:srgbClr val="202122"/>
                </a:solidFill>
                <a:latin typeface="Calibri"/>
              </a:rPr>
              <a:t>Release, staged for high-impact changes.</a:t>
            </a:r>
          </a:p>
        </p:txBody>
      </p:sp>
      <p:sp>
        <p:nvSpPr>
          <p:cNvPr id="27" name="Oval 26"/>
          <p:cNvSpPr/>
          <p:nvPr/>
        </p:nvSpPr>
        <p:spPr>
          <a:xfrm>
            <a:off x="8984829" y="2506980"/>
            <a:ext cx="640080" cy="6400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6</a:t>
            </a:r>
          </a:p>
        </p:txBody>
      </p:sp>
      <p:sp>
        <p:nvSpPr>
          <p:cNvPr id="28" name="TextBox 27"/>
          <p:cNvSpPr txBox="1"/>
          <p:nvPr/>
        </p:nvSpPr>
        <p:spPr>
          <a:xfrm>
            <a:off x="8571193" y="3284219"/>
            <a:ext cx="1467350" cy="731520"/>
          </a:xfrm>
          <a:prstGeom prst="rect">
            <a:avLst/>
          </a:prstGeom>
          <a:noFill/>
        </p:spPr>
        <p:txBody>
          <a:bodyPr wrap="square" anchor="t" lIns="0" rIns="0" tIns="0" bIns="0"/>
          <a:lstStyle/>
          <a:p>
            <a:pPr algn="ctr"/>
            <a:r>
              <a:rPr sz="1700" b="1" i="0">
                <a:solidFill>
                  <a:srgbClr val="03306E"/>
                </a:solidFill>
                <a:latin typeface="Calibri"/>
              </a:rPr>
              <a:t>Monitor</a:t>
            </a:r>
          </a:p>
        </p:txBody>
      </p:sp>
      <p:sp>
        <p:nvSpPr>
          <p:cNvPr id="29" name="Rounded Rectangle 28"/>
          <p:cNvSpPr/>
          <p:nvPr/>
        </p:nvSpPr>
        <p:spPr>
          <a:xfrm>
            <a:off x="8571193" y="4061460"/>
            <a:ext cx="1467350" cy="120396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708353" y="4198620"/>
            <a:ext cx="1193030" cy="929640"/>
          </a:xfrm>
          <a:prstGeom prst="rect">
            <a:avLst/>
          </a:prstGeom>
          <a:noFill/>
        </p:spPr>
        <p:txBody>
          <a:bodyPr wrap="square" anchor="t" lIns="0" rIns="0" tIns="0" bIns="0"/>
          <a:lstStyle/>
          <a:p>
            <a:pPr algn="l"/>
            <a:r>
              <a:rPr sz="1300" b="0" i="0">
                <a:solidFill>
                  <a:srgbClr val="202122"/>
                </a:solidFill>
                <a:latin typeface="Calibri"/>
              </a:rPr>
              <a:t>Evaluate and improve.</a:t>
            </a:r>
          </a:p>
        </p:txBody>
      </p:sp>
      <p:sp>
        <p:nvSpPr>
          <p:cNvPr id="31" name="Oval 30"/>
          <p:cNvSpPr/>
          <p:nvPr/>
        </p:nvSpPr>
        <p:spPr>
          <a:xfrm>
            <a:off x="10589339" y="2506980"/>
            <a:ext cx="640080" cy="6400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7</a:t>
            </a:r>
          </a:p>
        </p:txBody>
      </p:sp>
      <p:sp>
        <p:nvSpPr>
          <p:cNvPr id="32" name="TextBox 31"/>
          <p:cNvSpPr txBox="1"/>
          <p:nvPr/>
        </p:nvSpPr>
        <p:spPr>
          <a:xfrm>
            <a:off x="10175704" y="3284219"/>
            <a:ext cx="1467350" cy="731520"/>
          </a:xfrm>
          <a:prstGeom prst="rect">
            <a:avLst/>
          </a:prstGeom>
          <a:noFill/>
        </p:spPr>
        <p:txBody>
          <a:bodyPr wrap="square" anchor="t" lIns="0" rIns="0" tIns="0" bIns="0"/>
          <a:lstStyle/>
          <a:p>
            <a:pPr algn="ctr"/>
            <a:r>
              <a:rPr sz="1700" b="1" i="0">
                <a:solidFill>
                  <a:srgbClr val="03306E"/>
                </a:solidFill>
                <a:latin typeface="Calibri"/>
              </a:rPr>
              <a:t>Retire</a:t>
            </a:r>
          </a:p>
        </p:txBody>
      </p:sp>
      <p:sp>
        <p:nvSpPr>
          <p:cNvPr id="33" name="Rounded Rectangle 32"/>
          <p:cNvSpPr/>
          <p:nvPr/>
        </p:nvSpPr>
        <p:spPr>
          <a:xfrm>
            <a:off x="10175704" y="4061460"/>
            <a:ext cx="1467350" cy="120396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312864" y="4198620"/>
            <a:ext cx="1193030" cy="929640"/>
          </a:xfrm>
          <a:prstGeom prst="rect">
            <a:avLst/>
          </a:prstGeom>
          <a:noFill/>
        </p:spPr>
        <p:txBody>
          <a:bodyPr wrap="square" anchor="t" lIns="0" rIns="0" tIns="0" bIns="0"/>
          <a:lstStyle/>
          <a:p>
            <a:pPr algn="l"/>
            <a:r>
              <a:rPr sz="1300" b="0" i="0">
                <a:solidFill>
                  <a:srgbClr val="202122"/>
                </a:solidFill>
                <a:latin typeface="Calibri"/>
              </a:rPr>
              <a:t>Decommission and migrate.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The solution lifecycle (SLC)</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Service Management and the Solution Lifecycle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Oval 5"/>
          <p:cNvSpPr/>
          <p:nvPr/>
        </p:nvSpPr>
        <p:spPr>
          <a:xfrm>
            <a:off x="548640" y="169164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happens in pre-production?</a:t>
            </a:r>
          </a:p>
        </p:txBody>
      </p:sp>
      <p:sp>
        <p:nvSpPr>
          <p:cNvPr id="8" name="Oval 7"/>
          <p:cNvSpPr/>
          <p:nvPr/>
        </p:nvSpPr>
        <p:spPr>
          <a:xfrm>
            <a:off x="548640" y="310896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Why stage a high-impact rollout?</a:t>
            </a:r>
          </a:p>
        </p:txBody>
      </p:sp>
      <p:sp>
        <p:nvSpPr>
          <p:cNvPr id="10" name="Oval 9"/>
          <p:cNvSpPr/>
          <p:nvPr/>
        </p:nvSpPr>
        <p:spPr>
          <a:xfrm>
            <a:off x="548640" y="452628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is the final stage?</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DevOps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Service Management and the Solution Lifecycle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DevOps brings development and operations teams together so changes can be built, tested and released quickly and reliably.</a:t>
            </a:r>
          </a:p>
          <a:p>
            <a:pPr>
              <a:spcAft>
                <a:spcPts val="1260"/>
              </a:spcAft>
            </a:pPr>
            <a:r>
              <a:rPr sz="2100" b="0">
                <a:solidFill>
                  <a:srgbClr val="202122"/>
                </a:solidFill>
                <a:latin typeface="Calibri"/>
              </a:rPr>
              <a:t>Its principles include continuous integration and delivery (small changes merged and released frequently), microservices, infrastructure as code (servers and networks defined in scripts, so they can be rebuilt exactly), collaboration, automated testing, the ability to adapt and scale, and monitoring and logging.</a:t>
            </a:r>
          </a:p>
          <a:p>
            <a:pPr>
              <a:spcAft>
                <a:spcPts val="1260"/>
              </a:spcAft>
            </a:pPr>
            <a:r>
              <a:rPr sz="2100" b="0">
                <a:solidFill>
                  <a:srgbClr val="202122"/>
                </a:solidFill>
                <a:latin typeface="Calibri"/>
              </a:rPr>
              <a:t>The benefits are faster delivery, higher productivity, smoother cross-team working, scalability and fewer errors.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With infrastructure as code, a destroyed test environment is rebuilt identically in minutes by running a script.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DevOps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Service Management and the Solution Lifecycle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Principles</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Continuous integration and delivery</a:t>
            </a:r>
          </a:p>
          <a:p>
            <a:pPr marL="274320" indent="-274320">
              <a:spcAft>
                <a:spcPts val="990"/>
              </a:spcAft>
              <a:buClr>
                <a:srgbClr val="0645AD"/>
              </a:buClr>
              <a:buFont typeface="Arial"/>
              <a:buChar char="•"/>
            </a:pPr>
            <a:r>
              <a:rPr sz="2200" b="0">
                <a:solidFill>
                  <a:srgbClr val="202122"/>
                </a:solidFill>
                <a:latin typeface="Calibri"/>
              </a:rPr>
              <a:t>Microservices</a:t>
            </a:r>
          </a:p>
          <a:p>
            <a:pPr marL="274320" indent="-274320">
              <a:spcAft>
                <a:spcPts val="990"/>
              </a:spcAft>
              <a:buClr>
                <a:srgbClr val="0645AD"/>
              </a:buClr>
              <a:buFont typeface="Arial"/>
              <a:buChar char="•"/>
            </a:pPr>
            <a:r>
              <a:rPr sz="2200" b="0">
                <a:solidFill>
                  <a:srgbClr val="202122"/>
                </a:solidFill>
                <a:latin typeface="Calibri"/>
              </a:rPr>
              <a:t>Infrastructure as code</a:t>
            </a:r>
          </a:p>
          <a:p>
            <a:pPr marL="274320" indent="-274320">
              <a:spcAft>
                <a:spcPts val="990"/>
              </a:spcAft>
              <a:buClr>
                <a:srgbClr val="0645AD"/>
              </a:buClr>
              <a:buFont typeface="Arial"/>
              <a:buChar char="•"/>
            </a:pPr>
            <a:r>
              <a:rPr sz="2200" b="0">
                <a:solidFill>
                  <a:srgbClr val="202122"/>
                </a:solidFill>
                <a:latin typeface="Calibri"/>
              </a:rPr>
              <a:t>Collaboration and automated testing</a:t>
            </a:r>
          </a:p>
          <a:p>
            <a:pPr marL="274320" indent="-274320">
              <a:spcAft>
                <a:spcPts val="990"/>
              </a:spcAft>
              <a:buClr>
                <a:srgbClr val="0645AD"/>
              </a:buClr>
              <a:buFont typeface="Arial"/>
              <a:buChar char="•"/>
            </a:pPr>
            <a:r>
              <a:rPr sz="2200" b="0">
                <a:solidFill>
                  <a:srgbClr val="202122"/>
                </a:solidFill>
                <a:latin typeface="Calibri"/>
              </a:rPr>
              <a:t>Monitoring and logging</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Benefits</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Faster delivery</a:t>
            </a:r>
          </a:p>
          <a:p>
            <a:pPr marL="274320" indent="-274320">
              <a:spcAft>
                <a:spcPts val="990"/>
              </a:spcAft>
              <a:buClr>
                <a:srgbClr val="0645AD"/>
              </a:buClr>
              <a:buFont typeface="Arial"/>
              <a:buChar char="•"/>
            </a:pPr>
            <a:r>
              <a:rPr sz="2200" b="0">
                <a:solidFill>
                  <a:srgbClr val="202122"/>
                </a:solidFill>
                <a:latin typeface="Calibri"/>
              </a:rPr>
              <a:t>Higher productivity</a:t>
            </a:r>
          </a:p>
          <a:p>
            <a:pPr marL="274320" indent="-274320">
              <a:spcAft>
                <a:spcPts val="990"/>
              </a:spcAft>
              <a:buClr>
                <a:srgbClr val="0645AD"/>
              </a:buClr>
              <a:buFont typeface="Arial"/>
              <a:buChar char="•"/>
            </a:pPr>
            <a:r>
              <a:rPr sz="2200" b="0">
                <a:solidFill>
                  <a:srgbClr val="202122"/>
                </a:solidFill>
                <a:latin typeface="Calibri"/>
              </a:rPr>
              <a:t>Better processes across teams</a:t>
            </a:r>
          </a:p>
          <a:p>
            <a:pPr marL="274320" indent="-274320">
              <a:spcAft>
                <a:spcPts val="990"/>
              </a:spcAft>
              <a:buClr>
                <a:srgbClr val="0645AD"/>
              </a:buClr>
              <a:buFont typeface="Arial"/>
              <a:buChar char="•"/>
            </a:pPr>
            <a:r>
              <a:rPr sz="2200" b="0">
                <a:solidFill>
                  <a:srgbClr val="202122"/>
                </a:solidFill>
                <a:latin typeface="Calibri"/>
              </a:rPr>
              <a:t>Scalability</a:t>
            </a:r>
          </a:p>
          <a:p>
            <a:pPr marL="274320" indent="-274320">
              <a:spcAft>
                <a:spcPts val="990"/>
              </a:spcAft>
              <a:buClr>
                <a:srgbClr val="0645AD"/>
              </a:buClr>
              <a:buFont typeface="Arial"/>
              <a:buChar char="•"/>
            </a:pPr>
            <a:r>
              <a:rPr sz="2200" b="0">
                <a:solidFill>
                  <a:srgbClr val="202122"/>
                </a:solidFill>
                <a:latin typeface="Calibri"/>
              </a:rPr>
              <a:t>Fewer errors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DevOps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Service Management and the Solution Lifecycle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Oval 5"/>
          <p:cNvSpPr/>
          <p:nvPr/>
        </p:nvSpPr>
        <p:spPr>
          <a:xfrm>
            <a:off x="548640" y="169164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infrastructure as code?</a:t>
            </a:r>
          </a:p>
        </p:txBody>
      </p:sp>
      <p:sp>
        <p:nvSpPr>
          <p:cNvPr id="8" name="Oval 7"/>
          <p:cNvSpPr/>
          <p:nvPr/>
        </p:nvSpPr>
        <p:spPr>
          <a:xfrm>
            <a:off x="548640" y="310896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is continuous integration?</a:t>
            </a:r>
          </a:p>
        </p:txBody>
      </p:sp>
      <p:sp>
        <p:nvSpPr>
          <p:cNvPr id="10" name="Oval 9"/>
          <p:cNvSpPr/>
          <p:nvPr/>
        </p:nvSpPr>
        <p:spPr>
          <a:xfrm>
            <a:off x="548640" y="452628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Give two benefits of DevOps.</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Solution architecture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Service Management and the Solution Lifecycle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TextBox 5"/>
          <p:cNvSpPr txBox="1"/>
          <p:nvPr/>
        </p:nvSpPr>
        <p:spPr>
          <a:xfrm>
            <a:off x="548640" y="1600200"/>
            <a:ext cx="6675120" cy="4572000"/>
          </a:xfrm>
          <a:prstGeom prst="rect">
            <a:avLst/>
          </a:prstGeom>
          <a:noFill/>
        </p:spPr>
        <p:txBody>
          <a:bodyPr wrap="square" lIns="0" rIns="0" tIns="0" bIns="0">
            <a:spAutoFit/>
          </a:bodyPr>
          <a:lstStyle/>
          <a:p>
            <a:pPr marL="274320" indent="-274320">
              <a:spcAft>
                <a:spcPts val="1080"/>
              </a:spcAft>
              <a:buClr>
                <a:srgbClr val="0645AD"/>
              </a:buClr>
              <a:buFont typeface="Arial"/>
              <a:buChar char="•"/>
            </a:pPr>
            <a:r>
              <a:rPr sz="2400" b="0">
                <a:solidFill>
                  <a:srgbClr val="202122"/>
                </a:solidFill>
                <a:latin typeface="Calibri"/>
              </a:rPr>
              <a:t>Reuse and documentation matter.</a:t>
            </a:r>
          </a:p>
          <a:p>
            <a:pPr marL="274320" indent="-274320">
              <a:spcAft>
                <a:spcPts val="1080"/>
              </a:spcAft>
              <a:buClr>
                <a:srgbClr val="0645AD"/>
              </a:buClr>
              <a:buFont typeface="Arial"/>
              <a:buChar char="•"/>
            </a:pPr>
            <a:r>
              <a:rPr sz="2400" b="0">
                <a:solidFill>
                  <a:srgbClr val="202122"/>
                </a:solidFill>
                <a:latin typeface="Calibri"/>
              </a:rPr>
              <a:t>Architecture applies to hardware, not just software.</a:t>
            </a:r>
          </a:p>
          <a:p>
            <a:pPr marL="274320" indent="-274320">
              <a:spcAft>
                <a:spcPts val="1080"/>
              </a:spcAft>
              <a:buClr>
                <a:srgbClr val="0645AD"/>
              </a:buClr>
              <a:buFont typeface="Arial"/>
              <a:buChar char="•"/>
            </a:pPr>
            <a:r>
              <a:rPr sz="2400" b="0">
                <a:solidFill>
                  <a:srgbClr val="202122"/>
                </a:solidFill>
                <a:latin typeface="Calibri"/>
              </a:rPr>
              <a:t>Frameworks such as TOGAF give structure.</a:t>
            </a:r>
          </a:p>
          <a:p>
            <a:pPr marL="274320" indent="-274320">
              <a:spcAft>
                <a:spcPts val="1080"/>
              </a:spcAft>
              <a:buClr>
                <a:srgbClr val="0645AD"/>
              </a:buClr>
              <a:buFont typeface="Arial"/>
              <a:buChar char="•"/>
            </a:pPr>
            <a:r>
              <a:rPr sz="2400" b="0">
                <a:solidFill>
                  <a:srgbClr val="202122"/>
                </a:solidFill>
                <a:latin typeface="Calibri"/>
              </a:rPr>
              <a:t>Solutions should align with the enterprise architecture.</a:t>
            </a:r>
          </a:p>
          <a:p>
            <a:pPr marL="274320" indent="-274320">
              <a:spcAft>
                <a:spcPts val="1080"/>
              </a:spcAft>
              <a:buClr>
                <a:srgbClr val="0645AD"/>
              </a:buClr>
              <a:buFont typeface="Arial"/>
              <a:buChar char="•"/>
            </a:pPr>
            <a:r>
              <a:rPr sz="2400" b="0">
                <a:solidFill>
                  <a:srgbClr val="202122"/>
                </a:solidFill>
                <a:latin typeface="Calibri"/>
              </a:rPr>
              <a:t>Described through system, view, viewpoint, concern and stakeholder.</a:t>
            </a:r>
          </a:p>
        </p:txBody>
      </p:sp>
      <p:sp>
        <p:nvSpPr>
          <p:cNvPr id="7" name="Rounded Rectangle 6"/>
          <p:cNvSpPr/>
          <p:nvPr/>
        </p:nvSpPr>
        <p:spPr>
          <a:xfrm>
            <a:off x="7772400" y="1600200"/>
            <a:ext cx="3867912" cy="443484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74519"/>
            <a:ext cx="548640" cy="54864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a:t>
            </a:r>
          </a:p>
        </p:txBody>
      </p:sp>
      <p:sp>
        <p:nvSpPr>
          <p:cNvPr id="9" name="TextBox 8"/>
          <p:cNvSpPr txBox="1"/>
          <p:nvPr/>
        </p:nvSpPr>
        <p:spPr>
          <a:xfrm>
            <a:off x="8046720" y="2606040"/>
            <a:ext cx="3291840" cy="365760"/>
          </a:xfrm>
          <a:prstGeom prst="rect">
            <a:avLst/>
          </a:prstGeom>
          <a:noFill/>
        </p:spPr>
        <p:txBody>
          <a:bodyPr wrap="square" anchor="t" lIns="0" rIns="0" tIns="0" bIns="0"/>
          <a:lstStyle/>
          <a:p>
            <a:pPr algn="l"/>
            <a:r>
              <a:rPr sz="1300" b="1" i="0">
                <a:solidFill>
                  <a:srgbClr val="A9C8F0"/>
                </a:solidFill>
                <a:latin typeface="Calibri"/>
              </a:rPr>
              <a:t>KEY IDEA</a:t>
            </a:r>
          </a:p>
        </p:txBody>
      </p:sp>
      <p:sp>
        <p:nvSpPr>
          <p:cNvPr id="10" name="TextBox 9"/>
          <p:cNvSpPr txBox="1"/>
          <p:nvPr/>
        </p:nvSpPr>
        <p:spPr>
          <a:xfrm>
            <a:off x="8046720" y="3017520"/>
            <a:ext cx="3291840" cy="2926080"/>
          </a:xfrm>
          <a:prstGeom prst="rect">
            <a:avLst/>
          </a:prstGeom>
          <a:noFill/>
        </p:spPr>
        <p:txBody>
          <a:bodyPr wrap="square" anchor="t" lIns="0" rIns="0" tIns="0" bIns="0"/>
          <a:lstStyle/>
          <a:p>
            <a:pPr algn="l"/>
            <a:r>
              <a:rPr sz="2200" b="0" i="0">
                <a:solidFill>
                  <a:srgbClr val="FFFFFF"/>
                </a:solidFill>
                <a:latin typeface="Cambria"/>
              </a:rPr>
              <a:t>Continuous improvement: identify affected hardware, measure performance, apply the right SLC stage, re-measure, review data and record findings.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Service Management and the Solution Lifecycle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13</a:t>
            </a:r>
          </a:p>
        </p:txBody>
      </p:sp>
      <p:sp>
        <p:nvSpPr>
          <p:cNvPr id="6" name="Oval 5"/>
          <p:cNvSpPr/>
          <p:nvPr/>
        </p:nvSpPr>
        <p:spPr>
          <a:xfrm>
            <a:off x="548640" y="1618488"/>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2200" b="0" i="0">
                <a:solidFill>
                  <a:srgbClr val="202122"/>
                </a:solidFill>
                <a:latin typeface="Calibri"/>
              </a:rPr>
              <a:t>Which ITIL stage builds and deploys services with managed change?</a:t>
            </a:r>
          </a:p>
        </p:txBody>
      </p:sp>
      <p:sp>
        <p:nvSpPr>
          <p:cNvPr id="8" name="Oval 7"/>
          <p:cNvSpPr/>
          <p:nvPr/>
        </p:nvSpPr>
        <p:spPr>
          <a:xfrm>
            <a:off x="548640" y="2814066"/>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2200" b="0" i="0">
                <a:solidFill>
                  <a:srgbClr val="202122"/>
                </a:solidFill>
                <a:latin typeface="Calibri"/>
              </a:rPr>
              <a:t>What happens in the pre-production stage of the SLC?</a:t>
            </a:r>
          </a:p>
        </p:txBody>
      </p:sp>
      <p:sp>
        <p:nvSpPr>
          <p:cNvPr id="10" name="Oval 9"/>
          <p:cNvSpPr/>
          <p:nvPr/>
        </p:nvSpPr>
        <p:spPr>
          <a:xfrm>
            <a:off x="548640" y="4009644"/>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2200" b="0" i="0">
                <a:solidFill>
                  <a:srgbClr val="202122"/>
                </a:solidFill>
                <a:latin typeface="Calibri"/>
              </a:rPr>
              <a:t>What is infrastructure as code?</a:t>
            </a:r>
          </a:p>
        </p:txBody>
      </p:sp>
      <p:sp>
        <p:nvSpPr>
          <p:cNvPr id="12" name="Oval 11"/>
          <p:cNvSpPr/>
          <p:nvPr/>
        </p:nvSpPr>
        <p:spPr>
          <a:xfrm>
            <a:off x="548640" y="5205221"/>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2200" b="0" i="0">
                <a:solidFill>
                  <a:srgbClr val="202122"/>
                </a:solidFill>
                <a:latin typeface="Calibri"/>
              </a:rPr>
              <a:t>Name an architecture framework.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Service Management and the Solution Lifecycle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14</a:t>
            </a:r>
          </a:p>
        </p:txBody>
      </p:sp>
      <p:sp>
        <p:nvSpPr>
          <p:cNvPr id="6" name="Oval 5"/>
          <p:cNvSpPr/>
          <p:nvPr/>
        </p:nvSpPr>
        <p:spPr>
          <a:xfrm>
            <a:off x="548640" y="1618488"/>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1800" b="0" i="0">
                <a:solidFill>
                  <a:srgbClr val="54595D"/>
                </a:solidFill>
                <a:latin typeface="Calibri"/>
              </a:rPr>
              <a:t>Which ITIL stage builds and deploys services with managed change?</a:t>
            </a:r>
          </a:p>
          <a:p>
            <a:r>
              <a:rPr sz="1800" b="1">
                <a:solidFill>
                  <a:srgbClr val="03306E"/>
                </a:solidFill>
                <a:latin typeface="Calibri"/>
              </a:rPr>
              <a:t>Service transition.</a:t>
            </a:r>
          </a:p>
        </p:txBody>
      </p:sp>
      <p:sp>
        <p:nvSpPr>
          <p:cNvPr id="8" name="Oval 7"/>
          <p:cNvSpPr/>
          <p:nvPr/>
        </p:nvSpPr>
        <p:spPr>
          <a:xfrm>
            <a:off x="548640" y="2814066"/>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1800" b="0" i="0">
                <a:solidFill>
                  <a:srgbClr val="54595D"/>
                </a:solidFill>
                <a:latin typeface="Calibri"/>
              </a:rPr>
              <a:t>What happens in the pre-production stage of the SLC?</a:t>
            </a:r>
          </a:p>
          <a:p>
            <a:r>
              <a:rPr sz="1800" b="1">
                <a:solidFill>
                  <a:srgbClr val="03306E"/>
                </a:solidFill>
                <a:latin typeface="Calibri"/>
              </a:rPr>
              <a:t>Sandbox testing and sign-off.</a:t>
            </a:r>
          </a:p>
        </p:txBody>
      </p:sp>
      <p:sp>
        <p:nvSpPr>
          <p:cNvPr id="10" name="Oval 9"/>
          <p:cNvSpPr/>
          <p:nvPr/>
        </p:nvSpPr>
        <p:spPr>
          <a:xfrm>
            <a:off x="548640" y="4009644"/>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1800" b="0" i="0">
                <a:solidFill>
                  <a:srgbClr val="54595D"/>
                </a:solidFill>
                <a:latin typeface="Calibri"/>
              </a:rPr>
              <a:t>What is infrastructure as code?</a:t>
            </a:r>
          </a:p>
          <a:p>
            <a:r>
              <a:rPr sz="1800" b="1">
                <a:solidFill>
                  <a:srgbClr val="03306E"/>
                </a:solidFill>
                <a:latin typeface="Calibri"/>
              </a:rPr>
              <a:t>Defining and managing infrastructure through code and scripts rather than by hand.</a:t>
            </a:r>
          </a:p>
        </p:txBody>
      </p:sp>
      <p:sp>
        <p:nvSpPr>
          <p:cNvPr id="12" name="Oval 11"/>
          <p:cNvSpPr/>
          <p:nvPr/>
        </p:nvSpPr>
        <p:spPr>
          <a:xfrm>
            <a:off x="548640" y="5205221"/>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1800" b="0" i="0">
                <a:solidFill>
                  <a:srgbClr val="54595D"/>
                </a:solidFill>
                <a:latin typeface="Calibri"/>
              </a:rPr>
              <a:t>Name an architecture framework.</a:t>
            </a:r>
          </a:p>
          <a:p>
            <a:r>
              <a:rPr sz="1800" b="1">
                <a:solidFill>
                  <a:srgbClr val="03306E"/>
                </a:solidFill>
                <a:latin typeface="Calibri"/>
              </a:rPr>
              <a:t>TOGAF.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Plan a network upgrade through the SLC</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Service Management and the Solution Lifecycle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15</a:t>
            </a:r>
          </a:p>
        </p:txBody>
      </p:sp>
      <p:sp>
        <p:nvSpPr>
          <p:cNvPr id="6" name="Rounded Rectangle 5"/>
          <p:cNvSpPr/>
          <p:nvPr/>
        </p:nvSpPr>
        <p:spPr>
          <a:xfrm>
            <a:off x="548640" y="1508760"/>
            <a:ext cx="2011680" cy="457200"/>
          </a:xfrm>
          <a:prstGeom prst="roundRect">
            <a:avLst>
              <a:gd name="adj" fmla="val 50000"/>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30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Small groups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Scenario: the college's Wi-Fi cannot cope with exam season.</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Plan the upgrade through every SLC stage.</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Decide how you will measure performance before and after.</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Identify one DevOps practice that would help.</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All SLC stages covered</a:t>
            </a:r>
          </a:p>
          <a:p>
            <a:pPr marL="274320" indent="-274320">
              <a:spcAft>
                <a:spcPts val="810"/>
              </a:spcAft>
              <a:buClr>
                <a:srgbClr val="0645AD"/>
              </a:buClr>
              <a:buFont typeface="Arial"/>
              <a:buChar char="•"/>
            </a:pPr>
            <a:r>
              <a:rPr sz="1800" b="0">
                <a:solidFill>
                  <a:srgbClr val="202122"/>
                </a:solidFill>
                <a:latin typeface="Calibri"/>
              </a:rPr>
              <a:t>Performance measures are specific</a:t>
            </a:r>
          </a:p>
          <a:p>
            <a:pPr marL="274320" indent="-274320">
              <a:spcAft>
                <a:spcPts val="810"/>
              </a:spcAft>
              <a:buClr>
                <a:srgbClr val="0645AD"/>
              </a:buClr>
              <a:buFont typeface="Arial"/>
              <a:buChar char="•"/>
            </a:pPr>
            <a:r>
              <a:rPr sz="1800" b="0">
                <a:solidFill>
                  <a:srgbClr val="202122"/>
                </a:solidFill>
                <a:latin typeface="Calibri"/>
              </a:rPr>
              <a:t>Staged rollout considered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Why use a staged rollout for a high-impact change?</a:t>
            </a:r>
          </a:p>
        </p:txBody>
      </p:sp>
      <p:sp>
        <p:nvSpPr>
          <p:cNvPr id="6" name="Oval 5"/>
          <p:cNvSpPr/>
          <p:nvPr/>
        </p:nvSpPr>
        <p:spPr>
          <a:xfrm>
            <a:off x="548640" y="269748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Name two DevOps principles.</a:t>
            </a:r>
          </a:p>
        </p:txBody>
      </p:sp>
      <p:sp>
        <p:nvSpPr>
          <p:cNvPr id="8" name="Oval 7"/>
          <p:cNvSpPr/>
          <p:nvPr/>
        </p:nvSpPr>
        <p:spPr>
          <a:xfrm>
            <a:off x="548640" y="365760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What is the final stage of the solution lifecycle?</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Digital Infrastructure - Physical and Virtual Infrastructure</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https://lana6478.github.io/Digital-Suport-and-security-T-levle/#/02-occupational-specialisms/digital-infrastructure/02-physical-and-virtual-infrastructure.md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Service Management and the Solution Lifecycle</dc:title>
  <dc:subject>Digital Support and Security T Level: Digital Infrastructure Content Area 2</dc:subject>
  <dc:creator>Samuel O'Connell</dc:creator>
  <cp:keywords>T Level; Digital Support and Security; lesson slides; 2.16, 2.17, 2.20 to 2.22, 2.24</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