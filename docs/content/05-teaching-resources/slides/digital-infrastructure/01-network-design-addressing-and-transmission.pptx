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QoS (Quality of Service) guarantees a level of service for important traffic such as VoIP.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Practise: how many hosts does a /26 give? (2 to the power 6, minus 2 = 62).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students a few minutes to answer on mini whiteboards or paper, then reveal the answers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through any answers the class found difficult.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answer on a sticky note or in the chat before leaving.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1005840"/>
            <a:ext cx="3291840" cy="3291840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9966960" y="3200400"/>
            <a:ext cx="2377440" cy="237744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8138160" y="4023360"/>
            <a:ext cx="1371600" cy="1371600"/>
          </a:xfrm>
          <a:prstGeom prst="ellipse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1" i="0">
                <a:solidFill>
                  <a:srgbClr val="33C17A"/>
                </a:solidFill>
                <a:latin typeface="Calibri"/>
              </a:rPr>
              <a:t>DIGITAL INFRASTRUCTURE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7315200" cy="228600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/>
            <a:r>
              <a:rPr sz="4400" b="1" i="0">
                <a:solidFill>
                  <a:srgbClr val="FFFFFF"/>
                </a:solidFill>
                <a:latin typeface="Cambria"/>
              </a:rPr>
              <a:t>Network Design, Addressing and Transmission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A9C8F0"/>
                </a:solidFill>
                <a:latin typeface="Calibri"/>
              </a:rPr>
              <a:t>Digital Infrastructure Content Area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976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A9C8F0"/>
                </a:solidFill>
                <a:latin typeface="Calibri"/>
              </a:rPr>
              <a:t>Specification reference: 2.1, 2.2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7498079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Digital Support and Security T Level  ·  Lesson slides</a:t>
            </a:r>
          </a:p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Unofficial teaching resource. Check the official Pearson specification for assessment detail.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DIGITAL INFRASTRUCTURE  ·  Digital Infrastructure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Network Design, Addressing and Transmission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1">
                <a:solidFill>
                  <a:srgbClr val="54595D"/>
                </a:solidFill>
                <a:latin typeface="Calibri"/>
              </a:rPr>
              <a:t>By the end of this lesson you should be able to: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234565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01168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Explain resilience principles: high availability, clustering, load balancing and segmentation.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274695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05181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Explain Quality of Service and convert between number systems for addressing.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314825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09193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Compare copper, fibre and wireless transmission and their risks.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354954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513206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Describe IPv4 subnetting and IPv6 address types.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150876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STARTER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194560"/>
            <a:ext cx="3291840" cy="3657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03306E"/>
                </a:solidFill>
                <a:latin typeface="Cambria"/>
              </a:rPr>
              <a:t>A company's single web server crashes every Black Friday. Suggest two ways to keep the website up.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DIGITAL INFRASTRUCTURE  ·  Digital Infrastructure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Designing for resilience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Network Design, Addressing and Transmission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High availability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Primary and secondary systems, so one can take over.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160020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6461607" y="1828800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55967" y="180136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Clustering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1607" y="246888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Several servers act as one: redundancy and scalability.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02336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22452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Load balancing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9204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Spreads traffic across servers.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402336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6461607" y="4251960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55967" y="422452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Segmentation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1607" y="489204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Splits networks, systems and data to limit the impact of a problem.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DIGITAL INFRASTRUCTURE  ·  Digital Infrastructure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Number systems for addressing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Network Design, Addressing and Transmission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11094414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4077"/>
                <a:gridCol w="1290048"/>
                <a:gridCol w="3354125"/>
                <a:gridCol w="4386164"/>
              </a:tblGrid>
              <a:tr h="90525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System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Base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Example (decimal 255)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Used for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</a:tr>
              <a:tr h="90525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Binary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11111111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Subnet masks and IP calculations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90525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Decimal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255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Dotted decimal IPv4 addresses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90525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Hexadecimal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FF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IPv6 addresses and MAC addresses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90525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Octal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377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Linux file permissions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DIGITAL INFRASTRUCTURE  ·  Digital Infrastructure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Transmission media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Network Design, Addressing and Transmission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Copper and fibre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59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00"/>
              </a:spcAft>
              <a:buClr>
                <a:srgbClr val="0645AD"/>
              </a:buClr>
              <a:buFont typeface="Arial"/>
              <a:buChar char="•"/>
            </a:pPr>
            <a:r>
              <a:rPr sz="2000" b="0">
                <a:solidFill>
                  <a:srgbClr val="202122"/>
                </a:solidFill>
                <a:latin typeface="Calibri"/>
              </a:rPr>
              <a:t>Copper carries electrical signals</a:t>
            </a:r>
          </a:p>
          <a:p>
            <a:pPr marL="274320" indent="-274320">
              <a:spcAft>
                <a:spcPts val="900"/>
              </a:spcAft>
              <a:buClr>
                <a:srgbClr val="0645AD"/>
              </a:buClr>
              <a:buFont typeface="Arial"/>
              <a:buChar char="•"/>
            </a:pPr>
            <a:r>
              <a:rPr sz="2000" b="0">
                <a:solidFill>
                  <a:srgbClr val="202122"/>
                </a:solidFill>
                <a:latin typeface="Calibri"/>
              </a:rPr>
              <a:t>Fibre carries light</a:t>
            </a:r>
          </a:p>
          <a:p>
            <a:pPr marL="274320" indent="-274320">
              <a:spcAft>
                <a:spcPts val="900"/>
              </a:spcAft>
              <a:buClr>
                <a:srgbClr val="0645AD"/>
              </a:buClr>
              <a:buFont typeface="Arial"/>
              <a:buChar char="•"/>
            </a:pPr>
            <a:r>
              <a:rPr sz="2000" b="1">
                <a:solidFill>
                  <a:srgbClr val="202122"/>
                </a:solidFill>
                <a:latin typeface="Calibri"/>
              </a:rPr>
              <a:t>Risks:</a:t>
            </a:r>
            <a:r>
              <a:rPr sz="2000" b="0">
                <a:solidFill>
                  <a:srgbClr val="202122"/>
                </a:solidFill>
                <a:latin typeface="Calibri"/>
              </a:rPr>
              <a:t> tampering and signal loss</a:t>
            </a:r>
          </a:p>
          <a:p>
            <a:pPr marL="274320" indent="-274320">
              <a:spcAft>
                <a:spcPts val="900"/>
              </a:spcAft>
              <a:buClr>
                <a:srgbClr val="0645AD"/>
              </a:buClr>
              <a:buFont typeface="Arial"/>
              <a:buChar char="•"/>
            </a:pPr>
            <a:r>
              <a:rPr sz="2000" b="0">
                <a:solidFill>
                  <a:srgbClr val="202122"/>
                </a:solidFill>
                <a:latin typeface="Calibri"/>
              </a:rPr>
              <a:t>Separate copper from power cables to avoid EMI, static and crosstalk</a:t>
            </a:r>
          </a:p>
          <a:p>
            <a:pPr marL="274320" indent="-274320">
              <a:spcAft>
                <a:spcPts val="900"/>
              </a:spcAft>
              <a:buClr>
                <a:srgbClr val="0645AD"/>
              </a:buClr>
              <a:buFont typeface="Arial"/>
              <a:buChar char="•"/>
            </a:pPr>
            <a:r>
              <a:rPr sz="2000" b="0">
                <a:solidFill>
                  <a:srgbClr val="202122"/>
                </a:solidFill>
                <a:latin typeface="Calibri"/>
              </a:rPr>
              <a:t>Use shielding or planned parallel runs (BS EN 50174)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07327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Wireless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7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802.11b, g and n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Wi-Fi 5 (802.11ac)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Wi-Fi 6 and 6E (802.11ax)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Wi-Fi 7 (802.11be)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Each generation raises speed and capacity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DIGITAL INFRASTRUCTURE  ·  Digital Infrastructure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IPv4 and IPv6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Network Design, Addressing and Transmission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IPv4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59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32-bit address, e.g. 192.168.1.10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Subnet mask splits network and host, e.g. /24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Subnetting divides a network into smaller ones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Private ranges, e.g. 10.0.0.0/8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07327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IPv6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7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128-bit address in hexadecimal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Unicast:</a:t>
            </a:r>
            <a:r>
              <a:rPr sz="2200" b="0">
                <a:solidFill>
                  <a:srgbClr val="202122"/>
                </a:solidFill>
                <a:latin typeface="Calibri"/>
              </a:rPr>
              <a:t> one interface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Multicast:</a:t>
            </a:r>
            <a:r>
              <a:rPr sz="2200" b="0">
                <a:solidFill>
                  <a:srgbClr val="202122"/>
                </a:solidFill>
                <a:latin typeface="Calibri"/>
              </a:rPr>
              <a:t> a group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Anycast:</a:t>
            </a:r>
            <a:r>
              <a:rPr sz="2200" b="0">
                <a:solidFill>
                  <a:srgbClr val="202122"/>
                </a:solidFill>
                <a:latin typeface="Calibri"/>
              </a:rPr>
              <a:t> the nearest of a group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Link-local and global addresses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DIGITAL INFRASTRUCTURE  ·  Digital Infrastructure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Check your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Network Design, Addressing and Transmission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7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does load balancing do?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574950"/>
            <a:ext cx="411480" cy="4114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556662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Convert decimal 255 to binary.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531412"/>
            <a:ext cx="411480" cy="4114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513124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Why keep data cables away from power cables?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487875"/>
            <a:ext cx="411480" cy="4114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469587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How many bits in an IPv6 address?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5444337"/>
            <a:ext cx="411480" cy="4114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5426049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How many usable hosts in a /24 subnet?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DIGITAL INFRASTRUCTURE  ·  Digital Infrastructure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Network Design, Addressing and Transmission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8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does load balancing do?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Spreads traffic across several servers.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574950"/>
            <a:ext cx="411480" cy="4114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556662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Convert decimal 255 to binary.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11111111.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531412"/>
            <a:ext cx="411480" cy="4114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513124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Why keep data cables away from power cables?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To avoid electromagnetic interference.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487875"/>
            <a:ext cx="411480" cy="4114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469587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How many bits in an IPv6 address?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128.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5444337"/>
            <a:ext cx="411480" cy="4114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5426049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How many usable hosts in a /24 subnet?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254.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DIGITAL INFRASTRUCTURE  ·  Digital Infrastructure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Activity: Subnet the office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Network Design, Addressing and Transmission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20116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1400" b="1" i="0">
                <a:solidFill>
                  <a:srgbClr val="202122"/>
                </a:solidFill>
                <a:latin typeface="Calibri"/>
              </a:rPr>
              <a:t>25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508760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400" b="0" i="1">
                <a:solidFill>
                  <a:srgbClr val="54595D"/>
                </a:solidFill>
                <a:latin typeface="Calibri"/>
              </a:rPr>
              <a:t>Individual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482596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40280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You have 192.168.10.0/24 for an office with four departments of up to 50 devices each.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461004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218688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Choose a subnet mask that gives four subnets.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439412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197096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Write the network address, first and last host and broadcast for each.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5417820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175504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Suggest which resilience principle would protect the file server.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1508760"/>
            <a:ext cx="3867912" cy="45720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SUCCESS CRITERIA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2240280"/>
            <a:ext cx="3337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Uses /26 correctly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Ranges do not overlap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Resilience choice is justified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A9C8F0"/>
                </a:solidFill>
                <a:latin typeface="Calibri"/>
              </a:rPr>
              <a:t>DIGITAL INFRASTRUCTURE  ·  Digital Infrastructure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FFFFFF"/>
                </a:solidFill>
                <a:latin typeface="Cambria"/>
              </a:rPr>
              <a:t>Exit ticket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37360"/>
            <a:ext cx="502920" cy="50292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64592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What is the difference between clustering and high availability?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697480"/>
            <a:ext cx="502920" cy="50292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60604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Convert 1010 binary to decimal.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657600"/>
            <a:ext cx="502920" cy="50292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356616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Name one improvement in Wi-Fi 6 over Wi-Fi 5.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645920"/>
            <a:ext cx="3410712" cy="2926080"/>
          </a:xfrm>
          <a:prstGeom prst="roundRect">
            <a:avLst>
              <a:gd name="adj" fmla="val 8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503920" y="1874519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REVISE THIS TOPIC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2860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Revision notes for this lesson are on the study wiki: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926080"/>
            <a:ext cx="2926080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Digital Infrastructure - Physical and Virtual Infrastructure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6928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>
                <a:solidFill>
                  <a:srgbClr val="A9C8F0"/>
                </a:solidFill>
                <a:latin typeface="Calibri"/>
              </a:rPr>
              <a:t>https://lana6478.github.io/Digital-Suport-and-security-T-levle/#/02-occupational-specialisms/digital-infrastructure/02-physical-and-virtual-infrastructure.md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Network Design, Addressing and Transmission</dc:title>
  <dc:subject>Digital Support and Security T Level: Digital Infrastructure Content Area 2</dc:subject>
  <dc:creator>Samuel O'Connell</dc:creator>
  <cp:keywords>T Level; Digital Support and Security; lesson slides; 2.1, 2.2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