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Validation checks data is sensible, not that it is correct. 01/01/2000 passes validation even if it is the wrong birthday.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Presence check.</a:t>
            </a:r>
          </a:p>
          <a:p>
            <a:r>
              <a:t>2. It only checks data is reasonable, not true.</a:t>
            </a:r>
          </a:p>
          <a:p>
            <a:r>
              <a:t>3. Checking data was entered accurately, e.g. typing it twice.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COUNTIF.</a:t>
            </a:r>
          </a:p>
          <a:p>
            <a:r>
              <a:t>2. Calculates the mean of D2 to D10.</a:t>
            </a:r>
          </a:p>
          <a:p>
            <a:r>
              <a:t>3. To analyse data exported from other systems.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assurance methods: validation, verification, reliability, consistency, integrity and redundancy. Maintenance also depends on time, skills and cost.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Velocity.</a:t>
            </a:r>
          </a:p>
          <a:p>
            <a:r>
              <a:t>2. Veracity.</a:t>
            </a:r>
          </a:p>
          <a:p>
            <a:r>
              <a:t>3. Any two: validation, verification, reliability, consistency, integrity, redundancy.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Structure, clean, validate, enrich, output.</a:t>
            </a:r>
          </a:p>
          <a:p>
            <a:r>
              <a:t>2. Swapping characters, e.g. 1234 becomes 1243.</a:t>
            </a:r>
          </a:p>
          <a:p>
            <a:r>
              <a:t>3. Users choose from fixed options instead of typing.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must be able to draw each: blocks, arrows and labels for hierarchical and network; tables, rows, columns and labels for relational. Choice depends on access efficiency, storage efficiency and implementation complexity.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Relational.</a:t>
            </a:r>
          </a:p>
          <a:p>
            <a:r>
              <a:t>2. A tree of parents and children.</a:t>
            </a:r>
          </a:p>
          <a:p>
            <a:r>
              <a:t>3. It avoids duplication and is easy to query.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intelligence feeds financial planning and analysis and CRM.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RBAC grants access by role; RuBAC by rules such as time of day.</a:t>
            </a:r>
          </a:p>
          <a:p>
            <a:r>
              <a:t>2. Raw data in any format.</a:t>
            </a:r>
          </a:p>
          <a:p>
            <a:r>
              <a:t>3. A subset of data for one department.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no CSV is available, students can generate one quickly; the skills are what matter.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CORE COMPONENT</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Data Quality, Systems and Analysis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Paper 1</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2.6, 3.7 to 3.12</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Support and Security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Apply validation checks and spreadsheet functions to interrogate data.</a:t>
            </a:r>
          </a:p>
        </p:txBody>
      </p:sp>
      <p:sp>
        <p:nvSpPr>
          <p:cNvPr id="9" name="Oval 8"/>
          <p:cNvSpPr/>
          <p:nvPr/>
        </p:nvSpPr>
        <p:spPr>
          <a:xfrm>
            <a:off x="548640" y="327469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Explain the 6 Vs of Big Data and methods of data quality assurance.</a:t>
            </a:r>
          </a:p>
        </p:txBody>
      </p:sp>
      <p:sp>
        <p:nvSpPr>
          <p:cNvPr id="11" name="Oval 10"/>
          <p:cNvSpPr/>
          <p:nvPr/>
        </p:nvSpPr>
        <p:spPr>
          <a:xfrm>
            <a:off x="548640" y="431482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Describe data wrangling, data entry errors and how to reduce them.</a:t>
            </a:r>
          </a:p>
        </p:txBody>
      </p:sp>
      <p:sp>
        <p:nvSpPr>
          <p:cNvPr id="13" name="Oval 12"/>
          <p:cNvSpPr/>
          <p:nvPr/>
        </p:nvSpPr>
        <p:spPr>
          <a:xfrm>
            <a:off x="548640" y="5354954"/>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Compare data models, access mechanisms and data analysis tools.</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A customer typed their date of birth as 31/02/2008. How could the system have stopped this?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Validation checks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Validation is an automatic check that data is sensible before it's accepted.</a:t>
            </a:r>
          </a:p>
          <a:p>
            <a:pPr>
              <a:spcAft>
                <a:spcPts val="1260"/>
              </a:spcAft>
            </a:pPr>
            <a:r>
              <a:rPr sz="2100" b="0">
                <a:solidFill>
                  <a:srgbClr val="202122"/>
                </a:solidFill>
                <a:latin typeface="Calibri"/>
              </a:rPr>
              <a:t>A presence check makes sure a field isn't empty. A length check makes sure there are the right number of characters. A range check makes sure a number is between limits. A type check makes sure data is the right type. A format check makes sure data matches a pattern, such as an email address.</a:t>
            </a:r>
          </a:p>
          <a:p>
            <a:pPr>
              <a:spcAft>
                <a:spcPts val="1260"/>
              </a:spcAft>
            </a:pPr>
            <a:r>
              <a:rPr sz="2100" b="0">
                <a:solidFill>
                  <a:srgbClr val="202122"/>
                </a:solidFill>
                <a:latin typeface="Calibri"/>
              </a:rPr>
              <a:t>Validation can't prove data is correct, only that it's reasonable. A valid date of birth can still be the wrong person's. Verification, such as typing a password twice, checks data was entered accurately.</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booking form: name (presence), postcode (length and format), guests 1 to 8 (range and type), email (format). 31/02/2008 fails a date format check.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Validation checks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Presence</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2000" b="0" i="0">
                <a:solidFill>
                  <a:srgbClr val="202122"/>
                </a:solidFill>
                <a:latin typeface="Calibri"/>
              </a:rPr>
              <a:t>A value has been entered.</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Length</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The right number of characters, e.g. a postcode.</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Range</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Between allowed limits, e.g. 1 to 8 guests.</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Type</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The right data type, e.g. a number.</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900" b="1" i="0">
                <a:solidFill>
                  <a:srgbClr val="03306E"/>
                </a:solidFill>
                <a:latin typeface="Calibri"/>
              </a:rPr>
              <a:t>Format</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Matches a pattern, e.g. an email address.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Validation checks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check makes sure a field isn't empty?</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can't validation prove data is correct?</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verification?</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Interrogating data in a spreadsheet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Spreadsheets organise data in rows (records) and columns (fields) on worksheets.</a:t>
            </a:r>
          </a:p>
          <a:p>
            <a:pPr>
              <a:spcAft>
                <a:spcPts val="1200"/>
              </a:spcAft>
            </a:pPr>
            <a:r>
              <a:rPr sz="2000" b="0">
                <a:solidFill>
                  <a:srgbClr val="202122"/>
                </a:solidFill>
                <a:latin typeface="Calibri"/>
              </a:rPr>
              <a:t>Sorting and filtering let you order data or show only rows that match, such as high-priority tickets.</a:t>
            </a:r>
          </a:p>
          <a:p>
            <a:pPr>
              <a:spcAft>
                <a:spcPts val="1200"/>
              </a:spcAft>
            </a:pPr>
            <a:r>
              <a:rPr sz="2000" b="1">
                <a:solidFill>
                  <a:srgbClr val="202122"/>
                </a:solidFill>
                <a:latin typeface="Calibri"/>
              </a:rPr>
              <a:t>Arithmetic functions summarise data:</a:t>
            </a:r>
            <a:r>
              <a:rPr sz="2000" b="0">
                <a:solidFill>
                  <a:srgbClr val="202122"/>
                </a:solidFill>
                <a:latin typeface="Calibri"/>
              </a:rPr>
              <a:t> SUM adds, AVERAGE finds the mean, MIN and MAX find the smallest and largest.</a:t>
            </a:r>
          </a:p>
          <a:p>
            <a:pPr>
              <a:spcAft>
                <a:spcPts val="1200"/>
              </a:spcAft>
            </a:pPr>
            <a:r>
              <a:rPr sz="2000" b="1">
                <a:solidFill>
                  <a:srgbClr val="202122"/>
                </a:solidFill>
                <a:latin typeface="Calibri"/>
              </a:rPr>
              <a:t>Logical functions make decisions:</a:t>
            </a:r>
            <a:r>
              <a:rPr sz="2000" b="0">
                <a:solidFill>
                  <a:srgbClr val="202122"/>
                </a:solidFill>
                <a:latin typeface="Calibri"/>
              </a:rPr>
              <a:t> IF returns one value or another depending on a condition; COUNTIF counts cells that match a condition.</a:t>
            </a:r>
          </a:p>
          <a:p>
            <a:pPr>
              <a:spcAft>
                <a:spcPts val="1200"/>
              </a:spcAft>
            </a:pPr>
            <a:r>
              <a:rPr sz="2000" b="0">
                <a:solidFill>
                  <a:srgbClr val="202122"/>
                </a:solidFill>
                <a:latin typeface="Calibri"/>
              </a:rPr>
              <a:t>Data is often imported from text or CSV files exported by other systems, analysed, then saved back out.</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600" b="0" i="0">
                <a:solidFill>
                  <a:srgbClr val="FFFFFF"/>
                </a:solidFill>
                <a:latin typeface="Cambria"/>
              </a:rPr>
              <a:t>=COUNTIF(C2:C200,"Printer") counts printer faults. =IF(D2&gt;48,"Breach","OK") flags tickets that missed a 48-hour SLA.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Interrogating data in a spreadsheet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graphicFrame>
        <p:nvGraphicFramePr>
          <p:cNvPr id="6" name="Table 5"/>
          <p:cNvGraphicFramePr>
            <a:graphicFrameLocks noGrp="1"/>
          </p:cNvGraphicFramePr>
          <p:nvPr/>
        </p:nvGraphicFramePr>
        <p:xfrm>
          <a:off x="548640" y="1600200"/>
          <a:ext cx="11094414" cy="4526280"/>
        </p:xfrm>
        <a:graphic>
          <a:graphicData uri="http://schemas.openxmlformats.org/drawingml/2006/table">
            <a:tbl>
              <a:tblPr firstRow="1" bandRow="1">
                <a:tableStyleId>{5C22544A-7EE6-4342-B048-85BDC9FD1C3A}</a:tableStyleId>
              </a:tblPr>
              <a:tblGrid>
                <a:gridCol w="4160405"/>
                <a:gridCol w="6934009"/>
              </a:tblGrid>
              <a:tr h="754380">
                <a:tc>
                  <a:txBody>
                    <a:bodyPr wrap="square"/>
                    <a:lstStyle/>
                    <a:p>
                      <a:r>
                        <a:rPr sz="1600" b="1">
                          <a:solidFill>
                            <a:srgbClr val="FFFFFF"/>
                          </a:solidFill>
                          <a:latin typeface="Calibri"/>
                        </a:rPr>
                        <a:t>Technique</a:t>
                      </a:r>
                    </a:p>
                  </a:txBody>
                  <a:tcPr marL="91440" marR="91440" anchor="ctr">
                    <a:solidFill>
                      <a:srgbClr val="03306E"/>
                    </a:solidFill>
                  </a:tcPr>
                </a:tc>
                <a:tc>
                  <a:txBody>
                    <a:bodyPr wrap="square"/>
                    <a:lstStyle/>
                    <a:p>
                      <a:r>
                        <a:rPr sz="1600" b="1">
                          <a:solidFill>
                            <a:srgbClr val="FFFFFF"/>
                          </a:solidFill>
                          <a:latin typeface="Calibri"/>
                        </a:rPr>
                        <a:t>Example</a:t>
                      </a:r>
                    </a:p>
                  </a:txBody>
                  <a:tcPr marL="91440" marR="91440" anchor="ctr">
                    <a:solidFill>
                      <a:srgbClr val="03306E"/>
                    </a:solidFill>
                  </a:tcPr>
                </a:tc>
              </a:tr>
              <a:tr h="754380">
                <a:tc>
                  <a:txBody>
                    <a:bodyPr wrap="square"/>
                    <a:lstStyle/>
                    <a:p>
                      <a:r>
                        <a:rPr sz="1600" b="1">
                          <a:solidFill>
                            <a:srgbClr val="03306E"/>
                          </a:solidFill>
                          <a:latin typeface="Calibri"/>
                        </a:rPr>
                        <a:t>Sort, order and filter by field</a:t>
                      </a:r>
                    </a:p>
                  </a:txBody>
                  <a:tcPr marL="91440" marR="91440" anchor="ctr">
                    <a:solidFill>
                      <a:srgbClr val="FFFFFF"/>
                    </a:solidFill>
                  </a:tcPr>
                </a:tc>
                <a:tc>
                  <a:txBody>
                    <a:bodyPr wrap="square"/>
                    <a:lstStyle/>
                    <a:p>
                      <a:r>
                        <a:rPr sz="1600" b="0">
                          <a:solidFill>
                            <a:srgbClr val="202122"/>
                          </a:solidFill>
                          <a:latin typeface="Calibri"/>
                        </a:rPr>
                        <a:t>Show only tickets with priority High</a:t>
                      </a:r>
                    </a:p>
                  </a:txBody>
                  <a:tcPr marL="91440" marR="91440" anchor="ctr">
                    <a:solidFill>
                      <a:srgbClr val="FFFFFF"/>
                    </a:solidFill>
                  </a:tcPr>
                </a:tc>
              </a:tr>
              <a:tr h="754380">
                <a:tc>
                  <a:txBody>
                    <a:bodyPr wrap="square"/>
                    <a:lstStyle/>
                    <a:p>
                      <a:r>
                        <a:rPr sz="1600" b="1">
                          <a:solidFill>
                            <a:srgbClr val="03306E"/>
                          </a:solidFill>
                          <a:latin typeface="Calibri"/>
                        </a:rPr>
                        <a:t>SUM, MIN, MAX, AVERAGE</a:t>
                      </a:r>
                    </a:p>
                  </a:txBody>
                  <a:tcPr marL="91440" marR="91440" anchor="ctr">
                    <a:solidFill>
                      <a:srgbClr val="EAF3FF"/>
                    </a:solidFill>
                  </a:tcPr>
                </a:tc>
                <a:tc>
                  <a:txBody>
                    <a:bodyPr wrap="square"/>
                    <a:lstStyle/>
                    <a:p>
                      <a:r>
                        <a:rPr sz="1600" b="0">
                          <a:solidFill>
                            <a:srgbClr val="202122"/>
                          </a:solidFill>
                          <a:latin typeface="Calibri"/>
                        </a:rPr>
                        <a:t>=AVERAGE(D2:D100) for average fix time</a:t>
                      </a:r>
                    </a:p>
                  </a:txBody>
                  <a:tcPr marL="91440" marR="91440" anchor="ctr">
                    <a:solidFill>
                      <a:srgbClr val="EAF3FF"/>
                    </a:solidFill>
                  </a:tcPr>
                </a:tc>
              </a:tr>
              <a:tr h="754380">
                <a:tc>
                  <a:txBody>
                    <a:bodyPr wrap="square"/>
                    <a:lstStyle/>
                    <a:p>
                      <a:r>
                        <a:rPr sz="1600" b="1">
                          <a:solidFill>
                            <a:srgbClr val="03306E"/>
                          </a:solidFill>
                          <a:latin typeface="Calibri"/>
                        </a:rPr>
                        <a:t>IF</a:t>
                      </a:r>
                    </a:p>
                  </a:txBody>
                  <a:tcPr marL="91440" marR="91440" anchor="ctr">
                    <a:solidFill>
                      <a:srgbClr val="FFFFFF"/>
                    </a:solidFill>
                  </a:tcPr>
                </a:tc>
                <a:tc>
                  <a:txBody>
                    <a:bodyPr wrap="square"/>
                    <a:lstStyle/>
                    <a:p>
                      <a:r>
                        <a:rPr sz="1600" b="0">
                          <a:solidFill>
                            <a:srgbClr val="202122"/>
                          </a:solidFill>
                          <a:latin typeface="Calibri"/>
                        </a:rPr>
                        <a:t>=IF(D2&gt;48,"Breach","OK") to flag SLA breaches</a:t>
                      </a:r>
                    </a:p>
                  </a:txBody>
                  <a:tcPr marL="91440" marR="91440" anchor="ctr">
                    <a:solidFill>
                      <a:srgbClr val="FFFFFF"/>
                    </a:solidFill>
                  </a:tcPr>
                </a:tc>
              </a:tr>
              <a:tr h="754380">
                <a:tc>
                  <a:txBody>
                    <a:bodyPr wrap="square"/>
                    <a:lstStyle/>
                    <a:p>
                      <a:r>
                        <a:rPr sz="1600" b="1">
                          <a:solidFill>
                            <a:srgbClr val="03306E"/>
                          </a:solidFill>
                          <a:latin typeface="Calibri"/>
                        </a:rPr>
                        <a:t>COUNTIF</a:t>
                      </a:r>
                    </a:p>
                  </a:txBody>
                  <a:tcPr marL="91440" marR="91440" anchor="ctr">
                    <a:solidFill>
                      <a:srgbClr val="EAF3FF"/>
                    </a:solidFill>
                  </a:tcPr>
                </a:tc>
                <a:tc>
                  <a:txBody>
                    <a:bodyPr wrap="square"/>
                    <a:lstStyle/>
                    <a:p>
                      <a:r>
                        <a:rPr sz="1600" b="0">
                          <a:solidFill>
                            <a:srgbClr val="202122"/>
                          </a:solidFill>
                          <a:latin typeface="Calibri"/>
                        </a:rPr>
                        <a:t>=COUNTIF(C2:C100,"Printer") to count printer faults</a:t>
                      </a:r>
                    </a:p>
                  </a:txBody>
                  <a:tcPr marL="91440" marR="91440" anchor="ctr">
                    <a:solidFill>
                      <a:srgbClr val="EAF3FF"/>
                    </a:solidFill>
                  </a:tcPr>
                </a:tc>
              </a:tr>
              <a:tr h="754380">
                <a:tc>
                  <a:txBody>
                    <a:bodyPr wrap="square"/>
                    <a:lstStyle/>
                    <a:p>
                      <a:r>
                        <a:rPr sz="1600" b="1">
                          <a:solidFill>
                            <a:srgbClr val="03306E"/>
                          </a:solidFill>
                          <a:latin typeface="Calibri"/>
                        </a:rPr>
                        <a:t>Import from text files</a:t>
                      </a:r>
                    </a:p>
                  </a:txBody>
                  <a:tcPr marL="91440" marR="91440" anchor="ctr">
                    <a:solidFill>
                      <a:srgbClr val="FFFFFF"/>
                    </a:solidFill>
                  </a:tcPr>
                </a:tc>
                <a:tc>
                  <a:txBody>
                    <a:bodyPr wrap="square"/>
                    <a:lstStyle/>
                    <a:p>
                      <a:r>
                        <a:rPr sz="1600" b="0">
                          <a:solidFill>
                            <a:srgbClr val="202122"/>
                          </a:solidFill>
                          <a:latin typeface="Calibri"/>
                        </a:rPr>
                        <a:t>Load a CSV log into a worksheet for analysis</a:t>
                      </a:r>
                    </a:p>
                  </a:txBody>
                  <a:tcPr marL="91440" marR="91440"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Interrogating data in a spreadsheet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function counts cells that match a condition?</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does =AVERAGE(D2:D10) do?</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import data from CSV files?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6 Vs of Big Data</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Big Data is data too large or complex for ordinary tools. The 6 Vs describe what makes it hard.</a:t>
            </a:r>
          </a:p>
          <a:p>
            <a:pPr>
              <a:spcAft>
                <a:spcPts val="1320"/>
              </a:spcAft>
            </a:pPr>
            <a:r>
              <a:rPr sz="2200" b="1">
                <a:solidFill>
                  <a:srgbClr val="202122"/>
                </a:solidFill>
                <a:latin typeface="Calibri"/>
              </a:rPr>
              <a:t>Volume:</a:t>
            </a:r>
            <a:r>
              <a:rPr sz="2200" b="0">
                <a:solidFill>
                  <a:srgbClr val="202122"/>
                </a:solidFill>
                <a:latin typeface="Calibri"/>
              </a:rPr>
              <a:t> the sheer amount. Variety: many types, from text to video to sensor readings. Variability: its meaning and flow change over time. Velocity: the speed it arrives and must be processed. Veracity: how trustworthy it is. Value: the useful insight it gives.</a:t>
            </a:r>
          </a:p>
          <a:p>
            <a:pPr>
              <a:spcAft>
                <a:spcPts val="1320"/>
              </a:spcAft>
            </a:pPr>
            <a:r>
              <a:rPr sz="2200" b="1">
                <a:solidFill>
                  <a:srgbClr val="202122"/>
                </a:solidFill>
                <a:latin typeface="Calibri"/>
              </a:rPr>
              <a:t>Quality assurance keeps data usable:</a:t>
            </a:r>
            <a:r>
              <a:rPr sz="2200" b="0">
                <a:solidFill>
                  <a:srgbClr val="202122"/>
                </a:solidFill>
                <a:latin typeface="Calibri"/>
              </a:rPr>
              <a:t> validation, verification, reliability, consistency, integrity and redundancy. How well data is maintained depends on time, skills and cost.</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streaming service logs millions of plays a minute (volume, velocity), from TVs, phones and consoles (variety), to decide what to recommend (value).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The 6 Vs of Big Data</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Volume</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2000" b="0" i="0">
                <a:solidFill>
                  <a:srgbClr val="202122"/>
                </a:solidFill>
                <a:latin typeface="Calibri"/>
              </a:rPr>
              <a:t>The sheer amount of data.</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Variety</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Many types: text, images, sensor readings.</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Variability</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2000" b="0" i="0">
                <a:solidFill>
                  <a:srgbClr val="202122"/>
                </a:solidFill>
                <a:latin typeface="Calibri"/>
              </a:rPr>
              <a:t>Meaning and flow change over time.</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Velocity</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2000" b="0" i="0">
                <a:solidFill>
                  <a:srgbClr val="202122"/>
                </a:solidFill>
                <a:latin typeface="Calibri"/>
              </a:rPr>
              <a:t>How fast data arrives and must be processed.</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900" b="1" i="0">
                <a:solidFill>
                  <a:srgbClr val="03306E"/>
                </a:solidFill>
                <a:latin typeface="Calibri"/>
              </a:rPr>
              <a:t>Veracity</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How accurate and trustworthy it is.</a:t>
            </a:r>
          </a:p>
        </p:txBody>
      </p:sp>
      <p:sp>
        <p:nvSpPr>
          <p:cNvPr id="26" name="Rounded Rectangle 25"/>
          <p:cNvSpPr/>
          <p:nvPr/>
        </p:nvSpPr>
        <p:spPr>
          <a:xfrm>
            <a:off x="8127796"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356396"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6</a:t>
            </a:r>
          </a:p>
        </p:txBody>
      </p:sp>
      <p:sp>
        <p:nvSpPr>
          <p:cNvPr id="28" name="TextBox 27"/>
          <p:cNvSpPr txBox="1"/>
          <p:nvPr/>
        </p:nvSpPr>
        <p:spPr>
          <a:xfrm>
            <a:off x="8950756" y="4224528"/>
            <a:ext cx="2509418" cy="512064"/>
          </a:xfrm>
          <a:prstGeom prst="rect">
            <a:avLst/>
          </a:prstGeom>
          <a:noFill/>
        </p:spPr>
        <p:txBody>
          <a:bodyPr wrap="square" anchor="ctr" lIns="0" rIns="0" tIns="0" bIns="0"/>
          <a:lstStyle/>
          <a:p>
            <a:pPr algn="l"/>
            <a:r>
              <a:rPr sz="1900" b="1" i="0">
                <a:solidFill>
                  <a:srgbClr val="03306E"/>
                </a:solidFill>
                <a:latin typeface="Calibri"/>
              </a:rPr>
              <a:t>Value</a:t>
            </a:r>
          </a:p>
        </p:txBody>
      </p:sp>
      <p:sp>
        <p:nvSpPr>
          <p:cNvPr id="29" name="TextBox 28"/>
          <p:cNvSpPr txBox="1"/>
          <p:nvPr/>
        </p:nvSpPr>
        <p:spPr>
          <a:xfrm>
            <a:off x="8356396" y="4892040"/>
            <a:ext cx="3058058" cy="1143000"/>
          </a:xfrm>
          <a:prstGeom prst="rect">
            <a:avLst/>
          </a:prstGeom>
          <a:noFill/>
        </p:spPr>
        <p:txBody>
          <a:bodyPr wrap="square" anchor="t" lIns="0" rIns="0" tIns="0" bIns="0"/>
          <a:lstStyle/>
          <a:p>
            <a:pPr algn="l"/>
            <a:r>
              <a:rPr sz="2000" b="0" i="0">
                <a:solidFill>
                  <a:srgbClr val="202122"/>
                </a:solidFill>
                <a:latin typeface="Calibri"/>
              </a:rPr>
              <a:t>What useful insight it gives.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The 6 Vs of Big Data</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V is about speed?</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Which V is about trustworthiness?</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Name two data quality assurance methods.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wrangling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Raw data is rarely ready to use. Data wrangling prepares it in five steps.</a:t>
            </a:r>
          </a:p>
          <a:p>
            <a:pPr>
              <a:spcAft>
                <a:spcPts val="1260"/>
              </a:spcAft>
            </a:pPr>
            <a:r>
              <a:rPr sz="2100" b="0">
                <a:solidFill>
                  <a:srgbClr val="202122"/>
                </a:solidFill>
                <a:latin typeface="Calibri"/>
              </a:rPr>
              <a:t>Structure it into a usable layout, such as consistent columns. Clean it by fixing errors and removing duplicates. Validate it against rules. Enrich it by adding useful data from other sources. Output it for analysis or another system.</a:t>
            </a:r>
          </a:p>
          <a:p>
            <a:pPr>
              <a:spcAft>
                <a:spcPts val="1260"/>
              </a:spcAft>
            </a:pPr>
            <a:r>
              <a:rPr sz="2100" b="0">
                <a:solidFill>
                  <a:srgbClr val="202122"/>
                </a:solidFill>
                <a:latin typeface="Calibri"/>
              </a:rPr>
              <a:t>Data entry errors are a big source of problems. Transcription errors are copying mistakes ('Smtih'); transposition errors swap characters (1234 becomes 1243). Validation, double-entry verification, drop-down menus and pre-filled fields reduce them.</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support log has 'UK', 'U.K.' and 'United Kingdom' in one column. Cleaning standardises them; a drop-down on the form stops it happening again.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wrangling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Rectangle 5"/>
          <p:cNvSpPr/>
          <p:nvPr/>
        </p:nvSpPr>
        <p:spPr>
          <a:xfrm>
            <a:off x="1603217" y="2382012"/>
            <a:ext cx="8985260"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283177" y="208026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2857500"/>
            <a:ext cx="2109155" cy="731520"/>
          </a:xfrm>
          <a:prstGeom prst="rect">
            <a:avLst/>
          </a:prstGeom>
          <a:noFill/>
        </p:spPr>
        <p:txBody>
          <a:bodyPr wrap="square" anchor="t" lIns="0" rIns="0" tIns="0" bIns="0"/>
          <a:lstStyle/>
          <a:p>
            <a:pPr algn="ctr"/>
            <a:r>
              <a:rPr sz="1700" b="1" i="0">
                <a:solidFill>
                  <a:srgbClr val="03306E"/>
                </a:solidFill>
                <a:latin typeface="Calibri"/>
              </a:rPr>
              <a:t>Structure</a:t>
            </a:r>
          </a:p>
        </p:txBody>
      </p:sp>
      <p:sp>
        <p:nvSpPr>
          <p:cNvPr id="9" name="Rounded Rectangle 8"/>
          <p:cNvSpPr/>
          <p:nvPr/>
        </p:nvSpPr>
        <p:spPr>
          <a:xfrm>
            <a:off x="548640" y="3634740"/>
            <a:ext cx="2109155"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3771900"/>
            <a:ext cx="1834835" cy="960119"/>
          </a:xfrm>
          <a:prstGeom prst="rect">
            <a:avLst/>
          </a:prstGeom>
          <a:noFill/>
        </p:spPr>
        <p:txBody>
          <a:bodyPr wrap="square" anchor="t" lIns="0" rIns="0" tIns="0" bIns="0"/>
          <a:lstStyle/>
          <a:p>
            <a:pPr algn="l"/>
            <a:r>
              <a:rPr sz="1800" b="0" i="0">
                <a:solidFill>
                  <a:srgbClr val="202122"/>
                </a:solidFill>
                <a:latin typeface="Calibri"/>
              </a:rPr>
              <a:t>Put raw data into a usable shape.</a:t>
            </a:r>
          </a:p>
        </p:txBody>
      </p:sp>
      <p:sp>
        <p:nvSpPr>
          <p:cNvPr id="11" name="Oval 10"/>
          <p:cNvSpPr/>
          <p:nvPr/>
        </p:nvSpPr>
        <p:spPr>
          <a:xfrm>
            <a:off x="3529492" y="208026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2794955" y="2857500"/>
            <a:ext cx="2109155" cy="731520"/>
          </a:xfrm>
          <a:prstGeom prst="rect">
            <a:avLst/>
          </a:prstGeom>
          <a:noFill/>
        </p:spPr>
        <p:txBody>
          <a:bodyPr wrap="square" anchor="t" lIns="0" rIns="0" tIns="0" bIns="0"/>
          <a:lstStyle/>
          <a:p>
            <a:pPr algn="ctr"/>
            <a:r>
              <a:rPr sz="1700" b="1" i="0">
                <a:solidFill>
                  <a:srgbClr val="03306E"/>
                </a:solidFill>
                <a:latin typeface="Calibri"/>
              </a:rPr>
              <a:t>Clean</a:t>
            </a:r>
          </a:p>
        </p:txBody>
      </p:sp>
      <p:sp>
        <p:nvSpPr>
          <p:cNvPr id="13" name="Rounded Rectangle 12"/>
          <p:cNvSpPr/>
          <p:nvPr/>
        </p:nvSpPr>
        <p:spPr>
          <a:xfrm>
            <a:off x="2794955" y="3634740"/>
            <a:ext cx="2109155"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932115" y="3771900"/>
            <a:ext cx="1834835" cy="960119"/>
          </a:xfrm>
          <a:prstGeom prst="rect">
            <a:avLst/>
          </a:prstGeom>
          <a:noFill/>
        </p:spPr>
        <p:txBody>
          <a:bodyPr wrap="square" anchor="t" lIns="0" rIns="0" tIns="0" bIns="0"/>
          <a:lstStyle/>
          <a:p>
            <a:pPr algn="l"/>
            <a:r>
              <a:rPr sz="1800" b="0" i="0">
                <a:solidFill>
                  <a:srgbClr val="202122"/>
                </a:solidFill>
                <a:latin typeface="Calibri"/>
              </a:rPr>
              <a:t>Remove errors and duplicates.</a:t>
            </a:r>
          </a:p>
        </p:txBody>
      </p:sp>
      <p:sp>
        <p:nvSpPr>
          <p:cNvPr id="15" name="Oval 14"/>
          <p:cNvSpPr/>
          <p:nvPr/>
        </p:nvSpPr>
        <p:spPr>
          <a:xfrm>
            <a:off x="5775807" y="208026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5041270" y="2857500"/>
            <a:ext cx="2109155" cy="731520"/>
          </a:xfrm>
          <a:prstGeom prst="rect">
            <a:avLst/>
          </a:prstGeom>
          <a:noFill/>
        </p:spPr>
        <p:txBody>
          <a:bodyPr wrap="square" anchor="t" lIns="0" rIns="0" tIns="0" bIns="0"/>
          <a:lstStyle/>
          <a:p>
            <a:pPr algn="ctr"/>
            <a:r>
              <a:rPr sz="1700" b="1" i="0">
                <a:solidFill>
                  <a:srgbClr val="03306E"/>
                </a:solidFill>
                <a:latin typeface="Calibri"/>
              </a:rPr>
              <a:t>Validate</a:t>
            </a:r>
          </a:p>
        </p:txBody>
      </p:sp>
      <p:sp>
        <p:nvSpPr>
          <p:cNvPr id="17" name="Rounded Rectangle 16"/>
          <p:cNvSpPr/>
          <p:nvPr/>
        </p:nvSpPr>
        <p:spPr>
          <a:xfrm>
            <a:off x="5041270" y="3634740"/>
            <a:ext cx="2109155"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178430" y="3771900"/>
            <a:ext cx="1834835" cy="960119"/>
          </a:xfrm>
          <a:prstGeom prst="rect">
            <a:avLst/>
          </a:prstGeom>
          <a:noFill/>
        </p:spPr>
        <p:txBody>
          <a:bodyPr wrap="square" anchor="t" lIns="0" rIns="0" tIns="0" bIns="0"/>
          <a:lstStyle/>
          <a:p>
            <a:pPr algn="l"/>
            <a:r>
              <a:rPr sz="1800" b="0" i="0">
                <a:solidFill>
                  <a:srgbClr val="202122"/>
                </a:solidFill>
                <a:latin typeface="Calibri"/>
              </a:rPr>
              <a:t>Check the data meets rules.</a:t>
            </a:r>
          </a:p>
        </p:txBody>
      </p:sp>
      <p:sp>
        <p:nvSpPr>
          <p:cNvPr id="19" name="Oval 18"/>
          <p:cNvSpPr/>
          <p:nvPr/>
        </p:nvSpPr>
        <p:spPr>
          <a:xfrm>
            <a:off x="8022122" y="208026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4</a:t>
            </a:r>
          </a:p>
        </p:txBody>
      </p:sp>
      <p:sp>
        <p:nvSpPr>
          <p:cNvPr id="20" name="TextBox 19"/>
          <p:cNvSpPr txBox="1"/>
          <p:nvPr/>
        </p:nvSpPr>
        <p:spPr>
          <a:xfrm>
            <a:off x="7287585" y="2857500"/>
            <a:ext cx="2109155" cy="731520"/>
          </a:xfrm>
          <a:prstGeom prst="rect">
            <a:avLst/>
          </a:prstGeom>
          <a:noFill/>
        </p:spPr>
        <p:txBody>
          <a:bodyPr wrap="square" anchor="t" lIns="0" rIns="0" tIns="0" bIns="0"/>
          <a:lstStyle/>
          <a:p>
            <a:pPr algn="ctr"/>
            <a:r>
              <a:rPr sz="1700" b="1" i="0">
                <a:solidFill>
                  <a:srgbClr val="03306E"/>
                </a:solidFill>
                <a:latin typeface="Calibri"/>
              </a:rPr>
              <a:t>Enrich</a:t>
            </a:r>
          </a:p>
        </p:txBody>
      </p:sp>
      <p:sp>
        <p:nvSpPr>
          <p:cNvPr id="21" name="Rounded Rectangle 20"/>
          <p:cNvSpPr/>
          <p:nvPr/>
        </p:nvSpPr>
        <p:spPr>
          <a:xfrm>
            <a:off x="7287585" y="3634740"/>
            <a:ext cx="2109155"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24745" y="3771900"/>
            <a:ext cx="1834835" cy="960119"/>
          </a:xfrm>
          <a:prstGeom prst="rect">
            <a:avLst/>
          </a:prstGeom>
          <a:noFill/>
        </p:spPr>
        <p:txBody>
          <a:bodyPr wrap="square" anchor="t" lIns="0" rIns="0" tIns="0" bIns="0"/>
          <a:lstStyle/>
          <a:p>
            <a:pPr algn="l"/>
            <a:r>
              <a:rPr sz="1800" b="0" i="0">
                <a:solidFill>
                  <a:srgbClr val="202122"/>
                </a:solidFill>
                <a:latin typeface="Calibri"/>
              </a:rPr>
              <a:t>Add useful extra data.</a:t>
            </a:r>
          </a:p>
        </p:txBody>
      </p:sp>
      <p:sp>
        <p:nvSpPr>
          <p:cNvPr id="23" name="Oval 22"/>
          <p:cNvSpPr/>
          <p:nvPr/>
        </p:nvSpPr>
        <p:spPr>
          <a:xfrm>
            <a:off x="10268437" y="2080260"/>
            <a:ext cx="640080" cy="6400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5</a:t>
            </a:r>
          </a:p>
        </p:txBody>
      </p:sp>
      <p:sp>
        <p:nvSpPr>
          <p:cNvPr id="24" name="TextBox 23"/>
          <p:cNvSpPr txBox="1"/>
          <p:nvPr/>
        </p:nvSpPr>
        <p:spPr>
          <a:xfrm>
            <a:off x="9533900" y="2857500"/>
            <a:ext cx="2109155" cy="731520"/>
          </a:xfrm>
          <a:prstGeom prst="rect">
            <a:avLst/>
          </a:prstGeom>
          <a:noFill/>
        </p:spPr>
        <p:txBody>
          <a:bodyPr wrap="square" anchor="t" lIns="0" rIns="0" tIns="0" bIns="0"/>
          <a:lstStyle/>
          <a:p>
            <a:pPr algn="ctr"/>
            <a:r>
              <a:rPr sz="1700" b="1" i="0">
                <a:solidFill>
                  <a:srgbClr val="03306E"/>
                </a:solidFill>
                <a:latin typeface="Calibri"/>
              </a:rPr>
              <a:t>Output</a:t>
            </a:r>
          </a:p>
        </p:txBody>
      </p:sp>
      <p:sp>
        <p:nvSpPr>
          <p:cNvPr id="25" name="Rounded Rectangle 24"/>
          <p:cNvSpPr/>
          <p:nvPr/>
        </p:nvSpPr>
        <p:spPr>
          <a:xfrm>
            <a:off x="9533900" y="3634740"/>
            <a:ext cx="2109155"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671060" y="3771900"/>
            <a:ext cx="1834835" cy="960119"/>
          </a:xfrm>
          <a:prstGeom prst="rect">
            <a:avLst/>
          </a:prstGeom>
          <a:noFill/>
        </p:spPr>
        <p:txBody>
          <a:bodyPr wrap="square" anchor="t" lIns="0" rIns="0" tIns="0" bIns="0"/>
          <a:lstStyle/>
          <a:p>
            <a:pPr algn="l"/>
            <a:r>
              <a:rPr sz="1800" b="0" i="0">
                <a:solidFill>
                  <a:srgbClr val="202122"/>
                </a:solidFill>
                <a:latin typeface="Calibri"/>
              </a:rPr>
              <a:t>Deliver it for analysis.</a:t>
            </a:r>
          </a:p>
        </p:txBody>
      </p:sp>
      <p:sp>
        <p:nvSpPr>
          <p:cNvPr id="27" name="TextBox 26"/>
          <p:cNvSpPr txBox="1"/>
          <p:nvPr/>
        </p:nvSpPr>
        <p:spPr>
          <a:xfrm>
            <a:off x="548640" y="5143500"/>
            <a:ext cx="11094415" cy="548640"/>
          </a:xfrm>
          <a:prstGeom prst="rect">
            <a:avLst/>
          </a:prstGeom>
          <a:noFill/>
        </p:spPr>
        <p:txBody>
          <a:bodyPr wrap="square" anchor="t" lIns="0" rIns="0" tIns="0" bIns="0"/>
          <a:lstStyle/>
          <a:p>
            <a:pPr algn="l"/>
            <a:r>
              <a:rPr sz="1600" b="0" i="1">
                <a:solidFill>
                  <a:srgbClr val="54595D"/>
                </a:solidFill>
                <a:latin typeface="Calibri"/>
              </a:rPr>
              <a:t>Core functions of a data system: input, search, save, integrate, organise (index), output and a feedback loop.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Data wrangling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are the five data wrangling steps?</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a transposition error?</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How does a drop-down menu reduce errors?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entry errors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Types of error</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Transcription:</a:t>
            </a:r>
            <a:r>
              <a:rPr sz="2200" b="0">
                <a:solidFill>
                  <a:srgbClr val="202122"/>
                </a:solidFill>
                <a:latin typeface="Calibri"/>
              </a:rPr>
              <a:t> copying wrongly, e.g. typing 'Smtih'</a:t>
            </a:r>
          </a:p>
          <a:p>
            <a:pPr marL="274320" indent="-274320">
              <a:spcAft>
                <a:spcPts val="990"/>
              </a:spcAft>
              <a:buClr>
                <a:srgbClr val="0645AD"/>
              </a:buClr>
              <a:buFont typeface="Arial"/>
              <a:buChar char="•"/>
            </a:pPr>
            <a:r>
              <a:rPr sz="2200" b="1">
                <a:solidFill>
                  <a:srgbClr val="202122"/>
                </a:solidFill>
                <a:latin typeface="Calibri"/>
              </a:rPr>
              <a:t>Transposition:</a:t>
            </a:r>
            <a:r>
              <a:rPr sz="2200" b="0">
                <a:solidFill>
                  <a:srgbClr val="202122"/>
                </a:solidFill>
                <a:latin typeface="Calibri"/>
              </a:rPr>
              <a:t> swapping characters, e.g. 1234 becomes 1243</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Ways to reduce them</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Input validation</a:t>
            </a:r>
          </a:p>
          <a:p>
            <a:pPr marL="274320" indent="-274320">
              <a:spcAft>
                <a:spcPts val="990"/>
              </a:spcAft>
              <a:buClr>
                <a:srgbClr val="0645AD"/>
              </a:buClr>
              <a:buFont typeface="Arial"/>
              <a:buChar char="•"/>
            </a:pPr>
            <a:r>
              <a:rPr sz="2200" b="0">
                <a:solidFill>
                  <a:srgbClr val="202122"/>
                </a:solidFill>
                <a:latin typeface="Calibri"/>
              </a:rPr>
              <a:t>Double-entry verification</a:t>
            </a:r>
          </a:p>
          <a:p>
            <a:pPr marL="274320" indent="-274320">
              <a:spcAft>
                <a:spcPts val="990"/>
              </a:spcAft>
              <a:buClr>
                <a:srgbClr val="0645AD"/>
              </a:buClr>
              <a:buFont typeface="Arial"/>
              <a:buChar char="•"/>
            </a:pPr>
            <a:r>
              <a:rPr sz="2200" b="0">
                <a:solidFill>
                  <a:srgbClr val="202122"/>
                </a:solidFill>
                <a:latin typeface="Calibri"/>
              </a:rPr>
              <a:t>Drop-down menus</a:t>
            </a:r>
          </a:p>
          <a:p>
            <a:pPr marL="274320" indent="-274320">
              <a:spcAft>
                <a:spcPts val="990"/>
              </a:spcAft>
              <a:buClr>
                <a:srgbClr val="0645AD"/>
              </a:buClr>
              <a:buFont typeface="Arial"/>
              <a:buChar char="•"/>
            </a:pPr>
            <a:r>
              <a:rPr sz="2200" b="0">
                <a:solidFill>
                  <a:srgbClr val="202122"/>
                </a:solidFill>
                <a:latin typeface="Calibri"/>
              </a:rPr>
              <a:t>Pre-filled fields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models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A data model decides how data is organised and linked.</a:t>
            </a:r>
          </a:p>
          <a:p>
            <a:pPr>
              <a:spcAft>
                <a:spcPts val="1200"/>
              </a:spcAft>
            </a:pPr>
            <a:r>
              <a:rPr sz="2000" b="1">
                <a:solidFill>
                  <a:srgbClr val="202122"/>
                </a:solidFill>
                <a:latin typeface="Calibri"/>
              </a:rPr>
              <a:t>Hierarchical:</a:t>
            </a:r>
            <a:r>
              <a:rPr sz="2000" b="0">
                <a:solidFill>
                  <a:srgbClr val="202122"/>
                </a:solidFill>
                <a:latin typeface="Calibri"/>
              </a:rPr>
              <a:t> a tree of parents and children, like folders on a drive. Fast when you follow one path, but awkward when a record belongs in two places.</a:t>
            </a:r>
          </a:p>
          <a:p>
            <a:pPr>
              <a:spcAft>
                <a:spcPts val="1200"/>
              </a:spcAft>
            </a:pPr>
            <a:r>
              <a:rPr sz="2000" b="1">
                <a:solidFill>
                  <a:srgbClr val="202122"/>
                </a:solidFill>
                <a:latin typeface="Calibri"/>
              </a:rPr>
              <a:t>Network:</a:t>
            </a:r>
            <a:r>
              <a:rPr sz="2000" b="0">
                <a:solidFill>
                  <a:srgbClr val="202122"/>
                </a:solidFill>
                <a:latin typeface="Calibri"/>
              </a:rPr>
              <a:t> records can have many links to many others, which is flexible but complex to build.</a:t>
            </a:r>
          </a:p>
          <a:p>
            <a:pPr>
              <a:spcAft>
                <a:spcPts val="1200"/>
              </a:spcAft>
            </a:pPr>
            <a:r>
              <a:rPr sz="2000" b="1">
                <a:solidFill>
                  <a:srgbClr val="202122"/>
                </a:solidFill>
                <a:latin typeface="Calibri"/>
              </a:rPr>
              <a:t>Relational:</a:t>
            </a:r>
            <a:r>
              <a:rPr sz="2000" b="0">
                <a:solidFill>
                  <a:srgbClr val="202122"/>
                </a:solidFill>
                <a:latin typeface="Calibri"/>
              </a:rPr>
              <a:t> data is split into tables of rows and columns, linked by keys. It avoids duplicating data, is easy to query with SQL and is the most common model today.</a:t>
            </a:r>
          </a:p>
          <a:p>
            <a:pPr>
              <a:spcAft>
                <a:spcPts val="1200"/>
              </a:spcAft>
            </a:pPr>
            <a:r>
              <a:rPr sz="2000" b="0">
                <a:solidFill>
                  <a:srgbClr val="202122"/>
                </a:solidFill>
                <a:latin typeface="Calibri"/>
              </a:rPr>
              <a:t>The choice depends on access efficiency, storage efficiency and how complex it is to build.</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relational helpdesk database: a Users table and a Tickets table, linked because each ticket stores the user's ID.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Data models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17</a:t>
            </a:r>
          </a:p>
        </p:txBody>
      </p:sp>
      <p:sp>
        <p:nvSpPr>
          <p:cNvPr id="6" name="Rounded Rectangle 5"/>
          <p:cNvSpPr/>
          <p:nvPr/>
        </p:nvSpPr>
        <p:spPr>
          <a:xfrm>
            <a:off x="548640"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Hierarchical</a:t>
            </a:r>
          </a:p>
        </p:txBody>
      </p:sp>
      <p:sp>
        <p:nvSpPr>
          <p:cNvPr id="9" name="TextBox 8"/>
          <p:cNvSpPr txBox="1"/>
          <p:nvPr/>
        </p:nvSpPr>
        <p:spPr>
          <a:xfrm>
            <a:off x="777240" y="2468880"/>
            <a:ext cx="3058058" cy="3566160"/>
          </a:xfrm>
          <a:prstGeom prst="rect">
            <a:avLst/>
          </a:prstGeom>
          <a:noFill/>
        </p:spPr>
        <p:txBody>
          <a:bodyPr wrap="square" anchor="t" lIns="0" rIns="0" tIns="0" bIns="0"/>
          <a:lstStyle/>
          <a:p>
            <a:pPr algn="l"/>
            <a:r>
              <a:rPr sz="2000" b="0" i="0">
                <a:solidFill>
                  <a:srgbClr val="202122"/>
                </a:solidFill>
                <a:latin typeface="Calibri"/>
              </a:rPr>
              <a:t>Parent and child tree. Fast for one path, poor for many-to-many links.</a:t>
            </a:r>
          </a:p>
        </p:txBody>
      </p:sp>
      <p:sp>
        <p:nvSpPr>
          <p:cNvPr id="10" name="Rounded Rectangle 9"/>
          <p:cNvSpPr/>
          <p:nvPr/>
        </p:nvSpPr>
        <p:spPr>
          <a:xfrm>
            <a:off x="4338218"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Network</a:t>
            </a:r>
          </a:p>
        </p:txBody>
      </p:sp>
      <p:sp>
        <p:nvSpPr>
          <p:cNvPr id="13" name="TextBox 12"/>
          <p:cNvSpPr txBox="1"/>
          <p:nvPr/>
        </p:nvSpPr>
        <p:spPr>
          <a:xfrm>
            <a:off x="4566818" y="2468880"/>
            <a:ext cx="3058058" cy="3566160"/>
          </a:xfrm>
          <a:prstGeom prst="rect">
            <a:avLst/>
          </a:prstGeom>
          <a:noFill/>
        </p:spPr>
        <p:txBody>
          <a:bodyPr wrap="square" anchor="t" lIns="0" rIns="0" tIns="0" bIns="0"/>
          <a:lstStyle/>
          <a:p>
            <a:pPr algn="l"/>
            <a:r>
              <a:rPr sz="2000" b="0" i="0">
                <a:solidFill>
                  <a:srgbClr val="202122"/>
                </a:solidFill>
                <a:latin typeface="Calibri"/>
              </a:rPr>
              <a:t>Records can have many parents. Flexible but complex to build.</a:t>
            </a:r>
          </a:p>
        </p:txBody>
      </p:sp>
      <p:sp>
        <p:nvSpPr>
          <p:cNvPr id="14" name="Rounded Rectangle 13"/>
          <p:cNvSpPr/>
          <p:nvPr/>
        </p:nvSpPr>
        <p:spPr>
          <a:xfrm>
            <a:off x="8127796"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Relational</a:t>
            </a:r>
          </a:p>
        </p:txBody>
      </p:sp>
      <p:sp>
        <p:nvSpPr>
          <p:cNvPr id="17" name="TextBox 16"/>
          <p:cNvSpPr txBox="1"/>
          <p:nvPr/>
        </p:nvSpPr>
        <p:spPr>
          <a:xfrm>
            <a:off x="8356396" y="2468880"/>
            <a:ext cx="3058058" cy="3566160"/>
          </a:xfrm>
          <a:prstGeom prst="rect">
            <a:avLst/>
          </a:prstGeom>
          <a:noFill/>
        </p:spPr>
        <p:txBody>
          <a:bodyPr wrap="square" anchor="t" lIns="0" rIns="0" tIns="0" bIns="0"/>
          <a:lstStyle/>
          <a:p>
            <a:pPr algn="l"/>
            <a:r>
              <a:rPr sz="2000" b="0" i="0">
                <a:solidFill>
                  <a:srgbClr val="202122"/>
                </a:solidFill>
                <a:latin typeface="Calibri"/>
              </a:rPr>
              <a:t>Tables of rows and columns linked by keys. The most common today.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Data models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18</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data model uses tables linked by keys?</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structure does a hierarchical model use?</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is the relational model popular?</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Access and analysis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19</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Permissions control who can read or change data. Role-based access control (RBAC) grants access by job role, such as all nurses. Rule-based access control (RuBAC) uses rules, such as no access outside working hours. APIs let other software request data in a controlled way.</a:t>
            </a:r>
          </a:p>
          <a:p>
            <a:pPr>
              <a:spcAft>
                <a:spcPts val="1200"/>
              </a:spcAft>
            </a:pPr>
            <a:r>
              <a:rPr sz="2000" b="0">
                <a:solidFill>
                  <a:srgbClr val="202122"/>
                </a:solidFill>
                <a:latin typeface="Calibri"/>
              </a:rPr>
              <a:t>For Big Data analysis, a data warehouse stores cleaned, structured data from many sources; a data lake stores raw data in any format; a data mart is a smaller subset for one department.</a:t>
            </a:r>
          </a:p>
          <a:p>
            <a:pPr>
              <a:spcAft>
                <a:spcPts val="1200"/>
              </a:spcAft>
            </a:pPr>
            <a:r>
              <a:rPr sz="2000" b="0">
                <a:solidFill>
                  <a:srgbClr val="202122"/>
                </a:solidFill>
                <a:latin typeface="Calibri"/>
              </a:rPr>
              <a:t>Data mining finds hidden patterns and reporting presents results. Together they produce business intelligence for planning and customer relationship management.</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retailer's data lake holds raw web clicks; the warehouse holds cleaned sales; the marketing data mart feeds a weekly report.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Access and analysis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20</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Access across platforms</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Permissions:</a:t>
            </a:r>
            <a:r>
              <a:rPr sz="2200" b="0">
                <a:solidFill>
                  <a:srgbClr val="202122"/>
                </a:solidFill>
                <a:latin typeface="Calibri"/>
              </a:rPr>
              <a:t> authorisation, privileges, access rights, rules</a:t>
            </a:r>
          </a:p>
          <a:p>
            <a:pPr marL="274320" indent="-274320">
              <a:spcAft>
                <a:spcPts val="990"/>
              </a:spcAft>
              <a:buClr>
                <a:srgbClr val="0645AD"/>
              </a:buClr>
              <a:buFont typeface="Arial"/>
              <a:buChar char="•"/>
            </a:pPr>
            <a:r>
              <a:rPr sz="2200" b="1">
                <a:solidFill>
                  <a:srgbClr val="202122"/>
                </a:solidFill>
                <a:latin typeface="Calibri"/>
              </a:rPr>
              <a:t>RBAC:</a:t>
            </a:r>
            <a:r>
              <a:rPr sz="2200" b="0">
                <a:solidFill>
                  <a:srgbClr val="202122"/>
                </a:solidFill>
                <a:latin typeface="Calibri"/>
              </a:rPr>
              <a:t> access by job role</a:t>
            </a:r>
          </a:p>
          <a:p>
            <a:pPr marL="274320" indent="-274320">
              <a:spcAft>
                <a:spcPts val="990"/>
              </a:spcAft>
              <a:buClr>
                <a:srgbClr val="0645AD"/>
              </a:buClr>
              <a:buFont typeface="Arial"/>
              <a:buChar char="•"/>
            </a:pPr>
            <a:r>
              <a:rPr sz="2200" b="1">
                <a:solidFill>
                  <a:srgbClr val="202122"/>
                </a:solidFill>
                <a:latin typeface="Calibri"/>
              </a:rPr>
              <a:t>RuBAC:</a:t>
            </a:r>
            <a:r>
              <a:rPr sz="2200" b="0">
                <a:solidFill>
                  <a:srgbClr val="202122"/>
                </a:solidFill>
                <a:latin typeface="Calibri"/>
              </a:rPr>
              <a:t> access by rules, e.g. time of day</a:t>
            </a:r>
          </a:p>
          <a:p>
            <a:pPr marL="274320" indent="-274320">
              <a:spcAft>
                <a:spcPts val="990"/>
              </a:spcAft>
              <a:buClr>
                <a:srgbClr val="0645AD"/>
              </a:buClr>
              <a:buFont typeface="Arial"/>
              <a:buChar char="•"/>
            </a:pPr>
            <a:r>
              <a:rPr sz="2200" b="1">
                <a:solidFill>
                  <a:srgbClr val="202122"/>
                </a:solidFill>
                <a:latin typeface="Calibri"/>
              </a:rPr>
              <a:t>APIs:</a:t>
            </a:r>
            <a:r>
              <a:rPr sz="2200" b="0">
                <a:solidFill>
                  <a:srgbClr val="202122"/>
                </a:solidFill>
                <a:latin typeface="Calibri"/>
              </a:rPr>
              <a:t> controlled access for other software</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Big Data analysis tools</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Data warehouse:</a:t>
            </a:r>
            <a:r>
              <a:rPr sz="2200" b="0">
                <a:solidFill>
                  <a:srgbClr val="202122"/>
                </a:solidFill>
                <a:latin typeface="Calibri"/>
              </a:rPr>
              <a:t> structured, cleaned data from many sources</a:t>
            </a:r>
          </a:p>
          <a:p>
            <a:pPr marL="274320" indent="-274320">
              <a:spcAft>
                <a:spcPts val="990"/>
              </a:spcAft>
              <a:buClr>
                <a:srgbClr val="0645AD"/>
              </a:buClr>
              <a:buFont typeface="Arial"/>
              <a:buChar char="•"/>
            </a:pPr>
            <a:r>
              <a:rPr sz="2200" b="1">
                <a:solidFill>
                  <a:srgbClr val="202122"/>
                </a:solidFill>
                <a:latin typeface="Calibri"/>
              </a:rPr>
              <a:t>Data lake:</a:t>
            </a:r>
            <a:r>
              <a:rPr sz="2200" b="0">
                <a:solidFill>
                  <a:srgbClr val="202122"/>
                </a:solidFill>
                <a:latin typeface="Calibri"/>
              </a:rPr>
              <a:t> raw data in any format</a:t>
            </a:r>
          </a:p>
          <a:p>
            <a:pPr marL="274320" indent="-274320">
              <a:spcAft>
                <a:spcPts val="990"/>
              </a:spcAft>
              <a:buClr>
                <a:srgbClr val="0645AD"/>
              </a:buClr>
              <a:buFont typeface="Arial"/>
              <a:buChar char="•"/>
            </a:pPr>
            <a:r>
              <a:rPr sz="2200" b="1">
                <a:solidFill>
                  <a:srgbClr val="202122"/>
                </a:solidFill>
                <a:latin typeface="Calibri"/>
              </a:rPr>
              <a:t>Data mart:</a:t>
            </a:r>
            <a:r>
              <a:rPr sz="2200" b="0">
                <a:solidFill>
                  <a:srgbClr val="202122"/>
                </a:solidFill>
                <a:latin typeface="Calibri"/>
              </a:rPr>
              <a:t> a subset for one department</a:t>
            </a:r>
          </a:p>
          <a:p>
            <a:pPr marL="274320" indent="-274320">
              <a:spcAft>
                <a:spcPts val="990"/>
              </a:spcAft>
              <a:buClr>
                <a:srgbClr val="0645AD"/>
              </a:buClr>
              <a:buFont typeface="Arial"/>
              <a:buChar char="•"/>
            </a:pPr>
            <a:r>
              <a:rPr sz="2200" b="0">
                <a:solidFill>
                  <a:srgbClr val="202122"/>
                </a:solidFill>
                <a:latin typeface="Calibri"/>
              </a:rPr>
              <a:t>Data mining and reporting turn it into business intelligence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Access and analysis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21</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the difference between RBAC and RuBAC?</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does a data lake store?</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a data mart?</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22</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2200" b="0" i="0">
                <a:solidFill>
                  <a:srgbClr val="202122"/>
                </a:solidFill>
                <a:latin typeface="Calibri"/>
              </a:rPr>
              <a:t>Which validation check makes sure a field is not left empty?</a:t>
            </a:r>
          </a:p>
        </p:txBody>
      </p:sp>
      <p:sp>
        <p:nvSpPr>
          <p:cNvPr id="8" name="Oval 7"/>
          <p:cNvSpPr/>
          <p:nvPr/>
        </p:nvSpPr>
        <p:spPr>
          <a:xfrm>
            <a:off x="548640" y="2574950"/>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2200" b="0" i="0">
                <a:solidFill>
                  <a:srgbClr val="202122"/>
                </a:solidFill>
                <a:latin typeface="Calibri"/>
              </a:rPr>
              <a:t>Typing 1243 instead of 1234 is what kind of error?</a:t>
            </a:r>
          </a:p>
        </p:txBody>
      </p:sp>
      <p:sp>
        <p:nvSpPr>
          <p:cNvPr id="10" name="Oval 9"/>
          <p:cNvSpPr/>
          <p:nvPr/>
        </p:nvSpPr>
        <p:spPr>
          <a:xfrm>
            <a:off x="548640" y="3531412"/>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2200" b="0" i="0">
                <a:solidFill>
                  <a:srgbClr val="202122"/>
                </a:solidFill>
                <a:latin typeface="Calibri"/>
              </a:rPr>
              <a:t>Which of the 6 Vs is about trustworthiness?</a:t>
            </a:r>
          </a:p>
        </p:txBody>
      </p:sp>
      <p:sp>
        <p:nvSpPr>
          <p:cNvPr id="12" name="Oval 11"/>
          <p:cNvSpPr/>
          <p:nvPr/>
        </p:nvSpPr>
        <p:spPr>
          <a:xfrm>
            <a:off x="548640" y="4487875"/>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2200" b="0" i="0">
                <a:solidFill>
                  <a:srgbClr val="202122"/>
                </a:solidFill>
                <a:latin typeface="Calibri"/>
              </a:rPr>
              <a:t>Which data model uses linked tables?</a:t>
            </a:r>
          </a:p>
        </p:txBody>
      </p:sp>
      <p:sp>
        <p:nvSpPr>
          <p:cNvPr id="14" name="Oval 13"/>
          <p:cNvSpPr/>
          <p:nvPr/>
        </p:nvSpPr>
        <p:spPr>
          <a:xfrm>
            <a:off x="548640" y="5444337"/>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2200" b="0" i="0">
                <a:solidFill>
                  <a:srgbClr val="202122"/>
                </a:solidFill>
                <a:latin typeface="Calibri"/>
              </a:rPr>
              <a:t>What is the difference between a data warehouse and a data lake?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23</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1800" b="0" i="0">
                <a:solidFill>
                  <a:srgbClr val="54595D"/>
                </a:solidFill>
                <a:latin typeface="Calibri"/>
              </a:rPr>
              <a:t>Which validation check makes sure a field is not left empty?</a:t>
            </a:r>
          </a:p>
          <a:p>
            <a:r>
              <a:rPr sz="1800" b="1">
                <a:solidFill>
                  <a:srgbClr val="03306E"/>
                </a:solidFill>
                <a:latin typeface="Calibri"/>
              </a:rPr>
              <a:t>Presence check.</a:t>
            </a:r>
          </a:p>
        </p:txBody>
      </p:sp>
      <p:sp>
        <p:nvSpPr>
          <p:cNvPr id="8" name="Oval 7"/>
          <p:cNvSpPr/>
          <p:nvPr/>
        </p:nvSpPr>
        <p:spPr>
          <a:xfrm>
            <a:off x="548640" y="2574950"/>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1800" b="0" i="0">
                <a:solidFill>
                  <a:srgbClr val="54595D"/>
                </a:solidFill>
                <a:latin typeface="Calibri"/>
              </a:rPr>
              <a:t>Typing 1243 instead of 1234 is what kind of error?</a:t>
            </a:r>
          </a:p>
          <a:p>
            <a:r>
              <a:rPr sz="1800" b="1">
                <a:solidFill>
                  <a:srgbClr val="03306E"/>
                </a:solidFill>
                <a:latin typeface="Calibri"/>
              </a:rPr>
              <a:t>Transposition error.</a:t>
            </a:r>
          </a:p>
        </p:txBody>
      </p:sp>
      <p:sp>
        <p:nvSpPr>
          <p:cNvPr id="10" name="Oval 9"/>
          <p:cNvSpPr/>
          <p:nvPr/>
        </p:nvSpPr>
        <p:spPr>
          <a:xfrm>
            <a:off x="548640" y="3531412"/>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1800" b="0" i="0">
                <a:solidFill>
                  <a:srgbClr val="54595D"/>
                </a:solidFill>
                <a:latin typeface="Calibri"/>
              </a:rPr>
              <a:t>Which of the 6 Vs is about trustworthiness?</a:t>
            </a:r>
          </a:p>
          <a:p>
            <a:r>
              <a:rPr sz="1800" b="1">
                <a:solidFill>
                  <a:srgbClr val="03306E"/>
                </a:solidFill>
                <a:latin typeface="Calibri"/>
              </a:rPr>
              <a:t>Veracity.</a:t>
            </a:r>
          </a:p>
        </p:txBody>
      </p:sp>
      <p:sp>
        <p:nvSpPr>
          <p:cNvPr id="12" name="Oval 11"/>
          <p:cNvSpPr/>
          <p:nvPr/>
        </p:nvSpPr>
        <p:spPr>
          <a:xfrm>
            <a:off x="548640" y="4487875"/>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1800" b="0" i="0">
                <a:solidFill>
                  <a:srgbClr val="54595D"/>
                </a:solidFill>
                <a:latin typeface="Calibri"/>
              </a:rPr>
              <a:t>Which data model uses linked tables?</a:t>
            </a:r>
          </a:p>
          <a:p>
            <a:r>
              <a:rPr sz="1800" b="1">
                <a:solidFill>
                  <a:srgbClr val="03306E"/>
                </a:solidFill>
                <a:latin typeface="Calibri"/>
              </a:rPr>
              <a:t>Relational.</a:t>
            </a:r>
          </a:p>
        </p:txBody>
      </p:sp>
      <p:sp>
        <p:nvSpPr>
          <p:cNvPr id="14" name="Oval 13"/>
          <p:cNvSpPr/>
          <p:nvPr/>
        </p:nvSpPr>
        <p:spPr>
          <a:xfrm>
            <a:off x="548640" y="5444337"/>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1800" b="0" i="0">
                <a:solidFill>
                  <a:srgbClr val="54595D"/>
                </a:solidFill>
                <a:latin typeface="Calibri"/>
              </a:rPr>
              <a:t>What is the difference between a data warehouse and a data lake?</a:t>
            </a:r>
          </a:p>
          <a:p>
            <a:r>
              <a:rPr sz="1800" b="1">
                <a:solidFill>
                  <a:srgbClr val="03306E"/>
                </a:solidFill>
                <a:latin typeface="Calibri"/>
              </a:rPr>
              <a:t>A warehouse holds structured, cleaned data; a lake holds raw data in any format.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Analyse a ticket log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Data Quality, Systems and Analysis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24</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30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Individual, in a spreadsheet</a:t>
            </a:r>
          </a:p>
        </p:txBody>
      </p:sp>
      <p:sp>
        <p:nvSpPr>
          <p:cNvPr id="9" name="Oval 8"/>
          <p:cNvSpPr/>
          <p:nvPr/>
        </p:nvSpPr>
        <p:spPr>
          <a:xfrm>
            <a:off x="548640" y="239298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689457"/>
          </a:xfrm>
          <a:prstGeom prst="rect">
            <a:avLst/>
          </a:prstGeom>
          <a:noFill/>
        </p:spPr>
        <p:txBody>
          <a:bodyPr wrap="square" anchor="ctr" lIns="0" rIns="0" tIns="0" bIns="0"/>
          <a:lstStyle/>
          <a:p>
            <a:pPr algn="l"/>
            <a:r>
              <a:rPr sz="1700" b="0" i="0">
                <a:solidFill>
                  <a:srgbClr val="202122"/>
                </a:solidFill>
                <a:latin typeface="Calibri"/>
              </a:rPr>
              <a:t>Import the ticket log CSV provided by your teacher (or make 20 rows of your own).</a:t>
            </a:r>
          </a:p>
        </p:txBody>
      </p:sp>
      <p:sp>
        <p:nvSpPr>
          <p:cNvPr id="11" name="Oval 10"/>
          <p:cNvSpPr/>
          <p:nvPr/>
        </p:nvSpPr>
        <p:spPr>
          <a:xfrm>
            <a:off x="548640" y="319217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039465"/>
            <a:ext cx="5943600" cy="689457"/>
          </a:xfrm>
          <a:prstGeom prst="rect">
            <a:avLst/>
          </a:prstGeom>
          <a:noFill/>
        </p:spPr>
        <p:txBody>
          <a:bodyPr wrap="square" anchor="ctr" lIns="0" rIns="0" tIns="0" bIns="0"/>
          <a:lstStyle/>
          <a:p>
            <a:pPr algn="l"/>
            <a:r>
              <a:rPr sz="1700" b="0" i="0">
                <a:solidFill>
                  <a:srgbClr val="202122"/>
                </a:solidFill>
                <a:latin typeface="Calibri"/>
              </a:rPr>
              <a:t>Add validation to the priority and category columns.</a:t>
            </a:r>
          </a:p>
        </p:txBody>
      </p:sp>
      <p:sp>
        <p:nvSpPr>
          <p:cNvPr id="13" name="Oval 12"/>
          <p:cNvSpPr/>
          <p:nvPr/>
        </p:nvSpPr>
        <p:spPr>
          <a:xfrm>
            <a:off x="548640" y="399135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3838651"/>
            <a:ext cx="5943600" cy="689457"/>
          </a:xfrm>
          <a:prstGeom prst="rect">
            <a:avLst/>
          </a:prstGeom>
          <a:noFill/>
        </p:spPr>
        <p:txBody>
          <a:bodyPr wrap="square" anchor="ctr" lIns="0" rIns="0" tIns="0" bIns="0"/>
          <a:lstStyle/>
          <a:p>
            <a:pPr algn="l"/>
            <a:r>
              <a:rPr sz="1700" b="0" i="0">
                <a:solidFill>
                  <a:srgbClr val="202122"/>
                </a:solidFill>
                <a:latin typeface="Calibri"/>
              </a:rPr>
              <a:t>Use COUNTIF to count tickets by category, and AVERAGE for time to fix.</a:t>
            </a:r>
          </a:p>
        </p:txBody>
      </p:sp>
      <p:sp>
        <p:nvSpPr>
          <p:cNvPr id="15" name="Oval 14"/>
          <p:cNvSpPr/>
          <p:nvPr/>
        </p:nvSpPr>
        <p:spPr>
          <a:xfrm>
            <a:off x="548640" y="4790541"/>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4637836"/>
            <a:ext cx="5943600" cy="689457"/>
          </a:xfrm>
          <a:prstGeom prst="rect">
            <a:avLst/>
          </a:prstGeom>
          <a:noFill/>
        </p:spPr>
        <p:txBody>
          <a:bodyPr wrap="square" anchor="ctr" lIns="0" rIns="0" tIns="0" bIns="0"/>
          <a:lstStyle/>
          <a:p>
            <a:pPr algn="l"/>
            <a:r>
              <a:rPr sz="1700" b="0" i="0">
                <a:solidFill>
                  <a:srgbClr val="202122"/>
                </a:solidFill>
                <a:latin typeface="Calibri"/>
              </a:rPr>
              <a:t>Use IF to flag any ticket that took longer than 48 hours.</a:t>
            </a:r>
          </a:p>
        </p:txBody>
      </p:sp>
      <p:sp>
        <p:nvSpPr>
          <p:cNvPr id="17" name="Oval 16"/>
          <p:cNvSpPr/>
          <p:nvPr/>
        </p:nvSpPr>
        <p:spPr>
          <a:xfrm>
            <a:off x="548640" y="5589727"/>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8" name="TextBox 17"/>
          <p:cNvSpPr txBox="1"/>
          <p:nvPr/>
        </p:nvSpPr>
        <p:spPr>
          <a:xfrm>
            <a:off x="1143000" y="5437022"/>
            <a:ext cx="5943600" cy="689457"/>
          </a:xfrm>
          <a:prstGeom prst="rect">
            <a:avLst/>
          </a:prstGeom>
          <a:noFill/>
        </p:spPr>
        <p:txBody>
          <a:bodyPr wrap="square" anchor="ctr" lIns="0" rIns="0" tIns="0" bIns="0"/>
          <a:lstStyle/>
          <a:p>
            <a:pPr algn="l"/>
            <a:r>
              <a:rPr sz="1700" b="0" i="0">
                <a:solidFill>
                  <a:srgbClr val="202122"/>
                </a:solidFill>
                <a:latin typeface="Calibri"/>
              </a:rPr>
              <a:t>Present your findings as one chart suited to a manager.</a:t>
            </a:r>
          </a:p>
        </p:txBody>
      </p:sp>
      <p:sp>
        <p:nvSpPr>
          <p:cNvPr id="19" name="Rounded Rectangle 18"/>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21" name="TextBox 20"/>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Validation stops bad entries</a:t>
            </a:r>
          </a:p>
          <a:p>
            <a:pPr marL="274320" indent="-274320">
              <a:spcAft>
                <a:spcPts val="810"/>
              </a:spcAft>
              <a:buClr>
                <a:srgbClr val="0645AD"/>
              </a:buClr>
              <a:buFont typeface="Arial"/>
              <a:buChar char="•"/>
            </a:pPr>
            <a:r>
              <a:rPr sz="1800" b="0">
                <a:solidFill>
                  <a:srgbClr val="202122"/>
                </a:solidFill>
                <a:latin typeface="Calibri"/>
              </a:rPr>
              <a:t>Formulas are correct and reusable</a:t>
            </a:r>
          </a:p>
          <a:p>
            <a:pPr marL="274320" indent="-274320">
              <a:spcAft>
                <a:spcPts val="810"/>
              </a:spcAft>
              <a:buClr>
                <a:srgbClr val="0645AD"/>
              </a:buClr>
              <a:buFont typeface="Arial"/>
              <a:buChar char="•"/>
            </a:pPr>
            <a:r>
              <a:rPr sz="1800" b="0">
                <a:solidFill>
                  <a:srgbClr val="202122"/>
                </a:solidFill>
                <a:latin typeface="Calibri"/>
              </a:rPr>
              <a:t>Breaches flagged automatically</a:t>
            </a:r>
          </a:p>
          <a:p>
            <a:pPr marL="274320" indent="-274320">
              <a:spcAft>
                <a:spcPts val="810"/>
              </a:spcAft>
              <a:buClr>
                <a:srgbClr val="0645AD"/>
              </a:buClr>
              <a:buFont typeface="Arial"/>
              <a:buChar char="•"/>
            </a:pPr>
            <a:r>
              <a:rPr sz="1800" b="0">
                <a:solidFill>
                  <a:srgbClr val="202122"/>
                </a:solidFill>
                <a:latin typeface="Calibri"/>
              </a:rPr>
              <a:t>Chart suits the audience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CORE COMPONENT  ·  Core Paper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Why does validation not guarantee data is correct?</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Name two ways to reduce data entry errors.</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Which access mechanism would suit a hospital, and why?</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Core Paper 1: Problem Solving, Digital Support and Data</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https://lana6478.github.io/Digital-Suport-and-security-T-levle/#/01-core-component/01-core-paper-1.md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Quality, Systems and Analysis</dc:title>
  <dc:subject>Digital Support and Security T Level: Core Paper 1</dc:subject>
  <dc:creator>Samuel O'Connell</dc:creator>
  <cp:keywords>T Level; Digital Support and Security; lesson slides; 2.6, 3.7 to 3.12</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