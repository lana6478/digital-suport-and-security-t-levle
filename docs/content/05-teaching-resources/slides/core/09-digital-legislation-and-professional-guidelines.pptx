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Information about an identifiable living person.</a:t>
            </a:r>
          </a:p>
          <a:p>
            <a:r>
              <a:t>2. The Information Commissioner's Office (ICO).</a:t>
            </a:r>
          </a:p>
          <a:p>
            <a:r>
              <a:t>3. E.g. access, correction, erasure.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Consequences fall on both employee and company, which is why staff awareness training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Yes, unauthorised access is an offence.</a:t>
            </a:r>
          </a:p>
          <a:p>
            <a:r>
              <a:t>2. E.g. spreading malware or deleting files.</a:t>
            </a:r>
          </a:p>
          <a:p>
            <a:r>
              <a:t>3. Employees and the company can face serious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Nine.</a:t>
            </a:r>
          </a:p>
          <a:p>
            <a:r>
              <a:t>2. Safe disposal of electrical and electronic waste.</a:t>
            </a:r>
          </a:p>
          <a:p>
            <a:r>
              <a:t>3. A rule that applies to everyone but disadvantages a protected group.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E.g. BCS, IAP or CIISec.</a:t>
            </a:r>
          </a:p>
          <a:p>
            <a:r>
              <a:t>2. WCAG.</a:t>
            </a:r>
          </a:p>
          <a:p>
            <a:r>
              <a:t>3. Law sets legal minimums; codes describe good professional practice.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Rules for using IT: permitted and prohibited activities, etiquette and sanctions.</a:t>
            </a:r>
          </a:p>
          <a:p>
            <a:r>
              <a:t>2. So people can report wrongdoing without being punished.</a:t>
            </a:r>
          </a:p>
          <a:p>
            <a:r>
              <a:t>3. E.g. installing unapproved software, sharing passwords.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ideas: old PCs sent to landfill; a job advert asking for 'young' applicants; copying a rival's product design; an employee installing a keylogger; a manager ignoring a data breach; a website unusable with a screen reader.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CORE COMPONENT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Digital Legislation and Professional Guidelines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Paper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4.1 (legislation), 4.2</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Explain the purpose of data protection law and the Computer Misuse Act.</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Describe equality, intellectual property and electrical waste legislation.</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how codes of conduct and industry standards shape professional behaviour.</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Describe the purpose of acceptable use policies and whistleblowing procedures.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technician fixing a laptop finds a folder of customers' bank details. What should they do? What laws might apply?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Data Protection Act and UK GDPR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The Data Protection Act 2018 and UK GDPR control how organisations use personal data: any information about an identifiable living person.</a:t>
            </a:r>
          </a:p>
          <a:p>
            <a:pPr>
              <a:spcAft>
                <a:spcPts val="1140"/>
              </a:spcAft>
            </a:pPr>
            <a:r>
              <a:rPr sz="1900" b="0">
                <a:solidFill>
                  <a:srgbClr val="202122"/>
                </a:solidFill>
                <a:latin typeface="Calibri"/>
              </a:rPr>
              <a:t>Data must be processed fairly, lawfully and transparently, collected for specified purposes, limited to what's needed, kept accurate, not kept longer than necessary, and kept secure. The organisation must be able to show it complies.</a:t>
            </a:r>
          </a:p>
          <a:p>
            <a:pPr>
              <a:spcAft>
                <a:spcPts val="1140"/>
              </a:spcAft>
            </a:pPr>
            <a:r>
              <a:rPr sz="1900" b="0">
                <a:solidFill>
                  <a:srgbClr val="202122"/>
                </a:solidFill>
                <a:latin typeface="Calibri"/>
              </a:rPr>
              <a:t>People have rights over their data, including to see it, correct it and have it erased.</a:t>
            </a:r>
          </a:p>
          <a:p>
            <a:pPr>
              <a:spcAft>
                <a:spcPts val="1140"/>
              </a:spcAft>
            </a:pPr>
            <a:r>
              <a:rPr sz="1900" b="0">
                <a:solidFill>
                  <a:srgbClr val="202122"/>
                </a:solidFill>
                <a:latin typeface="Calibri"/>
              </a:rPr>
              <a:t>Breaking the law can bring large fines from the Information Commissioner's Office (ICO) and lost trust. For IT staff it means securing systems and handling data carefully.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technician copying a customer database onto an unencrypted USB stick to 'work on it at home' breaches the security principle, even if nothing is lost.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Data Protection Act and UK GDPR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1">
                <a:solidFill>
                  <a:srgbClr val="202122"/>
                </a:solidFill>
                <a:latin typeface="Calibri"/>
              </a:rPr>
              <a:t>Purpose:</a:t>
            </a:r>
            <a:r>
              <a:rPr sz="2400" b="0">
                <a:solidFill>
                  <a:srgbClr val="202122"/>
                </a:solidFill>
                <a:latin typeface="Calibri"/>
              </a:rPr>
              <a:t> protect people's personal data and control how organisations use it.</a:t>
            </a:r>
          </a:p>
          <a:p>
            <a:pPr marL="274320" indent="-274320">
              <a:spcAft>
                <a:spcPts val="1080"/>
              </a:spcAft>
              <a:buClr>
                <a:srgbClr val="0645AD"/>
              </a:buClr>
              <a:buFont typeface="Arial"/>
              <a:buChar char="•"/>
            </a:pPr>
            <a:r>
              <a:rPr sz="2400" b="0">
                <a:solidFill>
                  <a:srgbClr val="202122"/>
                </a:solidFill>
                <a:latin typeface="Calibri"/>
              </a:rPr>
              <a:t>Data must be processed fairly, lawfully and transparently, for specified purposes.</a:t>
            </a:r>
          </a:p>
          <a:p>
            <a:pPr marL="274320" indent="-274320">
              <a:spcAft>
                <a:spcPts val="1080"/>
              </a:spcAft>
              <a:buClr>
                <a:srgbClr val="0645AD"/>
              </a:buClr>
              <a:buFont typeface="Arial"/>
              <a:buChar char="•"/>
            </a:pPr>
            <a:r>
              <a:rPr sz="2400" b="0">
                <a:solidFill>
                  <a:srgbClr val="202122"/>
                </a:solidFill>
                <a:latin typeface="Calibri"/>
              </a:rPr>
              <a:t>Only collect what is needed, keep it accurate, and do not keep it longer than necessary.</a:t>
            </a:r>
          </a:p>
          <a:p>
            <a:pPr marL="274320" indent="-274320">
              <a:spcAft>
                <a:spcPts val="1080"/>
              </a:spcAft>
              <a:buClr>
                <a:srgbClr val="0645AD"/>
              </a:buClr>
              <a:buFont typeface="Arial"/>
              <a:buChar char="•"/>
            </a:pPr>
            <a:r>
              <a:rPr sz="2400" b="0">
                <a:solidFill>
                  <a:srgbClr val="202122"/>
                </a:solidFill>
                <a:latin typeface="Calibri"/>
              </a:rPr>
              <a:t>Keep it secure and respect people's rights over their data.</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Learn the eight data protection principles. They underpin almost every security decision in this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Data Protection Act and UK GDPR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personal data?</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Who enforces data protection law in the UK?</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one right people have over their data.</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Computer Misuse Act 1990</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The Computer Misuse Act makes it a crime to use computers without permission.</a:t>
            </a:r>
          </a:p>
          <a:p>
            <a:pPr>
              <a:spcAft>
                <a:spcPts val="1200"/>
              </a:spcAft>
            </a:pPr>
            <a:r>
              <a:rPr sz="2000" b="1">
                <a:solidFill>
                  <a:srgbClr val="202122"/>
                </a:solidFill>
                <a:latin typeface="Calibri"/>
              </a:rPr>
              <a:t>Unauthorised access:</a:t>
            </a:r>
            <a:r>
              <a:rPr sz="2000" b="0">
                <a:solidFill>
                  <a:srgbClr val="202122"/>
                </a:solidFill>
                <a:latin typeface="Calibri"/>
              </a:rPr>
              <a:t> getting into a system or data you're not allowed to, even just to look.</a:t>
            </a:r>
          </a:p>
          <a:p>
            <a:pPr>
              <a:spcAft>
                <a:spcPts val="1200"/>
              </a:spcAft>
            </a:pPr>
            <a:r>
              <a:rPr sz="2000" b="0">
                <a:solidFill>
                  <a:srgbClr val="202122"/>
                </a:solidFill>
                <a:latin typeface="Calibri"/>
              </a:rPr>
              <a:t>Unauthorised access with intent to commit further offences: breaking in to commit another crime, such as fraud.</a:t>
            </a:r>
          </a:p>
          <a:p>
            <a:pPr>
              <a:spcAft>
                <a:spcPts val="1200"/>
              </a:spcAft>
            </a:pPr>
            <a:r>
              <a:rPr sz="2000" b="0">
                <a:solidFill>
                  <a:srgbClr val="202122"/>
                </a:solidFill>
                <a:latin typeface="Calibri"/>
              </a:rPr>
              <a:t>Unauthorised acts that impair a computer: for example spreading malware or deleting files.</a:t>
            </a:r>
          </a:p>
          <a:p>
            <a:pPr>
              <a:spcAft>
                <a:spcPts val="1200"/>
              </a:spcAft>
            </a:pPr>
            <a:r>
              <a:rPr sz="2000" b="0">
                <a:solidFill>
                  <a:srgbClr val="202122"/>
                </a:solidFill>
                <a:latin typeface="Calibri"/>
              </a:rPr>
              <a:t>Employees can be prosecuted and dismissed, and companies can face liability, so staff awareness training matters. Having the technical ability to access something isn't the same as permission.</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IT technician with admin rights reads the HR director's emails out of curiosity. They have the access but not the permission, so it's still unauthorised access.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Computer Misuse Act 1990</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Unauthorised access</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Accessing computer material without permission, e.g. guessing a colleague's password.</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600" b="1" i="0">
                <a:solidFill>
                  <a:srgbClr val="03306E"/>
                </a:solidFill>
                <a:latin typeface="Calibri"/>
              </a:rPr>
              <a:t>Intent to commit further offences</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Unauthorised access in order to commit another crime, such as fraud.</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Unauthorised acts</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Acts that impair a computer's operation, e.g. spreading malware.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Computer Misuse Act 1990</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Is it an offence to look at data you aren't authorised to see?</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an example of an act that impairs a computer.</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is staff awareness important?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Other key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Equality legislation protects nine characteristics, including age, disability, race, religion and sex. It covers direct discrimination, indirect discrimination (a rule that disadvantages a group), harassment and victimisation. Claims have time limits.</a:t>
            </a:r>
          </a:p>
          <a:p>
            <a:pPr>
              <a:spcAft>
                <a:spcPts val="1200"/>
              </a:spcAft>
            </a:pPr>
            <a:r>
              <a:rPr sz="2000" b="0">
                <a:solidFill>
                  <a:srgbClr val="202122"/>
                </a:solidFill>
                <a:latin typeface="Calibri"/>
              </a:rPr>
              <a:t>Intellectual property law protects creators' work through unregistered designs, registered designs and patents.</a:t>
            </a:r>
          </a:p>
          <a:p>
            <a:pPr>
              <a:spcAft>
                <a:spcPts val="1200"/>
              </a:spcAft>
            </a:pPr>
            <a:r>
              <a:rPr sz="2000" b="0">
                <a:solidFill>
                  <a:srgbClr val="202122"/>
                </a:solidFill>
                <a:latin typeface="Calibri"/>
              </a:rPr>
              <a:t>The WEEE Regulations require electrical and electronic waste to be disposed of safely and responsibly, not sent to landfill. Data must be wiped first.</a:t>
            </a:r>
          </a:p>
          <a:p>
            <a:pPr>
              <a:spcAft>
                <a:spcPts val="1200"/>
              </a:spcAft>
            </a:pPr>
            <a:r>
              <a:rPr sz="2000" b="0">
                <a:solidFill>
                  <a:srgbClr val="202122"/>
                </a:solidFill>
                <a:latin typeface="Calibri"/>
              </a:rPr>
              <a:t>International law applies to some offences, such as cybercrime and surveillance that cross borders.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Old office PCs must go to a licensed WEEE recycler after their drives are securely wiped: this satisfies WEEE and data protection law together.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Other key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Equality</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1800" b="0" i="0">
                <a:solidFill>
                  <a:srgbClr val="202122"/>
                </a:solidFill>
                <a:latin typeface="Calibri"/>
              </a:rPr>
              <a:t>Nine protected characteristics. Direct and indirect discrimination, harassment and victimisation, with time limits for action.</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Intellectual property</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Unregistered designs, registered designs and patents protect creators' work.</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WEEE Regulations</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Electrical waste must be disposed of safely and in an environmentally responsible way.</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International law</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Some offences cross borders, e.g. law in cyberspace and around surveillance.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Other key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How many protected characteristics are there?</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 the WEEE Regulations cover?</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indirect discrimination?</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Guidelines that shape professional behaviour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Laws set the minimum; guidelines describe good professional practice.</a:t>
            </a:r>
          </a:p>
          <a:p>
            <a:pPr>
              <a:spcAft>
                <a:spcPts val="1200"/>
              </a:spcAft>
            </a:pPr>
            <a:r>
              <a:rPr sz="2000" b="0">
                <a:solidFill>
                  <a:srgbClr val="202122"/>
                </a:solidFill>
                <a:latin typeface="Calibri"/>
              </a:rPr>
              <a:t>Codes of conduct come from employers, professional bodies such as BCS, the Institution of Analysts and Programmers and CIISec, and government. They expect you to follow policy and law, work competently and with integrity, minimise risk to the public, meet deadlines, communicate well and keep confidentiality.</a:t>
            </a:r>
          </a:p>
          <a:p>
            <a:pPr>
              <a:spcAft>
                <a:spcPts val="1200"/>
              </a:spcAft>
            </a:pPr>
            <a:r>
              <a:rPr sz="2000" b="0">
                <a:solidFill>
                  <a:srgbClr val="202122"/>
                </a:solidFill>
                <a:latin typeface="Calibri"/>
              </a:rPr>
              <a:t>Industry standards make technology work together safely: ISO for quality and security, WCAG for accessible websites, W3C and IETF for web and internet standards, EIA/TIA and IEEE for cabling and networks, and PCI DSS for card payments.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BCS member asked to set up a system beyond their competence should say so and seek help, rather than risk a poor or unsafe job.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Guidelines that shape professional behaviour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Codes of conduct</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855"/>
              </a:spcAft>
              <a:buClr>
                <a:srgbClr val="0645AD"/>
              </a:buClr>
              <a:buFont typeface="Arial"/>
              <a:buChar char="•"/>
            </a:pPr>
            <a:r>
              <a:rPr sz="1900" b="0">
                <a:solidFill>
                  <a:srgbClr val="202122"/>
                </a:solidFill>
                <a:latin typeface="Calibri"/>
              </a:rPr>
              <a:t>From organisations, professional bodies (BCS, IAP, CIISec) and government</a:t>
            </a:r>
          </a:p>
          <a:p>
            <a:pPr marL="274320" indent="-274320">
              <a:spcAft>
                <a:spcPts val="855"/>
              </a:spcAft>
              <a:buClr>
                <a:srgbClr val="0645AD"/>
              </a:buClr>
              <a:buFont typeface="Arial"/>
              <a:buChar char="•"/>
            </a:pPr>
            <a:r>
              <a:rPr sz="1900" b="0">
                <a:solidFill>
                  <a:srgbClr val="202122"/>
                </a:solidFill>
                <a:latin typeface="Calibri"/>
              </a:rPr>
              <a:t>Follow policy, procedure and law</a:t>
            </a:r>
          </a:p>
          <a:p>
            <a:pPr marL="274320" indent="-274320">
              <a:spcAft>
                <a:spcPts val="855"/>
              </a:spcAft>
              <a:buClr>
                <a:srgbClr val="0645AD"/>
              </a:buClr>
              <a:buFont typeface="Arial"/>
              <a:buChar char="•"/>
            </a:pPr>
            <a:r>
              <a:rPr sz="1900" b="0">
                <a:solidFill>
                  <a:srgbClr val="202122"/>
                </a:solidFill>
                <a:latin typeface="Calibri"/>
              </a:rPr>
              <a:t>Work with competence and integrity</a:t>
            </a:r>
          </a:p>
          <a:p>
            <a:pPr marL="274320" indent="-274320">
              <a:spcAft>
                <a:spcPts val="855"/>
              </a:spcAft>
              <a:buClr>
                <a:srgbClr val="0645AD"/>
              </a:buClr>
              <a:buFont typeface="Arial"/>
              <a:buChar char="•"/>
            </a:pPr>
            <a:r>
              <a:rPr sz="1900" b="0">
                <a:solidFill>
                  <a:srgbClr val="202122"/>
                </a:solidFill>
                <a:latin typeface="Calibri"/>
              </a:rPr>
              <a:t>Meet deadlines and communicate well</a:t>
            </a:r>
          </a:p>
          <a:p>
            <a:pPr marL="274320" indent="-274320">
              <a:spcAft>
                <a:spcPts val="855"/>
              </a:spcAft>
              <a:buClr>
                <a:srgbClr val="0645AD"/>
              </a:buClr>
              <a:buFont typeface="Arial"/>
              <a:buChar char="•"/>
            </a:pPr>
            <a:r>
              <a:rPr sz="1900" b="0">
                <a:solidFill>
                  <a:srgbClr val="202122"/>
                </a:solidFill>
                <a:latin typeface="Calibri"/>
              </a:rPr>
              <a:t>Maintain confidentiality and trust</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Industry standards bodies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45"/>
              </a:spcAft>
              <a:buClr>
                <a:srgbClr val="0645AD"/>
              </a:buClr>
              <a:buFont typeface="Arial"/>
              <a:buChar char="•"/>
            </a:pPr>
            <a:r>
              <a:rPr sz="2100" b="1">
                <a:solidFill>
                  <a:srgbClr val="202122"/>
                </a:solidFill>
                <a:latin typeface="Calibri"/>
              </a:rPr>
              <a:t>ISO:</a:t>
            </a:r>
            <a:r>
              <a:rPr sz="2100" b="0">
                <a:solidFill>
                  <a:srgbClr val="202122"/>
                </a:solidFill>
                <a:latin typeface="Calibri"/>
              </a:rPr>
              <a:t> international standards</a:t>
            </a:r>
          </a:p>
          <a:p>
            <a:pPr marL="274320" indent="-274320">
              <a:spcAft>
                <a:spcPts val="945"/>
              </a:spcAft>
              <a:buClr>
                <a:srgbClr val="0645AD"/>
              </a:buClr>
              <a:buFont typeface="Arial"/>
              <a:buChar char="•"/>
            </a:pPr>
            <a:r>
              <a:rPr sz="2100" b="1">
                <a:solidFill>
                  <a:srgbClr val="202122"/>
                </a:solidFill>
                <a:latin typeface="Calibri"/>
              </a:rPr>
              <a:t>WCAG and W3C:</a:t>
            </a:r>
            <a:r>
              <a:rPr sz="2100" b="0">
                <a:solidFill>
                  <a:srgbClr val="202122"/>
                </a:solidFill>
                <a:latin typeface="Calibri"/>
              </a:rPr>
              <a:t> web accessibility and web standards</a:t>
            </a:r>
          </a:p>
          <a:p>
            <a:pPr marL="274320" indent="-274320">
              <a:spcAft>
                <a:spcPts val="945"/>
              </a:spcAft>
              <a:buClr>
                <a:srgbClr val="0645AD"/>
              </a:buClr>
              <a:buFont typeface="Arial"/>
              <a:buChar char="•"/>
            </a:pPr>
            <a:r>
              <a:rPr sz="2100" b="1">
                <a:solidFill>
                  <a:srgbClr val="202122"/>
                </a:solidFill>
                <a:latin typeface="Calibri"/>
              </a:rPr>
              <a:t>IETF:</a:t>
            </a:r>
            <a:r>
              <a:rPr sz="2100" b="0">
                <a:solidFill>
                  <a:srgbClr val="202122"/>
                </a:solidFill>
                <a:latin typeface="Calibri"/>
              </a:rPr>
              <a:t> internet protocols</a:t>
            </a:r>
          </a:p>
          <a:p>
            <a:pPr marL="274320" indent="-274320">
              <a:spcAft>
                <a:spcPts val="945"/>
              </a:spcAft>
              <a:buClr>
                <a:srgbClr val="0645AD"/>
              </a:buClr>
              <a:buFont typeface="Arial"/>
              <a:buChar char="•"/>
            </a:pPr>
            <a:r>
              <a:rPr sz="2100" b="1">
                <a:solidFill>
                  <a:srgbClr val="202122"/>
                </a:solidFill>
                <a:latin typeface="Calibri"/>
              </a:rPr>
              <a:t>EIA/TIA and IEEE:</a:t>
            </a:r>
            <a:r>
              <a:rPr sz="2100" b="0">
                <a:solidFill>
                  <a:srgbClr val="202122"/>
                </a:solidFill>
                <a:latin typeface="Calibri"/>
              </a:rPr>
              <a:t> cabling and networking</a:t>
            </a:r>
          </a:p>
          <a:p>
            <a:pPr marL="274320" indent="-274320">
              <a:spcAft>
                <a:spcPts val="945"/>
              </a:spcAft>
              <a:buClr>
                <a:srgbClr val="0645AD"/>
              </a:buClr>
              <a:buFont typeface="Arial"/>
              <a:buChar char="•"/>
            </a:pPr>
            <a:r>
              <a:rPr sz="2100" b="0">
                <a:solidFill>
                  <a:srgbClr val="202122"/>
                </a:solidFill>
                <a:latin typeface="Calibri"/>
              </a:rPr>
              <a:t>BS and PCI Security Standards Council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2900" b="1" i="0">
                <a:solidFill>
                  <a:srgbClr val="03306E"/>
                </a:solidFill>
                <a:latin typeface="Cambria"/>
              </a:rPr>
              <a:t>Quick check: Guidelines that shape professional behaviour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a professional body with a code of conduct.</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standard covers web accessibility?</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law and a code of conduct?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Acceptable use and whistleblowing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An acceptable use policy (AUP) sets the rules for using an organisation's IT. It lists permitted and prohibited activities, working practices such as confidentiality, communication etiquette, and the sanctions for breaking it. Staff usually sign it when they start.</a:t>
            </a:r>
          </a:p>
          <a:p>
            <a:pPr>
              <a:spcAft>
                <a:spcPts val="1320"/>
              </a:spcAft>
            </a:pPr>
            <a:r>
              <a:rPr sz="2200" b="0">
                <a:solidFill>
                  <a:srgbClr val="202122"/>
                </a:solidFill>
                <a:latin typeface="Calibri"/>
              </a:rPr>
              <a:t>Whistleblowing procedures give staff a safe way to report wrongdoing, such as data being misused or safety being ignored. Whistleblowers are protected from being punished. This lets problems be fixed before they cause harm and keeps organisations legal and ethical.</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AUP might ban installing unapproved software, using personal cloud storage for work files and sharing passwords, with disciplinary action for breaches.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Acceptable use and whistleblowing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Acceptable use policy (AUP)</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Permitted and prohibited activities</a:t>
            </a:r>
          </a:p>
          <a:p>
            <a:pPr marL="274320" indent="-274320">
              <a:spcAft>
                <a:spcPts val="990"/>
              </a:spcAft>
              <a:buClr>
                <a:srgbClr val="0645AD"/>
              </a:buClr>
              <a:buFont typeface="Arial"/>
              <a:buChar char="•"/>
            </a:pPr>
            <a:r>
              <a:rPr sz="2200" b="0">
                <a:solidFill>
                  <a:srgbClr val="202122"/>
                </a:solidFill>
                <a:latin typeface="Calibri"/>
              </a:rPr>
              <a:t>Working practices, including confidentiality</a:t>
            </a:r>
          </a:p>
          <a:p>
            <a:pPr marL="274320" indent="-274320">
              <a:spcAft>
                <a:spcPts val="990"/>
              </a:spcAft>
              <a:buClr>
                <a:srgbClr val="0645AD"/>
              </a:buClr>
              <a:buFont typeface="Arial"/>
              <a:buChar char="•"/>
            </a:pPr>
            <a:r>
              <a:rPr sz="2200" b="0">
                <a:solidFill>
                  <a:srgbClr val="202122"/>
                </a:solidFill>
                <a:latin typeface="Calibri"/>
              </a:rPr>
              <a:t>Communication etiquette</a:t>
            </a:r>
          </a:p>
          <a:p>
            <a:pPr marL="274320" indent="-274320">
              <a:spcAft>
                <a:spcPts val="990"/>
              </a:spcAft>
              <a:buClr>
                <a:srgbClr val="0645AD"/>
              </a:buClr>
              <a:buFont typeface="Arial"/>
              <a:buChar char="•"/>
            </a:pPr>
            <a:r>
              <a:rPr sz="2200" b="0">
                <a:solidFill>
                  <a:srgbClr val="202122"/>
                </a:solidFill>
                <a:latin typeface="Calibri"/>
              </a:rPr>
              <a:t>Sanctions and penalties for breaches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Whistleblowing procedure</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A safe way to report wrongdoing</a:t>
            </a:r>
          </a:p>
          <a:p>
            <a:pPr marL="274320" indent="-274320">
              <a:spcAft>
                <a:spcPts val="990"/>
              </a:spcAft>
              <a:buClr>
                <a:srgbClr val="0645AD"/>
              </a:buClr>
              <a:buFont typeface="Arial"/>
              <a:buChar char="•"/>
            </a:pPr>
            <a:r>
              <a:rPr sz="2200" b="0">
                <a:solidFill>
                  <a:srgbClr val="202122"/>
                </a:solidFill>
                <a:latin typeface="Calibri"/>
              </a:rPr>
              <a:t>Protects the person reporting</a:t>
            </a:r>
          </a:p>
          <a:p>
            <a:pPr marL="274320" indent="-274320">
              <a:spcAft>
                <a:spcPts val="990"/>
              </a:spcAft>
              <a:buClr>
                <a:srgbClr val="0645AD"/>
              </a:buClr>
              <a:buFont typeface="Arial"/>
              <a:buChar char="•"/>
            </a:pPr>
            <a:r>
              <a:rPr sz="2200" b="0">
                <a:solidFill>
                  <a:srgbClr val="202122"/>
                </a:solidFill>
                <a:latin typeface="Calibri"/>
              </a:rPr>
              <a:t>Lets problems be fixed before harm is done</a:t>
            </a:r>
          </a:p>
          <a:p>
            <a:pPr marL="274320" indent="-274320">
              <a:spcAft>
                <a:spcPts val="990"/>
              </a:spcAft>
              <a:buClr>
                <a:srgbClr val="0645AD"/>
              </a:buClr>
              <a:buFont typeface="Arial"/>
              <a:buChar char="•"/>
            </a:pPr>
            <a:r>
              <a:rPr sz="2200" b="0">
                <a:solidFill>
                  <a:srgbClr val="202122"/>
                </a:solidFill>
                <a:latin typeface="Calibri"/>
              </a:rPr>
              <a:t>Supports legal and ethical compliance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Acceptable use and whistleblowing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an AUP set out?</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are whistleblowers protected?</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one thing an AUP might prohibit.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What is the purpose of the Data Protection Act?</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Guessing a colleague's password to read their email breaks which law?</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How many protected characteristics are there under equality legislation?</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What does WEEE cover?</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Name two things an AUP sets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19</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What is the purpose of the Data Protection Act?</a:t>
            </a:r>
          </a:p>
          <a:p>
            <a:r>
              <a:rPr sz="1800" b="1">
                <a:solidFill>
                  <a:srgbClr val="03306E"/>
                </a:solidFill>
                <a:latin typeface="Calibri"/>
              </a:rPr>
              <a:t>To protect personal data and control how organisations use it.</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Guessing a colleague's password to read their email breaks which law?</a:t>
            </a:r>
          </a:p>
          <a:p>
            <a:r>
              <a:rPr sz="1800" b="1">
                <a:solidFill>
                  <a:srgbClr val="03306E"/>
                </a:solidFill>
                <a:latin typeface="Calibri"/>
              </a:rPr>
              <a:t>The Computer Misuse Act 1990.</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How many protected characteristics are there under equality legislation?</a:t>
            </a:r>
          </a:p>
          <a:p>
            <a:r>
              <a:rPr sz="1800" b="1">
                <a:solidFill>
                  <a:srgbClr val="03306E"/>
                </a:solidFill>
                <a:latin typeface="Calibri"/>
              </a:rPr>
              <a:t>Nine.</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What does WEEE cover?</a:t>
            </a:r>
          </a:p>
          <a:p>
            <a:r>
              <a:rPr sz="1800" b="1">
                <a:solidFill>
                  <a:srgbClr val="03306E"/>
                </a:solidFill>
                <a:latin typeface="Calibri"/>
              </a:rPr>
              <a:t>Safe and environmentally responsible disposal of electrical and electronic waste.</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Name two things an AUP sets out.</a:t>
            </a:r>
          </a:p>
          <a:p>
            <a:r>
              <a:rPr sz="1800" b="1">
                <a:solidFill>
                  <a:srgbClr val="03306E"/>
                </a:solidFill>
                <a:latin typeface="Calibri"/>
              </a:rPr>
              <a:t>Any two of: permitted and prohibited activities, working practices, etiquette, sanctions.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Which law applies?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Digital Legislation and Professional Guidelines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20</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Your teacher will give you six workplace scenarios (or write your own).</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For each, name the law or guideline that applies.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Explain the impact on the organisation, society and the individual.</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Rank the scenarios from most to least serious and justify the order.</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Correct law identified each time</a:t>
            </a:r>
          </a:p>
          <a:p>
            <a:pPr marL="274320" indent="-274320">
              <a:spcAft>
                <a:spcPts val="810"/>
              </a:spcAft>
              <a:buClr>
                <a:srgbClr val="0645AD"/>
              </a:buClr>
              <a:buFont typeface="Arial"/>
              <a:buChar char="•"/>
            </a:pPr>
            <a:r>
              <a:rPr sz="1800" b="0">
                <a:solidFill>
                  <a:srgbClr val="202122"/>
                </a:solidFill>
                <a:latin typeface="Calibri"/>
              </a:rPr>
              <a:t>Impact covers all three groups</a:t>
            </a:r>
          </a:p>
          <a:p>
            <a:pPr marL="274320" indent="-274320">
              <a:spcAft>
                <a:spcPts val="810"/>
              </a:spcAft>
              <a:buClr>
                <a:srgbClr val="0645AD"/>
              </a:buClr>
              <a:buFont typeface="Arial"/>
              <a:buChar char="•"/>
            </a:pPr>
            <a:r>
              <a:rPr sz="1800" b="0">
                <a:solidFill>
                  <a:srgbClr val="202122"/>
                </a:solidFill>
                <a:latin typeface="Calibri"/>
              </a:rPr>
              <a:t>Ranking is justified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Name one offence under the Computer Misuse Act.</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Why do professional bodies publish codes of conduct?</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Why is whistleblowing important?</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Core Paper 2: Legislation, Business, Emerging Issues, Environments and Security</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https://lana6478.github.io/Digital-Suport-and-security-T-levle/#/01-core-component/02-core-paper-2.md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Legislation and Professional Guidelines</dc:title>
  <dc:subject>Digital Support and Security T Level: Core Paper 2</dc:subject>
  <dc:creator>Samuel O'Connell</dc:creator>
  <cp:keywords>T Level; Digital Support and Security; lesson slides; 4.1 (legislation), 4.2</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