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Consequences fall on both employee and company, which is why staff awareness training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Scenario ideas: old PCs sent to landfill; a job advert asking for 'young' applicants; copying a rival's product design; an employee installing a keylogger; a manager ignoring a data breach; a website unusable with a screen reader.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B705"/>
                </a:solidFill>
                <a:latin typeface="Calibri"/>
              </a:rPr>
              <a:t>CORE COMPONENT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Digital Legislation and Professional Guidelines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Core Paper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4.1 (legislation), 4.2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Support and Security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Digital Legislation and Professional Guidelines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the purpose of data protection law and the Computer Misuse Act.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equality, intellectual property and electrical waste legislation.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how codes of conduct and industry standards shape professional behaviour.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the purpose of acceptable use policies and whistleblowing procedures.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A technician fixing a laptop finds a folder of customers' bank details. What should they do? What laws might apply?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Data Protection Act and UK GDPR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Digital Legislation and Professional Guidelines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66751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1">
                <a:solidFill>
                  <a:srgbClr val="202122"/>
                </a:solidFill>
                <a:latin typeface="Calibri"/>
              </a:rPr>
              <a:t>Purpose:</a:t>
            </a:r>
            <a:r>
              <a:rPr sz="2400" b="0">
                <a:solidFill>
                  <a:srgbClr val="202122"/>
                </a:solidFill>
                <a:latin typeface="Calibri"/>
              </a:rPr>
              <a:t> protect people's personal data and control how organisations use it.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Data must be processed fairly, lawfully and transparently, for specified purposes.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Only collect what is needed, keep it accurate, and do not keep it longer than necessary.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Keep it secure and respect people's rights over their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600200"/>
            <a:ext cx="3867912" cy="443484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74519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6060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KEY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017520"/>
            <a:ext cx="3291840" cy="2926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FFFFFF"/>
                </a:solidFill>
                <a:latin typeface="Cambria"/>
              </a:rPr>
              <a:t>Learn the eight data protection principles. They underpin almost every security decision in this course.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Computer Misuse Act 1990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Digital Legislation and Professional Guidelines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Unauthorised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Accessing computer material without permission, e.g. guessing a colleague's password.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600" b="1" i="0">
                <a:solidFill>
                  <a:srgbClr val="03306E"/>
                </a:solidFill>
                <a:latin typeface="Calibri"/>
              </a:rPr>
              <a:t>Intent to commit further offences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Unauthorised access in order to commit another crime, such as fraud.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Unauthorised acts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Acts that impair a computer's operation, e.g. spreading malware.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Other key legislation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Digital Legislation and Professional Guidelines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Equality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Nine protected characteristics. Direct and indirect discrimination, harassment and victimisation, with time limits for action.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Intellectual property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Unregistered designs, registered designs and patents protect creators' work.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WEEE Regulations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Electrical waste must be disposed of safely and in an environmentally responsible way.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International law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Some offences cross borders, e.g. law in cyberspace and around surveillance.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Guidelines that shape professional behaviour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Digital Legislation and Professional Guidelines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Codes of conduct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55"/>
              </a:spcAft>
              <a:buClr>
                <a:srgbClr val="0645AD"/>
              </a:buClr>
              <a:buFont typeface="Arial"/>
              <a:buChar char="•"/>
            </a:pPr>
            <a:r>
              <a:rPr sz="1900" b="0">
                <a:solidFill>
                  <a:srgbClr val="202122"/>
                </a:solidFill>
                <a:latin typeface="Calibri"/>
              </a:rPr>
              <a:t>From organisations, professional bodies (BCS, IAP, CIISec) and government</a:t>
            </a:r>
          </a:p>
          <a:p>
            <a:pPr marL="274320" indent="-274320">
              <a:spcAft>
                <a:spcPts val="855"/>
              </a:spcAft>
              <a:buClr>
                <a:srgbClr val="0645AD"/>
              </a:buClr>
              <a:buFont typeface="Arial"/>
              <a:buChar char="•"/>
            </a:pPr>
            <a:r>
              <a:rPr sz="1900" b="0">
                <a:solidFill>
                  <a:srgbClr val="202122"/>
                </a:solidFill>
                <a:latin typeface="Calibri"/>
              </a:rPr>
              <a:t>Follow policy, procedure and law</a:t>
            </a:r>
          </a:p>
          <a:p>
            <a:pPr marL="274320" indent="-274320">
              <a:spcAft>
                <a:spcPts val="855"/>
              </a:spcAft>
              <a:buClr>
                <a:srgbClr val="0645AD"/>
              </a:buClr>
              <a:buFont typeface="Arial"/>
              <a:buChar char="•"/>
            </a:pPr>
            <a:r>
              <a:rPr sz="1900" b="0">
                <a:solidFill>
                  <a:srgbClr val="202122"/>
                </a:solidFill>
                <a:latin typeface="Calibri"/>
              </a:rPr>
              <a:t>Work with competence and integrity</a:t>
            </a:r>
          </a:p>
          <a:p>
            <a:pPr marL="274320" indent="-274320">
              <a:spcAft>
                <a:spcPts val="855"/>
              </a:spcAft>
              <a:buClr>
                <a:srgbClr val="0645AD"/>
              </a:buClr>
              <a:buFont typeface="Arial"/>
              <a:buChar char="•"/>
            </a:pPr>
            <a:r>
              <a:rPr sz="1900" b="0">
                <a:solidFill>
                  <a:srgbClr val="202122"/>
                </a:solidFill>
                <a:latin typeface="Calibri"/>
              </a:rPr>
              <a:t>Meet deadlines and communicate well</a:t>
            </a:r>
          </a:p>
          <a:p>
            <a:pPr marL="274320" indent="-274320">
              <a:spcAft>
                <a:spcPts val="855"/>
              </a:spcAft>
              <a:buClr>
                <a:srgbClr val="0645AD"/>
              </a:buClr>
              <a:buFont typeface="Arial"/>
              <a:buChar char="•"/>
            </a:pPr>
            <a:r>
              <a:rPr sz="1900" b="0">
                <a:solidFill>
                  <a:srgbClr val="202122"/>
                </a:solidFill>
                <a:latin typeface="Calibri"/>
              </a:rPr>
              <a:t>Maintain confidentiality and trust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Industry standards bodies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1">
                <a:solidFill>
                  <a:srgbClr val="202122"/>
                </a:solidFill>
                <a:latin typeface="Calibri"/>
              </a:rPr>
              <a:t>ISO:</a:t>
            </a:r>
            <a:r>
              <a:rPr sz="2100" b="0">
                <a:solidFill>
                  <a:srgbClr val="202122"/>
                </a:solidFill>
                <a:latin typeface="Calibri"/>
              </a:rPr>
              <a:t> international standards</a:t>
            </a:r>
          </a:p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1">
                <a:solidFill>
                  <a:srgbClr val="202122"/>
                </a:solidFill>
                <a:latin typeface="Calibri"/>
              </a:rPr>
              <a:t>WCAG and W3C:</a:t>
            </a:r>
            <a:r>
              <a:rPr sz="2100" b="0">
                <a:solidFill>
                  <a:srgbClr val="202122"/>
                </a:solidFill>
                <a:latin typeface="Calibri"/>
              </a:rPr>
              <a:t> web accessibility and web standards</a:t>
            </a:r>
          </a:p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1">
                <a:solidFill>
                  <a:srgbClr val="202122"/>
                </a:solidFill>
                <a:latin typeface="Calibri"/>
              </a:rPr>
              <a:t>IETF:</a:t>
            </a:r>
            <a:r>
              <a:rPr sz="2100" b="0">
                <a:solidFill>
                  <a:srgbClr val="202122"/>
                </a:solidFill>
                <a:latin typeface="Calibri"/>
              </a:rPr>
              <a:t> internet protocols</a:t>
            </a:r>
          </a:p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1">
                <a:solidFill>
                  <a:srgbClr val="202122"/>
                </a:solidFill>
                <a:latin typeface="Calibri"/>
              </a:rPr>
              <a:t>EIA/TIA and IEEE:</a:t>
            </a:r>
            <a:r>
              <a:rPr sz="2100" b="0">
                <a:solidFill>
                  <a:srgbClr val="202122"/>
                </a:solidFill>
                <a:latin typeface="Calibri"/>
              </a:rPr>
              <a:t> cabling and networking</a:t>
            </a:r>
          </a:p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0">
                <a:solidFill>
                  <a:srgbClr val="202122"/>
                </a:solidFill>
                <a:latin typeface="Calibri"/>
              </a:rPr>
              <a:t>BS and PCI Security Standards Council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Acceptable use and whistleblowing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Digital Legislation and Professional Guidelines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Acceptable use policy (AUP)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Permitted and prohibited activities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Working practices, including confidentiality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Communication etiquette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Sanctions and penalties for breaches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Whistleblowing procedure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A safe way to report wrongdoing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Protects the person reporting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Lets problems be fixed before harm is done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Supports legal and ethical compliance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Digital Legislation and Professional Guidelines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the purpose of the Data Protection Act?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Guessing a colleague's password to read their email breaks which law?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How many protected characteristics are there under equality legislation?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does WEEE cover?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Name two things an AUP sets out.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Digital Legislation and Professional Guidelines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the purpose of the Data Protection Act?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To protect personal data and control how organisations use it.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Guessing a colleague's password to read their email breaks which law?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The Computer Misuse Act 1990.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How many protected characteristics are there under equality legislation?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Nine.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does WEEE cover?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Safe and environmentally responsible disposal of electrical and electronic waste.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Name two things an AUP sets out.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Any two of: permitted and prohibited activities, working practices, etiquette, sanctions.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Which law applies?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Digital Legislation and Professional Guidelines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20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Pairs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Your teacher will give you six workplace scenarios (or write your own).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For each, name the law or guideline that applies.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Explain the impact on the organisation, society and the individual.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Rank the scenarios from most to least serious and justify the order.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Correct law identified each time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Impact covers all three groups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Ranking is justified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Name one offence under the Computer Misuse Act.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do professional bodies publish codes of conduct?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is whistleblowing important?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Core Paper 2: Legislation, Business, Emerging Issues, Environments and 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https://lana6478.github.io/Digital-Suport-and-security-T-levle/#/01-core-component/02-core-paper-2.md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Legislation and Professional Guidelines</dc:title>
  <dc:subject>Digital Support and Security T Level: Core Paper 2</dc:subject>
  <dc:creator>Samuel O'Connell</dc:creator>
  <cp:keywords>T Level; Digital Support and Security; lesson slides; 4.1 (legislation), 4.2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