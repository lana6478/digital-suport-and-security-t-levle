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Severity runs 1 (negligible) to 5 (catastrophic). Ask students to place three risks from the starter on the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Task 1 of the Employer Set Project asks students to produce a Gantt chart, so give this plenty of practice.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F2B705"/>
                </a:solidFill>
                <a:latin typeface="Calibri"/>
              </a:rPr>
              <a:t>CORE COMPONENT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Project Management and Risk Assessment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Core Paper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2.8, 2.9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Support and Security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Project Management and Risk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3456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Build and interpret a 5 by 5 risk matrix.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7469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51810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what risk assessment documentation should record.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14825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09193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Compare Waterfall and Agile project methodologies.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5354954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5132069"/>
            <a:ext cx="6035040" cy="902969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Interpret and draw Gantt, PERT, Kanban, precedence and critical path diagrams.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 are installing 30 new PCs in a school over half term. What could go wrong? Which of those risks worries you most?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The 5 by 5 risk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Project Management and Risk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600200"/>
          <a:ext cx="11094412" cy="3977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5999"/>
                <a:gridCol w="1584916"/>
                <a:gridCol w="1584916"/>
                <a:gridCol w="1584916"/>
                <a:gridCol w="1584916"/>
                <a:gridCol w="1828749"/>
              </a:tblGrid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Likelihood \ Severity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Negligible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Marginal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Moderate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  <a:latin typeface="Calibri"/>
                        </a:rPr>
                        <a:t>Catastrophic</a:t>
                      </a:r>
                    </a:p>
                  </a:txBody>
                  <a:tcPr marL="91440" marR="91440" anchor="ctr">
                    <a:solidFill>
                      <a:srgbClr val="03306E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Frequent (5)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25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Probable (4)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Occasional (3)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15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Remote (2)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 marL="91440" marR="91440" anchor="ctr">
                    <a:solidFill>
                      <a:srgbClr val="EAF3FF"/>
                    </a:solidFill>
                  </a:tcPr>
                </a:tc>
              </a:tr>
              <a:tr h="662940">
                <a:tc>
                  <a:txBody>
                    <a:bodyPr wrap="square"/>
                    <a:lstStyle/>
                    <a:p>
                      <a:r>
                        <a:rPr sz="1600" b="1">
                          <a:solidFill>
                            <a:srgbClr val="03306E"/>
                          </a:solidFill>
                          <a:latin typeface="Calibri"/>
                        </a:rPr>
                        <a:t>Improbable (1)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600" b="0">
                          <a:solidFill>
                            <a:srgbClr val="2021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marL="91440" marR="9144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7150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Risk score = likelihood x severity. Higher scores need action first.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Risk assessment documentation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Project Management and Risk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A description of the risk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Who or what could be harmed, and how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Mitigations already in place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Further mitigation needed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Who is responsible, and the due date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Risk assessments exist to ensure continuity of service, health and safety, and regulatory compliance.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Waterfall and Agile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Project Management and Risk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Waterfall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Linear stages completed in order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Requirements fixed at the start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Easy to plan, budget and document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Hard to change once a stage is finished</a:t>
            </a:r>
          </a:p>
          <a:p>
            <a:pPr marL="274320" indent="-274320">
              <a:spcAft>
                <a:spcPts val="945"/>
              </a:spcAft>
              <a:buClr>
                <a:srgbClr val="0645AD"/>
              </a:buClr>
              <a:buFont typeface="Arial"/>
              <a:buChar char="•"/>
            </a:pPr>
            <a:r>
              <a:rPr sz="2100" b="0">
                <a:solidFill>
                  <a:srgbClr val="202122"/>
                </a:solidFill>
                <a:latin typeface="Calibri"/>
              </a:rPr>
              <a:t>Suits projects with clear, stable requirements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Agile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55"/>
              </a:spcAft>
              <a:buClr>
                <a:srgbClr val="0645AD"/>
              </a:buClr>
              <a:buFont typeface="Arial"/>
              <a:buChar char="•"/>
            </a:pPr>
            <a:r>
              <a:rPr sz="1900" b="0">
                <a:solidFill>
                  <a:srgbClr val="202122"/>
                </a:solidFill>
                <a:latin typeface="Calibri"/>
              </a:rPr>
              <a:t>Short iterations delivering working pieces</a:t>
            </a:r>
          </a:p>
          <a:p>
            <a:pPr marL="274320" indent="-274320">
              <a:spcAft>
                <a:spcPts val="855"/>
              </a:spcAft>
              <a:buClr>
                <a:srgbClr val="0645AD"/>
              </a:buClr>
              <a:buFont typeface="Arial"/>
              <a:buChar char="•"/>
            </a:pPr>
            <a:r>
              <a:rPr sz="1900" b="0">
                <a:solidFill>
                  <a:srgbClr val="202122"/>
                </a:solidFill>
                <a:latin typeface="Calibri"/>
              </a:rPr>
              <a:t>Requirements evolve with feedback</a:t>
            </a:r>
          </a:p>
          <a:p>
            <a:pPr marL="274320" indent="-274320">
              <a:spcAft>
                <a:spcPts val="855"/>
              </a:spcAft>
              <a:buClr>
                <a:srgbClr val="0645AD"/>
              </a:buClr>
              <a:buFont typeface="Arial"/>
              <a:buChar char="•"/>
            </a:pPr>
            <a:r>
              <a:rPr sz="1900" b="0">
                <a:solidFill>
                  <a:srgbClr val="202122"/>
                </a:solidFill>
                <a:latin typeface="Calibri"/>
              </a:rPr>
              <a:t>Frequent contact with the customer</a:t>
            </a:r>
          </a:p>
          <a:p>
            <a:pPr marL="274320" indent="-274320">
              <a:spcAft>
                <a:spcPts val="855"/>
              </a:spcAft>
              <a:buClr>
                <a:srgbClr val="0645AD"/>
              </a:buClr>
              <a:buFont typeface="Arial"/>
              <a:buChar char="•"/>
            </a:pPr>
            <a:r>
              <a:rPr sz="1900" b="0">
                <a:solidFill>
                  <a:srgbClr val="202122"/>
                </a:solidFill>
                <a:latin typeface="Calibri"/>
              </a:rPr>
              <a:t>Harder to predict final cost and date</a:t>
            </a:r>
          </a:p>
          <a:p>
            <a:pPr marL="274320" indent="-274320">
              <a:spcAft>
                <a:spcPts val="855"/>
              </a:spcAft>
              <a:buClr>
                <a:srgbClr val="0645AD"/>
              </a:buClr>
              <a:buFont typeface="Arial"/>
              <a:buChar char="•"/>
            </a:pPr>
            <a:r>
              <a:rPr sz="1900" b="0">
                <a:solidFill>
                  <a:srgbClr val="202122"/>
                </a:solidFill>
                <a:latin typeface="Calibri"/>
              </a:rPr>
              <a:t>Suits projects where needs will change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Project management techniques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Project Management and Risk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Gantt chart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Bars on a timeline showing when each task starts and ends.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PERT chart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Network of tasks with optimistic, likely and pessimistic time estimates.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Precedence table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Lists each task and the tasks that must finish before it.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Kanban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Board of cards moving through columns such as To do, Doing, Done.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Critical Path Analysis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202122"/>
                </a:solidFill>
                <a:latin typeface="Calibri"/>
              </a:rPr>
              <a:t>Finds the longest chain of dependent tasks: the shortest possible project length.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Finding the critical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Project Management and Risk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66751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List every task with its duration and dependencies (a precedence table).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Draw the tasks as a network in dependency order.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Add up the duration along every route from start to finish.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The longest route is the critical path.</a:t>
            </a:r>
          </a:p>
          <a:p>
            <a:pPr marL="274320" indent="-274320">
              <a:spcAft>
                <a:spcPts val="1080"/>
              </a:spcAft>
              <a:buClr>
                <a:srgbClr val="0645AD"/>
              </a:buClr>
              <a:buFont typeface="Arial"/>
              <a:buChar char="•"/>
            </a:pPr>
            <a:r>
              <a:rPr sz="2400" b="0">
                <a:solidFill>
                  <a:srgbClr val="202122"/>
                </a:solidFill>
                <a:latin typeface="Calibri"/>
              </a:rPr>
              <a:t>A delay to any task on it delays the whole project.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600200"/>
            <a:ext cx="3867912" cy="443484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74519"/>
            <a:ext cx="548640" cy="54864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000" b="1">
                <a:solidFill>
                  <a:srgbClr val="202122"/>
                </a:solidFill>
                <a:latin typeface="Calibri"/>
              </a:rPr>
              <a:t>!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0604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KEY IDEA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3017520"/>
            <a:ext cx="3291840" cy="2926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FFFFFF"/>
                </a:solidFill>
                <a:latin typeface="Cambria"/>
              </a:rPr>
              <a:t>Tasks not on the critical path have float: spare time they can slip without delaying the finish.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Project Management and Risk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A risk is 'probable' and 'critical'. What is its score?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Name three things a risk assessment should record.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methodology suits a project whose requirements will change?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a Gantt chart show?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happens if a task on the critical path is delayed?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Project Management and Risk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A risk is 'probable' and 'critical'. What is its score?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4 x 4 = 16.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2574950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2556662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0">
                <a:solidFill>
                  <a:srgbClr val="54595D"/>
                </a:solidFill>
                <a:latin typeface="Calibri"/>
              </a:rPr>
              <a:t>Name three things a risk assessment should record.</a:t>
            </a:r>
          </a:p>
          <a:p>
            <a:r>
              <a:rPr sz="1600" b="1">
                <a:solidFill>
                  <a:srgbClr val="03306E"/>
                </a:solidFill>
                <a:latin typeface="Calibri"/>
              </a:rPr>
              <a:t>Any three of: description, who/what could be harmed, how, existing mitigations, further mitigation, owner, due date.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3531412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13124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methodology suits a project whose requirements will change?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Agile.</a:t>
            </a:r>
          </a:p>
        </p:txBody>
      </p:sp>
      <p:sp>
        <p:nvSpPr>
          <p:cNvPr id="12" name="Oval 11"/>
          <p:cNvSpPr/>
          <p:nvPr/>
        </p:nvSpPr>
        <p:spPr>
          <a:xfrm>
            <a:off x="548640" y="4487875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4469587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a Gantt chart show?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When each task starts and finishes on a timeline.</a:t>
            </a:r>
          </a:p>
        </p:txBody>
      </p:sp>
      <p:sp>
        <p:nvSpPr>
          <p:cNvPr id="14" name="Oval 13"/>
          <p:cNvSpPr/>
          <p:nvPr/>
        </p:nvSpPr>
        <p:spPr>
          <a:xfrm>
            <a:off x="548640" y="5444337"/>
            <a:ext cx="411480" cy="41148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5426049"/>
            <a:ext cx="10408615" cy="79187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happens if a task on the critical path is delayed?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whole project is delayed.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Plan the PC rollout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Support and Security T Level  ·  Project Management and Risk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30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Tasks: order kit (5 days), image PCs (3), remove old PCs (1), install desks and cabling (2), install new PCs (2), test (1).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Build a precedence table for the tasks.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Draw a Gantt chart and find the critical path.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Score the three biggest risks on the 5 by 5 matrix.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Dependencies are realistic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Gantt chart is to scale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Critical path identified with its total length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Each risk has a mitigation and an owner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CORE COMPONENT  ·  Core Paper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the highest possible score on a 5 by 5 matrix?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Give one drawback of Waterfall.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does float mean in critical path analysis?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Core Paper 1: Problem Solving, Digital Support and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https://lana6478.github.io/Digital-Suport-and-security-T-levle/#/01-core-component/01-core-paper-1.md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Management and Risk Assessment</dc:title>
  <dc:subject>Digital Support and Security T Level: Core Paper 1</dc:subject>
  <dc:creator>Samuel O'Connell</dc:creator>
  <cp:keywords>T Level; Digital Support and Security; lesson slides; 2.8, 2.9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