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umbrella law. The regulations on the next slides sit under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Any two: safe environment, training, welfare, information, instruction, supervision.</a:t>
            </a:r>
          </a:p>
          <a:p>
            <a:r>
              <a:t>2. Yes: take reasonable care and follow safety procedures.</a:t>
            </a:r>
          </a:p>
          <a:p>
            <a:r>
              <a:t>3. They sit under it and cover specific risks.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Avoid working at height where possible.</a:t>
            </a:r>
          </a:p>
          <a:p>
            <a:r>
              <a:t>2. An eye test.</a:t>
            </a:r>
          </a:p>
          <a:p>
            <a:r>
              <a:t>3. E.g. trolleys, team lifts, training.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mitigation themes from the specification: training, safe environment, safety equipment and supervision.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Any two: eye strain, back, neck or wrist pain.</a:t>
            </a:r>
          </a:p>
          <a:p>
            <a:r>
              <a:t>2. E.g. isolate power, wear gloves, keep cables tidy.</a:t>
            </a:r>
          </a:p>
          <a:p>
            <a:r>
              <a:t>3. Training, safe environment, safety equipment, supervision.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F2B705"/>
                </a:solidFill>
                <a:latin typeface="Calibri"/>
              </a:rPr>
              <a:t>CORE COMPONENT</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Health and Safety in Digital Work</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Core Paper 2</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4.1 (health and safety)</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Digital Support and Security T Level  ·  Lesson slides</a:t>
            </a:r>
          </a:p>
          <a:p>
            <a:pPr algn="l"/>
            <a:r>
              <a:rPr sz="1100" b="0" i="0">
                <a:solidFill>
                  <a:srgbClr val="A9C8F0"/>
                </a:solidFill>
                <a:latin typeface="Calibri"/>
              </a:rPr>
              <a:t>Unofficial teaching resource. Check the official Pearson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Health and Safety in Digital Work</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3456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8" name="TextBox 7"/>
          <p:cNvSpPr txBox="1"/>
          <p:nvPr/>
        </p:nvSpPr>
        <p:spPr>
          <a:xfrm>
            <a:off x="1234440" y="2011680"/>
            <a:ext cx="6035040" cy="902969"/>
          </a:xfrm>
          <a:prstGeom prst="rect">
            <a:avLst/>
          </a:prstGeom>
          <a:noFill/>
        </p:spPr>
        <p:txBody>
          <a:bodyPr wrap="square" anchor="ctr" lIns="0" rIns="0" tIns="0" bIns="0"/>
          <a:lstStyle/>
          <a:p>
            <a:pPr algn="l"/>
            <a:r>
              <a:rPr sz="2000" b="0" i="0">
                <a:solidFill>
                  <a:srgbClr val="202122"/>
                </a:solidFill>
                <a:latin typeface="Calibri"/>
              </a:rPr>
              <a:t>Describe employer duties under the Health and Safety at Work Act.</a:t>
            </a:r>
          </a:p>
        </p:txBody>
      </p:sp>
      <p:sp>
        <p:nvSpPr>
          <p:cNvPr id="9" name="Oval 8"/>
          <p:cNvSpPr/>
          <p:nvPr/>
        </p:nvSpPr>
        <p:spPr>
          <a:xfrm>
            <a:off x="548640" y="327469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10" name="TextBox 9"/>
          <p:cNvSpPr txBox="1"/>
          <p:nvPr/>
        </p:nvSpPr>
        <p:spPr>
          <a:xfrm>
            <a:off x="1234440" y="3051810"/>
            <a:ext cx="6035040" cy="902969"/>
          </a:xfrm>
          <a:prstGeom prst="rect">
            <a:avLst/>
          </a:prstGeom>
          <a:noFill/>
        </p:spPr>
        <p:txBody>
          <a:bodyPr wrap="square" anchor="ctr" lIns="0" rIns="0" tIns="0" bIns="0"/>
          <a:lstStyle/>
          <a:p>
            <a:pPr algn="l"/>
            <a:r>
              <a:rPr sz="2000" b="0" i="0">
                <a:solidFill>
                  <a:srgbClr val="202122"/>
                </a:solidFill>
                <a:latin typeface="Calibri"/>
              </a:rPr>
              <a:t>Explain the manual handling, work at height and DSE regulations.</a:t>
            </a:r>
          </a:p>
        </p:txBody>
      </p:sp>
      <p:sp>
        <p:nvSpPr>
          <p:cNvPr id="11" name="Oval 10"/>
          <p:cNvSpPr/>
          <p:nvPr/>
        </p:nvSpPr>
        <p:spPr>
          <a:xfrm>
            <a:off x="548640" y="431482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2" name="TextBox 11"/>
          <p:cNvSpPr txBox="1"/>
          <p:nvPr/>
        </p:nvSpPr>
        <p:spPr>
          <a:xfrm>
            <a:off x="1234440" y="4091939"/>
            <a:ext cx="6035040" cy="902969"/>
          </a:xfrm>
          <a:prstGeom prst="rect">
            <a:avLst/>
          </a:prstGeom>
          <a:noFill/>
        </p:spPr>
        <p:txBody>
          <a:bodyPr wrap="square" anchor="ctr" lIns="0" rIns="0" tIns="0" bIns="0"/>
          <a:lstStyle/>
          <a:p>
            <a:pPr algn="l"/>
            <a:r>
              <a:rPr sz="2000" b="0" i="0">
                <a:solidFill>
                  <a:srgbClr val="202122"/>
                </a:solidFill>
                <a:latin typeface="Calibri"/>
              </a:rPr>
              <a:t>Identify the main health and safety risks of digital work.</a:t>
            </a:r>
          </a:p>
        </p:txBody>
      </p:sp>
      <p:sp>
        <p:nvSpPr>
          <p:cNvPr id="13" name="Oval 12"/>
          <p:cNvSpPr/>
          <p:nvPr/>
        </p:nvSpPr>
        <p:spPr>
          <a:xfrm>
            <a:off x="548640" y="5354954"/>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4</a:t>
            </a:r>
          </a:p>
        </p:txBody>
      </p:sp>
      <p:sp>
        <p:nvSpPr>
          <p:cNvPr id="14" name="TextBox 13"/>
          <p:cNvSpPr txBox="1"/>
          <p:nvPr/>
        </p:nvSpPr>
        <p:spPr>
          <a:xfrm>
            <a:off x="1234440" y="5132069"/>
            <a:ext cx="6035040" cy="902969"/>
          </a:xfrm>
          <a:prstGeom prst="rect">
            <a:avLst/>
          </a:prstGeom>
          <a:noFill/>
        </p:spPr>
        <p:txBody>
          <a:bodyPr wrap="square" anchor="ctr" lIns="0" rIns="0" tIns="0" bIns="0"/>
          <a:lstStyle/>
          <a:p>
            <a:pPr algn="l"/>
            <a:r>
              <a:rPr sz="2000" b="0" i="0">
                <a:solidFill>
                  <a:srgbClr val="202122"/>
                </a:solidFill>
                <a:latin typeface="Calibri"/>
              </a:rPr>
              <a:t>Recommend suitable mitigations for each risk.</a:t>
            </a:r>
          </a:p>
        </p:txBody>
      </p:sp>
      <p:sp>
        <p:nvSpPr>
          <p:cNvPr id="15" name="Rounded Rectangle 14"/>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7" name="TextBox 16"/>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Look around this room. List every hazard you can see that could hurt someone working in IT here.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Health and Safety at Work Act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Health and Safety in Digital Work</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60"/>
              </a:spcAft>
            </a:pPr>
            <a:r>
              <a:rPr sz="2100" b="0">
                <a:solidFill>
                  <a:srgbClr val="202122"/>
                </a:solidFill>
                <a:latin typeface="Calibri"/>
              </a:rPr>
              <a:t>The Health and Safety at Work Act is the main law protecting people at work, including in IT.</a:t>
            </a:r>
          </a:p>
          <a:p>
            <a:pPr>
              <a:spcAft>
                <a:spcPts val="1260"/>
              </a:spcAft>
            </a:pPr>
            <a:r>
              <a:rPr sz="2100" b="0">
                <a:solidFill>
                  <a:srgbClr val="202122"/>
                </a:solidFill>
                <a:latin typeface="Calibri"/>
              </a:rPr>
              <a:t>Employers must provide a safe working environment, train staff properly, provide adequate welfare facilities such as toilets and drinking water, and give the information, instruction and supervision people need to work safely.</a:t>
            </a:r>
          </a:p>
          <a:p>
            <a:pPr>
              <a:spcAft>
                <a:spcPts val="1260"/>
              </a:spcAft>
            </a:pPr>
            <a:r>
              <a:rPr sz="2100" b="1">
                <a:solidFill>
                  <a:srgbClr val="202122"/>
                </a:solidFill>
                <a:latin typeface="Calibri"/>
              </a:rPr>
              <a:t>Employees have duties too:</a:t>
            </a:r>
            <a:r>
              <a:rPr sz="2100" b="0">
                <a:solidFill>
                  <a:srgbClr val="202122"/>
                </a:solidFill>
                <a:latin typeface="Calibri"/>
              </a:rPr>
              <a:t> take reasonable care of themselves and others, follow training and safety procedures, and not misuse safety equipment.</a:t>
            </a:r>
          </a:p>
          <a:p>
            <a:pPr>
              <a:spcAft>
                <a:spcPts val="1260"/>
              </a:spcAft>
            </a:pPr>
            <a:r>
              <a:rPr sz="2100" b="0">
                <a:solidFill>
                  <a:srgbClr val="202122"/>
                </a:solidFill>
                <a:latin typeface="Calibri"/>
              </a:rPr>
              <a:t>More specific regulations, such as those for display screens and manual handling, sit underneath it.</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new technician must be trained before working in the server room, shown the fire exits and emergency power-off, and supervised until they're competent.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Health and Safety at Work Act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Health and Safety in Digital Work</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sp>
        <p:nvSpPr>
          <p:cNvPr id="6" name="TextBox 5"/>
          <p:cNvSpPr txBox="1"/>
          <p:nvPr/>
        </p:nvSpPr>
        <p:spPr>
          <a:xfrm>
            <a:off x="548640" y="1600200"/>
            <a:ext cx="6675120" cy="4572000"/>
          </a:xfrm>
          <a:prstGeom prst="rect">
            <a:avLst/>
          </a:prstGeom>
          <a:noFill/>
        </p:spPr>
        <p:txBody>
          <a:bodyPr wrap="square" lIns="0" rIns="0" tIns="0" bIns="0">
            <a:spAutoFit/>
          </a:bodyPr>
          <a:lstStyle/>
          <a:p>
            <a:pPr marL="274320" indent="-274320">
              <a:spcAft>
                <a:spcPts val="1080"/>
              </a:spcAft>
              <a:buClr>
                <a:srgbClr val="0645AD"/>
              </a:buClr>
              <a:buFont typeface="Arial"/>
              <a:buChar char="•"/>
            </a:pPr>
            <a:r>
              <a:rPr sz="2400" b="0">
                <a:solidFill>
                  <a:srgbClr val="202122"/>
                </a:solidFill>
                <a:latin typeface="Calibri"/>
              </a:rPr>
              <a:t>Provide a safe working environment</a:t>
            </a:r>
          </a:p>
          <a:p>
            <a:pPr marL="274320" indent="-274320">
              <a:spcAft>
                <a:spcPts val="1080"/>
              </a:spcAft>
              <a:buClr>
                <a:srgbClr val="0645AD"/>
              </a:buClr>
              <a:buFont typeface="Arial"/>
              <a:buChar char="•"/>
            </a:pPr>
            <a:r>
              <a:rPr sz="2400" b="0">
                <a:solidFill>
                  <a:srgbClr val="202122"/>
                </a:solidFill>
                <a:latin typeface="Calibri"/>
              </a:rPr>
              <a:t>Train staff properly</a:t>
            </a:r>
          </a:p>
          <a:p>
            <a:pPr marL="274320" indent="-274320">
              <a:spcAft>
                <a:spcPts val="1080"/>
              </a:spcAft>
              <a:buClr>
                <a:srgbClr val="0645AD"/>
              </a:buClr>
              <a:buFont typeface="Arial"/>
              <a:buChar char="•"/>
            </a:pPr>
            <a:r>
              <a:rPr sz="2400" b="0">
                <a:solidFill>
                  <a:srgbClr val="202122"/>
                </a:solidFill>
                <a:latin typeface="Calibri"/>
              </a:rPr>
              <a:t>Provide adequate welfare facilities</a:t>
            </a:r>
          </a:p>
          <a:p>
            <a:pPr marL="274320" indent="-274320">
              <a:spcAft>
                <a:spcPts val="1080"/>
              </a:spcAft>
              <a:buClr>
                <a:srgbClr val="0645AD"/>
              </a:buClr>
              <a:buFont typeface="Arial"/>
              <a:buChar char="•"/>
            </a:pPr>
            <a:r>
              <a:rPr sz="2400" b="0">
                <a:solidFill>
                  <a:srgbClr val="202122"/>
                </a:solidFill>
                <a:latin typeface="Calibri"/>
              </a:rPr>
              <a:t>Give relevant information, instruction and supervision</a:t>
            </a:r>
          </a:p>
        </p:txBody>
      </p:sp>
      <p:sp>
        <p:nvSpPr>
          <p:cNvPr id="7" name="Rounded Rectangle 6"/>
          <p:cNvSpPr/>
          <p:nvPr/>
        </p:nvSpPr>
        <p:spPr>
          <a:xfrm>
            <a:off x="7772400" y="1600200"/>
            <a:ext cx="3867912" cy="443484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74519"/>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a:t>
            </a:r>
          </a:p>
        </p:txBody>
      </p:sp>
      <p:sp>
        <p:nvSpPr>
          <p:cNvPr id="9" name="TextBox 8"/>
          <p:cNvSpPr txBox="1"/>
          <p:nvPr/>
        </p:nvSpPr>
        <p:spPr>
          <a:xfrm>
            <a:off x="8046720" y="2606040"/>
            <a:ext cx="3291840" cy="365760"/>
          </a:xfrm>
          <a:prstGeom prst="rect">
            <a:avLst/>
          </a:prstGeom>
          <a:noFill/>
        </p:spPr>
        <p:txBody>
          <a:bodyPr wrap="square" anchor="t" lIns="0" rIns="0" tIns="0" bIns="0"/>
          <a:lstStyle/>
          <a:p>
            <a:pPr algn="l"/>
            <a:r>
              <a:rPr sz="1300" b="1" i="0">
                <a:solidFill>
                  <a:srgbClr val="A9C8F0"/>
                </a:solidFill>
                <a:latin typeface="Calibri"/>
              </a:rPr>
              <a:t>KEY IDEA</a:t>
            </a:r>
          </a:p>
        </p:txBody>
      </p:sp>
      <p:sp>
        <p:nvSpPr>
          <p:cNvPr id="10" name="TextBox 9"/>
          <p:cNvSpPr txBox="1"/>
          <p:nvPr/>
        </p:nvSpPr>
        <p:spPr>
          <a:xfrm>
            <a:off x="8046720" y="3017520"/>
            <a:ext cx="3291840" cy="2926080"/>
          </a:xfrm>
          <a:prstGeom prst="rect">
            <a:avLst/>
          </a:prstGeom>
          <a:noFill/>
        </p:spPr>
        <p:txBody>
          <a:bodyPr wrap="square" anchor="t" lIns="0" rIns="0" tIns="0" bIns="0"/>
          <a:lstStyle/>
          <a:p>
            <a:pPr algn="l"/>
            <a:r>
              <a:rPr sz="2200" b="0" i="0">
                <a:solidFill>
                  <a:srgbClr val="FFFFFF"/>
                </a:solidFill>
                <a:latin typeface="Cambria"/>
              </a:rPr>
              <a:t>Employers carry the main duty, but employees must also take reasonable care of themselves and others.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Health and Safety at Work Act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Health and Safety in Digital Work</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Name two employer duties under the Act.</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Do employees have duties too?</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How do other regulations relate to the Act?</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Key regulations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Health and Safety in Digital Work</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00"/>
              </a:spcAft>
            </a:pPr>
            <a:r>
              <a:rPr sz="2000" b="1">
                <a:solidFill>
                  <a:srgbClr val="202122"/>
                </a:solidFill>
                <a:latin typeface="Calibri"/>
              </a:rPr>
              <a:t>Manual handling regulations:</a:t>
            </a:r>
            <a:r>
              <a:rPr sz="2000" b="0">
                <a:solidFill>
                  <a:srgbClr val="202122"/>
                </a:solidFill>
                <a:latin typeface="Calibri"/>
              </a:rPr>
              <a:t> avoid hazardous lifting where possible. Where you can't, assess the risk, tell staff about the load's weight and centre of gravity, and reduce the risk, for example with trolleys or team lifts.</a:t>
            </a:r>
          </a:p>
          <a:p>
            <a:pPr>
              <a:spcAft>
                <a:spcPts val="1200"/>
              </a:spcAft>
            </a:pPr>
            <a:r>
              <a:rPr sz="2000" b="1">
                <a:solidFill>
                  <a:srgbClr val="202122"/>
                </a:solidFill>
                <a:latin typeface="Calibri"/>
              </a:rPr>
              <a:t>Work at height regulations:</a:t>
            </a:r>
            <a:r>
              <a:rPr sz="2000" b="0">
                <a:solidFill>
                  <a:srgbClr val="202122"/>
                </a:solidFill>
                <a:latin typeface="Calibri"/>
              </a:rPr>
              <a:t> avoid it where you can. Otherwise plan and supervise the work, use competent people and suitable, stable equipment, protect against falling objects and plan for emergencies.</a:t>
            </a:r>
          </a:p>
          <a:p>
            <a:pPr>
              <a:spcAft>
                <a:spcPts val="1200"/>
              </a:spcAft>
            </a:pPr>
            <a:r>
              <a:rPr sz="2000" b="0">
                <a:solidFill>
                  <a:srgbClr val="202122"/>
                </a:solidFill>
                <a:latin typeface="Calibri"/>
              </a:rPr>
              <a:t>Display screen equipment (DSE) regulations: employers must assess workstations, reduce risks including regular breaks from the screen, provide eye tests on request, and give training.</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Fitting a wireless access point on a 3 m ceiling: use a podium step or tower rather than a chair, have a second person present, and keep tools tethered.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Key regulations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Health and Safety in Digital Work</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Rounded Rectangle 5"/>
          <p:cNvSpPr/>
          <p:nvPr/>
        </p:nvSpPr>
        <p:spPr>
          <a:xfrm>
            <a:off x="548640" y="1600200"/>
            <a:ext cx="3515258" cy="45720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2509418" cy="512064"/>
          </a:xfrm>
          <a:prstGeom prst="rect">
            <a:avLst/>
          </a:prstGeom>
          <a:noFill/>
        </p:spPr>
        <p:txBody>
          <a:bodyPr wrap="square" anchor="ctr" lIns="0" rIns="0" tIns="0" bIns="0"/>
          <a:lstStyle/>
          <a:p>
            <a:pPr algn="l"/>
            <a:r>
              <a:rPr sz="1900" b="1" i="0">
                <a:solidFill>
                  <a:srgbClr val="03306E"/>
                </a:solidFill>
                <a:latin typeface="Calibri"/>
              </a:rPr>
              <a:t>Manual handling</a:t>
            </a:r>
          </a:p>
        </p:txBody>
      </p:sp>
      <p:sp>
        <p:nvSpPr>
          <p:cNvPr id="9" name="TextBox 8"/>
          <p:cNvSpPr txBox="1"/>
          <p:nvPr/>
        </p:nvSpPr>
        <p:spPr>
          <a:xfrm>
            <a:off x="777240" y="2468880"/>
            <a:ext cx="3058058" cy="3566160"/>
          </a:xfrm>
          <a:prstGeom prst="rect">
            <a:avLst/>
          </a:prstGeom>
          <a:noFill/>
        </p:spPr>
        <p:txBody>
          <a:bodyPr wrap="square" anchor="t" lIns="0" rIns="0" tIns="0" bIns="0"/>
          <a:lstStyle/>
          <a:p>
            <a:pPr algn="l"/>
            <a:r>
              <a:rPr sz="2000" b="0" i="0">
                <a:solidFill>
                  <a:srgbClr val="202122"/>
                </a:solidFill>
                <a:latin typeface="Calibri"/>
              </a:rPr>
              <a:t>Avoid hazardous lifting where possible. Otherwise assess the risk, give information on the load and its centre of gravity, and reduce the risk of injury.</a:t>
            </a:r>
          </a:p>
        </p:txBody>
      </p:sp>
      <p:sp>
        <p:nvSpPr>
          <p:cNvPr id="10" name="Rounded Rectangle 9"/>
          <p:cNvSpPr/>
          <p:nvPr/>
        </p:nvSpPr>
        <p:spPr>
          <a:xfrm>
            <a:off x="4338218" y="1600200"/>
            <a:ext cx="3515258" cy="45720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66818"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5161178" y="1801368"/>
            <a:ext cx="2509418" cy="512064"/>
          </a:xfrm>
          <a:prstGeom prst="rect">
            <a:avLst/>
          </a:prstGeom>
          <a:noFill/>
        </p:spPr>
        <p:txBody>
          <a:bodyPr wrap="square" anchor="ctr" lIns="0" rIns="0" tIns="0" bIns="0"/>
          <a:lstStyle/>
          <a:p>
            <a:pPr algn="l"/>
            <a:r>
              <a:rPr sz="1900" b="1" i="0">
                <a:solidFill>
                  <a:srgbClr val="03306E"/>
                </a:solidFill>
                <a:latin typeface="Calibri"/>
              </a:rPr>
              <a:t>Work at height</a:t>
            </a:r>
          </a:p>
        </p:txBody>
      </p:sp>
      <p:sp>
        <p:nvSpPr>
          <p:cNvPr id="13" name="TextBox 12"/>
          <p:cNvSpPr txBox="1"/>
          <p:nvPr/>
        </p:nvSpPr>
        <p:spPr>
          <a:xfrm>
            <a:off x="4566818" y="2468880"/>
            <a:ext cx="3058058" cy="3566160"/>
          </a:xfrm>
          <a:prstGeom prst="rect">
            <a:avLst/>
          </a:prstGeom>
          <a:noFill/>
        </p:spPr>
        <p:txBody>
          <a:bodyPr wrap="square" anchor="t" lIns="0" rIns="0" tIns="0" bIns="0"/>
          <a:lstStyle/>
          <a:p>
            <a:pPr algn="l"/>
            <a:r>
              <a:rPr sz="2000" b="0" i="0">
                <a:solidFill>
                  <a:srgbClr val="202122"/>
                </a:solidFill>
                <a:latin typeface="Calibri"/>
              </a:rPr>
              <a:t>Plan and supervise the work, use competent people, do as much as possible from the ground, use suitable, stable equipment, protect against falling objects, plan for emergencies.</a:t>
            </a:r>
          </a:p>
        </p:txBody>
      </p:sp>
      <p:sp>
        <p:nvSpPr>
          <p:cNvPr id="14" name="Rounded Rectangle 13"/>
          <p:cNvSpPr/>
          <p:nvPr/>
        </p:nvSpPr>
        <p:spPr>
          <a:xfrm>
            <a:off x="8127796" y="1600200"/>
            <a:ext cx="3515258" cy="45720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56396"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8950756" y="1801368"/>
            <a:ext cx="2509418" cy="512064"/>
          </a:xfrm>
          <a:prstGeom prst="rect">
            <a:avLst/>
          </a:prstGeom>
          <a:noFill/>
        </p:spPr>
        <p:txBody>
          <a:bodyPr wrap="square" anchor="ctr" lIns="0" rIns="0" tIns="0" bIns="0"/>
          <a:lstStyle/>
          <a:p>
            <a:pPr algn="l"/>
            <a:r>
              <a:rPr sz="1600" b="1" i="0">
                <a:solidFill>
                  <a:srgbClr val="03306E"/>
                </a:solidFill>
                <a:latin typeface="Calibri"/>
              </a:rPr>
              <a:t>Display screen equipment</a:t>
            </a:r>
          </a:p>
        </p:txBody>
      </p:sp>
      <p:sp>
        <p:nvSpPr>
          <p:cNvPr id="17" name="TextBox 16"/>
          <p:cNvSpPr txBox="1"/>
          <p:nvPr/>
        </p:nvSpPr>
        <p:spPr>
          <a:xfrm>
            <a:off x="8356396" y="2468880"/>
            <a:ext cx="3058058" cy="3566160"/>
          </a:xfrm>
          <a:prstGeom prst="rect">
            <a:avLst/>
          </a:prstGeom>
          <a:noFill/>
        </p:spPr>
        <p:txBody>
          <a:bodyPr wrap="square" anchor="t" lIns="0" rIns="0" tIns="0" bIns="0"/>
          <a:lstStyle/>
          <a:p>
            <a:pPr algn="l"/>
            <a:r>
              <a:rPr sz="2000" b="0" i="0">
                <a:solidFill>
                  <a:srgbClr val="202122"/>
                </a:solidFill>
                <a:latin typeface="Calibri"/>
              </a:rPr>
              <a:t>Assess workstations, reduce risks including regular breaks, provide eye tests on request, and give training and information.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Key regulations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Health and Safety in Digital Work</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the first rule of the work at height regulations?</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must employers provide DSE users on request?</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Give one way to reduce manual handling risk.</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Risks in digital work and how to reduce them</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Health and Safety in Digital Work</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00"/>
              </a:spcAft>
            </a:pPr>
            <a:r>
              <a:rPr sz="2000" b="0">
                <a:solidFill>
                  <a:srgbClr val="202122"/>
                </a:solidFill>
                <a:latin typeface="Calibri"/>
              </a:rPr>
              <a:t>IT work has real physical risks.</a:t>
            </a:r>
          </a:p>
          <a:p>
            <a:pPr>
              <a:spcAft>
                <a:spcPts val="1200"/>
              </a:spcAft>
            </a:pPr>
            <a:r>
              <a:rPr sz="2000" b="0">
                <a:solidFill>
                  <a:srgbClr val="202122"/>
                </a:solidFill>
                <a:latin typeface="Calibri"/>
              </a:rPr>
              <a:t>Long hours at a screen cause eye strain and back, neck and wrist pain. Workstation assessments, adjustable chairs, correct screen height and regular breaks reduce this.</a:t>
            </a:r>
          </a:p>
          <a:p>
            <a:pPr>
              <a:spcAft>
                <a:spcPts val="1200"/>
              </a:spcAft>
            </a:pPr>
            <a:r>
              <a:rPr sz="2000" b="0">
                <a:solidFill>
                  <a:srgbClr val="202122"/>
                </a:solidFill>
                <a:latin typeface="Calibri"/>
              </a:rPr>
              <a:t>Cable installation risks trips, cuts from cable ties and trunking, and electric shock. Keep cables tidy, wear gloves and isolate power first.</a:t>
            </a:r>
          </a:p>
          <a:p>
            <a:pPr>
              <a:spcAft>
                <a:spcPts val="1200"/>
              </a:spcAft>
            </a:pPr>
            <a:r>
              <a:rPr sz="2000" b="0">
                <a:solidFill>
                  <a:srgbClr val="202122"/>
                </a:solidFill>
                <a:latin typeface="Calibri"/>
              </a:rPr>
              <a:t>Lifting servers and boxes of equipment risks back injury. Use trolleys and team lifts.</a:t>
            </a:r>
          </a:p>
          <a:p>
            <a:pPr>
              <a:spcAft>
                <a:spcPts val="1200"/>
              </a:spcAft>
            </a:pPr>
            <a:r>
              <a:rPr sz="2000" b="0">
                <a:solidFill>
                  <a:srgbClr val="202122"/>
                </a:solidFill>
                <a:latin typeface="Calibri"/>
              </a:rPr>
              <a:t>The four main mitigations are training, a safe environment and practices, safety equipment and supervision.</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technician re-cabling a comms cabinet isolates power, wears gloves, uses a trolley for the new switch and routes cables away from walkways.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Risks in digital work and how to reduce them</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Health and Safety in Digital Work</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graphicFrame>
        <p:nvGraphicFramePr>
          <p:cNvPr id="6" name="Table 5"/>
          <p:cNvGraphicFramePr>
            <a:graphicFrameLocks noGrp="1"/>
          </p:cNvGraphicFramePr>
          <p:nvPr/>
        </p:nvGraphicFramePr>
        <p:xfrm>
          <a:off x="548640" y="1600200"/>
          <a:ext cx="11094414" cy="4526280"/>
        </p:xfrm>
        <a:graphic>
          <a:graphicData uri="http://schemas.openxmlformats.org/drawingml/2006/table">
            <a:tbl>
              <a:tblPr firstRow="1" bandRow="1">
                <a:tableStyleId>{5C22544A-7EE6-4342-B048-85BDC9FD1C3A}</a:tableStyleId>
              </a:tblPr>
              <a:tblGrid>
                <a:gridCol w="2521458"/>
                <a:gridCol w="4034332"/>
                <a:gridCol w="4538624"/>
              </a:tblGrid>
              <a:tr h="905256">
                <a:tc>
                  <a:txBody>
                    <a:bodyPr wrap="square"/>
                    <a:lstStyle/>
                    <a:p>
                      <a:r>
                        <a:rPr sz="1600" b="1">
                          <a:solidFill>
                            <a:srgbClr val="FFFFFF"/>
                          </a:solidFill>
                          <a:latin typeface="Calibri"/>
                        </a:rPr>
                        <a:t>Activity</a:t>
                      </a:r>
                    </a:p>
                  </a:txBody>
                  <a:tcPr marL="91440" marR="91440" anchor="ctr">
                    <a:solidFill>
                      <a:srgbClr val="03306E"/>
                    </a:solidFill>
                  </a:tcPr>
                </a:tc>
                <a:tc>
                  <a:txBody>
                    <a:bodyPr wrap="square"/>
                    <a:lstStyle/>
                    <a:p>
                      <a:r>
                        <a:rPr sz="1600" b="1">
                          <a:solidFill>
                            <a:srgbClr val="FFFFFF"/>
                          </a:solidFill>
                          <a:latin typeface="Calibri"/>
                        </a:rPr>
                        <a:t>Risk</a:t>
                      </a:r>
                    </a:p>
                  </a:txBody>
                  <a:tcPr marL="91440" marR="91440" anchor="ctr">
                    <a:solidFill>
                      <a:srgbClr val="03306E"/>
                    </a:solidFill>
                  </a:tcPr>
                </a:tc>
                <a:tc>
                  <a:txBody>
                    <a:bodyPr wrap="square"/>
                    <a:lstStyle/>
                    <a:p>
                      <a:r>
                        <a:rPr sz="1600" b="1">
                          <a:solidFill>
                            <a:srgbClr val="FFFFFF"/>
                          </a:solidFill>
                          <a:latin typeface="Calibri"/>
                        </a:rPr>
                        <a:t>Mitigation</a:t>
                      </a:r>
                    </a:p>
                  </a:txBody>
                  <a:tcPr marL="91440" marR="91440" anchor="ctr">
                    <a:solidFill>
                      <a:srgbClr val="03306E"/>
                    </a:solidFill>
                  </a:tcPr>
                </a:tc>
              </a:tr>
              <a:tr h="905256">
                <a:tc>
                  <a:txBody>
                    <a:bodyPr wrap="square"/>
                    <a:lstStyle/>
                    <a:p>
                      <a:r>
                        <a:rPr sz="1600" b="1">
                          <a:solidFill>
                            <a:srgbClr val="03306E"/>
                          </a:solidFill>
                          <a:latin typeface="Calibri"/>
                        </a:rPr>
                        <a:t>Using DSE all day</a:t>
                      </a:r>
                    </a:p>
                  </a:txBody>
                  <a:tcPr marL="91440" marR="91440" anchor="ctr">
                    <a:solidFill>
                      <a:srgbClr val="FFFFFF"/>
                    </a:solidFill>
                  </a:tcPr>
                </a:tc>
                <a:tc>
                  <a:txBody>
                    <a:bodyPr wrap="square"/>
                    <a:lstStyle/>
                    <a:p>
                      <a:r>
                        <a:rPr sz="1600" b="0">
                          <a:solidFill>
                            <a:srgbClr val="202122"/>
                          </a:solidFill>
                          <a:latin typeface="Calibri"/>
                        </a:rPr>
                        <a:t>Eye strain, back and wrist pain</a:t>
                      </a:r>
                    </a:p>
                  </a:txBody>
                  <a:tcPr marL="91440" marR="91440" anchor="ctr">
                    <a:solidFill>
                      <a:srgbClr val="FFFFFF"/>
                    </a:solidFill>
                  </a:tcPr>
                </a:tc>
                <a:tc>
                  <a:txBody>
                    <a:bodyPr wrap="square"/>
                    <a:lstStyle/>
                    <a:p>
                      <a:r>
                        <a:rPr sz="1600" b="0">
                          <a:solidFill>
                            <a:srgbClr val="202122"/>
                          </a:solidFill>
                          <a:latin typeface="Calibri"/>
                        </a:rPr>
                        <a:t>Workstation assessment, breaks, eye tests</a:t>
                      </a:r>
                    </a:p>
                  </a:txBody>
                  <a:tcPr marL="91440" marR="91440" anchor="ctr">
                    <a:solidFill>
                      <a:srgbClr val="FFFFFF"/>
                    </a:solidFill>
                  </a:tcPr>
                </a:tc>
              </a:tr>
              <a:tr h="905256">
                <a:tc>
                  <a:txBody>
                    <a:bodyPr wrap="square"/>
                    <a:lstStyle/>
                    <a:p>
                      <a:r>
                        <a:rPr sz="1600" b="1">
                          <a:solidFill>
                            <a:srgbClr val="03306E"/>
                          </a:solidFill>
                          <a:latin typeface="Calibri"/>
                        </a:rPr>
                        <a:t>Working at height</a:t>
                      </a:r>
                    </a:p>
                  </a:txBody>
                  <a:tcPr marL="91440" marR="91440" anchor="ctr">
                    <a:solidFill>
                      <a:srgbClr val="EAF3FF"/>
                    </a:solidFill>
                  </a:tcPr>
                </a:tc>
                <a:tc>
                  <a:txBody>
                    <a:bodyPr wrap="square"/>
                    <a:lstStyle/>
                    <a:p>
                      <a:r>
                        <a:rPr sz="1600" b="0">
                          <a:solidFill>
                            <a:srgbClr val="202122"/>
                          </a:solidFill>
                          <a:latin typeface="Calibri"/>
                        </a:rPr>
                        <a:t>Falls, dropped tools</a:t>
                      </a:r>
                    </a:p>
                  </a:txBody>
                  <a:tcPr marL="91440" marR="91440" anchor="ctr">
                    <a:solidFill>
                      <a:srgbClr val="EAF3FF"/>
                    </a:solidFill>
                  </a:tcPr>
                </a:tc>
                <a:tc>
                  <a:txBody>
                    <a:bodyPr wrap="square"/>
                    <a:lstStyle/>
                    <a:p>
                      <a:r>
                        <a:rPr sz="1600" b="0">
                          <a:solidFill>
                            <a:srgbClr val="202122"/>
                          </a:solidFill>
                          <a:latin typeface="Calibri"/>
                        </a:rPr>
                        <a:t>Training, correct ladders or towers, supervision</a:t>
                      </a:r>
                    </a:p>
                  </a:txBody>
                  <a:tcPr marL="91440" marR="91440" anchor="ctr">
                    <a:solidFill>
                      <a:srgbClr val="EAF3FF"/>
                    </a:solidFill>
                  </a:tcPr>
                </a:tc>
              </a:tr>
              <a:tr h="905256">
                <a:tc>
                  <a:txBody>
                    <a:bodyPr wrap="square"/>
                    <a:lstStyle/>
                    <a:p>
                      <a:r>
                        <a:rPr sz="1600" b="1">
                          <a:solidFill>
                            <a:srgbClr val="03306E"/>
                          </a:solidFill>
                          <a:latin typeface="Calibri"/>
                        </a:rPr>
                        <a:t>Cable installation</a:t>
                      </a:r>
                    </a:p>
                  </a:txBody>
                  <a:tcPr marL="91440" marR="91440" anchor="ctr">
                    <a:solidFill>
                      <a:srgbClr val="FFFFFF"/>
                    </a:solidFill>
                  </a:tcPr>
                </a:tc>
                <a:tc>
                  <a:txBody>
                    <a:bodyPr wrap="square"/>
                    <a:lstStyle/>
                    <a:p>
                      <a:r>
                        <a:rPr sz="1600" b="0">
                          <a:solidFill>
                            <a:srgbClr val="202122"/>
                          </a:solidFill>
                          <a:latin typeface="Calibri"/>
                        </a:rPr>
                        <a:t>Trips, cuts, electric shock</a:t>
                      </a:r>
                    </a:p>
                  </a:txBody>
                  <a:tcPr marL="91440" marR="91440" anchor="ctr">
                    <a:solidFill>
                      <a:srgbClr val="FFFFFF"/>
                    </a:solidFill>
                  </a:tcPr>
                </a:tc>
                <a:tc>
                  <a:txBody>
                    <a:bodyPr wrap="square"/>
                    <a:lstStyle/>
                    <a:p>
                      <a:r>
                        <a:rPr sz="1600" b="0">
                          <a:solidFill>
                            <a:srgbClr val="202122"/>
                          </a:solidFill>
                          <a:latin typeface="Calibri"/>
                        </a:rPr>
                        <a:t>Safe environment, PPE, isolate power</a:t>
                      </a:r>
                    </a:p>
                  </a:txBody>
                  <a:tcPr marL="91440" marR="91440" anchor="ctr">
                    <a:solidFill>
                      <a:srgbClr val="FFFFFF"/>
                    </a:solidFill>
                  </a:tcPr>
                </a:tc>
              </a:tr>
              <a:tr h="905256">
                <a:tc>
                  <a:txBody>
                    <a:bodyPr wrap="square"/>
                    <a:lstStyle/>
                    <a:p>
                      <a:r>
                        <a:rPr sz="1600" b="1">
                          <a:solidFill>
                            <a:srgbClr val="03306E"/>
                          </a:solidFill>
                          <a:latin typeface="Calibri"/>
                        </a:rPr>
                        <a:t>Manual handling</a:t>
                      </a:r>
                    </a:p>
                  </a:txBody>
                  <a:tcPr marL="91440" marR="91440" anchor="ctr">
                    <a:solidFill>
                      <a:srgbClr val="EAF3FF"/>
                    </a:solidFill>
                  </a:tcPr>
                </a:tc>
                <a:tc>
                  <a:txBody>
                    <a:bodyPr wrap="square"/>
                    <a:lstStyle/>
                    <a:p>
                      <a:r>
                        <a:rPr sz="1600" b="0">
                          <a:solidFill>
                            <a:srgbClr val="202122"/>
                          </a:solidFill>
                          <a:latin typeface="Calibri"/>
                        </a:rPr>
                        <a:t>Back injury from servers or boxes</a:t>
                      </a:r>
                    </a:p>
                  </a:txBody>
                  <a:tcPr marL="91440" marR="91440" anchor="ctr">
                    <a:solidFill>
                      <a:srgbClr val="EAF3FF"/>
                    </a:solidFill>
                  </a:tcPr>
                </a:tc>
                <a:tc>
                  <a:txBody>
                    <a:bodyPr wrap="square"/>
                    <a:lstStyle/>
                    <a:p>
                      <a:r>
                        <a:rPr sz="1600" b="0">
                          <a:solidFill>
                            <a:srgbClr val="202122"/>
                          </a:solidFill>
                          <a:latin typeface="Calibri"/>
                        </a:rPr>
                        <a:t>Trolleys, team lifts, training</a:t>
                      </a:r>
                    </a:p>
                  </a:txBody>
                  <a:tcPr marL="91440" marR="91440" anchor="ctr">
                    <a:solidFill>
                      <a:srgbClr val="EAF3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2900" b="1" i="0">
                <a:solidFill>
                  <a:srgbClr val="03306E"/>
                </a:solidFill>
                <a:latin typeface="Cambria"/>
              </a:rPr>
              <a:t>Quick check: Risks in digital work and how to reduce them</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Health and Safety in Digital Work</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Name two health risks of DSE work.</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How can cable installation be made safer?</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Name the four main mitigation themes.</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Key terms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Health and Safety in Digital Work</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Rounded Rectangle 5"/>
          <p:cNvSpPr/>
          <p:nvPr/>
        </p:nvSpPr>
        <p:spPr>
          <a:xfrm>
            <a:off x="548640" y="1600200"/>
            <a:ext cx="5432907" cy="21717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91640"/>
            <a:ext cx="4975707" cy="1988819"/>
          </a:xfrm>
          <a:prstGeom prst="rect">
            <a:avLst/>
          </a:prstGeom>
          <a:noFill/>
        </p:spPr>
        <p:txBody>
          <a:bodyPr wrap="square" anchor="ctr" lIns="0" rIns="0" tIns="0" bIns="0"/>
          <a:lstStyle/>
          <a:p>
            <a:pPr algn="l"/>
            <a:r>
              <a:rPr sz="1900" b="1" i="0">
                <a:solidFill>
                  <a:srgbClr val="03306E"/>
                </a:solidFill>
                <a:latin typeface="Calibri"/>
              </a:rPr>
              <a:t>DSE</a:t>
            </a:r>
            <a:r>
              <a:rPr sz="1900">
                <a:solidFill>
                  <a:srgbClr val="202122"/>
                </a:solidFill>
                <a:latin typeface="Calibri"/>
              </a:rPr>
              <a:t>  display screen equipment, such as monitors and laptops.</a:t>
            </a:r>
          </a:p>
        </p:txBody>
      </p:sp>
      <p:sp>
        <p:nvSpPr>
          <p:cNvPr id="8" name="Rounded Rectangle 7"/>
          <p:cNvSpPr/>
          <p:nvPr/>
        </p:nvSpPr>
        <p:spPr>
          <a:xfrm>
            <a:off x="6210147" y="1600200"/>
            <a:ext cx="5432907" cy="21717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38747" y="1691640"/>
            <a:ext cx="4975707" cy="1988819"/>
          </a:xfrm>
          <a:prstGeom prst="rect">
            <a:avLst/>
          </a:prstGeom>
          <a:noFill/>
        </p:spPr>
        <p:txBody>
          <a:bodyPr wrap="square" anchor="ctr" lIns="0" rIns="0" tIns="0" bIns="0"/>
          <a:lstStyle/>
          <a:p>
            <a:pPr algn="l"/>
            <a:r>
              <a:rPr sz="1900" b="1" i="0">
                <a:solidFill>
                  <a:srgbClr val="03306E"/>
                </a:solidFill>
                <a:latin typeface="Calibri"/>
              </a:rPr>
              <a:t>Risk assessment</a:t>
            </a:r>
            <a:r>
              <a:rPr sz="1900">
                <a:solidFill>
                  <a:srgbClr val="202122"/>
                </a:solidFill>
                <a:latin typeface="Calibri"/>
              </a:rPr>
              <a:t>  identifying hazards and deciding how to control them.</a:t>
            </a:r>
          </a:p>
        </p:txBody>
      </p:sp>
      <p:sp>
        <p:nvSpPr>
          <p:cNvPr id="10" name="Rounded Rectangle 9"/>
          <p:cNvSpPr/>
          <p:nvPr/>
        </p:nvSpPr>
        <p:spPr>
          <a:xfrm>
            <a:off x="548640" y="4000500"/>
            <a:ext cx="5432907" cy="21717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4091939"/>
            <a:ext cx="4975707" cy="1988819"/>
          </a:xfrm>
          <a:prstGeom prst="rect">
            <a:avLst/>
          </a:prstGeom>
          <a:noFill/>
        </p:spPr>
        <p:txBody>
          <a:bodyPr wrap="square" anchor="ctr" lIns="0" rIns="0" tIns="0" bIns="0"/>
          <a:lstStyle/>
          <a:p>
            <a:pPr algn="l"/>
            <a:r>
              <a:rPr sz="1900" b="1" i="0">
                <a:solidFill>
                  <a:srgbClr val="03306E"/>
                </a:solidFill>
                <a:latin typeface="Calibri"/>
              </a:rPr>
              <a:t>PPE</a:t>
            </a:r>
            <a:r>
              <a:rPr sz="1900">
                <a:solidFill>
                  <a:srgbClr val="202122"/>
                </a:solidFill>
                <a:latin typeface="Calibri"/>
              </a:rPr>
              <a:t>  personal protective equipment, such as gloves or hard hats.</a:t>
            </a:r>
          </a:p>
        </p:txBody>
      </p:sp>
      <p:sp>
        <p:nvSpPr>
          <p:cNvPr id="12" name="Rounded Rectangle 11"/>
          <p:cNvSpPr/>
          <p:nvPr/>
        </p:nvSpPr>
        <p:spPr>
          <a:xfrm>
            <a:off x="6210147" y="4000500"/>
            <a:ext cx="5432907" cy="21717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38747" y="4091939"/>
            <a:ext cx="4975707" cy="1988819"/>
          </a:xfrm>
          <a:prstGeom prst="rect">
            <a:avLst/>
          </a:prstGeom>
          <a:noFill/>
        </p:spPr>
        <p:txBody>
          <a:bodyPr wrap="square" anchor="ctr" lIns="0" rIns="0" tIns="0" bIns="0"/>
          <a:lstStyle/>
          <a:p>
            <a:pPr algn="l"/>
            <a:r>
              <a:rPr sz="1900" b="1" i="0">
                <a:solidFill>
                  <a:srgbClr val="03306E"/>
                </a:solidFill>
                <a:latin typeface="Calibri"/>
              </a:rPr>
              <a:t>Competent person</a:t>
            </a:r>
            <a:r>
              <a:rPr sz="1900">
                <a:solidFill>
                  <a:srgbClr val="202122"/>
                </a:solidFill>
                <a:latin typeface="Calibri"/>
              </a:rPr>
              <a:t>  someone with the training and experience to do the task safely.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Health and Safety in Digital Work</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13</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2200" b="0" i="0">
                <a:solidFill>
                  <a:srgbClr val="202122"/>
                </a:solidFill>
                <a:latin typeface="Calibri"/>
              </a:rPr>
              <a:t>Name two duties employers have under the Health and Safety at Work Act.</a:t>
            </a:r>
          </a:p>
        </p:txBody>
      </p:sp>
      <p:sp>
        <p:nvSpPr>
          <p:cNvPr id="8" name="Oval 7"/>
          <p:cNvSpPr/>
          <p:nvPr/>
        </p:nvSpPr>
        <p:spPr>
          <a:xfrm>
            <a:off x="548640" y="2814066"/>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2200" b="0" i="0">
                <a:solidFill>
                  <a:srgbClr val="202122"/>
                </a:solidFill>
                <a:latin typeface="Calibri"/>
              </a:rPr>
              <a:t>What must an employer provide on request under the DSE regulations?</a:t>
            </a:r>
          </a:p>
        </p:txBody>
      </p:sp>
      <p:sp>
        <p:nvSpPr>
          <p:cNvPr id="10" name="Oval 9"/>
          <p:cNvSpPr/>
          <p:nvPr/>
        </p:nvSpPr>
        <p:spPr>
          <a:xfrm>
            <a:off x="548640" y="4009644"/>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2200" b="0" i="0">
                <a:solidFill>
                  <a:srgbClr val="202122"/>
                </a:solidFill>
                <a:latin typeface="Calibri"/>
              </a:rPr>
              <a:t>What is the first rule of the Work at Height Regulations?</a:t>
            </a:r>
          </a:p>
        </p:txBody>
      </p:sp>
      <p:sp>
        <p:nvSpPr>
          <p:cNvPr id="12" name="Oval 11"/>
          <p:cNvSpPr/>
          <p:nvPr/>
        </p:nvSpPr>
        <p:spPr>
          <a:xfrm>
            <a:off x="548640" y="5205221"/>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2200" b="0" i="0">
                <a:solidFill>
                  <a:srgbClr val="202122"/>
                </a:solidFill>
                <a:latin typeface="Calibri"/>
              </a:rPr>
              <a:t>Give one mitigation for manual handling risks.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Health and Safety in Digital Work</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14</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1800" b="0" i="0">
                <a:solidFill>
                  <a:srgbClr val="54595D"/>
                </a:solidFill>
                <a:latin typeface="Calibri"/>
              </a:rPr>
              <a:t>Name two duties employers have under the Health and Safety at Work Act.</a:t>
            </a:r>
          </a:p>
          <a:p>
            <a:r>
              <a:rPr sz="1800" b="1">
                <a:solidFill>
                  <a:srgbClr val="03306E"/>
                </a:solidFill>
                <a:latin typeface="Calibri"/>
              </a:rPr>
              <a:t>Any two of: safe environment, training, welfare provision, information, instruction and supervision.</a:t>
            </a:r>
          </a:p>
        </p:txBody>
      </p:sp>
      <p:sp>
        <p:nvSpPr>
          <p:cNvPr id="8" name="Oval 7"/>
          <p:cNvSpPr/>
          <p:nvPr/>
        </p:nvSpPr>
        <p:spPr>
          <a:xfrm>
            <a:off x="548640" y="2814066"/>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1800" b="0" i="0">
                <a:solidFill>
                  <a:srgbClr val="54595D"/>
                </a:solidFill>
                <a:latin typeface="Calibri"/>
              </a:rPr>
              <a:t>What must an employer provide on request under the DSE regulations?</a:t>
            </a:r>
          </a:p>
          <a:p>
            <a:r>
              <a:rPr sz="1800" b="1">
                <a:solidFill>
                  <a:srgbClr val="03306E"/>
                </a:solidFill>
                <a:latin typeface="Calibri"/>
              </a:rPr>
              <a:t>An eye test.</a:t>
            </a:r>
          </a:p>
        </p:txBody>
      </p:sp>
      <p:sp>
        <p:nvSpPr>
          <p:cNvPr id="10" name="Oval 9"/>
          <p:cNvSpPr/>
          <p:nvPr/>
        </p:nvSpPr>
        <p:spPr>
          <a:xfrm>
            <a:off x="548640" y="4009644"/>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1800" b="0" i="0">
                <a:solidFill>
                  <a:srgbClr val="54595D"/>
                </a:solidFill>
                <a:latin typeface="Calibri"/>
              </a:rPr>
              <a:t>What is the first rule of the Work at Height Regulations?</a:t>
            </a:r>
          </a:p>
          <a:p>
            <a:r>
              <a:rPr sz="1800" b="1">
                <a:solidFill>
                  <a:srgbClr val="03306E"/>
                </a:solidFill>
                <a:latin typeface="Calibri"/>
              </a:rPr>
              <a:t>Avoid working at height where possible; do as much as possible from the ground.</a:t>
            </a:r>
          </a:p>
        </p:txBody>
      </p:sp>
      <p:sp>
        <p:nvSpPr>
          <p:cNvPr id="12" name="Oval 11"/>
          <p:cNvSpPr/>
          <p:nvPr/>
        </p:nvSpPr>
        <p:spPr>
          <a:xfrm>
            <a:off x="548640" y="5205221"/>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1800" b="0" i="0">
                <a:solidFill>
                  <a:srgbClr val="54595D"/>
                </a:solidFill>
                <a:latin typeface="Calibri"/>
              </a:rPr>
              <a:t>Give one mitigation for manual handling risks.</a:t>
            </a:r>
          </a:p>
          <a:p>
            <a:r>
              <a:rPr sz="1800" b="1">
                <a:solidFill>
                  <a:srgbClr val="03306E"/>
                </a:solidFill>
                <a:latin typeface="Calibri"/>
              </a:rPr>
              <a:t>Trolleys, team lifts or manual handling training.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Risk assess a server room move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Health and Safety in Digital Work</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15</a:t>
            </a:r>
          </a:p>
        </p:txBody>
      </p:sp>
      <p:sp>
        <p:nvSpPr>
          <p:cNvPr id="6" name="Rounded Rectangle 5"/>
          <p:cNvSpPr/>
          <p:nvPr/>
        </p:nvSpPr>
        <p:spPr>
          <a:xfrm>
            <a:off x="548640" y="1508760"/>
            <a:ext cx="2011680" cy="457200"/>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202122"/>
                </a:solidFill>
                <a:latin typeface="Calibri"/>
              </a:rPr>
              <a:t>20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Small groups</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Your team is moving three rack servers and re-cabling a comms cabinet on a mezzanine floor.</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Identify at least five hazards.</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Link each one to the law or regulation that applies.</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Suggest a mitigation for each.</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Covers lifting, height and electrical hazards</a:t>
            </a:r>
          </a:p>
          <a:p>
            <a:pPr marL="274320" indent="-274320">
              <a:spcAft>
                <a:spcPts val="810"/>
              </a:spcAft>
              <a:buClr>
                <a:srgbClr val="0645AD"/>
              </a:buClr>
              <a:buFont typeface="Arial"/>
              <a:buChar char="•"/>
            </a:pPr>
            <a:r>
              <a:rPr sz="1800" b="0">
                <a:solidFill>
                  <a:srgbClr val="202122"/>
                </a:solidFill>
                <a:latin typeface="Calibri"/>
              </a:rPr>
              <a:t>Correct regulation named for each</a:t>
            </a:r>
          </a:p>
          <a:p>
            <a:pPr marL="274320" indent="-274320">
              <a:spcAft>
                <a:spcPts val="810"/>
              </a:spcAft>
              <a:buClr>
                <a:srgbClr val="0645AD"/>
              </a:buClr>
              <a:buFont typeface="Arial"/>
              <a:buChar char="•"/>
            </a:pPr>
            <a:r>
              <a:rPr sz="1800" b="0">
                <a:solidFill>
                  <a:srgbClr val="202122"/>
                </a:solidFill>
                <a:latin typeface="Calibri"/>
              </a:rPr>
              <a:t>Mitigations are practical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Which regulation covers lifting a server?</a:t>
            </a:r>
          </a:p>
        </p:txBody>
      </p:sp>
      <p:sp>
        <p:nvSpPr>
          <p:cNvPr id="6" name="Oval 5"/>
          <p:cNvSpPr/>
          <p:nvPr/>
        </p:nvSpPr>
        <p:spPr>
          <a:xfrm>
            <a:off x="548640" y="26974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Why do DSE users need regular breaks?</a:t>
            </a:r>
          </a:p>
        </p:txBody>
      </p:sp>
      <p:sp>
        <p:nvSpPr>
          <p:cNvPr id="8" name="Oval 7"/>
          <p:cNvSpPr/>
          <p:nvPr/>
        </p:nvSpPr>
        <p:spPr>
          <a:xfrm>
            <a:off x="548640" y="365760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Name one hazard of installing cabling in a ceiling.</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Core Paper 2: Legislation, Business, Emerging Issues, Environments and Security</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https://lana6478.github.io/Digital-Suport-and-security-T-levle/#/01-core-component/02-core-paper-2.md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 and Safety in Digital Work</dc:title>
  <dc:subject>Digital Support and Security T Level: Core Paper 2</dc:subject>
  <dc:creator>Samuel O'Connell</dc:creator>
  <cp:keywords>T Level; Digital Support and Security; lesson slides; 4.1 (health and safety)</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