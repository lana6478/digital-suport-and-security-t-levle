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 back to the starter.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Adding context and meaning.</a:t>
            </a:r>
          </a:p>
          <a:p>
            <a:r>
              <a:t>2. E.g. tickets spike after updates, so add staff on those days.</a:t>
            </a:r>
          </a:p>
          <a:p>
            <a:r>
              <a:t>3.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 value depends on its quantity, timeframe, source and veracity, and it must be handled ethically.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Any two: humans, sensors, IoT devices, transactions, AI.</a:t>
            </a:r>
          </a:p>
          <a:p>
            <a:r>
              <a:t>2. When an AI learns from its own output, reinforcing errors or bias.</a:t>
            </a:r>
          </a:p>
          <a:p>
            <a:r>
              <a:t>3. How accurate and trustworthy the data 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Continuous.</a:t>
            </a:r>
          </a:p>
          <a:p>
            <a:r>
              <a:t>2. Qualitative.</a:t>
            </a:r>
          </a:p>
          <a:p>
            <a:r>
              <a:t>3. By codifying it, e.g. tagging comments by category.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Boolean.</a:t>
            </a:r>
          </a:p>
          <a:p>
            <a:r>
              <a:t>2. It may start with 0 and isn't used in calculations.</a:t>
            </a:r>
          </a:p>
          <a:p>
            <a:r>
              <a:t>3. Storing binary files such as images or PDFs.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JSON.</a:t>
            </a:r>
          </a:p>
          <a:p>
            <a:r>
              <a:t>2. It supports characters from every language.</a:t>
            </a:r>
          </a:p>
          <a:p>
            <a:r>
              <a:t>3. Simple, and opens in any spreadsheet.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F2B705"/>
                </a:solidFill>
                <a:latin typeface="Calibri"/>
              </a:rPr>
              <a:t>CORE COMPONENT</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Data Fundamentals</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Core Paper 1</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3.1 to 3.6</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Support and Security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Distinguish between data, information and knowledge.</a:t>
            </a:r>
          </a:p>
        </p:txBody>
      </p:sp>
      <p:sp>
        <p:nvSpPr>
          <p:cNvPr id="9" name="Oval 8"/>
          <p:cNvSpPr/>
          <p:nvPr/>
        </p:nvSpPr>
        <p:spPr>
          <a:xfrm>
            <a:off x="548640" y="327469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Describe sources of data and how organisations use it.</a:t>
            </a:r>
          </a:p>
        </p:txBody>
      </p:sp>
      <p:sp>
        <p:nvSpPr>
          <p:cNvPr id="11" name="Oval 10"/>
          <p:cNvSpPr/>
          <p:nvPr/>
        </p:nvSpPr>
        <p:spPr>
          <a:xfrm>
            <a:off x="548640" y="431482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Classify data as quantitative or qualitative and choose suitable data types.</a:t>
            </a:r>
          </a:p>
        </p:txBody>
      </p:sp>
      <p:sp>
        <p:nvSpPr>
          <p:cNvPr id="13" name="Oval 12"/>
          <p:cNvSpPr/>
          <p:nvPr/>
        </p:nvSpPr>
        <p:spPr>
          <a:xfrm>
            <a:off x="548640" y="5354954"/>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Compare common data formats and storage structures.</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37.8. Is that data or information? What would you need to add to make it useful?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Data, information and knowledge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0">
                <a:solidFill>
                  <a:srgbClr val="202122"/>
                </a:solidFill>
                <a:latin typeface="Calibri"/>
              </a:rPr>
              <a:t>These three words are often mixed up but mean different things.</a:t>
            </a:r>
          </a:p>
          <a:p>
            <a:pPr>
              <a:spcAft>
                <a:spcPts val="1260"/>
              </a:spcAft>
            </a:pPr>
            <a:r>
              <a:rPr sz="2100" b="0">
                <a:solidFill>
                  <a:srgbClr val="202122"/>
                </a:solidFill>
                <a:latin typeface="Calibri"/>
              </a:rPr>
              <a:t>Data is raw facts and figures with no context, such as 37.8. On its own it tells you nothing.</a:t>
            </a:r>
          </a:p>
          <a:p>
            <a:pPr>
              <a:spcAft>
                <a:spcPts val="1260"/>
              </a:spcAft>
            </a:pPr>
            <a:r>
              <a:rPr sz="2100" b="0">
                <a:solidFill>
                  <a:srgbClr val="202122"/>
                </a:solidFill>
                <a:latin typeface="Calibri"/>
              </a:rPr>
              <a:t>Information is data given context and meaning: 'the server room is 37.8 degrees C'. Now it can be understood.</a:t>
            </a:r>
          </a:p>
          <a:p>
            <a:pPr>
              <a:spcAft>
                <a:spcPts val="1260"/>
              </a:spcAft>
            </a:pPr>
            <a:r>
              <a:rPr sz="2100" b="0">
                <a:solidFill>
                  <a:srgbClr val="202122"/>
                </a:solidFill>
                <a:latin typeface="Calibri"/>
              </a:rPr>
              <a:t>Knowledge is understanding applied to information so you can act: 'above 35 degrees the servers may shut down, so turn on the backup cooling'.</a:t>
            </a:r>
          </a:p>
          <a:p>
            <a:pPr>
              <a:spcAft>
                <a:spcPts val="1260"/>
              </a:spcAft>
            </a:pPr>
            <a:r>
              <a:rPr sz="2100" b="0">
                <a:solidFill>
                  <a:srgbClr val="202122"/>
                </a:solidFill>
                <a:latin typeface="Calibri"/>
              </a:rPr>
              <a:t>Organisations collect data to produce information, and staff use knowledge to make decisions.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Data: 120, 95, 210. Information: help tickets per day this week. Knowledge: Wednesday spikes after updates, so schedule extra helpdesk staff on Wednesdays.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Data, information and knowledge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ectangle 5"/>
          <p:cNvSpPr/>
          <p:nvPr/>
        </p:nvSpPr>
        <p:spPr>
          <a:xfrm>
            <a:off x="2351989" y="2793492"/>
            <a:ext cx="7487716" cy="36576"/>
          </a:xfrm>
          <a:prstGeom prst="rect">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2031949" y="249174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1</a:t>
            </a:r>
          </a:p>
        </p:txBody>
      </p:sp>
      <p:sp>
        <p:nvSpPr>
          <p:cNvPr id="8" name="TextBox 7"/>
          <p:cNvSpPr txBox="1"/>
          <p:nvPr/>
        </p:nvSpPr>
        <p:spPr>
          <a:xfrm>
            <a:off x="548640" y="3268979"/>
            <a:ext cx="3606698" cy="731520"/>
          </a:xfrm>
          <a:prstGeom prst="rect">
            <a:avLst/>
          </a:prstGeom>
          <a:noFill/>
        </p:spPr>
        <p:txBody>
          <a:bodyPr wrap="square" anchor="t" lIns="0" rIns="0" tIns="0" bIns="0"/>
          <a:lstStyle/>
          <a:p>
            <a:pPr algn="ctr"/>
            <a:r>
              <a:rPr sz="1700" b="1" i="0">
                <a:solidFill>
                  <a:srgbClr val="03306E"/>
                </a:solidFill>
                <a:latin typeface="Calibri"/>
              </a:rPr>
              <a:t>Data</a:t>
            </a:r>
          </a:p>
        </p:txBody>
      </p:sp>
      <p:sp>
        <p:nvSpPr>
          <p:cNvPr id="9" name="Rounded Rectangle 8"/>
          <p:cNvSpPr/>
          <p:nvPr/>
        </p:nvSpPr>
        <p:spPr>
          <a:xfrm>
            <a:off x="548640" y="4046220"/>
            <a:ext cx="3606698"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183380"/>
            <a:ext cx="3332378" cy="960119"/>
          </a:xfrm>
          <a:prstGeom prst="rect">
            <a:avLst/>
          </a:prstGeom>
          <a:noFill/>
        </p:spPr>
        <p:txBody>
          <a:bodyPr wrap="square" anchor="t" lIns="0" rIns="0" tIns="0" bIns="0"/>
          <a:lstStyle/>
          <a:p>
            <a:pPr algn="l"/>
            <a:r>
              <a:rPr sz="1800" b="0" i="0">
                <a:solidFill>
                  <a:srgbClr val="202122"/>
                </a:solidFill>
                <a:latin typeface="Calibri"/>
              </a:rPr>
              <a:t>Raw facts and figures with no context. 37.8</a:t>
            </a:r>
          </a:p>
        </p:txBody>
      </p:sp>
      <p:sp>
        <p:nvSpPr>
          <p:cNvPr id="11" name="Oval 10"/>
          <p:cNvSpPr/>
          <p:nvPr/>
        </p:nvSpPr>
        <p:spPr>
          <a:xfrm>
            <a:off x="5775807" y="249174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2</a:t>
            </a:r>
          </a:p>
        </p:txBody>
      </p:sp>
      <p:sp>
        <p:nvSpPr>
          <p:cNvPr id="12" name="TextBox 11"/>
          <p:cNvSpPr txBox="1"/>
          <p:nvPr/>
        </p:nvSpPr>
        <p:spPr>
          <a:xfrm>
            <a:off x="4292498" y="3268979"/>
            <a:ext cx="3606698" cy="731520"/>
          </a:xfrm>
          <a:prstGeom prst="rect">
            <a:avLst/>
          </a:prstGeom>
          <a:noFill/>
        </p:spPr>
        <p:txBody>
          <a:bodyPr wrap="square" anchor="t" lIns="0" rIns="0" tIns="0" bIns="0"/>
          <a:lstStyle/>
          <a:p>
            <a:pPr algn="ctr"/>
            <a:r>
              <a:rPr sz="1700" b="1" i="0">
                <a:solidFill>
                  <a:srgbClr val="03306E"/>
                </a:solidFill>
                <a:latin typeface="Calibri"/>
              </a:rPr>
              <a:t>Information</a:t>
            </a:r>
          </a:p>
        </p:txBody>
      </p:sp>
      <p:sp>
        <p:nvSpPr>
          <p:cNvPr id="13" name="Rounded Rectangle 12"/>
          <p:cNvSpPr/>
          <p:nvPr/>
        </p:nvSpPr>
        <p:spPr>
          <a:xfrm>
            <a:off x="4292498" y="4046220"/>
            <a:ext cx="3606698"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29658" y="4183380"/>
            <a:ext cx="3332378" cy="960119"/>
          </a:xfrm>
          <a:prstGeom prst="rect">
            <a:avLst/>
          </a:prstGeom>
          <a:noFill/>
        </p:spPr>
        <p:txBody>
          <a:bodyPr wrap="square" anchor="t" lIns="0" rIns="0" tIns="0" bIns="0"/>
          <a:lstStyle/>
          <a:p>
            <a:pPr algn="l"/>
            <a:r>
              <a:rPr sz="1800" b="0" i="0">
                <a:solidFill>
                  <a:srgbClr val="202122"/>
                </a:solidFill>
                <a:latin typeface="Calibri"/>
              </a:rPr>
              <a:t>Data given context and meaning. A patient's temperature is 37.8 C.</a:t>
            </a:r>
          </a:p>
        </p:txBody>
      </p:sp>
      <p:sp>
        <p:nvSpPr>
          <p:cNvPr id="15" name="Oval 14"/>
          <p:cNvSpPr/>
          <p:nvPr/>
        </p:nvSpPr>
        <p:spPr>
          <a:xfrm>
            <a:off x="9519666" y="249174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3</a:t>
            </a:r>
          </a:p>
        </p:txBody>
      </p:sp>
      <p:sp>
        <p:nvSpPr>
          <p:cNvPr id="16" name="TextBox 15"/>
          <p:cNvSpPr txBox="1"/>
          <p:nvPr/>
        </p:nvSpPr>
        <p:spPr>
          <a:xfrm>
            <a:off x="8036356" y="3268979"/>
            <a:ext cx="3606698" cy="731520"/>
          </a:xfrm>
          <a:prstGeom prst="rect">
            <a:avLst/>
          </a:prstGeom>
          <a:noFill/>
        </p:spPr>
        <p:txBody>
          <a:bodyPr wrap="square" anchor="t" lIns="0" rIns="0" tIns="0" bIns="0"/>
          <a:lstStyle/>
          <a:p>
            <a:pPr algn="ctr"/>
            <a:r>
              <a:rPr sz="1700" b="1" i="0">
                <a:solidFill>
                  <a:srgbClr val="03306E"/>
                </a:solidFill>
                <a:latin typeface="Calibri"/>
              </a:rPr>
              <a:t>Knowledge</a:t>
            </a:r>
          </a:p>
        </p:txBody>
      </p:sp>
      <p:sp>
        <p:nvSpPr>
          <p:cNvPr id="17" name="Rounded Rectangle 16"/>
          <p:cNvSpPr/>
          <p:nvPr/>
        </p:nvSpPr>
        <p:spPr>
          <a:xfrm>
            <a:off x="8036356" y="4046220"/>
            <a:ext cx="3606698"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73516" y="4183380"/>
            <a:ext cx="3332378" cy="960119"/>
          </a:xfrm>
          <a:prstGeom prst="rect">
            <a:avLst/>
          </a:prstGeom>
          <a:noFill/>
        </p:spPr>
        <p:txBody>
          <a:bodyPr wrap="square" anchor="t" lIns="0" rIns="0" tIns="0" bIns="0"/>
          <a:lstStyle/>
          <a:p>
            <a:pPr algn="l"/>
            <a:r>
              <a:rPr sz="1800" b="0" i="0">
                <a:solidFill>
                  <a:srgbClr val="202122"/>
                </a:solidFill>
                <a:latin typeface="Calibri"/>
              </a:rPr>
              <a:t>Understanding applied to information. 37.8 C is a mild fever, so monitor them.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Data, information and knowledge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turns data into information?</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Give an example of knowledge from helpdesk data.</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Is 37.8 on its own data or information?</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Where data comes from</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080"/>
              </a:spcAft>
            </a:pPr>
            <a:r>
              <a:rPr sz="1800" b="0">
                <a:solidFill>
                  <a:srgbClr val="202122"/>
                </a:solidFill>
                <a:latin typeface="Calibri"/>
              </a:rPr>
              <a:t>Data comes from many sources, and each has strengths and risks.</a:t>
            </a:r>
          </a:p>
          <a:p>
            <a:pPr>
              <a:spcAft>
                <a:spcPts val="1080"/>
              </a:spcAft>
            </a:pPr>
            <a:r>
              <a:rPr sz="1800" b="0">
                <a:solidFill>
                  <a:srgbClr val="202122"/>
                </a:solidFill>
                <a:latin typeface="Calibri"/>
              </a:rPr>
              <a:t>Humans provide it through surveys and forms. It's rich but prone to typing mistakes.</a:t>
            </a:r>
          </a:p>
          <a:p>
            <a:pPr>
              <a:spcAft>
                <a:spcPts val="1080"/>
              </a:spcAft>
            </a:pPr>
            <a:r>
              <a:rPr sz="1800" b="0">
                <a:solidFill>
                  <a:srgbClr val="202122"/>
                </a:solidFill>
                <a:latin typeface="Calibri"/>
              </a:rPr>
              <a:t>Sensors measure temperature, movement, vibration, sound, light and pressure automatically, and IoT devices such as smart thermostats and cameras send it over a network.</a:t>
            </a:r>
          </a:p>
          <a:p>
            <a:pPr>
              <a:spcAft>
                <a:spcPts val="1080"/>
              </a:spcAft>
            </a:pPr>
            <a:r>
              <a:rPr sz="1800" b="0">
                <a:solidFill>
                  <a:srgbClr val="202122"/>
                </a:solidFill>
                <a:latin typeface="Calibri"/>
              </a:rPr>
              <a:t>Transactions record purchases, memberships and timings.</a:t>
            </a:r>
          </a:p>
          <a:p>
            <a:pPr>
              <a:spcAft>
                <a:spcPts val="1080"/>
              </a:spcAft>
            </a:pPr>
            <a:r>
              <a:rPr sz="1800" b="0">
                <a:solidFill>
                  <a:srgbClr val="202122"/>
                </a:solidFill>
                <a:latin typeface="Calibri"/>
              </a:rPr>
              <a:t>AI and machine learning generate data too, but beware feedback loops, where an AI learns from its own biased output.</a:t>
            </a:r>
          </a:p>
          <a:p>
            <a:pPr>
              <a:spcAft>
                <a:spcPts val="1080"/>
              </a:spcAft>
            </a:pPr>
            <a:r>
              <a:rPr sz="1800" b="0">
                <a:solidFill>
                  <a:srgbClr val="202122"/>
                </a:solidFill>
                <a:latin typeface="Calibri"/>
              </a:rPr>
              <a:t>Data's value depends on its quantity, timeframe, source and veracity (accuracy), and it must be used ethically.</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gym collects data from sign-up forms (human), card entry logs (transactions) and treadmill sensors (IoT) to plan when to open extra classes.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Where data comes from</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Rounded Rectangle 5"/>
          <p:cNvSpPr/>
          <p:nvPr/>
        </p:nvSpPr>
        <p:spPr>
          <a:xfrm>
            <a:off x="548640"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900" b="1" i="0">
                <a:solidFill>
                  <a:srgbClr val="03306E"/>
                </a:solidFill>
                <a:latin typeface="Calibri"/>
              </a:rPr>
              <a:t>Humans</a:t>
            </a:r>
          </a:p>
        </p:txBody>
      </p:sp>
      <p:sp>
        <p:nvSpPr>
          <p:cNvPr id="9" name="TextBox 8"/>
          <p:cNvSpPr txBox="1"/>
          <p:nvPr/>
        </p:nvSpPr>
        <p:spPr>
          <a:xfrm>
            <a:off x="777240" y="2468880"/>
            <a:ext cx="3058058" cy="1143000"/>
          </a:xfrm>
          <a:prstGeom prst="rect">
            <a:avLst/>
          </a:prstGeom>
          <a:noFill/>
        </p:spPr>
        <p:txBody>
          <a:bodyPr wrap="square" anchor="t" lIns="0" rIns="0" tIns="0" bIns="0"/>
          <a:lstStyle/>
          <a:p>
            <a:pPr algn="l"/>
            <a:r>
              <a:rPr sz="2000" b="0" i="0">
                <a:solidFill>
                  <a:srgbClr val="202122"/>
                </a:solidFill>
                <a:latin typeface="Calibri"/>
              </a:rPr>
              <a:t>Surveys and forms.</a:t>
            </a:r>
          </a:p>
        </p:txBody>
      </p:sp>
      <p:sp>
        <p:nvSpPr>
          <p:cNvPr id="10" name="Rounded Rectangle 9"/>
          <p:cNvSpPr/>
          <p:nvPr/>
        </p:nvSpPr>
        <p:spPr>
          <a:xfrm>
            <a:off x="4338218"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600" b="1" i="0">
                <a:solidFill>
                  <a:srgbClr val="03306E"/>
                </a:solidFill>
                <a:latin typeface="Calibri"/>
              </a:rPr>
              <a:t>AI and machine learning</a:t>
            </a:r>
          </a:p>
        </p:txBody>
      </p:sp>
      <p:sp>
        <p:nvSpPr>
          <p:cNvPr id="13" name="TextBox 12"/>
          <p:cNvSpPr txBox="1"/>
          <p:nvPr/>
        </p:nvSpPr>
        <p:spPr>
          <a:xfrm>
            <a:off x="4566818" y="2468880"/>
            <a:ext cx="3058058" cy="1143000"/>
          </a:xfrm>
          <a:prstGeom prst="rect">
            <a:avLst/>
          </a:prstGeom>
          <a:noFill/>
        </p:spPr>
        <p:txBody>
          <a:bodyPr wrap="square" anchor="t" lIns="0" rIns="0" tIns="0" bIns="0"/>
          <a:lstStyle/>
          <a:p>
            <a:pPr algn="l"/>
            <a:r>
              <a:rPr sz="2000" b="0" i="0">
                <a:solidFill>
                  <a:srgbClr val="202122"/>
                </a:solidFill>
                <a:latin typeface="Calibri"/>
              </a:rPr>
              <a:t>Generated predictions. Watch for feedback loops that reinforce errors.</a:t>
            </a:r>
          </a:p>
        </p:txBody>
      </p:sp>
      <p:sp>
        <p:nvSpPr>
          <p:cNvPr id="14" name="Rounded Rectangle 13"/>
          <p:cNvSpPr/>
          <p:nvPr/>
        </p:nvSpPr>
        <p:spPr>
          <a:xfrm>
            <a:off x="8127796"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Sensors</a:t>
            </a:r>
          </a:p>
        </p:txBody>
      </p:sp>
      <p:sp>
        <p:nvSpPr>
          <p:cNvPr id="17" name="TextBox 16"/>
          <p:cNvSpPr txBox="1"/>
          <p:nvPr/>
        </p:nvSpPr>
        <p:spPr>
          <a:xfrm>
            <a:off x="8356396" y="2468880"/>
            <a:ext cx="3058058" cy="1143000"/>
          </a:xfrm>
          <a:prstGeom prst="rect">
            <a:avLst/>
          </a:prstGeom>
          <a:noFill/>
        </p:spPr>
        <p:txBody>
          <a:bodyPr wrap="square" anchor="t" lIns="0" rIns="0" tIns="0" bIns="0"/>
          <a:lstStyle/>
          <a:p>
            <a:pPr algn="l"/>
            <a:r>
              <a:rPr sz="2000" b="0" i="0">
                <a:solidFill>
                  <a:srgbClr val="202122"/>
                </a:solidFill>
                <a:latin typeface="Calibri"/>
              </a:rPr>
              <a:t>Temperature, accelerometer, vibration, sound, light, pressure.</a:t>
            </a:r>
          </a:p>
        </p:txBody>
      </p:sp>
      <p:sp>
        <p:nvSpPr>
          <p:cNvPr id="18" name="Rounded Rectangle 17"/>
          <p:cNvSpPr/>
          <p:nvPr/>
        </p:nvSpPr>
        <p:spPr>
          <a:xfrm>
            <a:off x="548640"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1371600" y="4224528"/>
            <a:ext cx="2509418" cy="512064"/>
          </a:xfrm>
          <a:prstGeom prst="rect">
            <a:avLst/>
          </a:prstGeom>
          <a:noFill/>
        </p:spPr>
        <p:txBody>
          <a:bodyPr wrap="square" anchor="ctr" lIns="0" rIns="0" tIns="0" bIns="0"/>
          <a:lstStyle/>
          <a:p>
            <a:pPr algn="l"/>
            <a:r>
              <a:rPr sz="1900" b="1" i="0">
                <a:solidFill>
                  <a:srgbClr val="03306E"/>
                </a:solidFill>
                <a:latin typeface="Calibri"/>
              </a:rPr>
              <a:t>IoT devices</a:t>
            </a:r>
          </a:p>
        </p:txBody>
      </p:sp>
      <p:sp>
        <p:nvSpPr>
          <p:cNvPr id="21" name="TextBox 20"/>
          <p:cNvSpPr txBox="1"/>
          <p:nvPr/>
        </p:nvSpPr>
        <p:spPr>
          <a:xfrm>
            <a:off x="777240" y="4892040"/>
            <a:ext cx="3058058" cy="1143000"/>
          </a:xfrm>
          <a:prstGeom prst="rect">
            <a:avLst/>
          </a:prstGeom>
          <a:noFill/>
        </p:spPr>
        <p:txBody>
          <a:bodyPr wrap="square" anchor="t" lIns="0" rIns="0" tIns="0" bIns="0"/>
          <a:lstStyle/>
          <a:p>
            <a:pPr algn="l"/>
            <a:r>
              <a:rPr sz="2000" b="0" i="0">
                <a:solidFill>
                  <a:srgbClr val="202122"/>
                </a:solidFill>
                <a:latin typeface="Calibri"/>
              </a:rPr>
              <a:t>Smart thermostats, lights, security cameras, trackers.</a:t>
            </a:r>
          </a:p>
        </p:txBody>
      </p:sp>
      <p:sp>
        <p:nvSpPr>
          <p:cNvPr id="22" name="Rounded Rectangle 21"/>
          <p:cNvSpPr/>
          <p:nvPr/>
        </p:nvSpPr>
        <p:spPr>
          <a:xfrm>
            <a:off x="4338218"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66818"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5</a:t>
            </a:r>
          </a:p>
        </p:txBody>
      </p:sp>
      <p:sp>
        <p:nvSpPr>
          <p:cNvPr id="24" name="TextBox 23"/>
          <p:cNvSpPr txBox="1"/>
          <p:nvPr/>
        </p:nvSpPr>
        <p:spPr>
          <a:xfrm>
            <a:off x="5161178" y="4224528"/>
            <a:ext cx="2509418" cy="512064"/>
          </a:xfrm>
          <a:prstGeom prst="rect">
            <a:avLst/>
          </a:prstGeom>
          <a:noFill/>
        </p:spPr>
        <p:txBody>
          <a:bodyPr wrap="square" anchor="ctr" lIns="0" rIns="0" tIns="0" bIns="0"/>
          <a:lstStyle/>
          <a:p>
            <a:pPr algn="l"/>
            <a:r>
              <a:rPr sz="1900" b="1" i="0">
                <a:solidFill>
                  <a:srgbClr val="03306E"/>
                </a:solidFill>
                <a:latin typeface="Calibri"/>
              </a:rPr>
              <a:t>Transactions</a:t>
            </a:r>
          </a:p>
        </p:txBody>
      </p:sp>
      <p:sp>
        <p:nvSpPr>
          <p:cNvPr id="25" name="TextBox 24"/>
          <p:cNvSpPr txBox="1"/>
          <p:nvPr/>
        </p:nvSpPr>
        <p:spPr>
          <a:xfrm>
            <a:off x="4566818" y="4892040"/>
            <a:ext cx="3058058" cy="1143000"/>
          </a:xfrm>
          <a:prstGeom prst="rect">
            <a:avLst/>
          </a:prstGeom>
          <a:noFill/>
        </p:spPr>
        <p:txBody>
          <a:bodyPr wrap="square" anchor="t" lIns="0" rIns="0" tIns="0" bIns="0"/>
          <a:lstStyle/>
          <a:p>
            <a:pPr algn="l"/>
            <a:r>
              <a:rPr sz="2000" b="0" i="0">
                <a:solidFill>
                  <a:srgbClr val="202122"/>
                </a:solidFill>
                <a:latin typeface="Calibri"/>
              </a:rPr>
              <a:t>Customer, membership, timing and basket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Where data comes from</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Name two sources of data.</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a feedback loop in AI?</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does veracity mean?</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How organisations use data</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TextBox 5"/>
          <p:cNvSpPr txBox="1"/>
          <p:nvPr/>
        </p:nvSpPr>
        <p:spPr>
          <a:xfrm>
            <a:off x="548640" y="1600200"/>
            <a:ext cx="6675120" cy="4572000"/>
          </a:xfrm>
          <a:prstGeom prst="rect">
            <a:avLst/>
          </a:prstGeom>
          <a:noFill/>
        </p:spPr>
        <p:txBody>
          <a:bodyPr wrap="square" lIns="0" rIns="0" tIns="0" bIns="0">
            <a:spAutoFit/>
          </a:bodyPr>
          <a:lstStyle/>
          <a:p>
            <a:pPr marL="274320" indent="-274320">
              <a:spcAft>
                <a:spcPts val="1080"/>
              </a:spcAft>
              <a:buClr>
                <a:srgbClr val="0645AD"/>
              </a:buClr>
              <a:buFont typeface="Arial"/>
              <a:buChar char="•"/>
            </a:pPr>
            <a:r>
              <a:rPr sz="2400" b="1">
                <a:solidFill>
                  <a:srgbClr val="202122"/>
                </a:solidFill>
                <a:latin typeface="Calibri"/>
              </a:rPr>
              <a:t>Pattern analysis:</a:t>
            </a:r>
            <a:r>
              <a:rPr sz="2400" b="0">
                <a:solidFill>
                  <a:srgbClr val="202122"/>
                </a:solidFill>
                <a:latin typeface="Calibri"/>
              </a:rPr>
              <a:t> spotting trends in sales or faults</a:t>
            </a:r>
          </a:p>
          <a:p>
            <a:pPr marL="274320" indent="-274320">
              <a:spcAft>
                <a:spcPts val="1080"/>
              </a:spcAft>
              <a:buClr>
                <a:srgbClr val="0645AD"/>
              </a:buClr>
              <a:buFont typeface="Arial"/>
              <a:buChar char="•"/>
            </a:pPr>
            <a:r>
              <a:rPr sz="2400" b="1">
                <a:solidFill>
                  <a:srgbClr val="202122"/>
                </a:solidFill>
                <a:latin typeface="Calibri"/>
              </a:rPr>
              <a:t>System performance monitoring:</a:t>
            </a:r>
            <a:r>
              <a:rPr sz="2400" b="0">
                <a:solidFill>
                  <a:srgbClr val="202122"/>
                </a:solidFill>
                <a:latin typeface="Calibri"/>
              </a:rPr>
              <a:t> load, outages, throughput, status</a:t>
            </a:r>
          </a:p>
          <a:p>
            <a:pPr marL="274320" indent="-274320">
              <a:spcAft>
                <a:spcPts val="1080"/>
              </a:spcAft>
              <a:buClr>
                <a:srgbClr val="0645AD"/>
              </a:buClr>
              <a:buFont typeface="Arial"/>
              <a:buChar char="•"/>
            </a:pPr>
            <a:r>
              <a:rPr sz="2400" b="1">
                <a:solidFill>
                  <a:srgbClr val="202122"/>
                </a:solidFill>
                <a:latin typeface="Calibri"/>
              </a:rPr>
              <a:t>User monitoring:</a:t>
            </a:r>
            <a:r>
              <a:rPr sz="2400" b="0">
                <a:solidFill>
                  <a:srgbClr val="202122"/>
                </a:solidFill>
                <a:latin typeface="Calibri"/>
              </a:rPr>
              <a:t> how staff and customers use systems</a:t>
            </a:r>
          </a:p>
          <a:p>
            <a:pPr marL="274320" indent="-274320">
              <a:spcAft>
                <a:spcPts val="1080"/>
              </a:spcAft>
              <a:buClr>
                <a:srgbClr val="0645AD"/>
              </a:buClr>
              <a:buFont typeface="Arial"/>
              <a:buChar char="•"/>
            </a:pPr>
            <a:r>
              <a:rPr sz="2400" b="1">
                <a:solidFill>
                  <a:srgbClr val="202122"/>
                </a:solidFill>
                <a:latin typeface="Calibri"/>
              </a:rPr>
              <a:t>Targeted marketing:</a:t>
            </a:r>
            <a:r>
              <a:rPr sz="2400" b="0">
                <a:solidFill>
                  <a:srgbClr val="202122"/>
                </a:solidFill>
                <a:latin typeface="Calibri"/>
              </a:rPr>
              <a:t> personalised offers</a:t>
            </a:r>
          </a:p>
          <a:p>
            <a:pPr marL="274320" indent="-274320">
              <a:spcAft>
                <a:spcPts val="1080"/>
              </a:spcAft>
              <a:buClr>
                <a:srgbClr val="0645AD"/>
              </a:buClr>
              <a:buFont typeface="Arial"/>
              <a:buChar char="•"/>
            </a:pPr>
            <a:r>
              <a:rPr sz="2400" b="0">
                <a:solidFill>
                  <a:srgbClr val="202122"/>
                </a:solidFill>
                <a:latin typeface="Calibri"/>
              </a:rPr>
              <a:t>Threat and opportunity assessment</a:t>
            </a:r>
          </a:p>
        </p:txBody>
      </p:sp>
      <p:sp>
        <p:nvSpPr>
          <p:cNvPr id="7" name="Rounded Rectangle 6"/>
          <p:cNvSpPr/>
          <p:nvPr/>
        </p:nvSpPr>
        <p:spPr>
          <a:xfrm>
            <a:off x="7772400" y="1600200"/>
            <a:ext cx="3867912" cy="443484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74519"/>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a:t>
            </a:r>
          </a:p>
        </p:txBody>
      </p:sp>
      <p:sp>
        <p:nvSpPr>
          <p:cNvPr id="9" name="TextBox 8"/>
          <p:cNvSpPr txBox="1"/>
          <p:nvPr/>
        </p:nvSpPr>
        <p:spPr>
          <a:xfrm>
            <a:off x="8046720" y="2606040"/>
            <a:ext cx="3291840" cy="365760"/>
          </a:xfrm>
          <a:prstGeom prst="rect">
            <a:avLst/>
          </a:prstGeom>
          <a:noFill/>
        </p:spPr>
        <p:txBody>
          <a:bodyPr wrap="square" anchor="t" lIns="0" rIns="0" tIns="0" bIns="0"/>
          <a:lstStyle/>
          <a:p>
            <a:pPr algn="l"/>
            <a:r>
              <a:rPr sz="1300" b="1" i="0">
                <a:solidFill>
                  <a:srgbClr val="A9C8F0"/>
                </a:solidFill>
                <a:latin typeface="Calibri"/>
              </a:rPr>
              <a:t>KEY IDEA</a:t>
            </a:r>
          </a:p>
        </p:txBody>
      </p:sp>
      <p:sp>
        <p:nvSpPr>
          <p:cNvPr id="10" name="TextBox 9"/>
          <p:cNvSpPr txBox="1"/>
          <p:nvPr/>
        </p:nvSpPr>
        <p:spPr>
          <a:xfrm>
            <a:off x="8046720" y="3017520"/>
            <a:ext cx="3291840" cy="2926080"/>
          </a:xfrm>
          <a:prstGeom prst="rect">
            <a:avLst/>
          </a:prstGeom>
          <a:noFill/>
        </p:spPr>
        <p:txBody>
          <a:bodyPr wrap="square" anchor="t" lIns="0" rIns="0" tIns="0" bIns="0"/>
          <a:lstStyle/>
          <a:p>
            <a:pPr algn="l"/>
            <a:r>
              <a:rPr sz="2200" b="0" i="0">
                <a:solidFill>
                  <a:srgbClr val="FFFFFF"/>
                </a:solidFill>
                <a:latin typeface="Cambria"/>
              </a:rPr>
              <a:t>Data is transformed in three ways: manipulating it, analysing it and processing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Data taxonomy</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140"/>
              </a:spcAft>
            </a:pPr>
            <a:r>
              <a:rPr sz="1900" b="0">
                <a:solidFill>
                  <a:srgbClr val="202122"/>
                </a:solidFill>
                <a:latin typeface="Calibri"/>
              </a:rPr>
              <a:t>Data can be sorted into two main types.</a:t>
            </a:r>
          </a:p>
          <a:p>
            <a:pPr>
              <a:spcAft>
                <a:spcPts val="1140"/>
              </a:spcAft>
            </a:pPr>
            <a:r>
              <a:rPr sz="1900" b="1">
                <a:solidFill>
                  <a:srgbClr val="202122"/>
                </a:solidFill>
                <a:latin typeface="Calibri"/>
              </a:rPr>
              <a:t>Quantitative data is structured:</a:t>
            </a:r>
            <a:r>
              <a:rPr sz="1900" b="0">
                <a:solidFill>
                  <a:srgbClr val="202122"/>
                </a:solidFill>
                <a:latin typeface="Calibri"/>
              </a:rPr>
              <a:t> it's numbers or fixed categories that fit neatly into tables. It can be discrete (whole counts, like tickets logged), continuous (measured values, like CPU temperature) or categorical (fixed groups, like priority high, medium or low).</a:t>
            </a:r>
          </a:p>
          <a:p>
            <a:pPr>
              <a:spcAft>
                <a:spcPts val="1140"/>
              </a:spcAft>
            </a:pPr>
            <a:r>
              <a:rPr sz="1900" b="1">
                <a:solidFill>
                  <a:srgbClr val="202122"/>
                </a:solidFill>
                <a:latin typeface="Calibri"/>
              </a:rPr>
              <a:t>Qualitative data is unstructured:</a:t>
            </a:r>
            <a:r>
              <a:rPr sz="1900" b="0">
                <a:solidFill>
                  <a:srgbClr val="202122"/>
                </a:solidFill>
                <a:latin typeface="Calibri"/>
              </a:rPr>
              <a:t> free text, images, audio and video. It can only be stored and retrieved as a whole object, or codified into structured data, for example by tagging customer comments as positive or negative.</a:t>
            </a:r>
          </a:p>
          <a:p>
            <a:pPr>
              <a:spcAft>
                <a:spcPts val="1140"/>
              </a:spcAft>
            </a:pPr>
            <a:r>
              <a:rPr sz="1900" b="0">
                <a:solidFill>
                  <a:srgbClr val="202122"/>
                </a:solidFill>
                <a:latin typeface="Calibri"/>
              </a:rPr>
              <a:t>The type of data decides how you can store, search and analyse it.</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helpdesk records the number of calls (discrete), average wait time (continuous), priority (categorical) and the caller's description of the fault (qualitative).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Data taxonomy</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Quantitative (structured)</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1">
                <a:solidFill>
                  <a:srgbClr val="202122"/>
                </a:solidFill>
                <a:latin typeface="Calibri"/>
              </a:rPr>
              <a:t>Discrete:</a:t>
            </a:r>
            <a:r>
              <a:rPr sz="2200" b="0">
                <a:solidFill>
                  <a:srgbClr val="202122"/>
                </a:solidFill>
                <a:latin typeface="Calibri"/>
              </a:rPr>
              <a:t> whole counts, e.g. number of tickets</a:t>
            </a:r>
          </a:p>
          <a:p>
            <a:pPr marL="274320" indent="-274320">
              <a:spcAft>
                <a:spcPts val="990"/>
              </a:spcAft>
              <a:buClr>
                <a:srgbClr val="0645AD"/>
              </a:buClr>
              <a:buFont typeface="Arial"/>
              <a:buChar char="•"/>
            </a:pPr>
            <a:r>
              <a:rPr sz="2200" b="1">
                <a:solidFill>
                  <a:srgbClr val="202122"/>
                </a:solidFill>
                <a:latin typeface="Calibri"/>
              </a:rPr>
              <a:t>Continuous:</a:t>
            </a:r>
            <a:r>
              <a:rPr sz="2200" b="0">
                <a:solidFill>
                  <a:srgbClr val="202122"/>
                </a:solidFill>
                <a:latin typeface="Calibri"/>
              </a:rPr>
              <a:t> measured values, e.g. CPU temperature</a:t>
            </a:r>
          </a:p>
          <a:p>
            <a:pPr marL="274320" indent="-274320">
              <a:spcAft>
                <a:spcPts val="990"/>
              </a:spcAft>
              <a:buClr>
                <a:srgbClr val="0645AD"/>
              </a:buClr>
              <a:buFont typeface="Arial"/>
              <a:buChar char="•"/>
            </a:pPr>
            <a:r>
              <a:rPr sz="2200" b="1">
                <a:solidFill>
                  <a:srgbClr val="202122"/>
                </a:solidFill>
                <a:latin typeface="Calibri"/>
              </a:rPr>
              <a:t>Categorical:</a:t>
            </a:r>
            <a:r>
              <a:rPr sz="2200" b="0">
                <a:solidFill>
                  <a:srgbClr val="202122"/>
                </a:solidFill>
                <a:latin typeface="Calibri"/>
              </a:rPr>
              <a:t> fixed groups, e.g. priority high, medium, low</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Qualitative (unstructured)</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Free text, images, audio and video</a:t>
            </a:r>
          </a:p>
          <a:p>
            <a:pPr marL="274320" indent="-274320">
              <a:spcAft>
                <a:spcPts val="990"/>
              </a:spcAft>
              <a:buClr>
                <a:srgbClr val="0645AD"/>
              </a:buClr>
              <a:buFont typeface="Arial"/>
              <a:buChar char="•"/>
            </a:pPr>
            <a:r>
              <a:rPr sz="2200" b="0">
                <a:solidFill>
                  <a:srgbClr val="202122"/>
                </a:solidFill>
                <a:latin typeface="Calibri"/>
              </a:rPr>
              <a:t>Stored and retrieved as a single object</a:t>
            </a:r>
          </a:p>
          <a:p>
            <a:pPr marL="274320" indent="-274320">
              <a:spcAft>
                <a:spcPts val="990"/>
              </a:spcAft>
              <a:buClr>
                <a:srgbClr val="0645AD"/>
              </a:buClr>
              <a:buFont typeface="Arial"/>
              <a:buChar char="•"/>
            </a:pPr>
            <a:r>
              <a:rPr sz="2200" b="0">
                <a:solidFill>
                  <a:srgbClr val="202122"/>
                </a:solidFill>
                <a:latin typeface="Calibri"/>
              </a:rPr>
              <a:t>Or codified into structured data, e.g. tagging feedback as positive or negative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Data taxonomy</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Is 'CPU temperature' discrete or continuous?</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Is a customer's written complaint quantitative or qualitative?</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How can qualitative data be made structured?</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Data types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Every value stored in a system has a data type, which controls what it can hold and what you can do with it.</a:t>
            </a:r>
          </a:p>
          <a:p>
            <a:pPr>
              <a:spcAft>
                <a:spcPts val="1320"/>
              </a:spcAft>
            </a:pPr>
            <a:r>
              <a:rPr sz="2200" b="0">
                <a:solidFill>
                  <a:srgbClr val="202122"/>
                </a:solidFill>
                <a:latin typeface="Calibri"/>
              </a:rPr>
              <a:t>Integers are whole numbers; reals hold decimals. Characters hold one symbol; strings hold text. Booleans hold only true or false. Dates hold calendar dates and times. Blobs (binary large objects) hold files such as images and PDFs.</a:t>
            </a:r>
          </a:p>
          <a:p>
            <a:pPr>
              <a:spcAft>
                <a:spcPts val="1320"/>
              </a:spcAft>
            </a:pPr>
            <a:r>
              <a:rPr sz="2200" b="0">
                <a:solidFill>
                  <a:srgbClr val="202122"/>
                </a:solidFill>
                <a:latin typeface="Calibri"/>
              </a:rPr>
              <a:t>Choosing the right type saves storage, prevents errors and makes validation possible. A phone number is a string, not an integer, because it can start with 0 and you never do maths with it.</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user account record: user ID (integer), name (string), locked (Boolean), last login (date), profile photo (Blob).</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Data types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graphicFrame>
        <p:nvGraphicFramePr>
          <p:cNvPr id="6" name="Table 5"/>
          <p:cNvGraphicFramePr>
            <a:graphicFrameLocks noGrp="1"/>
          </p:cNvGraphicFramePr>
          <p:nvPr/>
        </p:nvGraphicFramePr>
        <p:xfrm>
          <a:off x="548640" y="1600200"/>
          <a:ext cx="11094413" cy="4526280"/>
        </p:xfrm>
        <a:graphic>
          <a:graphicData uri="http://schemas.openxmlformats.org/drawingml/2006/table">
            <a:tbl>
              <a:tblPr firstRow="1" bandRow="1">
                <a:tableStyleId>{5C22544A-7EE6-4342-B048-85BDC9FD1C3A}</a:tableStyleId>
              </a:tblPr>
              <a:tblGrid>
                <a:gridCol w="1957837"/>
                <a:gridCol w="5220901"/>
                <a:gridCol w="3915675"/>
              </a:tblGrid>
              <a:tr h="565785">
                <a:tc>
                  <a:txBody>
                    <a:bodyPr wrap="square"/>
                    <a:lstStyle/>
                    <a:p>
                      <a:r>
                        <a:rPr sz="1600" b="1">
                          <a:solidFill>
                            <a:srgbClr val="FFFFFF"/>
                          </a:solidFill>
                          <a:latin typeface="Calibri"/>
                        </a:rPr>
                        <a:t>Type</a:t>
                      </a:r>
                    </a:p>
                  </a:txBody>
                  <a:tcPr marL="91440" marR="91440" anchor="ctr">
                    <a:solidFill>
                      <a:srgbClr val="03306E"/>
                    </a:solidFill>
                  </a:tcPr>
                </a:tc>
                <a:tc>
                  <a:txBody>
                    <a:bodyPr wrap="square"/>
                    <a:lstStyle/>
                    <a:p>
                      <a:r>
                        <a:rPr sz="1600" b="1">
                          <a:solidFill>
                            <a:srgbClr val="FFFFFF"/>
                          </a:solidFill>
                          <a:latin typeface="Calibri"/>
                        </a:rPr>
                        <a:t>Holds</a:t>
                      </a:r>
                    </a:p>
                  </a:txBody>
                  <a:tcPr marL="91440" marR="91440" anchor="ctr">
                    <a:solidFill>
                      <a:srgbClr val="03306E"/>
                    </a:solidFill>
                  </a:tcPr>
                </a:tc>
                <a:tc>
                  <a:txBody>
                    <a:bodyPr wrap="square"/>
                    <a:lstStyle/>
                    <a:p>
                      <a:r>
                        <a:rPr sz="1600" b="1">
                          <a:solidFill>
                            <a:srgbClr val="FFFFFF"/>
                          </a:solidFill>
                          <a:latin typeface="Calibri"/>
                        </a:rPr>
                        <a:t>Example</a:t>
                      </a:r>
                    </a:p>
                  </a:txBody>
                  <a:tcPr marL="91440" marR="91440" anchor="ctr">
                    <a:solidFill>
                      <a:srgbClr val="03306E"/>
                    </a:solidFill>
                  </a:tcPr>
                </a:tc>
              </a:tr>
              <a:tr h="565785">
                <a:tc>
                  <a:txBody>
                    <a:bodyPr wrap="square"/>
                    <a:lstStyle/>
                    <a:p>
                      <a:r>
                        <a:rPr sz="1600" b="1">
                          <a:solidFill>
                            <a:srgbClr val="03306E"/>
                          </a:solidFill>
                          <a:latin typeface="Calibri"/>
                        </a:rPr>
                        <a:t>Integer</a:t>
                      </a:r>
                    </a:p>
                  </a:txBody>
                  <a:tcPr marL="91440" marR="91440" anchor="ctr">
                    <a:solidFill>
                      <a:srgbClr val="FFFFFF"/>
                    </a:solidFill>
                  </a:tcPr>
                </a:tc>
                <a:tc>
                  <a:txBody>
                    <a:bodyPr wrap="square"/>
                    <a:lstStyle/>
                    <a:p>
                      <a:r>
                        <a:rPr sz="1600" b="0">
                          <a:solidFill>
                            <a:srgbClr val="202122"/>
                          </a:solidFill>
                          <a:latin typeface="Calibri"/>
                        </a:rPr>
                        <a:t>Whole numbers</a:t>
                      </a:r>
                    </a:p>
                  </a:txBody>
                  <a:tcPr marL="91440" marR="91440" anchor="ctr">
                    <a:solidFill>
                      <a:srgbClr val="FFFFFF"/>
                    </a:solidFill>
                  </a:tcPr>
                </a:tc>
                <a:tc>
                  <a:txBody>
                    <a:bodyPr wrap="square"/>
                    <a:lstStyle/>
                    <a:p>
                      <a:r>
                        <a:rPr sz="1600" b="0">
                          <a:solidFill>
                            <a:srgbClr val="202122"/>
                          </a:solidFill>
                          <a:latin typeface="Calibri"/>
                        </a:rPr>
                        <a:t>Number of users: 42</a:t>
                      </a:r>
                    </a:p>
                  </a:txBody>
                  <a:tcPr marL="91440" marR="91440" anchor="ctr">
                    <a:solidFill>
                      <a:srgbClr val="FFFFFF"/>
                    </a:solidFill>
                  </a:tcPr>
                </a:tc>
              </a:tr>
              <a:tr h="565785">
                <a:tc>
                  <a:txBody>
                    <a:bodyPr wrap="square"/>
                    <a:lstStyle/>
                    <a:p>
                      <a:r>
                        <a:rPr sz="1600" b="1">
                          <a:solidFill>
                            <a:srgbClr val="03306E"/>
                          </a:solidFill>
                          <a:latin typeface="Calibri"/>
                        </a:rPr>
                        <a:t>Real</a:t>
                      </a:r>
                    </a:p>
                  </a:txBody>
                  <a:tcPr marL="91440" marR="91440" anchor="ctr">
                    <a:solidFill>
                      <a:srgbClr val="EAF3FF"/>
                    </a:solidFill>
                  </a:tcPr>
                </a:tc>
                <a:tc>
                  <a:txBody>
                    <a:bodyPr wrap="square"/>
                    <a:lstStyle/>
                    <a:p>
                      <a:r>
                        <a:rPr sz="1600" b="0">
                          <a:solidFill>
                            <a:srgbClr val="202122"/>
                          </a:solidFill>
                          <a:latin typeface="Calibri"/>
                        </a:rPr>
                        <a:t>Numbers with decimals</a:t>
                      </a:r>
                    </a:p>
                  </a:txBody>
                  <a:tcPr marL="91440" marR="91440" anchor="ctr">
                    <a:solidFill>
                      <a:srgbClr val="EAF3FF"/>
                    </a:solidFill>
                  </a:tcPr>
                </a:tc>
                <a:tc>
                  <a:txBody>
                    <a:bodyPr wrap="square"/>
                    <a:lstStyle/>
                    <a:p>
                      <a:r>
                        <a:rPr sz="1600" b="0">
                          <a:solidFill>
                            <a:srgbClr val="202122"/>
                          </a:solidFill>
                          <a:latin typeface="Calibri"/>
                        </a:rPr>
                        <a:t>Download speed: 72.5</a:t>
                      </a:r>
                    </a:p>
                  </a:txBody>
                  <a:tcPr marL="91440" marR="91440" anchor="ctr">
                    <a:solidFill>
                      <a:srgbClr val="EAF3FF"/>
                    </a:solidFill>
                  </a:tcPr>
                </a:tc>
              </a:tr>
              <a:tr h="565785">
                <a:tc>
                  <a:txBody>
                    <a:bodyPr wrap="square"/>
                    <a:lstStyle/>
                    <a:p>
                      <a:r>
                        <a:rPr sz="1600" b="1">
                          <a:solidFill>
                            <a:srgbClr val="03306E"/>
                          </a:solidFill>
                          <a:latin typeface="Calibri"/>
                        </a:rPr>
                        <a:t>Character</a:t>
                      </a:r>
                    </a:p>
                  </a:txBody>
                  <a:tcPr marL="91440" marR="91440" anchor="ctr">
                    <a:solidFill>
                      <a:srgbClr val="FFFFFF"/>
                    </a:solidFill>
                  </a:tcPr>
                </a:tc>
                <a:tc>
                  <a:txBody>
                    <a:bodyPr wrap="square"/>
                    <a:lstStyle/>
                    <a:p>
                      <a:r>
                        <a:rPr sz="1600" b="0">
                          <a:solidFill>
                            <a:srgbClr val="202122"/>
                          </a:solidFill>
                          <a:latin typeface="Calibri"/>
                        </a:rPr>
                        <a:t>A single symbol</a:t>
                      </a:r>
                    </a:p>
                  </a:txBody>
                  <a:tcPr marL="91440" marR="91440" anchor="ctr">
                    <a:solidFill>
                      <a:srgbClr val="FFFFFF"/>
                    </a:solidFill>
                  </a:tcPr>
                </a:tc>
                <a:tc>
                  <a:txBody>
                    <a:bodyPr wrap="square"/>
                    <a:lstStyle/>
                    <a:p>
                      <a:r>
                        <a:rPr sz="1600" b="0">
                          <a:solidFill>
                            <a:srgbClr val="202122"/>
                          </a:solidFill>
                          <a:latin typeface="Calibri"/>
                        </a:rPr>
                        <a:t>Grade: B</a:t>
                      </a:r>
                    </a:p>
                  </a:txBody>
                  <a:tcPr marL="91440" marR="91440" anchor="ctr">
                    <a:solidFill>
                      <a:srgbClr val="FFFFFF"/>
                    </a:solidFill>
                  </a:tcPr>
                </a:tc>
              </a:tr>
              <a:tr h="565785">
                <a:tc>
                  <a:txBody>
                    <a:bodyPr wrap="square"/>
                    <a:lstStyle/>
                    <a:p>
                      <a:r>
                        <a:rPr sz="1600" b="1">
                          <a:solidFill>
                            <a:srgbClr val="03306E"/>
                          </a:solidFill>
                          <a:latin typeface="Calibri"/>
                        </a:rPr>
                        <a:t>String</a:t>
                      </a:r>
                    </a:p>
                  </a:txBody>
                  <a:tcPr marL="91440" marR="91440" anchor="ctr">
                    <a:solidFill>
                      <a:srgbClr val="EAF3FF"/>
                    </a:solidFill>
                  </a:tcPr>
                </a:tc>
                <a:tc>
                  <a:txBody>
                    <a:bodyPr wrap="square"/>
                    <a:lstStyle/>
                    <a:p>
                      <a:r>
                        <a:rPr sz="1600" b="0">
                          <a:solidFill>
                            <a:srgbClr val="202122"/>
                          </a:solidFill>
                          <a:latin typeface="Calibri"/>
                        </a:rPr>
                        <a:t>Text</a:t>
                      </a:r>
                    </a:p>
                  </a:txBody>
                  <a:tcPr marL="91440" marR="91440" anchor="ctr">
                    <a:solidFill>
                      <a:srgbClr val="EAF3FF"/>
                    </a:solidFill>
                  </a:tcPr>
                </a:tc>
                <a:tc>
                  <a:txBody>
                    <a:bodyPr wrap="square"/>
                    <a:lstStyle/>
                    <a:p>
                      <a:r>
                        <a:rPr sz="1600" b="0">
                          <a:solidFill>
                            <a:srgbClr val="202122"/>
                          </a:solidFill>
                          <a:latin typeface="Calibri"/>
                        </a:rPr>
                        <a:t>Hostname: SRV-01</a:t>
                      </a:r>
                    </a:p>
                  </a:txBody>
                  <a:tcPr marL="91440" marR="91440" anchor="ctr">
                    <a:solidFill>
                      <a:srgbClr val="EAF3FF"/>
                    </a:solidFill>
                  </a:tcPr>
                </a:tc>
              </a:tr>
              <a:tr h="565785">
                <a:tc>
                  <a:txBody>
                    <a:bodyPr wrap="square"/>
                    <a:lstStyle/>
                    <a:p>
                      <a:r>
                        <a:rPr sz="1600" b="1">
                          <a:solidFill>
                            <a:srgbClr val="03306E"/>
                          </a:solidFill>
                          <a:latin typeface="Calibri"/>
                        </a:rPr>
                        <a:t>Boolean</a:t>
                      </a:r>
                    </a:p>
                  </a:txBody>
                  <a:tcPr marL="91440" marR="91440" anchor="ctr">
                    <a:solidFill>
                      <a:srgbClr val="FFFFFF"/>
                    </a:solidFill>
                  </a:tcPr>
                </a:tc>
                <a:tc>
                  <a:txBody>
                    <a:bodyPr wrap="square"/>
                    <a:lstStyle/>
                    <a:p>
                      <a:r>
                        <a:rPr sz="1600" b="0">
                          <a:solidFill>
                            <a:srgbClr val="202122"/>
                          </a:solidFill>
                          <a:latin typeface="Calibri"/>
                        </a:rPr>
                        <a:t>True or false</a:t>
                      </a:r>
                    </a:p>
                  </a:txBody>
                  <a:tcPr marL="91440" marR="91440" anchor="ctr">
                    <a:solidFill>
                      <a:srgbClr val="FFFFFF"/>
                    </a:solidFill>
                  </a:tcPr>
                </a:tc>
                <a:tc>
                  <a:txBody>
                    <a:bodyPr wrap="square"/>
                    <a:lstStyle/>
                    <a:p>
                      <a:r>
                        <a:rPr sz="1600" b="0">
                          <a:solidFill>
                            <a:srgbClr val="202122"/>
                          </a:solidFill>
                          <a:latin typeface="Calibri"/>
                        </a:rPr>
                        <a:t>Account locked: True</a:t>
                      </a:r>
                    </a:p>
                  </a:txBody>
                  <a:tcPr marL="91440" marR="91440" anchor="ctr">
                    <a:solidFill>
                      <a:srgbClr val="FFFFFF"/>
                    </a:solidFill>
                  </a:tcPr>
                </a:tc>
              </a:tr>
              <a:tr h="565785">
                <a:tc>
                  <a:txBody>
                    <a:bodyPr wrap="square"/>
                    <a:lstStyle/>
                    <a:p>
                      <a:r>
                        <a:rPr sz="1600" b="1">
                          <a:solidFill>
                            <a:srgbClr val="03306E"/>
                          </a:solidFill>
                          <a:latin typeface="Calibri"/>
                        </a:rPr>
                        <a:t>Date</a:t>
                      </a:r>
                    </a:p>
                  </a:txBody>
                  <a:tcPr marL="91440" marR="91440" anchor="ctr">
                    <a:solidFill>
                      <a:srgbClr val="EAF3FF"/>
                    </a:solidFill>
                  </a:tcPr>
                </a:tc>
                <a:tc>
                  <a:txBody>
                    <a:bodyPr wrap="square"/>
                    <a:lstStyle/>
                    <a:p>
                      <a:r>
                        <a:rPr sz="1600" b="0">
                          <a:solidFill>
                            <a:srgbClr val="202122"/>
                          </a:solidFill>
                          <a:latin typeface="Calibri"/>
                        </a:rPr>
                        <a:t>A calendar date or time</a:t>
                      </a:r>
                    </a:p>
                  </a:txBody>
                  <a:tcPr marL="91440" marR="91440" anchor="ctr">
                    <a:solidFill>
                      <a:srgbClr val="EAF3FF"/>
                    </a:solidFill>
                  </a:tcPr>
                </a:tc>
                <a:tc>
                  <a:txBody>
                    <a:bodyPr wrap="square"/>
                    <a:lstStyle/>
                    <a:p>
                      <a:r>
                        <a:rPr sz="1600" b="0">
                          <a:solidFill>
                            <a:srgbClr val="202122"/>
                          </a:solidFill>
                          <a:latin typeface="Calibri"/>
                        </a:rPr>
                        <a:t>Last login: 03/09/2026</a:t>
                      </a:r>
                    </a:p>
                  </a:txBody>
                  <a:tcPr marL="91440" marR="91440" anchor="ctr">
                    <a:solidFill>
                      <a:srgbClr val="EAF3FF"/>
                    </a:solidFill>
                  </a:tcPr>
                </a:tc>
              </a:tr>
              <a:tr h="565785">
                <a:tc>
                  <a:txBody>
                    <a:bodyPr wrap="square"/>
                    <a:lstStyle/>
                    <a:p>
                      <a:r>
                        <a:rPr sz="1600" b="1">
                          <a:solidFill>
                            <a:srgbClr val="03306E"/>
                          </a:solidFill>
                          <a:latin typeface="Calibri"/>
                        </a:rPr>
                        <a:t>Blob</a:t>
                      </a:r>
                    </a:p>
                  </a:txBody>
                  <a:tcPr marL="91440" marR="91440" anchor="ctr">
                    <a:solidFill>
                      <a:srgbClr val="FFFFFF"/>
                    </a:solidFill>
                  </a:tcPr>
                </a:tc>
                <a:tc>
                  <a:txBody>
                    <a:bodyPr wrap="square"/>
                    <a:lstStyle/>
                    <a:p>
                      <a:r>
                        <a:rPr sz="1600" b="0">
                          <a:solidFill>
                            <a:srgbClr val="202122"/>
                          </a:solidFill>
                          <a:latin typeface="Calibri"/>
                        </a:rPr>
                        <a:t>Binary large object</a:t>
                      </a:r>
                    </a:p>
                  </a:txBody>
                  <a:tcPr marL="91440" marR="91440" anchor="ctr">
                    <a:solidFill>
                      <a:srgbClr val="FFFFFF"/>
                    </a:solidFill>
                  </a:tcPr>
                </a:tc>
                <a:tc>
                  <a:txBody>
                    <a:bodyPr wrap="square"/>
                    <a:lstStyle/>
                    <a:p>
                      <a:r>
                        <a:rPr sz="1600" b="0">
                          <a:solidFill>
                            <a:srgbClr val="202122"/>
                          </a:solidFill>
                          <a:latin typeface="Calibri"/>
                        </a:rPr>
                        <a:t>A photo or PDF file</a:t>
                      </a:r>
                    </a:p>
                  </a:txBody>
                  <a:tcPr marL="91440" marR="91440"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Data types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Which data type holds true or false?</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Why is a phone number stored as a string?</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is a Blob used for?</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Data formats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140"/>
              </a:spcAft>
            </a:pPr>
            <a:r>
              <a:rPr sz="1900" b="0">
                <a:solidFill>
                  <a:srgbClr val="202122"/>
                </a:solidFill>
                <a:latin typeface="Calibri"/>
              </a:rPr>
              <a:t>Data formats decide how data is laid out when it's saved or sent between systems.</a:t>
            </a:r>
          </a:p>
          <a:p>
            <a:pPr>
              <a:spcAft>
                <a:spcPts val="1140"/>
              </a:spcAft>
            </a:pPr>
            <a:r>
              <a:rPr sz="1900" b="0">
                <a:solidFill>
                  <a:srgbClr val="202122"/>
                </a:solidFill>
                <a:latin typeface="Calibri"/>
              </a:rPr>
              <a:t>CSV stores one record per line with values separated by commas. It's simple and opens in any spreadsheet.</a:t>
            </a:r>
          </a:p>
          <a:p>
            <a:pPr>
              <a:spcAft>
                <a:spcPts val="1140"/>
              </a:spcAft>
            </a:pPr>
            <a:r>
              <a:rPr sz="1900" b="0">
                <a:solidFill>
                  <a:srgbClr val="202122"/>
                </a:solidFill>
                <a:latin typeface="Calibri"/>
              </a:rPr>
              <a:t>JSON stores key and value pairs that can be nested. It's the standard for web APIs.</a:t>
            </a:r>
          </a:p>
          <a:p>
            <a:pPr>
              <a:spcAft>
                <a:spcPts val="1140"/>
              </a:spcAft>
            </a:pPr>
            <a:r>
              <a:rPr sz="1900" b="0">
                <a:solidFill>
                  <a:srgbClr val="202122"/>
                </a:solidFill>
                <a:latin typeface="Calibri"/>
              </a:rPr>
              <a:t>XML wraps data in named tags. It's more verbose but self-describing.</a:t>
            </a:r>
          </a:p>
          <a:p>
            <a:pPr>
              <a:spcAft>
                <a:spcPts val="1140"/>
              </a:spcAft>
            </a:pPr>
            <a:r>
              <a:rPr sz="1900" b="0">
                <a:solidFill>
                  <a:srgbClr val="202122"/>
                </a:solidFill>
                <a:latin typeface="Calibri"/>
              </a:rPr>
              <a:t>Plain text files suit logs and notes.</a:t>
            </a:r>
          </a:p>
          <a:p>
            <a:pPr>
              <a:spcAft>
                <a:spcPts val="1140"/>
              </a:spcAft>
            </a:pPr>
            <a:r>
              <a:rPr sz="1900" b="0">
                <a:solidFill>
                  <a:srgbClr val="202122"/>
                </a:solidFill>
                <a:latin typeface="Calibri"/>
              </a:rPr>
              <a:t>ASCII and UTF-8 are character encodings: ASCII has 128 basic English characters; UTF-8 can represent every language and emoji, so it's used on the web.</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The same ticket as CSV: 101,Printer,High. As JSON: {"id": 101, "category": "Printer", "priority": "High"}.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Data formats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17</a:t>
            </a:r>
          </a:p>
        </p:txBody>
      </p:sp>
      <p:graphicFrame>
        <p:nvGraphicFramePr>
          <p:cNvPr id="6" name="Table 5"/>
          <p:cNvGraphicFramePr>
            <a:graphicFrameLocks noGrp="1"/>
          </p:cNvGraphicFramePr>
          <p:nvPr/>
        </p:nvGraphicFramePr>
        <p:xfrm>
          <a:off x="548640" y="1600200"/>
          <a:ext cx="11094414" cy="4526277"/>
        </p:xfrm>
        <a:graphic>
          <a:graphicData uri="http://schemas.openxmlformats.org/drawingml/2006/table">
            <a:tbl>
              <a:tblPr firstRow="1" bandRow="1">
                <a:tableStyleId>{5C22544A-7EE6-4342-B048-85BDC9FD1C3A}</a:tableStyleId>
              </a:tblPr>
              <a:tblGrid>
                <a:gridCol w="1806067"/>
                <a:gridCol w="5160193"/>
                <a:gridCol w="4128154"/>
              </a:tblGrid>
              <a:tr h="646611">
                <a:tc>
                  <a:txBody>
                    <a:bodyPr wrap="square"/>
                    <a:lstStyle/>
                    <a:p>
                      <a:r>
                        <a:rPr sz="1600" b="1">
                          <a:solidFill>
                            <a:srgbClr val="FFFFFF"/>
                          </a:solidFill>
                          <a:latin typeface="Calibri"/>
                        </a:rPr>
                        <a:t>Format</a:t>
                      </a:r>
                    </a:p>
                  </a:txBody>
                  <a:tcPr marL="91440" marR="91440" anchor="ctr">
                    <a:solidFill>
                      <a:srgbClr val="03306E"/>
                    </a:solidFill>
                  </a:tcPr>
                </a:tc>
                <a:tc>
                  <a:txBody>
                    <a:bodyPr wrap="square"/>
                    <a:lstStyle/>
                    <a:p>
                      <a:r>
                        <a:rPr sz="1600" b="1">
                          <a:solidFill>
                            <a:srgbClr val="FFFFFF"/>
                          </a:solidFill>
                          <a:latin typeface="Calibri"/>
                        </a:rPr>
                        <a:t>Description</a:t>
                      </a:r>
                    </a:p>
                  </a:txBody>
                  <a:tcPr marL="91440" marR="91440" anchor="ctr">
                    <a:solidFill>
                      <a:srgbClr val="03306E"/>
                    </a:solidFill>
                  </a:tcPr>
                </a:tc>
                <a:tc>
                  <a:txBody>
                    <a:bodyPr wrap="square"/>
                    <a:lstStyle/>
                    <a:p>
                      <a:r>
                        <a:rPr sz="1600" b="1">
                          <a:solidFill>
                            <a:srgbClr val="FFFFFF"/>
                          </a:solidFill>
                          <a:latin typeface="Calibri"/>
                        </a:rPr>
                        <a:t>Typical use</a:t>
                      </a:r>
                    </a:p>
                  </a:txBody>
                  <a:tcPr marL="91440" marR="91440" anchor="ctr">
                    <a:solidFill>
                      <a:srgbClr val="03306E"/>
                    </a:solidFill>
                  </a:tcPr>
                </a:tc>
              </a:tr>
              <a:tr h="646611">
                <a:tc>
                  <a:txBody>
                    <a:bodyPr wrap="square"/>
                    <a:lstStyle/>
                    <a:p>
                      <a:r>
                        <a:rPr sz="1600" b="1">
                          <a:solidFill>
                            <a:srgbClr val="03306E"/>
                          </a:solidFill>
                          <a:latin typeface="Calibri"/>
                        </a:rPr>
                        <a:t>CSV</a:t>
                      </a:r>
                    </a:p>
                  </a:txBody>
                  <a:tcPr marL="91440" marR="91440" anchor="ctr">
                    <a:solidFill>
                      <a:srgbClr val="FFFFFF"/>
                    </a:solidFill>
                  </a:tcPr>
                </a:tc>
                <a:tc>
                  <a:txBody>
                    <a:bodyPr wrap="square"/>
                    <a:lstStyle/>
                    <a:p>
                      <a:r>
                        <a:rPr sz="1600" b="0">
                          <a:solidFill>
                            <a:srgbClr val="202122"/>
                          </a:solidFill>
                          <a:latin typeface="Calibri"/>
                        </a:rPr>
                        <a:t>Values separated by commas, one record per line</a:t>
                      </a:r>
                    </a:p>
                  </a:txBody>
                  <a:tcPr marL="91440" marR="91440" anchor="ctr">
                    <a:solidFill>
                      <a:srgbClr val="FFFFFF"/>
                    </a:solidFill>
                  </a:tcPr>
                </a:tc>
                <a:tc>
                  <a:txBody>
                    <a:bodyPr wrap="square"/>
                    <a:lstStyle/>
                    <a:p>
                      <a:r>
                        <a:rPr sz="1600" b="0">
                          <a:solidFill>
                            <a:srgbClr val="202122"/>
                          </a:solidFill>
                          <a:latin typeface="Calibri"/>
                        </a:rPr>
                        <a:t>Exporting spreadsheet data</a:t>
                      </a:r>
                    </a:p>
                  </a:txBody>
                  <a:tcPr marL="91440" marR="91440" anchor="ctr">
                    <a:solidFill>
                      <a:srgbClr val="FFFFFF"/>
                    </a:solidFill>
                  </a:tcPr>
                </a:tc>
              </a:tr>
              <a:tr h="646611">
                <a:tc>
                  <a:txBody>
                    <a:bodyPr wrap="square"/>
                    <a:lstStyle/>
                    <a:p>
                      <a:r>
                        <a:rPr sz="1600" b="1">
                          <a:solidFill>
                            <a:srgbClr val="03306E"/>
                          </a:solidFill>
                          <a:latin typeface="Calibri"/>
                        </a:rPr>
                        <a:t>JSON</a:t>
                      </a:r>
                    </a:p>
                  </a:txBody>
                  <a:tcPr marL="91440" marR="91440" anchor="ctr">
                    <a:solidFill>
                      <a:srgbClr val="EAF3FF"/>
                    </a:solidFill>
                  </a:tcPr>
                </a:tc>
                <a:tc>
                  <a:txBody>
                    <a:bodyPr wrap="square"/>
                    <a:lstStyle/>
                    <a:p>
                      <a:r>
                        <a:rPr sz="1600" b="0">
                          <a:solidFill>
                            <a:srgbClr val="202122"/>
                          </a:solidFill>
                          <a:latin typeface="Calibri"/>
                        </a:rPr>
                        <a:t>Key and value pairs in nested objects</a:t>
                      </a:r>
                    </a:p>
                  </a:txBody>
                  <a:tcPr marL="91440" marR="91440" anchor="ctr">
                    <a:solidFill>
                      <a:srgbClr val="EAF3FF"/>
                    </a:solidFill>
                  </a:tcPr>
                </a:tc>
                <a:tc>
                  <a:txBody>
                    <a:bodyPr wrap="square"/>
                    <a:lstStyle/>
                    <a:p>
                      <a:r>
                        <a:rPr sz="1600" b="0">
                          <a:solidFill>
                            <a:srgbClr val="202122"/>
                          </a:solidFill>
                          <a:latin typeface="Calibri"/>
                        </a:rPr>
                        <a:t>Web APIs and config files</a:t>
                      </a:r>
                    </a:p>
                  </a:txBody>
                  <a:tcPr marL="91440" marR="91440" anchor="ctr">
                    <a:solidFill>
                      <a:srgbClr val="EAF3FF"/>
                    </a:solidFill>
                  </a:tcPr>
                </a:tc>
              </a:tr>
              <a:tr h="646611">
                <a:tc>
                  <a:txBody>
                    <a:bodyPr wrap="square"/>
                    <a:lstStyle/>
                    <a:p>
                      <a:r>
                        <a:rPr sz="1600" b="1">
                          <a:solidFill>
                            <a:srgbClr val="03306E"/>
                          </a:solidFill>
                          <a:latin typeface="Calibri"/>
                        </a:rPr>
                        <a:t>XML</a:t>
                      </a:r>
                    </a:p>
                  </a:txBody>
                  <a:tcPr marL="91440" marR="91440" anchor="ctr">
                    <a:solidFill>
                      <a:srgbClr val="FFFFFF"/>
                    </a:solidFill>
                  </a:tcPr>
                </a:tc>
                <a:tc>
                  <a:txBody>
                    <a:bodyPr wrap="square"/>
                    <a:lstStyle/>
                    <a:p>
                      <a:r>
                        <a:rPr sz="1600" b="0">
                          <a:solidFill>
                            <a:srgbClr val="202122"/>
                          </a:solidFill>
                          <a:latin typeface="Calibri"/>
                        </a:rPr>
                        <a:t>Data wrapped in named tags</a:t>
                      </a:r>
                    </a:p>
                  </a:txBody>
                  <a:tcPr marL="91440" marR="91440" anchor="ctr">
                    <a:solidFill>
                      <a:srgbClr val="FFFFFF"/>
                    </a:solidFill>
                  </a:tcPr>
                </a:tc>
                <a:tc>
                  <a:txBody>
                    <a:bodyPr wrap="square"/>
                    <a:lstStyle/>
                    <a:p>
                      <a:r>
                        <a:rPr sz="1600" b="0">
                          <a:solidFill>
                            <a:srgbClr val="202122"/>
                          </a:solidFill>
                          <a:latin typeface="Calibri"/>
                        </a:rPr>
                        <a:t>Document and data exchange</a:t>
                      </a:r>
                    </a:p>
                  </a:txBody>
                  <a:tcPr marL="91440" marR="91440" anchor="ctr">
                    <a:solidFill>
                      <a:srgbClr val="FFFFFF"/>
                    </a:solidFill>
                  </a:tcPr>
                </a:tc>
              </a:tr>
              <a:tr h="646611">
                <a:tc>
                  <a:txBody>
                    <a:bodyPr wrap="square"/>
                    <a:lstStyle/>
                    <a:p>
                      <a:r>
                        <a:rPr sz="1600" b="1">
                          <a:solidFill>
                            <a:srgbClr val="03306E"/>
                          </a:solidFill>
                          <a:latin typeface="Calibri"/>
                        </a:rPr>
                        <a:t>Text file</a:t>
                      </a:r>
                    </a:p>
                  </a:txBody>
                  <a:tcPr marL="91440" marR="91440" anchor="ctr">
                    <a:solidFill>
                      <a:srgbClr val="EAF3FF"/>
                    </a:solidFill>
                  </a:tcPr>
                </a:tc>
                <a:tc>
                  <a:txBody>
                    <a:bodyPr wrap="square"/>
                    <a:lstStyle/>
                    <a:p>
                      <a:r>
                        <a:rPr sz="1600" b="0">
                          <a:solidFill>
                            <a:srgbClr val="202122"/>
                          </a:solidFill>
                          <a:latin typeface="Calibri"/>
                        </a:rPr>
                        <a:t>Plain unformatted text</a:t>
                      </a:r>
                    </a:p>
                  </a:txBody>
                  <a:tcPr marL="91440" marR="91440" anchor="ctr">
                    <a:solidFill>
                      <a:srgbClr val="EAF3FF"/>
                    </a:solidFill>
                  </a:tcPr>
                </a:tc>
                <a:tc>
                  <a:txBody>
                    <a:bodyPr wrap="square"/>
                    <a:lstStyle/>
                    <a:p>
                      <a:r>
                        <a:rPr sz="1600" b="0">
                          <a:solidFill>
                            <a:srgbClr val="202122"/>
                          </a:solidFill>
                          <a:latin typeface="Calibri"/>
                        </a:rPr>
                        <a:t>Logs and notes</a:t>
                      </a:r>
                    </a:p>
                  </a:txBody>
                  <a:tcPr marL="91440" marR="91440" anchor="ctr">
                    <a:solidFill>
                      <a:srgbClr val="EAF3FF"/>
                    </a:solidFill>
                  </a:tcPr>
                </a:tc>
              </a:tr>
              <a:tr h="646611">
                <a:tc>
                  <a:txBody>
                    <a:bodyPr wrap="square"/>
                    <a:lstStyle/>
                    <a:p>
                      <a:r>
                        <a:rPr sz="1600" b="1">
                          <a:solidFill>
                            <a:srgbClr val="03306E"/>
                          </a:solidFill>
                          <a:latin typeface="Calibri"/>
                        </a:rPr>
                        <a:t>ASCII</a:t>
                      </a:r>
                    </a:p>
                  </a:txBody>
                  <a:tcPr marL="91440" marR="91440" anchor="ctr">
                    <a:solidFill>
                      <a:srgbClr val="FFFFFF"/>
                    </a:solidFill>
                  </a:tcPr>
                </a:tc>
                <a:tc>
                  <a:txBody>
                    <a:bodyPr wrap="square"/>
                    <a:lstStyle/>
                    <a:p>
                      <a:r>
                        <a:rPr sz="1600" b="0">
                          <a:solidFill>
                            <a:srgbClr val="202122"/>
                          </a:solidFill>
                          <a:latin typeface="Calibri"/>
                        </a:rPr>
                        <a:t>7-bit character set, 128 characters</a:t>
                      </a:r>
                    </a:p>
                  </a:txBody>
                  <a:tcPr marL="91440" marR="91440" anchor="ctr">
                    <a:solidFill>
                      <a:srgbClr val="FFFFFF"/>
                    </a:solidFill>
                  </a:tcPr>
                </a:tc>
                <a:tc>
                  <a:txBody>
                    <a:bodyPr wrap="square"/>
                    <a:lstStyle/>
                    <a:p>
                      <a:r>
                        <a:rPr sz="1600" b="0">
                          <a:solidFill>
                            <a:srgbClr val="202122"/>
                          </a:solidFill>
                          <a:latin typeface="Calibri"/>
                        </a:rPr>
                        <a:t>Basic English text</a:t>
                      </a:r>
                    </a:p>
                  </a:txBody>
                  <a:tcPr marL="91440" marR="91440" anchor="ctr">
                    <a:solidFill>
                      <a:srgbClr val="FFFFFF"/>
                    </a:solidFill>
                  </a:tcPr>
                </a:tc>
              </a:tr>
              <a:tr h="646611">
                <a:tc>
                  <a:txBody>
                    <a:bodyPr wrap="square"/>
                    <a:lstStyle/>
                    <a:p>
                      <a:r>
                        <a:rPr sz="1600" b="1">
                          <a:solidFill>
                            <a:srgbClr val="03306E"/>
                          </a:solidFill>
                          <a:latin typeface="Calibri"/>
                        </a:rPr>
                        <a:t>UTF-8</a:t>
                      </a:r>
                    </a:p>
                  </a:txBody>
                  <a:tcPr marL="91440" marR="91440" anchor="ctr">
                    <a:solidFill>
                      <a:srgbClr val="EAF3FF"/>
                    </a:solidFill>
                  </a:tcPr>
                </a:tc>
                <a:tc>
                  <a:txBody>
                    <a:bodyPr wrap="square"/>
                    <a:lstStyle/>
                    <a:p>
                      <a:r>
                        <a:rPr sz="1600" b="0">
                          <a:solidFill>
                            <a:srgbClr val="202122"/>
                          </a:solidFill>
                          <a:latin typeface="Calibri"/>
                        </a:rPr>
                        <a:t>Unicode encoding covering every language</a:t>
                      </a:r>
                    </a:p>
                  </a:txBody>
                  <a:tcPr marL="91440" marR="91440" anchor="ctr">
                    <a:solidFill>
                      <a:srgbClr val="EAF3FF"/>
                    </a:solidFill>
                  </a:tcPr>
                </a:tc>
                <a:tc>
                  <a:txBody>
                    <a:bodyPr wrap="square"/>
                    <a:lstStyle/>
                    <a:p>
                      <a:r>
                        <a:rPr sz="1600" b="0">
                          <a:solidFill>
                            <a:srgbClr val="202122"/>
                          </a:solidFill>
                          <a:latin typeface="Calibri"/>
                        </a:rPr>
                        <a:t>Web pages and modern text</a:t>
                      </a:r>
                    </a:p>
                  </a:txBody>
                  <a:tcPr marL="91440" marR="91440" anchor="ctr">
                    <a:solidFill>
                      <a:srgbClr val="EAF3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Data formats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18</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Which format is standard for web APIs?</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Why is UTF-8 used on the web instead of ASCII?</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Give one advantage of CSV.</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Structures for storing data</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19</a:t>
            </a:r>
          </a:p>
        </p:txBody>
      </p:sp>
      <p:sp>
        <p:nvSpPr>
          <p:cNvPr id="6" name="Rounded Rectangle 5"/>
          <p:cNvSpPr/>
          <p:nvPr/>
        </p:nvSpPr>
        <p:spPr>
          <a:xfrm>
            <a:off x="548640"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4404207" cy="512064"/>
          </a:xfrm>
          <a:prstGeom prst="rect">
            <a:avLst/>
          </a:prstGeom>
          <a:noFill/>
        </p:spPr>
        <p:txBody>
          <a:bodyPr wrap="square" anchor="ctr" lIns="0" rIns="0" tIns="0" bIns="0"/>
          <a:lstStyle/>
          <a:p>
            <a:pPr algn="l"/>
            <a:r>
              <a:rPr sz="1900" b="1" i="0">
                <a:solidFill>
                  <a:srgbClr val="03306E"/>
                </a:solidFill>
                <a:latin typeface="Calibri"/>
              </a:rPr>
              <a:t>Metadata</a:t>
            </a:r>
          </a:p>
        </p:txBody>
      </p:sp>
      <p:sp>
        <p:nvSpPr>
          <p:cNvPr id="9" name="TextBox 8"/>
          <p:cNvSpPr txBox="1"/>
          <p:nvPr/>
        </p:nvSpPr>
        <p:spPr>
          <a:xfrm>
            <a:off x="777240" y="2468880"/>
            <a:ext cx="4952847" cy="1143000"/>
          </a:xfrm>
          <a:prstGeom prst="rect">
            <a:avLst/>
          </a:prstGeom>
          <a:noFill/>
        </p:spPr>
        <p:txBody>
          <a:bodyPr wrap="square" anchor="t" lIns="0" rIns="0" tIns="0" bIns="0"/>
          <a:lstStyle/>
          <a:p>
            <a:pPr algn="l"/>
            <a:r>
              <a:rPr sz="2000" b="0" i="0">
                <a:solidFill>
                  <a:srgbClr val="202122"/>
                </a:solidFill>
                <a:latin typeface="Calibri"/>
              </a:rPr>
              <a:t>Data about data: author, date created, file size. Gives context.</a:t>
            </a:r>
          </a:p>
        </p:txBody>
      </p:sp>
      <p:sp>
        <p:nvSpPr>
          <p:cNvPr id="10" name="Rounded Rectangle 9"/>
          <p:cNvSpPr/>
          <p:nvPr/>
        </p:nvSpPr>
        <p:spPr>
          <a:xfrm>
            <a:off x="6233007"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1607"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7055967" y="1801368"/>
            <a:ext cx="4404207" cy="512064"/>
          </a:xfrm>
          <a:prstGeom prst="rect">
            <a:avLst/>
          </a:prstGeom>
          <a:noFill/>
        </p:spPr>
        <p:txBody>
          <a:bodyPr wrap="square" anchor="ctr" lIns="0" rIns="0" tIns="0" bIns="0"/>
          <a:lstStyle/>
          <a:p>
            <a:pPr algn="l"/>
            <a:r>
              <a:rPr sz="1900" b="1" i="0">
                <a:solidFill>
                  <a:srgbClr val="03306E"/>
                </a:solidFill>
                <a:latin typeface="Calibri"/>
              </a:rPr>
              <a:t>File based</a:t>
            </a:r>
          </a:p>
        </p:txBody>
      </p:sp>
      <p:sp>
        <p:nvSpPr>
          <p:cNvPr id="13" name="TextBox 12"/>
          <p:cNvSpPr txBox="1"/>
          <p:nvPr/>
        </p:nvSpPr>
        <p:spPr>
          <a:xfrm>
            <a:off x="6461607" y="2468880"/>
            <a:ext cx="4952847" cy="1143000"/>
          </a:xfrm>
          <a:prstGeom prst="rect">
            <a:avLst/>
          </a:prstGeom>
          <a:noFill/>
        </p:spPr>
        <p:txBody>
          <a:bodyPr wrap="square" anchor="t" lIns="0" rIns="0" tIns="0" bIns="0"/>
          <a:lstStyle/>
          <a:p>
            <a:pPr algn="l"/>
            <a:r>
              <a:rPr sz="2000" b="0" i="0">
                <a:solidFill>
                  <a:srgbClr val="202122"/>
                </a:solidFill>
                <a:latin typeface="Calibri"/>
              </a:rPr>
              <a:t>Data kept in individual files, simple but hard to share and search.</a:t>
            </a:r>
          </a:p>
        </p:txBody>
      </p:sp>
      <p:sp>
        <p:nvSpPr>
          <p:cNvPr id="14" name="Rounded Rectangle 13"/>
          <p:cNvSpPr/>
          <p:nvPr/>
        </p:nvSpPr>
        <p:spPr>
          <a:xfrm>
            <a:off x="548640"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1371600" y="4224528"/>
            <a:ext cx="4404207" cy="512064"/>
          </a:xfrm>
          <a:prstGeom prst="rect">
            <a:avLst/>
          </a:prstGeom>
          <a:noFill/>
        </p:spPr>
        <p:txBody>
          <a:bodyPr wrap="square" anchor="ctr" lIns="0" rIns="0" tIns="0" bIns="0"/>
          <a:lstStyle/>
          <a:p>
            <a:pPr algn="l"/>
            <a:r>
              <a:rPr sz="1900" b="1" i="0">
                <a:solidFill>
                  <a:srgbClr val="03306E"/>
                </a:solidFill>
                <a:latin typeface="Calibri"/>
              </a:rPr>
              <a:t>Directory based</a:t>
            </a:r>
          </a:p>
        </p:txBody>
      </p:sp>
      <p:sp>
        <p:nvSpPr>
          <p:cNvPr id="17" name="TextBox 16"/>
          <p:cNvSpPr txBox="1"/>
          <p:nvPr/>
        </p:nvSpPr>
        <p:spPr>
          <a:xfrm>
            <a:off x="777240" y="4892040"/>
            <a:ext cx="4952847" cy="1143000"/>
          </a:xfrm>
          <a:prstGeom prst="rect">
            <a:avLst/>
          </a:prstGeom>
          <a:noFill/>
        </p:spPr>
        <p:txBody>
          <a:bodyPr wrap="square" anchor="t" lIns="0" rIns="0" tIns="0" bIns="0"/>
          <a:lstStyle/>
          <a:p>
            <a:pPr algn="l"/>
            <a:r>
              <a:rPr sz="2000" b="0" i="0">
                <a:solidFill>
                  <a:srgbClr val="202122"/>
                </a:solidFill>
                <a:latin typeface="Calibri"/>
              </a:rPr>
              <a:t>Files organised into folders.</a:t>
            </a:r>
          </a:p>
        </p:txBody>
      </p:sp>
      <p:sp>
        <p:nvSpPr>
          <p:cNvPr id="18" name="Rounded Rectangle 17"/>
          <p:cNvSpPr/>
          <p:nvPr/>
        </p:nvSpPr>
        <p:spPr>
          <a:xfrm>
            <a:off x="6233007"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61607"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7055967" y="4224528"/>
            <a:ext cx="4404207" cy="512064"/>
          </a:xfrm>
          <a:prstGeom prst="rect">
            <a:avLst/>
          </a:prstGeom>
          <a:noFill/>
        </p:spPr>
        <p:txBody>
          <a:bodyPr wrap="square" anchor="ctr" lIns="0" rIns="0" tIns="0" bIns="0"/>
          <a:lstStyle/>
          <a:p>
            <a:pPr algn="l"/>
            <a:r>
              <a:rPr sz="1900" b="1" i="0">
                <a:solidFill>
                  <a:srgbClr val="03306E"/>
                </a:solidFill>
                <a:latin typeface="Calibri"/>
              </a:rPr>
              <a:t>Hierarchy based</a:t>
            </a:r>
          </a:p>
        </p:txBody>
      </p:sp>
      <p:sp>
        <p:nvSpPr>
          <p:cNvPr id="21" name="TextBox 20"/>
          <p:cNvSpPr txBox="1"/>
          <p:nvPr/>
        </p:nvSpPr>
        <p:spPr>
          <a:xfrm>
            <a:off x="6461607" y="4892040"/>
            <a:ext cx="4952847" cy="1143000"/>
          </a:xfrm>
          <a:prstGeom prst="rect">
            <a:avLst/>
          </a:prstGeom>
          <a:noFill/>
        </p:spPr>
        <p:txBody>
          <a:bodyPr wrap="square" anchor="t" lIns="0" rIns="0" tIns="0" bIns="0"/>
          <a:lstStyle/>
          <a:p>
            <a:pPr algn="l"/>
            <a:r>
              <a:rPr sz="2000" b="0" i="0">
                <a:solidFill>
                  <a:srgbClr val="202122"/>
                </a:solidFill>
                <a:latin typeface="Calibri"/>
              </a:rPr>
              <a:t>Data arranged in parent and child levels, like a tree.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20</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2200" b="0" i="0">
                <a:solidFill>
                  <a:srgbClr val="202122"/>
                </a:solidFill>
                <a:latin typeface="Calibri"/>
              </a:rPr>
              <a:t>What turns data into information?</a:t>
            </a:r>
          </a:p>
        </p:txBody>
      </p:sp>
      <p:sp>
        <p:nvSpPr>
          <p:cNvPr id="8" name="Oval 7"/>
          <p:cNvSpPr/>
          <p:nvPr/>
        </p:nvSpPr>
        <p:spPr>
          <a:xfrm>
            <a:off x="548640" y="2574950"/>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2200" b="0" i="0">
                <a:solidFill>
                  <a:srgbClr val="202122"/>
                </a:solidFill>
                <a:latin typeface="Calibri"/>
              </a:rPr>
              <a:t>Is 'CPU temperature' discrete or continuous data?</a:t>
            </a:r>
          </a:p>
        </p:txBody>
      </p:sp>
      <p:sp>
        <p:nvSpPr>
          <p:cNvPr id="10" name="Oval 9"/>
          <p:cNvSpPr/>
          <p:nvPr/>
        </p:nvSpPr>
        <p:spPr>
          <a:xfrm>
            <a:off x="548640" y="3531412"/>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2200" b="0" i="0">
                <a:solidFill>
                  <a:srgbClr val="202122"/>
                </a:solidFill>
                <a:latin typeface="Calibri"/>
              </a:rPr>
              <a:t>Which data type would store 'Account locked: yes or no'?</a:t>
            </a:r>
          </a:p>
        </p:txBody>
      </p:sp>
      <p:sp>
        <p:nvSpPr>
          <p:cNvPr id="12" name="Oval 11"/>
          <p:cNvSpPr/>
          <p:nvPr/>
        </p:nvSpPr>
        <p:spPr>
          <a:xfrm>
            <a:off x="548640" y="4487875"/>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2200" b="0" i="0">
                <a:solidFill>
                  <a:srgbClr val="202122"/>
                </a:solidFill>
                <a:latin typeface="Calibri"/>
              </a:rPr>
              <a:t>Which format is commonly used by web APIs?</a:t>
            </a:r>
          </a:p>
        </p:txBody>
      </p:sp>
      <p:sp>
        <p:nvSpPr>
          <p:cNvPr id="14" name="Oval 13"/>
          <p:cNvSpPr/>
          <p:nvPr/>
        </p:nvSpPr>
        <p:spPr>
          <a:xfrm>
            <a:off x="548640" y="5444337"/>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2200" b="0" i="0">
                <a:solidFill>
                  <a:srgbClr val="202122"/>
                </a:solidFill>
                <a:latin typeface="Calibri"/>
              </a:rPr>
              <a:t>What is metadata?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21</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1800" b="0" i="0">
                <a:solidFill>
                  <a:srgbClr val="54595D"/>
                </a:solidFill>
                <a:latin typeface="Calibri"/>
              </a:rPr>
              <a:t>What turns data into information?</a:t>
            </a:r>
          </a:p>
          <a:p>
            <a:r>
              <a:rPr sz="1800" b="1">
                <a:solidFill>
                  <a:srgbClr val="03306E"/>
                </a:solidFill>
                <a:latin typeface="Calibri"/>
              </a:rPr>
              <a:t>Adding context and meaning.</a:t>
            </a:r>
          </a:p>
        </p:txBody>
      </p:sp>
      <p:sp>
        <p:nvSpPr>
          <p:cNvPr id="8" name="Oval 7"/>
          <p:cNvSpPr/>
          <p:nvPr/>
        </p:nvSpPr>
        <p:spPr>
          <a:xfrm>
            <a:off x="548640" y="2574950"/>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1800" b="0" i="0">
                <a:solidFill>
                  <a:srgbClr val="54595D"/>
                </a:solidFill>
                <a:latin typeface="Calibri"/>
              </a:rPr>
              <a:t>Is 'CPU temperature' discrete or continuous data?</a:t>
            </a:r>
          </a:p>
          <a:p>
            <a:r>
              <a:rPr sz="1800" b="1">
                <a:solidFill>
                  <a:srgbClr val="03306E"/>
                </a:solidFill>
                <a:latin typeface="Calibri"/>
              </a:rPr>
              <a:t>Continuous.</a:t>
            </a:r>
          </a:p>
        </p:txBody>
      </p:sp>
      <p:sp>
        <p:nvSpPr>
          <p:cNvPr id="10" name="Oval 9"/>
          <p:cNvSpPr/>
          <p:nvPr/>
        </p:nvSpPr>
        <p:spPr>
          <a:xfrm>
            <a:off x="548640" y="3531412"/>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1800" b="0" i="0">
                <a:solidFill>
                  <a:srgbClr val="54595D"/>
                </a:solidFill>
                <a:latin typeface="Calibri"/>
              </a:rPr>
              <a:t>Which data type would store 'Account locked: yes or no'?</a:t>
            </a:r>
          </a:p>
          <a:p>
            <a:r>
              <a:rPr sz="1800" b="1">
                <a:solidFill>
                  <a:srgbClr val="03306E"/>
                </a:solidFill>
                <a:latin typeface="Calibri"/>
              </a:rPr>
              <a:t>Boolean.</a:t>
            </a:r>
          </a:p>
        </p:txBody>
      </p:sp>
      <p:sp>
        <p:nvSpPr>
          <p:cNvPr id="12" name="Oval 11"/>
          <p:cNvSpPr/>
          <p:nvPr/>
        </p:nvSpPr>
        <p:spPr>
          <a:xfrm>
            <a:off x="548640" y="4487875"/>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1800" b="0" i="0">
                <a:solidFill>
                  <a:srgbClr val="54595D"/>
                </a:solidFill>
                <a:latin typeface="Calibri"/>
              </a:rPr>
              <a:t>Which format is commonly used by web APIs?</a:t>
            </a:r>
          </a:p>
          <a:p>
            <a:r>
              <a:rPr sz="1800" b="1">
                <a:solidFill>
                  <a:srgbClr val="03306E"/>
                </a:solidFill>
                <a:latin typeface="Calibri"/>
              </a:rPr>
              <a:t>JSON.</a:t>
            </a:r>
          </a:p>
        </p:txBody>
      </p:sp>
      <p:sp>
        <p:nvSpPr>
          <p:cNvPr id="14" name="Oval 13"/>
          <p:cNvSpPr/>
          <p:nvPr/>
        </p:nvSpPr>
        <p:spPr>
          <a:xfrm>
            <a:off x="548640" y="5444337"/>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1800" b="0" i="0">
                <a:solidFill>
                  <a:srgbClr val="54595D"/>
                </a:solidFill>
                <a:latin typeface="Calibri"/>
              </a:rPr>
              <a:t>What is metadata?</a:t>
            </a:r>
          </a:p>
          <a:p>
            <a:r>
              <a:rPr sz="1800" b="1">
                <a:solidFill>
                  <a:srgbClr val="03306E"/>
                </a:solidFill>
                <a:latin typeface="Calibri"/>
              </a:rPr>
              <a:t>Data that describes other data, such as author or date created.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Design a helpdesk ticket record</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22</a:t>
            </a:r>
          </a:p>
        </p:txBody>
      </p:sp>
      <p:sp>
        <p:nvSpPr>
          <p:cNvPr id="6" name="Rounded Rectangle 5"/>
          <p:cNvSpPr/>
          <p:nvPr/>
        </p:nvSpPr>
        <p:spPr>
          <a:xfrm>
            <a:off x="548640" y="1508760"/>
            <a:ext cx="2011680" cy="45720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20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Pairs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List ten fields a helpdesk ticket should store.</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Choose a data type for each field and justify it.</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Classify each field as quantitative or qualitative.</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Write one example ticket in JSON and the same ticket as a CSV row.</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Every field has a sensible data type</a:t>
            </a:r>
          </a:p>
          <a:p>
            <a:pPr marL="274320" indent="-274320">
              <a:spcAft>
                <a:spcPts val="810"/>
              </a:spcAft>
              <a:buClr>
                <a:srgbClr val="0645AD"/>
              </a:buClr>
              <a:buFont typeface="Arial"/>
              <a:buChar char="•"/>
            </a:pPr>
            <a:r>
              <a:rPr sz="1800" b="0">
                <a:solidFill>
                  <a:srgbClr val="202122"/>
                </a:solidFill>
                <a:latin typeface="Calibri"/>
              </a:rPr>
              <a:t>At least one Boolean and one date</a:t>
            </a:r>
          </a:p>
          <a:p>
            <a:pPr marL="274320" indent="-274320">
              <a:spcAft>
                <a:spcPts val="810"/>
              </a:spcAft>
              <a:buClr>
                <a:srgbClr val="0645AD"/>
              </a:buClr>
              <a:buFont typeface="Arial"/>
              <a:buChar char="•"/>
            </a:pPr>
            <a:r>
              <a:rPr sz="1800" b="0">
                <a:solidFill>
                  <a:srgbClr val="202122"/>
                </a:solidFill>
                <a:latin typeface="Calibri"/>
              </a:rPr>
              <a:t>JSON is correctly nested</a:t>
            </a:r>
          </a:p>
          <a:p>
            <a:pPr marL="274320" indent="-274320">
              <a:spcAft>
                <a:spcPts val="810"/>
              </a:spcAft>
              <a:buClr>
                <a:srgbClr val="0645AD"/>
              </a:buClr>
              <a:buFont typeface="Arial"/>
              <a:buChar char="•"/>
            </a:pPr>
            <a:r>
              <a:rPr sz="1800" b="0">
                <a:solidFill>
                  <a:srgbClr val="202122"/>
                </a:solidFill>
                <a:latin typeface="Calibri"/>
              </a:rPr>
              <a:t>CSV header matches the fields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Give your own example of data, information and knowledge.</a:t>
            </a:r>
          </a:p>
        </p:txBody>
      </p:sp>
      <p:sp>
        <p:nvSpPr>
          <p:cNvPr id="6" name="Oval 5"/>
          <p:cNvSpPr/>
          <p:nvPr/>
        </p:nvSpPr>
        <p:spPr>
          <a:xfrm>
            <a:off x="548640" y="26974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Why might AI-generated data be risky?</a:t>
            </a:r>
          </a:p>
        </p:txBody>
      </p:sp>
      <p:sp>
        <p:nvSpPr>
          <p:cNvPr id="8" name="Oval 7"/>
          <p:cNvSpPr/>
          <p:nvPr/>
        </p:nvSpPr>
        <p:spPr>
          <a:xfrm>
            <a:off x="548640" y="36576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When would you choose CSV over JSON?</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Core Paper 1: Problem Solving, Digital Support and Data</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https://lana6478.github.io/Digital-Suport-and-security-T-levle/#/01-core-component/01-core-paper-1.md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Fundamentals</dc:title>
  <dc:subject>Digital Support and Security T Level: Core Paper 1</dc:subject>
  <dc:creator>Samuel O'Connell</dc:creator>
  <cp:keywords>T Level; Digital Support and Security; lesson slides; 3.1 to 3.6</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