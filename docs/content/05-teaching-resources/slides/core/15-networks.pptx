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Components: servers, clients, routers, switches and the internet connection or backbone. Connectivity can be wired (copper, fibre) or wireless (access points).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F2B705"/>
                </a:solidFill>
                <a:latin typeface="Calibri"/>
              </a:rPr>
              <a:t>CORE COMPONENT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Networks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Core Paper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7.3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Support and Security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Networks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3456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Compare network types, topologies and models.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7469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5181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the layers of the OSI and TCP/IP models.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1482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09193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Explain packet structure, packet switching and error checking.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354954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13206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Match common protocols to their purpose and explain bandwidth and latency.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When you load a web page, how many different devices do you think your request passes through?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Why network, and at what scale?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Networks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Benefits and drawbacks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Share files, printers and internet access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Central management and backups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But:</a:t>
            </a:r>
            <a:r>
              <a:rPr sz="2200" b="0">
                <a:solidFill>
                  <a:srgbClr val="202122"/>
                </a:solidFill>
                <a:latin typeface="Calibri"/>
              </a:rPr>
              <a:t> cost of equipment and expertise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But:</a:t>
            </a:r>
            <a:r>
              <a:rPr sz="2200" b="0">
                <a:solidFill>
                  <a:srgbClr val="202122"/>
                </a:solidFill>
                <a:latin typeface="Calibri"/>
              </a:rPr>
              <a:t> malware and faults can spread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Network types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PAN:</a:t>
            </a:r>
            <a:r>
              <a:rPr sz="2200" b="0">
                <a:solidFill>
                  <a:srgbClr val="202122"/>
                </a:solidFill>
                <a:latin typeface="Calibri"/>
              </a:rPr>
              <a:t> personal area, e.g. Bluetooth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LAN:</a:t>
            </a:r>
            <a:r>
              <a:rPr sz="2200" b="0">
                <a:solidFill>
                  <a:srgbClr val="202122"/>
                </a:solidFill>
                <a:latin typeface="Calibri"/>
              </a:rPr>
              <a:t> one building or site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MAN:</a:t>
            </a:r>
            <a:r>
              <a:rPr sz="2200" b="0">
                <a:solidFill>
                  <a:srgbClr val="202122"/>
                </a:solidFill>
                <a:latin typeface="Calibri"/>
              </a:rPr>
              <a:t> across a town or city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WAN:</a:t>
            </a:r>
            <a:r>
              <a:rPr sz="2200" b="0">
                <a:solidFill>
                  <a:srgbClr val="202122"/>
                </a:solidFill>
                <a:latin typeface="Calibri"/>
              </a:rPr>
              <a:t> across countries, e.g. the internet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Topologies and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Networks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Star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Every device connects to a central switch. One cable fault affects one device.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Mesh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Devices connect to many others. Very resilient, but costly.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Tree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Stars connected in a hierarchy.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Logical vs physical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How data flows versus how cables are laid out.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8218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66818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1178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600" b="1" i="0">
                <a:solidFill>
                  <a:srgbClr val="03306E"/>
                </a:solidFill>
                <a:latin typeface="Calibri"/>
              </a:rPr>
              <a:t>Client-server and thin client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6818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Servers provide services; thin clients rely on the server to do the processing.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7796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356396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50756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Peer-to-peer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6396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Every device is equal and shares resources.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The OSI and TCP/IP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Networks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3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0450"/>
                <a:gridCol w="5873513"/>
                <a:gridCol w="2610450"/>
              </a:tblGrid>
              <a:tr h="565785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OSI layer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Job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TCP/IP layer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7 Application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Services for user applications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Application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6 Presentation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Formatting, encryption, compression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Application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5 Session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Opens and manages sessions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Application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4 Transport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Reliable delivery, ports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Transport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3 Network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Logical addressing and routing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Internet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2 Data link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MAC addresses, frames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Network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1 Physical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Cables and signals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Network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Data packets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Networks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667512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1">
                <a:solidFill>
                  <a:srgbClr val="202122"/>
                </a:solidFill>
                <a:latin typeface="Calibri"/>
              </a:rPr>
              <a:t>Header:</a:t>
            </a:r>
            <a:r>
              <a:rPr sz="2400" b="0">
                <a:solidFill>
                  <a:srgbClr val="202122"/>
                </a:solidFill>
                <a:latin typeface="Calibri"/>
              </a:rPr>
              <a:t> source and destination address, packet number, protocol.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1">
                <a:solidFill>
                  <a:srgbClr val="202122"/>
                </a:solidFill>
                <a:latin typeface="Calibri"/>
              </a:rPr>
              <a:t>Payload:</a:t>
            </a:r>
            <a:r>
              <a:rPr sz="2400" b="0">
                <a:solidFill>
                  <a:srgbClr val="202122"/>
                </a:solidFill>
                <a:latin typeface="Calibri"/>
              </a:rPr>
              <a:t> the actual data being sent.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1">
                <a:solidFill>
                  <a:srgbClr val="202122"/>
                </a:solidFill>
                <a:latin typeface="Calibri"/>
              </a:rPr>
              <a:t>Trailer:</a:t>
            </a:r>
            <a:r>
              <a:rPr sz="2400" b="0">
                <a:solidFill>
                  <a:srgbClr val="202122"/>
                </a:solidFill>
                <a:latin typeface="Calibri"/>
              </a:rPr>
              <a:t> error checking data, such as a CRC.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1">
                <a:solidFill>
                  <a:srgbClr val="202122"/>
                </a:solidFill>
                <a:latin typeface="Calibri"/>
              </a:rPr>
              <a:t>Packet switching:</a:t>
            </a:r>
            <a:r>
              <a:rPr sz="2400" b="0">
                <a:solidFill>
                  <a:srgbClr val="202122"/>
                </a:solidFill>
                <a:latin typeface="Calibri"/>
              </a:rPr>
              <a:t> packets take different routes and are reassembled in order.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1">
                <a:solidFill>
                  <a:srgbClr val="202122"/>
                </a:solidFill>
                <a:latin typeface="Calibri"/>
              </a:rPr>
              <a:t>Packet loss:</a:t>
            </a:r>
            <a:r>
              <a:rPr sz="2400" b="0">
                <a:solidFill>
                  <a:srgbClr val="202122"/>
                </a:solidFill>
                <a:latin typeface="Calibri"/>
              </a:rPr>
              <a:t> congestion, faulty hardware or interference.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600200"/>
            <a:ext cx="3867912" cy="443484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74519"/>
            <a:ext cx="548640" cy="5486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6060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KEY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3017520"/>
            <a:ext cx="3291840" cy="2926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FFFFFF"/>
                </a:solidFill>
                <a:latin typeface="Cambria"/>
              </a:rPr>
              <a:t>A cyclic redundancy check (CRC) lets the receiver detect packets damaged on the way. Damaged packets are requested again.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Common protocols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Networks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4" cy="3977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4077"/>
                <a:gridCol w="3354125"/>
                <a:gridCol w="5676212"/>
              </a:tblGrid>
              <a:tr h="6629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Protocols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Web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HTTP, HTTPS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Transfer web pages; HTTPS encrypts them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Mail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SMTP, POP, IMAP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Send mail; download it; or keep it on the server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Routing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RIP, OSPF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Routers share routes with each other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Application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FTP, SFTP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Transfer files; SFTP securely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Application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DHCP, DNS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Assign IP addresses; turn names into IP addresses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Bandwidth is how much data can be sent at once; latency is the delay. Both affect performance.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Networks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network type covers a single building?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OSI layer handles routing?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a CRC used for?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protocol turns a domain name into an IP address?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the difference between bandwidth and latency?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Networks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9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network type covers a single building?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LAN.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OSI layer handles routing?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Layer 3, the network layer.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a CRC used for?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Detecting errors in transmitted packets.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protocol turns a domain name into an IP address?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DNS.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the difference between bandwidth and latency?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Bandwidth is capacity; latency is delay.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Follow the packet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Networks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202122"/>
                </a:solidFill>
                <a:latin typeface="Calibri"/>
              </a:rPr>
              <a:t>20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Groups of seven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Each student is one OSI layer.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Pass a 'message' down the layers on the sending side, each adding its own header note.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Pass it up the layers on the receiving side, each removing its header.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Discuss which layer would notice each of these faults: unplugged cable, wrong IP, blocked port.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Layers are in the right order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Each layer's job is described correctly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Faults matched to the right layer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is a star topology popular in offices?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Which layer do switches work at?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Name the protocol you would use to send an email.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Core Paper 2: Legislation, Business, Emerging Issues, Environments and Security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https://lana6478.github.io/Digital-Suport-and-security-T-levle/#/01-core-component/02-core-paper-2.md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Networks</dc:title>
  <dc:subject>Digital Support and Security T Level: Core Paper 2</dc:subject>
  <dc:creator>Samuel O'Connell</dc:creator>
  <cp:keywords>T Level; Digital Support and Security; lesson slides; 7.3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