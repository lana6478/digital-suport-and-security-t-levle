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Local area network.</a:t>
            </a:r>
          </a:p>
          <a:p>
            <a:r>
              <a:t>2. E.g. equipment cost, malware can spread.</a:t>
            </a:r>
          </a:p>
          <a:p>
            <a:r>
              <a:t>3.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Components: servers, clients, routers, switches and the internet connection or backbone. Connectivity can be wired (copper, fibre) or wireless (access 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One cable fault only affects one device, and it's easy to manage.</a:t>
            </a:r>
          </a:p>
          <a:p>
            <a:r>
              <a:t>2. A device that relies on a server for processing.</a:t>
            </a:r>
          </a:p>
          <a:p>
            <a:r>
              <a:t>3. Physical is the cable layout; logical is how data flows.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Seven.</a:t>
            </a:r>
          </a:p>
          <a:p>
            <a:r>
              <a:t>2. Layer 3, the network layer.</a:t>
            </a:r>
          </a:p>
          <a:p>
            <a:r>
              <a:t>3. The internet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Source and destination addresses, packet number and protocol.</a:t>
            </a:r>
          </a:p>
          <a:p>
            <a:r>
              <a:t>2. Detecting damaged packets.</a:t>
            </a:r>
          </a:p>
          <a:p>
            <a:r>
              <a:t>3. Using their packet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DHCP.</a:t>
            </a:r>
          </a:p>
          <a:p>
            <a:r>
              <a:t>2. POP downloads mail to one device; IMAP keeps it on the server and syncs.</a:t>
            </a:r>
          </a:p>
          <a:p>
            <a:r>
              <a:t>3. HTTPS.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Networks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7.3</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Compare network types, topologies and models.</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the layers of the OSI and TCP/IP models.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packet structure, packet switching and error checking.</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Match common protocols to their purpose and explain bandwidth and latency.</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When you load a web page, how many different devices do you think your request passes through?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network, and at what scale?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Networking devices lets them share files, printers and internet access, and lets IT staff manage and back up everything centrally. The downsides are the cost of equipment and expertise, and that malware and faults can spread between devices.</a:t>
            </a:r>
          </a:p>
          <a:p>
            <a:pPr>
              <a:spcAft>
                <a:spcPts val="1320"/>
              </a:spcAft>
            </a:pPr>
            <a:r>
              <a:rPr sz="2200" b="0">
                <a:solidFill>
                  <a:srgbClr val="202122"/>
                </a:solidFill>
                <a:latin typeface="Calibri"/>
              </a:rPr>
              <a:t>Networks are described by their size. A PAN (personal area network) links devices around one person, such as Bluetooth headphones. A LAN covers one building or site. A MAN covers a town or city. A WAN covers countries; the internet is the largest WAN.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Your phone and smartwatch form a PAN; your school's network is a LAN; a university linking campuses across a city uses a 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network, and at what scale?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Benefits and drawbacks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Share files, printers and internet access</a:t>
            </a:r>
          </a:p>
          <a:p>
            <a:pPr marL="274320" indent="-274320">
              <a:spcAft>
                <a:spcPts val="990"/>
              </a:spcAft>
              <a:buClr>
                <a:srgbClr val="0645AD"/>
              </a:buClr>
              <a:buFont typeface="Arial"/>
              <a:buChar char="•"/>
            </a:pPr>
            <a:r>
              <a:rPr sz="2200" b="0">
                <a:solidFill>
                  <a:srgbClr val="202122"/>
                </a:solidFill>
                <a:latin typeface="Calibri"/>
              </a:rPr>
              <a:t>Central management and backups</a:t>
            </a:r>
          </a:p>
          <a:p>
            <a:pPr marL="274320" indent="-274320">
              <a:spcAft>
                <a:spcPts val="990"/>
              </a:spcAft>
              <a:buClr>
                <a:srgbClr val="0645AD"/>
              </a:buClr>
              <a:buFont typeface="Arial"/>
              <a:buChar char="•"/>
            </a:pPr>
            <a:r>
              <a:rPr sz="2200" b="1">
                <a:solidFill>
                  <a:srgbClr val="202122"/>
                </a:solidFill>
                <a:latin typeface="Calibri"/>
              </a:rPr>
              <a:t>But:</a:t>
            </a:r>
            <a:r>
              <a:rPr sz="2200" b="0">
                <a:solidFill>
                  <a:srgbClr val="202122"/>
                </a:solidFill>
                <a:latin typeface="Calibri"/>
              </a:rPr>
              <a:t> cost of equipment and expertise</a:t>
            </a:r>
          </a:p>
          <a:p>
            <a:pPr marL="274320" indent="-274320">
              <a:spcAft>
                <a:spcPts val="990"/>
              </a:spcAft>
              <a:buClr>
                <a:srgbClr val="0645AD"/>
              </a:buClr>
              <a:buFont typeface="Arial"/>
              <a:buChar char="•"/>
            </a:pPr>
            <a:r>
              <a:rPr sz="2200" b="1">
                <a:solidFill>
                  <a:srgbClr val="202122"/>
                </a:solidFill>
                <a:latin typeface="Calibri"/>
              </a:rPr>
              <a:t>But:</a:t>
            </a:r>
            <a:r>
              <a:rPr sz="2200" b="0">
                <a:solidFill>
                  <a:srgbClr val="202122"/>
                </a:solidFill>
                <a:latin typeface="Calibri"/>
              </a:rPr>
              <a:t> malware and faults can spread</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Network types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PAN:</a:t>
            </a:r>
            <a:r>
              <a:rPr sz="2200" b="0">
                <a:solidFill>
                  <a:srgbClr val="202122"/>
                </a:solidFill>
                <a:latin typeface="Calibri"/>
              </a:rPr>
              <a:t> personal area, e.g. Bluetooth</a:t>
            </a:r>
          </a:p>
          <a:p>
            <a:pPr marL="274320" indent="-274320">
              <a:spcAft>
                <a:spcPts val="990"/>
              </a:spcAft>
              <a:buClr>
                <a:srgbClr val="0645AD"/>
              </a:buClr>
              <a:buFont typeface="Arial"/>
              <a:buChar char="•"/>
            </a:pPr>
            <a:r>
              <a:rPr sz="2200" b="1">
                <a:solidFill>
                  <a:srgbClr val="202122"/>
                </a:solidFill>
                <a:latin typeface="Calibri"/>
              </a:rPr>
              <a:t>LAN:</a:t>
            </a:r>
            <a:r>
              <a:rPr sz="2200" b="0">
                <a:solidFill>
                  <a:srgbClr val="202122"/>
                </a:solidFill>
                <a:latin typeface="Calibri"/>
              </a:rPr>
              <a:t> one building or site</a:t>
            </a:r>
          </a:p>
          <a:p>
            <a:pPr marL="274320" indent="-274320">
              <a:spcAft>
                <a:spcPts val="990"/>
              </a:spcAft>
              <a:buClr>
                <a:srgbClr val="0645AD"/>
              </a:buClr>
              <a:buFont typeface="Arial"/>
              <a:buChar char="•"/>
            </a:pPr>
            <a:r>
              <a:rPr sz="2200" b="1">
                <a:solidFill>
                  <a:srgbClr val="202122"/>
                </a:solidFill>
                <a:latin typeface="Calibri"/>
              </a:rPr>
              <a:t>MAN:</a:t>
            </a:r>
            <a:r>
              <a:rPr sz="2200" b="0">
                <a:solidFill>
                  <a:srgbClr val="202122"/>
                </a:solidFill>
                <a:latin typeface="Calibri"/>
              </a:rPr>
              <a:t> across a town or city</a:t>
            </a:r>
          </a:p>
          <a:p>
            <a:pPr marL="274320" indent="-274320">
              <a:spcAft>
                <a:spcPts val="990"/>
              </a:spcAft>
              <a:buClr>
                <a:srgbClr val="0645AD"/>
              </a:buClr>
              <a:buFont typeface="Arial"/>
              <a:buChar char="•"/>
            </a:pPr>
            <a:r>
              <a:rPr sz="2200" b="1">
                <a:solidFill>
                  <a:srgbClr val="202122"/>
                </a:solidFill>
                <a:latin typeface="Calibri"/>
              </a:rPr>
              <a:t>WAN:</a:t>
            </a:r>
            <a:r>
              <a:rPr sz="2200" b="0">
                <a:solidFill>
                  <a:srgbClr val="202122"/>
                </a:solidFill>
                <a:latin typeface="Calibri"/>
              </a:rPr>
              <a:t> across countries, e.g. the internet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Why network, and at what scale?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LAN stand for?</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one drawback of networking.</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the largest WAN?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Topologies and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A topology is the layout of a network. In a star, every device connects to a central switch, so one cable fault only affects one device; it's the standard in offices. A mesh connects devices to many others, so traffic can reroute around failures, but it's expensive. A tree links several stars in a hierarchy.</a:t>
            </a:r>
          </a:p>
          <a:p>
            <a:pPr>
              <a:spcAft>
                <a:spcPts val="1260"/>
              </a:spcAft>
            </a:pPr>
            <a:r>
              <a:rPr sz="2100" b="0">
                <a:solidFill>
                  <a:srgbClr val="202122"/>
                </a:solidFill>
                <a:latin typeface="Calibri"/>
              </a:rPr>
              <a:t>The physical topology is how cables are laid out; the logical topology is how data actually flows.</a:t>
            </a:r>
          </a:p>
          <a:p>
            <a:pPr>
              <a:spcAft>
                <a:spcPts val="1260"/>
              </a:spcAft>
            </a:pPr>
            <a:r>
              <a:rPr sz="2100" b="0">
                <a:solidFill>
                  <a:srgbClr val="202122"/>
                </a:solidFill>
                <a:latin typeface="Calibri"/>
              </a:rPr>
              <a:t>In a client-server model, servers provide services to clients. Thin clients rely on the server to do the processing. In peer-to-peer, every device is equal and shares resources directly.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office uses a star topology: every PC plugs into a switch in the comms cabinet, and the file server provides shared drives to clients.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Topologies and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Star</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1800" b="0" i="0">
                <a:solidFill>
                  <a:srgbClr val="202122"/>
                </a:solidFill>
                <a:latin typeface="Calibri"/>
              </a:rPr>
              <a:t>Every device connects to a central switch. One cable fault affects one device.</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Mesh</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Devices connect to many others. Very resilient, but costly.</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Tree</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Stars connected in a hierarchy.</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Logical vs physical</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How data flows versus how cables are laid out.</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600" b="1" i="0">
                <a:solidFill>
                  <a:srgbClr val="03306E"/>
                </a:solidFill>
                <a:latin typeface="Calibri"/>
              </a:rPr>
              <a:t>Client-server and thin client</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1800" b="0" i="0">
                <a:solidFill>
                  <a:srgbClr val="202122"/>
                </a:solidFill>
                <a:latin typeface="Calibri"/>
              </a:rPr>
              <a:t>Servers provide services; thin clients rely on the server to do the processing.</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Peer-to-peer</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Every device is equal and shares resources.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Topologies and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is star topology popular?</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thin client?</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physical and logical topology?</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OSI and TCP/IP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Layered models split networking into jobs, so each layer can be designed and troubleshot separately.</a:t>
            </a:r>
          </a:p>
          <a:p>
            <a:pPr>
              <a:spcAft>
                <a:spcPts val="1200"/>
              </a:spcAft>
            </a:pPr>
            <a:r>
              <a:rPr sz="2000" b="0">
                <a:solidFill>
                  <a:srgbClr val="202122"/>
                </a:solidFill>
                <a:latin typeface="Calibri"/>
              </a:rPr>
              <a:t>The OSI model has seven layers. From the top: application (services for programs), presentation (formatting and encryption), session (managing conversations), transport (reliable delivery and ports), network (logical addressing and routing), data link (frames and MAC addresses) and physical (cables and signals).</a:t>
            </a:r>
          </a:p>
          <a:p>
            <a:pPr>
              <a:spcAft>
                <a:spcPts val="1200"/>
              </a:spcAft>
            </a:pPr>
            <a:r>
              <a:rPr sz="2000" b="0">
                <a:solidFill>
                  <a:srgbClr val="202122"/>
                </a:solidFill>
                <a:latin typeface="Calibri"/>
              </a:rPr>
              <a:t>The TCP/IP model used on the internet has four: application, transport, internet and network.</a:t>
            </a:r>
          </a:p>
          <a:p>
            <a:pPr>
              <a:spcAft>
                <a:spcPts val="1200"/>
              </a:spcAft>
            </a:pPr>
            <a:r>
              <a:rPr sz="2000" b="0">
                <a:solidFill>
                  <a:srgbClr val="202122"/>
                </a:solidFill>
                <a:latin typeface="Calibri"/>
              </a:rPr>
              <a:t>When troubleshooting, work up from the physical layer.</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Can't reach a website: is the cable plugged in (physical)? Is there an IP address (network)? Does DNS resolve the name (application)?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OSI and TCP/IP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3" cy="4526280"/>
        </p:xfrm>
        <a:graphic>
          <a:graphicData uri="http://schemas.openxmlformats.org/drawingml/2006/table">
            <a:tbl>
              <a:tblPr firstRow="1" bandRow="1">
                <a:tableStyleId>{5C22544A-7EE6-4342-B048-85BDC9FD1C3A}</a:tableStyleId>
              </a:tblPr>
              <a:tblGrid>
                <a:gridCol w="2610450"/>
                <a:gridCol w="5873513"/>
                <a:gridCol w="2610450"/>
              </a:tblGrid>
              <a:tr h="565785">
                <a:tc>
                  <a:txBody>
                    <a:bodyPr wrap="square"/>
                    <a:lstStyle/>
                    <a:p>
                      <a:r>
                        <a:rPr sz="1600" b="1">
                          <a:solidFill>
                            <a:srgbClr val="FFFFFF"/>
                          </a:solidFill>
                          <a:latin typeface="Calibri"/>
                        </a:rPr>
                        <a:t>OSI layer</a:t>
                      </a:r>
                    </a:p>
                  </a:txBody>
                  <a:tcPr marL="91440" marR="91440" anchor="ctr">
                    <a:solidFill>
                      <a:srgbClr val="03306E"/>
                    </a:solidFill>
                  </a:tcPr>
                </a:tc>
                <a:tc>
                  <a:txBody>
                    <a:bodyPr wrap="square"/>
                    <a:lstStyle/>
                    <a:p>
                      <a:r>
                        <a:rPr sz="1600" b="1">
                          <a:solidFill>
                            <a:srgbClr val="FFFFFF"/>
                          </a:solidFill>
                          <a:latin typeface="Calibri"/>
                        </a:rPr>
                        <a:t>Job</a:t>
                      </a:r>
                    </a:p>
                  </a:txBody>
                  <a:tcPr marL="91440" marR="91440" anchor="ctr">
                    <a:solidFill>
                      <a:srgbClr val="03306E"/>
                    </a:solidFill>
                  </a:tcPr>
                </a:tc>
                <a:tc>
                  <a:txBody>
                    <a:bodyPr wrap="square"/>
                    <a:lstStyle/>
                    <a:p>
                      <a:r>
                        <a:rPr sz="1600" b="1">
                          <a:solidFill>
                            <a:srgbClr val="FFFFFF"/>
                          </a:solidFill>
                          <a:latin typeface="Calibri"/>
                        </a:rPr>
                        <a:t>TCP/IP layer</a:t>
                      </a:r>
                    </a:p>
                  </a:txBody>
                  <a:tcPr marL="91440" marR="91440" anchor="ctr">
                    <a:solidFill>
                      <a:srgbClr val="03306E"/>
                    </a:solidFill>
                  </a:tcPr>
                </a:tc>
              </a:tr>
              <a:tr h="565785">
                <a:tc>
                  <a:txBody>
                    <a:bodyPr wrap="square"/>
                    <a:lstStyle/>
                    <a:p>
                      <a:r>
                        <a:rPr sz="1600" b="1">
                          <a:solidFill>
                            <a:srgbClr val="03306E"/>
                          </a:solidFill>
                          <a:latin typeface="Calibri"/>
                        </a:rPr>
                        <a:t>7 Application</a:t>
                      </a:r>
                    </a:p>
                  </a:txBody>
                  <a:tcPr marL="91440" marR="91440" anchor="ctr">
                    <a:solidFill>
                      <a:srgbClr val="FFFFFF"/>
                    </a:solidFill>
                  </a:tcPr>
                </a:tc>
                <a:tc>
                  <a:txBody>
                    <a:bodyPr wrap="square"/>
                    <a:lstStyle/>
                    <a:p>
                      <a:r>
                        <a:rPr sz="1600" b="0">
                          <a:solidFill>
                            <a:srgbClr val="202122"/>
                          </a:solidFill>
                          <a:latin typeface="Calibri"/>
                        </a:rPr>
                        <a:t>Services for user applications</a:t>
                      </a:r>
                    </a:p>
                  </a:txBody>
                  <a:tcPr marL="91440" marR="91440" anchor="ctr">
                    <a:solidFill>
                      <a:srgbClr val="FFFFFF"/>
                    </a:solidFill>
                  </a:tcPr>
                </a:tc>
                <a:tc>
                  <a:txBody>
                    <a:bodyPr wrap="square"/>
                    <a:lstStyle/>
                    <a:p>
                      <a:r>
                        <a:rPr sz="1600" b="0">
                          <a:solidFill>
                            <a:srgbClr val="202122"/>
                          </a:solidFill>
                          <a:latin typeface="Calibri"/>
                        </a:rPr>
                        <a:t>Application</a:t>
                      </a:r>
                    </a:p>
                  </a:txBody>
                  <a:tcPr marL="91440" marR="91440" anchor="ctr">
                    <a:solidFill>
                      <a:srgbClr val="FFFFFF"/>
                    </a:solidFill>
                  </a:tcPr>
                </a:tc>
              </a:tr>
              <a:tr h="565785">
                <a:tc>
                  <a:txBody>
                    <a:bodyPr wrap="square"/>
                    <a:lstStyle/>
                    <a:p>
                      <a:r>
                        <a:rPr sz="1600" b="1">
                          <a:solidFill>
                            <a:srgbClr val="03306E"/>
                          </a:solidFill>
                          <a:latin typeface="Calibri"/>
                        </a:rPr>
                        <a:t>6 Presentation</a:t>
                      </a:r>
                    </a:p>
                  </a:txBody>
                  <a:tcPr marL="91440" marR="91440" anchor="ctr">
                    <a:solidFill>
                      <a:srgbClr val="EAF3FF"/>
                    </a:solidFill>
                  </a:tcPr>
                </a:tc>
                <a:tc>
                  <a:txBody>
                    <a:bodyPr wrap="square"/>
                    <a:lstStyle/>
                    <a:p>
                      <a:r>
                        <a:rPr sz="1600" b="0">
                          <a:solidFill>
                            <a:srgbClr val="202122"/>
                          </a:solidFill>
                          <a:latin typeface="Calibri"/>
                        </a:rPr>
                        <a:t>Formatting, encryption, compression</a:t>
                      </a:r>
                    </a:p>
                  </a:txBody>
                  <a:tcPr marL="91440" marR="91440" anchor="ctr">
                    <a:solidFill>
                      <a:srgbClr val="EAF3FF"/>
                    </a:solidFill>
                  </a:tcPr>
                </a:tc>
                <a:tc>
                  <a:txBody>
                    <a:bodyPr wrap="square"/>
                    <a:lstStyle/>
                    <a:p>
                      <a:r>
                        <a:rPr sz="1600" b="0">
                          <a:solidFill>
                            <a:srgbClr val="202122"/>
                          </a:solidFill>
                          <a:latin typeface="Calibri"/>
                        </a:rPr>
                        <a:t>Application</a:t>
                      </a:r>
                    </a:p>
                  </a:txBody>
                  <a:tcPr marL="91440" marR="91440" anchor="ctr">
                    <a:solidFill>
                      <a:srgbClr val="EAF3FF"/>
                    </a:solidFill>
                  </a:tcPr>
                </a:tc>
              </a:tr>
              <a:tr h="565785">
                <a:tc>
                  <a:txBody>
                    <a:bodyPr wrap="square"/>
                    <a:lstStyle/>
                    <a:p>
                      <a:r>
                        <a:rPr sz="1600" b="1">
                          <a:solidFill>
                            <a:srgbClr val="03306E"/>
                          </a:solidFill>
                          <a:latin typeface="Calibri"/>
                        </a:rPr>
                        <a:t>5 Session</a:t>
                      </a:r>
                    </a:p>
                  </a:txBody>
                  <a:tcPr marL="91440" marR="91440" anchor="ctr">
                    <a:solidFill>
                      <a:srgbClr val="FFFFFF"/>
                    </a:solidFill>
                  </a:tcPr>
                </a:tc>
                <a:tc>
                  <a:txBody>
                    <a:bodyPr wrap="square"/>
                    <a:lstStyle/>
                    <a:p>
                      <a:r>
                        <a:rPr sz="1600" b="0">
                          <a:solidFill>
                            <a:srgbClr val="202122"/>
                          </a:solidFill>
                          <a:latin typeface="Calibri"/>
                        </a:rPr>
                        <a:t>Opens and manages sessions</a:t>
                      </a:r>
                    </a:p>
                  </a:txBody>
                  <a:tcPr marL="91440" marR="91440" anchor="ctr">
                    <a:solidFill>
                      <a:srgbClr val="FFFFFF"/>
                    </a:solidFill>
                  </a:tcPr>
                </a:tc>
                <a:tc>
                  <a:txBody>
                    <a:bodyPr wrap="square"/>
                    <a:lstStyle/>
                    <a:p>
                      <a:r>
                        <a:rPr sz="1600" b="0">
                          <a:solidFill>
                            <a:srgbClr val="202122"/>
                          </a:solidFill>
                          <a:latin typeface="Calibri"/>
                        </a:rPr>
                        <a:t>Application</a:t>
                      </a:r>
                    </a:p>
                  </a:txBody>
                  <a:tcPr marL="91440" marR="91440" anchor="ctr">
                    <a:solidFill>
                      <a:srgbClr val="FFFFFF"/>
                    </a:solidFill>
                  </a:tcPr>
                </a:tc>
              </a:tr>
              <a:tr h="565785">
                <a:tc>
                  <a:txBody>
                    <a:bodyPr wrap="square"/>
                    <a:lstStyle/>
                    <a:p>
                      <a:r>
                        <a:rPr sz="1600" b="1">
                          <a:solidFill>
                            <a:srgbClr val="03306E"/>
                          </a:solidFill>
                          <a:latin typeface="Calibri"/>
                        </a:rPr>
                        <a:t>4 Transport</a:t>
                      </a:r>
                    </a:p>
                  </a:txBody>
                  <a:tcPr marL="91440" marR="91440" anchor="ctr">
                    <a:solidFill>
                      <a:srgbClr val="EAF3FF"/>
                    </a:solidFill>
                  </a:tcPr>
                </a:tc>
                <a:tc>
                  <a:txBody>
                    <a:bodyPr wrap="square"/>
                    <a:lstStyle/>
                    <a:p>
                      <a:r>
                        <a:rPr sz="1600" b="0">
                          <a:solidFill>
                            <a:srgbClr val="202122"/>
                          </a:solidFill>
                          <a:latin typeface="Calibri"/>
                        </a:rPr>
                        <a:t>Reliable delivery, ports</a:t>
                      </a:r>
                    </a:p>
                  </a:txBody>
                  <a:tcPr marL="91440" marR="91440" anchor="ctr">
                    <a:solidFill>
                      <a:srgbClr val="EAF3FF"/>
                    </a:solidFill>
                  </a:tcPr>
                </a:tc>
                <a:tc>
                  <a:txBody>
                    <a:bodyPr wrap="square"/>
                    <a:lstStyle/>
                    <a:p>
                      <a:r>
                        <a:rPr sz="1600" b="0">
                          <a:solidFill>
                            <a:srgbClr val="202122"/>
                          </a:solidFill>
                          <a:latin typeface="Calibri"/>
                        </a:rPr>
                        <a:t>Transport</a:t>
                      </a:r>
                    </a:p>
                  </a:txBody>
                  <a:tcPr marL="91440" marR="91440" anchor="ctr">
                    <a:solidFill>
                      <a:srgbClr val="EAF3FF"/>
                    </a:solidFill>
                  </a:tcPr>
                </a:tc>
              </a:tr>
              <a:tr h="565785">
                <a:tc>
                  <a:txBody>
                    <a:bodyPr wrap="square"/>
                    <a:lstStyle/>
                    <a:p>
                      <a:r>
                        <a:rPr sz="1600" b="1">
                          <a:solidFill>
                            <a:srgbClr val="03306E"/>
                          </a:solidFill>
                          <a:latin typeface="Calibri"/>
                        </a:rPr>
                        <a:t>3 Network</a:t>
                      </a:r>
                    </a:p>
                  </a:txBody>
                  <a:tcPr marL="91440" marR="91440" anchor="ctr">
                    <a:solidFill>
                      <a:srgbClr val="FFFFFF"/>
                    </a:solidFill>
                  </a:tcPr>
                </a:tc>
                <a:tc>
                  <a:txBody>
                    <a:bodyPr wrap="square"/>
                    <a:lstStyle/>
                    <a:p>
                      <a:r>
                        <a:rPr sz="1600" b="0">
                          <a:solidFill>
                            <a:srgbClr val="202122"/>
                          </a:solidFill>
                          <a:latin typeface="Calibri"/>
                        </a:rPr>
                        <a:t>Logical addressing and routing</a:t>
                      </a:r>
                    </a:p>
                  </a:txBody>
                  <a:tcPr marL="91440" marR="91440" anchor="ctr">
                    <a:solidFill>
                      <a:srgbClr val="FFFFFF"/>
                    </a:solidFill>
                  </a:tcPr>
                </a:tc>
                <a:tc>
                  <a:txBody>
                    <a:bodyPr wrap="square"/>
                    <a:lstStyle/>
                    <a:p>
                      <a:r>
                        <a:rPr sz="1600" b="0">
                          <a:solidFill>
                            <a:srgbClr val="202122"/>
                          </a:solidFill>
                          <a:latin typeface="Calibri"/>
                        </a:rPr>
                        <a:t>Internet</a:t>
                      </a:r>
                    </a:p>
                  </a:txBody>
                  <a:tcPr marL="91440" marR="91440" anchor="ctr">
                    <a:solidFill>
                      <a:srgbClr val="FFFFFF"/>
                    </a:solidFill>
                  </a:tcPr>
                </a:tc>
              </a:tr>
              <a:tr h="565785">
                <a:tc>
                  <a:txBody>
                    <a:bodyPr wrap="square"/>
                    <a:lstStyle/>
                    <a:p>
                      <a:r>
                        <a:rPr sz="1600" b="1">
                          <a:solidFill>
                            <a:srgbClr val="03306E"/>
                          </a:solidFill>
                          <a:latin typeface="Calibri"/>
                        </a:rPr>
                        <a:t>2 Data link</a:t>
                      </a:r>
                    </a:p>
                  </a:txBody>
                  <a:tcPr marL="91440" marR="91440" anchor="ctr">
                    <a:solidFill>
                      <a:srgbClr val="EAF3FF"/>
                    </a:solidFill>
                  </a:tcPr>
                </a:tc>
                <a:tc>
                  <a:txBody>
                    <a:bodyPr wrap="square"/>
                    <a:lstStyle/>
                    <a:p>
                      <a:r>
                        <a:rPr sz="1600" b="0">
                          <a:solidFill>
                            <a:srgbClr val="202122"/>
                          </a:solidFill>
                          <a:latin typeface="Calibri"/>
                        </a:rPr>
                        <a:t>MAC addresses, frames</a:t>
                      </a:r>
                    </a:p>
                  </a:txBody>
                  <a:tcPr marL="91440" marR="91440" anchor="ctr">
                    <a:solidFill>
                      <a:srgbClr val="EAF3FF"/>
                    </a:solidFill>
                  </a:tcPr>
                </a:tc>
                <a:tc>
                  <a:txBody>
                    <a:bodyPr wrap="square"/>
                    <a:lstStyle/>
                    <a:p>
                      <a:r>
                        <a:rPr sz="1600" b="0">
                          <a:solidFill>
                            <a:srgbClr val="202122"/>
                          </a:solidFill>
                          <a:latin typeface="Calibri"/>
                        </a:rPr>
                        <a:t>Network</a:t>
                      </a:r>
                    </a:p>
                  </a:txBody>
                  <a:tcPr marL="91440" marR="91440" anchor="ctr">
                    <a:solidFill>
                      <a:srgbClr val="EAF3FF"/>
                    </a:solidFill>
                  </a:tcPr>
                </a:tc>
              </a:tr>
              <a:tr h="565785">
                <a:tc>
                  <a:txBody>
                    <a:bodyPr wrap="square"/>
                    <a:lstStyle/>
                    <a:p>
                      <a:r>
                        <a:rPr sz="1600" b="1">
                          <a:solidFill>
                            <a:srgbClr val="03306E"/>
                          </a:solidFill>
                          <a:latin typeface="Calibri"/>
                        </a:rPr>
                        <a:t>1 Physical</a:t>
                      </a:r>
                    </a:p>
                  </a:txBody>
                  <a:tcPr marL="91440" marR="91440" anchor="ctr">
                    <a:solidFill>
                      <a:srgbClr val="FFFFFF"/>
                    </a:solidFill>
                  </a:tcPr>
                </a:tc>
                <a:tc>
                  <a:txBody>
                    <a:bodyPr wrap="square"/>
                    <a:lstStyle/>
                    <a:p>
                      <a:r>
                        <a:rPr sz="1600" b="0">
                          <a:solidFill>
                            <a:srgbClr val="202122"/>
                          </a:solidFill>
                          <a:latin typeface="Calibri"/>
                        </a:rPr>
                        <a:t>Cables and signals</a:t>
                      </a:r>
                    </a:p>
                  </a:txBody>
                  <a:tcPr marL="91440" marR="91440" anchor="ctr">
                    <a:solidFill>
                      <a:srgbClr val="FFFFFF"/>
                    </a:solidFill>
                  </a:tcPr>
                </a:tc>
                <a:tc>
                  <a:txBody>
                    <a:bodyPr wrap="square"/>
                    <a:lstStyle/>
                    <a:p>
                      <a:r>
                        <a:rPr sz="1600" b="0">
                          <a:solidFill>
                            <a:srgbClr val="202122"/>
                          </a:solidFill>
                          <a:latin typeface="Calibri"/>
                        </a:rPr>
                        <a:t>Network</a:t>
                      </a:r>
                    </a:p>
                  </a:txBody>
                  <a:tcPr marL="91440" marR="9144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OSI and TCP/IP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How many layers does the OSI model have?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OSI layer handles routing?</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TCP/IP layer matches OSI's network layer?</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packets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Data sent across a network is split into packets.</a:t>
            </a:r>
          </a:p>
          <a:p>
            <a:pPr>
              <a:spcAft>
                <a:spcPts val="1200"/>
              </a:spcAft>
            </a:pPr>
            <a:r>
              <a:rPr sz="2000" b="0">
                <a:solidFill>
                  <a:srgbClr val="202122"/>
                </a:solidFill>
                <a:latin typeface="Calibri"/>
              </a:rPr>
              <a:t>Each packet has a header (source and destination addresses, packet number and protocol), a payload (the actual data) and a trailer with error-checking data.</a:t>
            </a:r>
          </a:p>
          <a:p>
            <a:pPr>
              <a:spcAft>
                <a:spcPts val="1200"/>
              </a:spcAft>
            </a:pPr>
            <a:r>
              <a:rPr sz="2000" b="0">
                <a:solidFill>
                  <a:srgbClr val="202122"/>
                </a:solidFill>
                <a:latin typeface="Calibri"/>
              </a:rPr>
              <a:t>In packet switching, packets can take different routes and are reassembled in order using their numbers.</a:t>
            </a:r>
          </a:p>
          <a:p>
            <a:pPr>
              <a:spcAft>
                <a:spcPts val="1200"/>
              </a:spcAft>
            </a:pPr>
            <a:r>
              <a:rPr sz="2000" b="0">
                <a:solidFill>
                  <a:srgbClr val="202122"/>
                </a:solidFill>
                <a:latin typeface="Calibri"/>
              </a:rPr>
              <a:t>Packets can be lost through congestion, faulty hardware or interference. A cyclic redundancy check (CRC) lets the receiver spot a damaged packet and ask for it again.</a:t>
            </a:r>
          </a:p>
          <a:p>
            <a:pPr>
              <a:spcAft>
                <a:spcPts val="1200"/>
              </a:spcAft>
            </a:pPr>
            <a:r>
              <a:rPr sz="2000" b="0">
                <a:solidFill>
                  <a:srgbClr val="202122"/>
                </a:solidFill>
                <a:latin typeface="Calibri"/>
              </a:rPr>
              <a:t>Bandwidth is how much data can flow; latency is the delay.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5 MB photo is split into thousands of packets. Some travel via London and some via Manchester, but your device reassembles them in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packets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1">
                <a:solidFill>
                  <a:srgbClr val="202122"/>
                </a:solidFill>
                <a:latin typeface="Calibri"/>
              </a:rPr>
              <a:t>Header:</a:t>
            </a:r>
            <a:r>
              <a:rPr sz="2400" b="0">
                <a:solidFill>
                  <a:srgbClr val="202122"/>
                </a:solidFill>
                <a:latin typeface="Calibri"/>
              </a:rPr>
              <a:t> source and destination address, packet number, protocol.</a:t>
            </a:r>
          </a:p>
          <a:p>
            <a:pPr marL="274320" indent="-274320">
              <a:spcAft>
                <a:spcPts val="1080"/>
              </a:spcAft>
              <a:buClr>
                <a:srgbClr val="0645AD"/>
              </a:buClr>
              <a:buFont typeface="Arial"/>
              <a:buChar char="•"/>
            </a:pPr>
            <a:r>
              <a:rPr sz="2400" b="1">
                <a:solidFill>
                  <a:srgbClr val="202122"/>
                </a:solidFill>
                <a:latin typeface="Calibri"/>
              </a:rPr>
              <a:t>Payload:</a:t>
            </a:r>
            <a:r>
              <a:rPr sz="2400" b="0">
                <a:solidFill>
                  <a:srgbClr val="202122"/>
                </a:solidFill>
                <a:latin typeface="Calibri"/>
              </a:rPr>
              <a:t> the actual data being sent.</a:t>
            </a:r>
          </a:p>
          <a:p>
            <a:pPr marL="274320" indent="-274320">
              <a:spcAft>
                <a:spcPts val="1080"/>
              </a:spcAft>
              <a:buClr>
                <a:srgbClr val="0645AD"/>
              </a:buClr>
              <a:buFont typeface="Arial"/>
              <a:buChar char="•"/>
            </a:pPr>
            <a:r>
              <a:rPr sz="2400" b="1">
                <a:solidFill>
                  <a:srgbClr val="202122"/>
                </a:solidFill>
                <a:latin typeface="Calibri"/>
              </a:rPr>
              <a:t>Trailer:</a:t>
            </a:r>
            <a:r>
              <a:rPr sz="2400" b="0">
                <a:solidFill>
                  <a:srgbClr val="202122"/>
                </a:solidFill>
                <a:latin typeface="Calibri"/>
              </a:rPr>
              <a:t> error checking data, such as a CRC.</a:t>
            </a:r>
          </a:p>
          <a:p>
            <a:pPr marL="274320" indent="-274320">
              <a:spcAft>
                <a:spcPts val="1080"/>
              </a:spcAft>
              <a:buClr>
                <a:srgbClr val="0645AD"/>
              </a:buClr>
              <a:buFont typeface="Arial"/>
              <a:buChar char="•"/>
            </a:pPr>
            <a:r>
              <a:rPr sz="2400" b="1">
                <a:solidFill>
                  <a:srgbClr val="202122"/>
                </a:solidFill>
                <a:latin typeface="Calibri"/>
              </a:rPr>
              <a:t>Packet switching:</a:t>
            </a:r>
            <a:r>
              <a:rPr sz="2400" b="0">
                <a:solidFill>
                  <a:srgbClr val="202122"/>
                </a:solidFill>
                <a:latin typeface="Calibri"/>
              </a:rPr>
              <a:t> packets take different routes and are reassembled in order.</a:t>
            </a:r>
          </a:p>
          <a:p>
            <a:pPr marL="274320" indent="-274320">
              <a:spcAft>
                <a:spcPts val="1080"/>
              </a:spcAft>
              <a:buClr>
                <a:srgbClr val="0645AD"/>
              </a:buClr>
              <a:buFont typeface="Arial"/>
              <a:buChar char="•"/>
            </a:pPr>
            <a:r>
              <a:rPr sz="2400" b="1">
                <a:solidFill>
                  <a:srgbClr val="202122"/>
                </a:solidFill>
                <a:latin typeface="Calibri"/>
              </a:rPr>
              <a:t>Packet loss:</a:t>
            </a:r>
            <a:r>
              <a:rPr sz="2400" b="0">
                <a:solidFill>
                  <a:srgbClr val="202122"/>
                </a:solidFill>
                <a:latin typeface="Calibri"/>
              </a:rPr>
              <a:t> congestion, faulty hardware or interference.</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A cyclic redundancy check (CRC) lets the receiver detect packets damaged on the way. Damaged packets are requested again.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packets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a packet header contain?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CRC used for?</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are packets put back in order?</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Common protocols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Protocols are agreed rules for communication.</a:t>
            </a:r>
          </a:p>
          <a:p>
            <a:pPr>
              <a:spcAft>
                <a:spcPts val="1320"/>
              </a:spcAft>
            </a:pPr>
            <a:r>
              <a:rPr sz="2200" b="0">
                <a:solidFill>
                  <a:srgbClr val="202122"/>
                </a:solidFill>
                <a:latin typeface="Calibri"/>
              </a:rPr>
              <a:t>HTTP transfers web pages; HTTPS does the same but encrypted. SMTP sends email; POP downloads it to one device; IMAP keeps it on the server so it syncs across devices.</a:t>
            </a:r>
          </a:p>
          <a:p>
            <a:pPr>
              <a:spcAft>
                <a:spcPts val="1320"/>
              </a:spcAft>
            </a:pPr>
            <a:r>
              <a:rPr sz="2200" b="0">
                <a:solidFill>
                  <a:srgbClr val="202122"/>
                </a:solidFill>
                <a:latin typeface="Calibri"/>
              </a:rPr>
              <a:t>RIP and OSPF are routing protocols that let routers share routes.</a:t>
            </a:r>
          </a:p>
          <a:p>
            <a:pPr>
              <a:spcAft>
                <a:spcPts val="1320"/>
              </a:spcAft>
            </a:pPr>
            <a:r>
              <a:rPr sz="2200" b="0">
                <a:solidFill>
                  <a:srgbClr val="202122"/>
                </a:solidFill>
                <a:latin typeface="Calibri"/>
              </a:rPr>
              <a:t>FTP transfers files; SFTP does so securely. DHCP automatically gives devices an IP address. DNS turns names like bbc.co.uk into IP addresses.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Opening a web page uses DHCP (to get an address), DNS (to find the server), and HTTPS (to fetch the page securely).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Common protocols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graphicFrame>
        <p:nvGraphicFramePr>
          <p:cNvPr id="6" name="Table 5"/>
          <p:cNvGraphicFramePr>
            <a:graphicFrameLocks noGrp="1"/>
          </p:cNvGraphicFramePr>
          <p:nvPr/>
        </p:nvGraphicFramePr>
        <p:xfrm>
          <a:off x="548640" y="1600200"/>
          <a:ext cx="11094414" cy="3977640"/>
        </p:xfrm>
        <a:graphic>
          <a:graphicData uri="http://schemas.openxmlformats.org/drawingml/2006/table">
            <a:tbl>
              <a:tblPr firstRow="1" bandRow="1">
                <a:tableStyleId>{5C22544A-7EE6-4342-B048-85BDC9FD1C3A}</a:tableStyleId>
              </a:tblPr>
              <a:tblGrid>
                <a:gridCol w="2064077"/>
                <a:gridCol w="3354125"/>
                <a:gridCol w="5676212"/>
              </a:tblGrid>
              <a:tr h="662940">
                <a:tc>
                  <a:txBody>
                    <a:bodyPr wrap="square"/>
                    <a:lstStyle/>
                    <a:p>
                      <a:r>
                        <a:rPr sz="1600" b="1">
                          <a:solidFill>
                            <a:srgbClr val="FFFFFF"/>
                          </a:solidFill>
                          <a:latin typeface="Calibri"/>
                        </a:rPr>
                        <a:t>Group</a:t>
                      </a:r>
                    </a:p>
                  </a:txBody>
                  <a:tcPr marL="91440" marR="91440" anchor="ctr">
                    <a:solidFill>
                      <a:srgbClr val="03306E"/>
                    </a:solidFill>
                  </a:tcPr>
                </a:tc>
                <a:tc>
                  <a:txBody>
                    <a:bodyPr wrap="square"/>
                    <a:lstStyle/>
                    <a:p>
                      <a:r>
                        <a:rPr sz="1600" b="1">
                          <a:solidFill>
                            <a:srgbClr val="FFFFFF"/>
                          </a:solidFill>
                          <a:latin typeface="Calibri"/>
                        </a:rPr>
                        <a:t>Protocols</a:t>
                      </a:r>
                    </a:p>
                  </a:txBody>
                  <a:tcPr marL="91440" marR="91440" anchor="ctr">
                    <a:solidFill>
                      <a:srgbClr val="03306E"/>
                    </a:solidFill>
                  </a:tcPr>
                </a:tc>
                <a:tc>
                  <a:txBody>
                    <a:bodyPr wrap="square"/>
                    <a:lstStyle/>
                    <a:p>
                      <a:r>
                        <a:rPr sz="1600" b="1">
                          <a:solidFill>
                            <a:srgbClr val="FFFFFF"/>
                          </a:solidFill>
                          <a:latin typeface="Calibri"/>
                        </a:rPr>
                        <a:t>Purpose</a:t>
                      </a:r>
                    </a:p>
                  </a:txBody>
                  <a:tcPr marL="91440" marR="91440" anchor="ctr">
                    <a:solidFill>
                      <a:srgbClr val="03306E"/>
                    </a:solidFill>
                  </a:tcPr>
                </a:tc>
              </a:tr>
              <a:tr h="662940">
                <a:tc>
                  <a:txBody>
                    <a:bodyPr wrap="square"/>
                    <a:lstStyle/>
                    <a:p>
                      <a:r>
                        <a:rPr sz="1600" b="1">
                          <a:solidFill>
                            <a:srgbClr val="03306E"/>
                          </a:solidFill>
                          <a:latin typeface="Calibri"/>
                        </a:rPr>
                        <a:t>Web</a:t>
                      </a:r>
                    </a:p>
                  </a:txBody>
                  <a:tcPr marL="91440" marR="91440" anchor="ctr">
                    <a:solidFill>
                      <a:srgbClr val="FFFFFF"/>
                    </a:solidFill>
                  </a:tcPr>
                </a:tc>
                <a:tc>
                  <a:txBody>
                    <a:bodyPr wrap="square"/>
                    <a:lstStyle/>
                    <a:p>
                      <a:r>
                        <a:rPr sz="1600" b="0">
                          <a:solidFill>
                            <a:srgbClr val="202122"/>
                          </a:solidFill>
                          <a:latin typeface="Calibri"/>
                        </a:rPr>
                        <a:t>HTTP, HTTPS</a:t>
                      </a:r>
                    </a:p>
                  </a:txBody>
                  <a:tcPr marL="91440" marR="91440" anchor="ctr">
                    <a:solidFill>
                      <a:srgbClr val="FFFFFF"/>
                    </a:solidFill>
                  </a:tcPr>
                </a:tc>
                <a:tc>
                  <a:txBody>
                    <a:bodyPr wrap="square"/>
                    <a:lstStyle/>
                    <a:p>
                      <a:r>
                        <a:rPr sz="1600" b="0">
                          <a:solidFill>
                            <a:srgbClr val="202122"/>
                          </a:solidFill>
                          <a:latin typeface="Calibri"/>
                        </a:rPr>
                        <a:t>Transfer web pages; HTTPS encrypts them</a:t>
                      </a:r>
                    </a:p>
                  </a:txBody>
                  <a:tcPr marL="91440" marR="91440" anchor="ctr">
                    <a:solidFill>
                      <a:srgbClr val="FFFFFF"/>
                    </a:solidFill>
                  </a:tcPr>
                </a:tc>
              </a:tr>
              <a:tr h="662940">
                <a:tc>
                  <a:txBody>
                    <a:bodyPr wrap="square"/>
                    <a:lstStyle/>
                    <a:p>
                      <a:r>
                        <a:rPr sz="1600" b="1">
                          <a:solidFill>
                            <a:srgbClr val="03306E"/>
                          </a:solidFill>
                          <a:latin typeface="Calibri"/>
                        </a:rPr>
                        <a:t>Mail</a:t>
                      </a:r>
                    </a:p>
                  </a:txBody>
                  <a:tcPr marL="91440" marR="91440" anchor="ctr">
                    <a:solidFill>
                      <a:srgbClr val="EAF3FF"/>
                    </a:solidFill>
                  </a:tcPr>
                </a:tc>
                <a:tc>
                  <a:txBody>
                    <a:bodyPr wrap="square"/>
                    <a:lstStyle/>
                    <a:p>
                      <a:r>
                        <a:rPr sz="1600" b="0">
                          <a:solidFill>
                            <a:srgbClr val="202122"/>
                          </a:solidFill>
                          <a:latin typeface="Calibri"/>
                        </a:rPr>
                        <a:t>SMTP, POP, IMAP</a:t>
                      </a:r>
                    </a:p>
                  </a:txBody>
                  <a:tcPr marL="91440" marR="91440" anchor="ctr">
                    <a:solidFill>
                      <a:srgbClr val="EAF3FF"/>
                    </a:solidFill>
                  </a:tcPr>
                </a:tc>
                <a:tc>
                  <a:txBody>
                    <a:bodyPr wrap="square"/>
                    <a:lstStyle/>
                    <a:p>
                      <a:r>
                        <a:rPr sz="1600" b="0">
                          <a:solidFill>
                            <a:srgbClr val="202122"/>
                          </a:solidFill>
                          <a:latin typeface="Calibri"/>
                        </a:rPr>
                        <a:t>Send mail; download it; or keep it on the server</a:t>
                      </a:r>
                    </a:p>
                  </a:txBody>
                  <a:tcPr marL="91440" marR="91440" anchor="ctr">
                    <a:solidFill>
                      <a:srgbClr val="EAF3FF"/>
                    </a:solidFill>
                  </a:tcPr>
                </a:tc>
              </a:tr>
              <a:tr h="662940">
                <a:tc>
                  <a:txBody>
                    <a:bodyPr wrap="square"/>
                    <a:lstStyle/>
                    <a:p>
                      <a:r>
                        <a:rPr sz="1600" b="1">
                          <a:solidFill>
                            <a:srgbClr val="03306E"/>
                          </a:solidFill>
                          <a:latin typeface="Calibri"/>
                        </a:rPr>
                        <a:t>Routing</a:t>
                      </a:r>
                    </a:p>
                  </a:txBody>
                  <a:tcPr marL="91440" marR="91440" anchor="ctr">
                    <a:solidFill>
                      <a:srgbClr val="FFFFFF"/>
                    </a:solidFill>
                  </a:tcPr>
                </a:tc>
                <a:tc>
                  <a:txBody>
                    <a:bodyPr wrap="square"/>
                    <a:lstStyle/>
                    <a:p>
                      <a:r>
                        <a:rPr sz="1600" b="0">
                          <a:solidFill>
                            <a:srgbClr val="202122"/>
                          </a:solidFill>
                          <a:latin typeface="Calibri"/>
                        </a:rPr>
                        <a:t>RIP, OSPF</a:t>
                      </a:r>
                    </a:p>
                  </a:txBody>
                  <a:tcPr marL="91440" marR="91440" anchor="ctr">
                    <a:solidFill>
                      <a:srgbClr val="FFFFFF"/>
                    </a:solidFill>
                  </a:tcPr>
                </a:tc>
                <a:tc>
                  <a:txBody>
                    <a:bodyPr wrap="square"/>
                    <a:lstStyle/>
                    <a:p>
                      <a:r>
                        <a:rPr sz="1600" b="0">
                          <a:solidFill>
                            <a:srgbClr val="202122"/>
                          </a:solidFill>
                          <a:latin typeface="Calibri"/>
                        </a:rPr>
                        <a:t>Routers share routes with each other</a:t>
                      </a:r>
                    </a:p>
                  </a:txBody>
                  <a:tcPr marL="91440" marR="91440" anchor="ctr">
                    <a:solidFill>
                      <a:srgbClr val="FFFFFF"/>
                    </a:solidFill>
                  </a:tcPr>
                </a:tc>
              </a:tr>
              <a:tr h="662940">
                <a:tc>
                  <a:txBody>
                    <a:bodyPr wrap="square"/>
                    <a:lstStyle/>
                    <a:p>
                      <a:r>
                        <a:rPr sz="1600" b="1">
                          <a:solidFill>
                            <a:srgbClr val="03306E"/>
                          </a:solidFill>
                          <a:latin typeface="Calibri"/>
                        </a:rPr>
                        <a:t>Application</a:t>
                      </a:r>
                    </a:p>
                  </a:txBody>
                  <a:tcPr marL="91440" marR="91440" anchor="ctr">
                    <a:solidFill>
                      <a:srgbClr val="EAF3FF"/>
                    </a:solidFill>
                  </a:tcPr>
                </a:tc>
                <a:tc>
                  <a:txBody>
                    <a:bodyPr wrap="square"/>
                    <a:lstStyle/>
                    <a:p>
                      <a:r>
                        <a:rPr sz="1600" b="0">
                          <a:solidFill>
                            <a:srgbClr val="202122"/>
                          </a:solidFill>
                          <a:latin typeface="Calibri"/>
                        </a:rPr>
                        <a:t>FTP, SFTP</a:t>
                      </a:r>
                    </a:p>
                  </a:txBody>
                  <a:tcPr marL="91440" marR="91440" anchor="ctr">
                    <a:solidFill>
                      <a:srgbClr val="EAF3FF"/>
                    </a:solidFill>
                  </a:tcPr>
                </a:tc>
                <a:tc>
                  <a:txBody>
                    <a:bodyPr wrap="square"/>
                    <a:lstStyle/>
                    <a:p>
                      <a:r>
                        <a:rPr sz="1600" b="0">
                          <a:solidFill>
                            <a:srgbClr val="202122"/>
                          </a:solidFill>
                          <a:latin typeface="Calibri"/>
                        </a:rPr>
                        <a:t>Transfer files; SFTP securely</a:t>
                      </a:r>
                    </a:p>
                  </a:txBody>
                  <a:tcPr marL="91440" marR="91440" anchor="ctr">
                    <a:solidFill>
                      <a:srgbClr val="EAF3FF"/>
                    </a:solidFill>
                  </a:tcPr>
                </a:tc>
              </a:tr>
              <a:tr h="662940">
                <a:tc>
                  <a:txBody>
                    <a:bodyPr wrap="square"/>
                    <a:lstStyle/>
                    <a:p>
                      <a:r>
                        <a:rPr sz="1600" b="1">
                          <a:solidFill>
                            <a:srgbClr val="03306E"/>
                          </a:solidFill>
                          <a:latin typeface="Calibri"/>
                        </a:rPr>
                        <a:t>Application</a:t>
                      </a:r>
                    </a:p>
                  </a:txBody>
                  <a:tcPr marL="91440" marR="91440" anchor="ctr">
                    <a:solidFill>
                      <a:srgbClr val="FFFFFF"/>
                    </a:solidFill>
                  </a:tcPr>
                </a:tc>
                <a:tc>
                  <a:txBody>
                    <a:bodyPr wrap="square"/>
                    <a:lstStyle/>
                    <a:p>
                      <a:r>
                        <a:rPr sz="1600" b="0">
                          <a:solidFill>
                            <a:srgbClr val="202122"/>
                          </a:solidFill>
                          <a:latin typeface="Calibri"/>
                        </a:rPr>
                        <a:t>DHCP, DNS</a:t>
                      </a:r>
                    </a:p>
                  </a:txBody>
                  <a:tcPr marL="91440" marR="91440" anchor="ctr">
                    <a:solidFill>
                      <a:srgbClr val="FFFFFF"/>
                    </a:solidFill>
                  </a:tcPr>
                </a:tc>
                <a:tc>
                  <a:txBody>
                    <a:bodyPr wrap="square"/>
                    <a:lstStyle/>
                    <a:p>
                      <a:r>
                        <a:rPr sz="1600" b="0">
                          <a:solidFill>
                            <a:srgbClr val="202122"/>
                          </a:solidFill>
                          <a:latin typeface="Calibri"/>
                        </a:rPr>
                        <a:t>Assign IP addresses; turn names into IP addresses</a:t>
                      </a:r>
                    </a:p>
                  </a:txBody>
                  <a:tcPr marL="91440" marR="91440" anchor="ctr">
                    <a:solidFill>
                      <a:srgbClr val="FFFF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Bandwidth is how much data can be sent at once; latency is the delay. Both affect performance.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Common protocols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protocol gives devices IP addresses?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POP and IMAP?</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protocol encrypts web traffic?</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Which network type covers a single building?</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Which OSI layer handles routing?</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is a CRC used for?</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Which protocol turns a domain name into an IP address?</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bandwidth and latency?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19</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Which network type covers a single building?</a:t>
            </a:r>
          </a:p>
          <a:p>
            <a:r>
              <a:rPr sz="1800" b="1">
                <a:solidFill>
                  <a:srgbClr val="03306E"/>
                </a:solidFill>
                <a:latin typeface="Calibri"/>
              </a:rPr>
              <a:t>LAN.</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Which OSI layer handles routing?</a:t>
            </a:r>
          </a:p>
          <a:p>
            <a:r>
              <a:rPr sz="1800" b="1">
                <a:solidFill>
                  <a:srgbClr val="03306E"/>
                </a:solidFill>
                <a:latin typeface="Calibri"/>
              </a:rPr>
              <a:t>Layer 3, the network layer.</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What is a CRC used for?</a:t>
            </a:r>
          </a:p>
          <a:p>
            <a:r>
              <a:rPr sz="1800" b="1">
                <a:solidFill>
                  <a:srgbClr val="03306E"/>
                </a:solidFill>
                <a:latin typeface="Calibri"/>
              </a:rPr>
              <a:t>Detecting errors in transmitted packets.</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Which protocol turns a domain name into an IP address?</a:t>
            </a:r>
          </a:p>
          <a:p>
            <a:r>
              <a:rPr sz="1800" b="1">
                <a:solidFill>
                  <a:srgbClr val="03306E"/>
                </a:solidFill>
                <a:latin typeface="Calibri"/>
              </a:rPr>
              <a:t>DNS.</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What is the difference between bandwidth and latency?</a:t>
            </a:r>
          </a:p>
          <a:p>
            <a:r>
              <a:rPr sz="1800" b="1">
                <a:solidFill>
                  <a:srgbClr val="03306E"/>
                </a:solidFill>
                <a:latin typeface="Calibri"/>
              </a:rPr>
              <a:t>Bandwidth is capacity; latency is delay.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Follow the packet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20</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Groups of seven</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Each student is one OSI layer.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Pass a 'message' down the layers on the sending side, each adding its own header note.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Pass it up the layers on the receiving side, each removing its header.</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Discuss which layer would notice each of these faults: unplugged cable, wrong IP, blocked port.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Layers are in the right order</a:t>
            </a:r>
          </a:p>
          <a:p>
            <a:pPr marL="274320" indent="-274320">
              <a:spcAft>
                <a:spcPts val="810"/>
              </a:spcAft>
              <a:buClr>
                <a:srgbClr val="0645AD"/>
              </a:buClr>
              <a:buFont typeface="Arial"/>
              <a:buChar char="•"/>
            </a:pPr>
            <a:r>
              <a:rPr sz="1800" b="0">
                <a:solidFill>
                  <a:srgbClr val="202122"/>
                </a:solidFill>
                <a:latin typeface="Calibri"/>
              </a:rPr>
              <a:t>Each layer's job is described correctly</a:t>
            </a:r>
          </a:p>
          <a:p>
            <a:pPr marL="274320" indent="-274320">
              <a:spcAft>
                <a:spcPts val="810"/>
              </a:spcAft>
              <a:buClr>
                <a:srgbClr val="0645AD"/>
              </a:buClr>
              <a:buFont typeface="Arial"/>
              <a:buChar char="•"/>
            </a:pPr>
            <a:r>
              <a:rPr sz="1800" b="0">
                <a:solidFill>
                  <a:srgbClr val="202122"/>
                </a:solidFill>
                <a:latin typeface="Calibri"/>
              </a:rPr>
              <a:t>Faults matched to the right layer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is a star topology popular in offices?</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Which layer do switches work at?</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the protocol you would use to send an email.</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Legislation, Business, Emerging Issues,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Networks</dc:title>
  <dc:subject>Digital Support and Security T Level: Core Paper 2</dc:subject>
  <dc:creator>Samuel O'Connell</dc:creator>
  <cp:keywords>T Level; Digital Support and Security; lesson slides; 7.3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