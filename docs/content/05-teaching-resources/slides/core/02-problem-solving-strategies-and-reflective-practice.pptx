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which approach a technician would use to build a new office network (top-down) versus fixing up an old one from spare kit (bottom-up).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Top-down.</a:t>
            </a:r>
          </a:p>
          <a:p>
            <a:r>
              <a:t>2. Modules can be built, tested and reused separately.</a:t>
            </a:r>
          </a:p>
          <a:p>
            <a:r>
              <a:t>3. When reliable components already exist.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strategy is the backbone of Task 2 in every Employer Set Project.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five whys: the website is down. Why? The server crashed. Why? It ran out of disk space. Why? Logs were never cleared. Why? No maintenance task was set up.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The underlying cause remains, so the problem comes back.</a:t>
            </a:r>
          </a:p>
          <a:p>
            <a:r>
              <a:t>2. Every way a component could fail and the effect of each failure.</a:t>
            </a:r>
          </a:p>
          <a:p>
            <a:r>
              <a:t>3. Log it, close it or escalate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mix these up. An incident is the symptom, a problem is the cause.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An incident.</a:t>
            </a:r>
          </a:p>
          <a:p>
            <a:r>
              <a:t>2. Detection, response, intelligence.</a:t>
            </a:r>
          </a:p>
          <a:p>
            <a:r>
              <a:t>3.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are used after a support issue to improve future practice. Gibbs is more structured and includes feelings, which helps with difficult customer situations.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Six.</a:t>
            </a:r>
          </a:p>
          <a:p>
            <a:r>
              <a:t>2. Active experimentation.</a:t>
            </a:r>
          </a:p>
          <a:p>
            <a:r>
              <a:t>3. It includes reflecting on feelings.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 map symbols are listed on the Diagram notation page of the wiki.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The main idea.</a:t>
            </a:r>
          </a:p>
          <a:p>
            <a:r>
              <a:t>2. Empathise.</a:t>
            </a:r>
          </a:p>
          <a:p>
            <a:r>
              <a:t>3. To check the solution meets users' real needs before building it fully.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Possible root causes: interference from a microwave used at lunch, DHCP lease pool too small, access point overheating in afternoon sun.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CORE COMPONENT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Problem-Solving Strategies and Reflective Practice</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Paper 1</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1.3, 2.10</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Support and Security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Compare top-down, bottom-up and modular problem-solving approaches.</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Use root cause analysis techniques such as the five whys.</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Explain the incident management process and the difference between an incident and a problem.</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1900" b="0" i="0">
                <a:solidFill>
                  <a:srgbClr val="202122"/>
                </a:solidFill>
                <a:latin typeface="Calibri"/>
              </a:rPr>
              <a:t>Apply Kolb's and Gibbs' reflective cycles, concept mapping and design thinking to support issues.</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Your phone will not charge. List every possible cause you can think of. How would you find out which one it really 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Three problem-solving approaches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1">
                <a:solidFill>
                  <a:srgbClr val="202122"/>
                </a:solidFill>
                <a:latin typeface="Calibri"/>
              </a:rPr>
              <a:t>Top-down:</a:t>
            </a:r>
            <a:r>
              <a:rPr sz="2100" b="0">
                <a:solidFill>
                  <a:srgbClr val="202122"/>
                </a:solidFill>
                <a:latin typeface="Calibri"/>
              </a:rPr>
              <a:t> start with the whole problem and keep breaking it into smaller sub-problems until each one is simple to solve. It gives a clear structure and suits new systems with a clear brief.</a:t>
            </a:r>
          </a:p>
          <a:p>
            <a:pPr>
              <a:spcAft>
                <a:spcPts val="1260"/>
              </a:spcAft>
            </a:pPr>
            <a:r>
              <a:rPr sz="2100" b="1">
                <a:solidFill>
                  <a:srgbClr val="202122"/>
                </a:solidFill>
                <a:latin typeface="Calibri"/>
              </a:rPr>
              <a:t>Bottom-up:</a:t>
            </a:r>
            <a:r>
              <a:rPr sz="2100" b="0">
                <a:solidFill>
                  <a:srgbClr val="202122"/>
                </a:solidFill>
                <a:latin typeface="Calibri"/>
              </a:rPr>
              <a:t> start with small parts that already work and combine them into a bigger solution. It suits situations where reliable components exist, but the final result can be less well organised.</a:t>
            </a:r>
          </a:p>
          <a:p>
            <a:pPr>
              <a:spcAft>
                <a:spcPts val="1260"/>
              </a:spcAft>
            </a:pPr>
            <a:r>
              <a:rPr sz="2100" b="1">
                <a:solidFill>
                  <a:srgbClr val="202122"/>
                </a:solidFill>
                <a:latin typeface="Calibri"/>
              </a:rPr>
              <a:t>Modularisation:</a:t>
            </a:r>
            <a:r>
              <a:rPr sz="2100" b="0">
                <a:solidFill>
                  <a:srgbClr val="202122"/>
                </a:solidFill>
                <a:latin typeface="Calibri"/>
              </a:rPr>
              <a:t> split the solution into self-contained modules with clear inputs and outputs. Each module can be built and tested separately, shared across a team and reused in future projects.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Planning a new office network top-down: network, then floors, then rooms, then each desk point. Bottom-up: start from spare switches and routers already in the store room and build around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Three problem-solving approaches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Top-down</a:t>
            </a:r>
          </a:p>
        </p:txBody>
      </p:sp>
      <p:sp>
        <p:nvSpPr>
          <p:cNvPr id="9" name="TextBox 8"/>
          <p:cNvSpPr txBox="1"/>
          <p:nvPr/>
        </p:nvSpPr>
        <p:spPr>
          <a:xfrm>
            <a:off x="777240" y="2468880"/>
            <a:ext cx="3058058" cy="3566160"/>
          </a:xfrm>
          <a:prstGeom prst="rect">
            <a:avLst/>
          </a:prstGeom>
          <a:noFill/>
        </p:spPr>
        <p:txBody>
          <a:bodyPr wrap="square" anchor="t" lIns="0" rIns="0" tIns="0" bIns="0"/>
          <a:lstStyle/>
          <a:p>
            <a:pPr algn="l"/>
            <a:r>
              <a:rPr sz="2000" b="0" i="0">
                <a:solidFill>
                  <a:srgbClr val="202122"/>
                </a:solidFill>
                <a:latin typeface="Calibri"/>
              </a:rPr>
              <a:t>Start with the whole problem and break it into smaller and smaller parts. Good for planning a new system from a clear brief.</a:t>
            </a:r>
          </a:p>
        </p:txBody>
      </p:sp>
      <p:sp>
        <p:nvSpPr>
          <p:cNvPr id="10" name="Rounded Rectangle 9"/>
          <p:cNvSpPr/>
          <p:nvPr/>
        </p:nvSpPr>
        <p:spPr>
          <a:xfrm>
            <a:off x="4338218"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Bottom-up</a:t>
            </a:r>
          </a:p>
        </p:txBody>
      </p:sp>
      <p:sp>
        <p:nvSpPr>
          <p:cNvPr id="13" name="TextBox 12"/>
          <p:cNvSpPr txBox="1"/>
          <p:nvPr/>
        </p:nvSpPr>
        <p:spPr>
          <a:xfrm>
            <a:off x="4566818" y="2468880"/>
            <a:ext cx="3058058" cy="3566160"/>
          </a:xfrm>
          <a:prstGeom prst="rect">
            <a:avLst/>
          </a:prstGeom>
          <a:noFill/>
        </p:spPr>
        <p:txBody>
          <a:bodyPr wrap="square" anchor="t" lIns="0" rIns="0" tIns="0" bIns="0"/>
          <a:lstStyle/>
          <a:p>
            <a:pPr algn="l"/>
            <a:r>
              <a:rPr sz="2000" b="0" i="0">
                <a:solidFill>
                  <a:srgbClr val="202122"/>
                </a:solidFill>
                <a:latin typeface="Calibri"/>
              </a:rPr>
              <a:t>Start with small, known components and combine them into a bigger solution. Good when reliable parts already exist.</a:t>
            </a:r>
          </a:p>
        </p:txBody>
      </p:sp>
      <p:sp>
        <p:nvSpPr>
          <p:cNvPr id="14" name="Rounded Rectangle 13"/>
          <p:cNvSpPr/>
          <p:nvPr/>
        </p:nvSpPr>
        <p:spPr>
          <a:xfrm>
            <a:off x="8127796"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Modularisation</a:t>
            </a:r>
          </a:p>
        </p:txBody>
      </p:sp>
      <p:sp>
        <p:nvSpPr>
          <p:cNvPr id="17" name="TextBox 16"/>
          <p:cNvSpPr txBox="1"/>
          <p:nvPr/>
        </p:nvSpPr>
        <p:spPr>
          <a:xfrm>
            <a:off x="8356396" y="2468880"/>
            <a:ext cx="3058058" cy="3566160"/>
          </a:xfrm>
          <a:prstGeom prst="rect">
            <a:avLst/>
          </a:prstGeom>
          <a:noFill/>
        </p:spPr>
        <p:txBody>
          <a:bodyPr wrap="square" anchor="t" lIns="0" rIns="0" tIns="0" bIns="0"/>
          <a:lstStyle/>
          <a:p>
            <a:pPr algn="l"/>
            <a:r>
              <a:rPr sz="2000" b="0" i="0">
                <a:solidFill>
                  <a:srgbClr val="202122"/>
                </a:solidFill>
                <a:latin typeface="Calibri"/>
              </a:rPr>
              <a:t>Split the solution into self-contained modules that can be built, tested and reused separately.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Three problem-solving approaches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approach starts from the whole problem?</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Give one benefit of modularisation.</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When does bottom-up make sense?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high-level problem-solving strategy</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Rectangle 5"/>
          <p:cNvSpPr/>
          <p:nvPr/>
        </p:nvSpPr>
        <p:spPr>
          <a:xfrm>
            <a:off x="1416024" y="2686812"/>
            <a:ext cx="9359646"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95984" y="238506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3162300"/>
            <a:ext cx="1734769" cy="731520"/>
          </a:xfrm>
          <a:prstGeom prst="rect">
            <a:avLst/>
          </a:prstGeom>
          <a:noFill/>
        </p:spPr>
        <p:txBody>
          <a:bodyPr wrap="square" anchor="t" lIns="0" rIns="0" tIns="0" bIns="0"/>
          <a:lstStyle/>
          <a:p>
            <a:pPr algn="ctr"/>
            <a:r>
              <a:rPr sz="1700" b="1" i="0">
                <a:solidFill>
                  <a:srgbClr val="03306E"/>
                </a:solidFill>
                <a:latin typeface="Calibri"/>
              </a:rPr>
              <a:t>Define</a:t>
            </a:r>
          </a:p>
        </p:txBody>
      </p:sp>
      <p:sp>
        <p:nvSpPr>
          <p:cNvPr id="9" name="Rounded Rectangle 8"/>
          <p:cNvSpPr/>
          <p:nvPr/>
        </p:nvSpPr>
        <p:spPr>
          <a:xfrm>
            <a:off x="548640" y="3939540"/>
            <a:ext cx="1734769" cy="14478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076700"/>
            <a:ext cx="1460449" cy="1173480"/>
          </a:xfrm>
          <a:prstGeom prst="rect">
            <a:avLst/>
          </a:prstGeom>
          <a:noFill/>
        </p:spPr>
        <p:txBody>
          <a:bodyPr wrap="square" anchor="t" lIns="0" rIns="0" tIns="0" bIns="0"/>
          <a:lstStyle/>
          <a:p>
            <a:pPr algn="l"/>
            <a:r>
              <a:rPr sz="1700" b="0" i="0">
                <a:solidFill>
                  <a:srgbClr val="202122"/>
                </a:solidFill>
                <a:latin typeface="Calibri"/>
              </a:rPr>
              <a:t>State exactly what the problem is.</a:t>
            </a:r>
          </a:p>
        </p:txBody>
      </p:sp>
      <p:sp>
        <p:nvSpPr>
          <p:cNvPr id="11" name="Oval 10"/>
          <p:cNvSpPr/>
          <p:nvPr/>
        </p:nvSpPr>
        <p:spPr>
          <a:xfrm>
            <a:off x="2967913" y="238506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2420569" y="3162300"/>
            <a:ext cx="1734769" cy="731520"/>
          </a:xfrm>
          <a:prstGeom prst="rect">
            <a:avLst/>
          </a:prstGeom>
          <a:noFill/>
        </p:spPr>
        <p:txBody>
          <a:bodyPr wrap="square" anchor="t" lIns="0" rIns="0" tIns="0" bIns="0"/>
          <a:lstStyle/>
          <a:p>
            <a:pPr algn="ctr"/>
            <a:r>
              <a:rPr sz="1700" b="1" i="0">
                <a:solidFill>
                  <a:srgbClr val="03306E"/>
                </a:solidFill>
                <a:latin typeface="Calibri"/>
              </a:rPr>
              <a:t>Gather</a:t>
            </a:r>
          </a:p>
        </p:txBody>
      </p:sp>
      <p:sp>
        <p:nvSpPr>
          <p:cNvPr id="13" name="Rounded Rectangle 12"/>
          <p:cNvSpPr/>
          <p:nvPr/>
        </p:nvSpPr>
        <p:spPr>
          <a:xfrm>
            <a:off x="2420569" y="3939540"/>
            <a:ext cx="1734769" cy="14478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557729" y="4076700"/>
            <a:ext cx="1460449" cy="1173480"/>
          </a:xfrm>
          <a:prstGeom prst="rect">
            <a:avLst/>
          </a:prstGeom>
          <a:noFill/>
        </p:spPr>
        <p:txBody>
          <a:bodyPr wrap="square" anchor="t" lIns="0" rIns="0" tIns="0" bIns="0"/>
          <a:lstStyle/>
          <a:p>
            <a:pPr algn="l"/>
            <a:r>
              <a:rPr sz="1700" b="0" i="0">
                <a:solidFill>
                  <a:srgbClr val="202122"/>
                </a:solidFill>
                <a:latin typeface="Calibri"/>
              </a:rPr>
              <a:t>Collect information from users, logs and systems.</a:t>
            </a:r>
          </a:p>
        </p:txBody>
      </p:sp>
      <p:sp>
        <p:nvSpPr>
          <p:cNvPr id="15" name="Oval 14"/>
          <p:cNvSpPr/>
          <p:nvPr/>
        </p:nvSpPr>
        <p:spPr>
          <a:xfrm>
            <a:off x="4839843" y="238506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4292498" y="3162300"/>
            <a:ext cx="1734769" cy="731520"/>
          </a:xfrm>
          <a:prstGeom prst="rect">
            <a:avLst/>
          </a:prstGeom>
          <a:noFill/>
        </p:spPr>
        <p:txBody>
          <a:bodyPr wrap="square" anchor="t" lIns="0" rIns="0" tIns="0" bIns="0"/>
          <a:lstStyle/>
          <a:p>
            <a:pPr algn="ctr"/>
            <a:r>
              <a:rPr sz="1700" b="1" i="0">
                <a:solidFill>
                  <a:srgbClr val="03306E"/>
                </a:solidFill>
                <a:latin typeface="Calibri"/>
              </a:rPr>
              <a:t>Analyse</a:t>
            </a:r>
          </a:p>
        </p:txBody>
      </p:sp>
      <p:sp>
        <p:nvSpPr>
          <p:cNvPr id="17" name="Rounded Rectangle 16"/>
          <p:cNvSpPr/>
          <p:nvPr/>
        </p:nvSpPr>
        <p:spPr>
          <a:xfrm>
            <a:off x="4292498" y="3939540"/>
            <a:ext cx="1734769" cy="14478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429658" y="4076700"/>
            <a:ext cx="1460449" cy="1173480"/>
          </a:xfrm>
          <a:prstGeom prst="rect">
            <a:avLst/>
          </a:prstGeom>
          <a:noFill/>
        </p:spPr>
        <p:txBody>
          <a:bodyPr wrap="square" anchor="t" lIns="0" rIns="0" tIns="0" bIns="0"/>
          <a:lstStyle/>
          <a:p>
            <a:pPr algn="l"/>
            <a:r>
              <a:rPr sz="1700" b="0" i="0">
                <a:solidFill>
                  <a:srgbClr val="202122"/>
                </a:solidFill>
                <a:latin typeface="Calibri"/>
              </a:rPr>
              <a:t>Look for causes and patterns in the information.</a:t>
            </a:r>
          </a:p>
        </p:txBody>
      </p:sp>
      <p:sp>
        <p:nvSpPr>
          <p:cNvPr id="19" name="Oval 18"/>
          <p:cNvSpPr/>
          <p:nvPr/>
        </p:nvSpPr>
        <p:spPr>
          <a:xfrm>
            <a:off x="6711772" y="238506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6164427" y="3162300"/>
            <a:ext cx="1734769" cy="731520"/>
          </a:xfrm>
          <a:prstGeom prst="rect">
            <a:avLst/>
          </a:prstGeom>
          <a:noFill/>
        </p:spPr>
        <p:txBody>
          <a:bodyPr wrap="square" anchor="t" lIns="0" rIns="0" tIns="0" bIns="0"/>
          <a:lstStyle/>
          <a:p>
            <a:pPr algn="ctr"/>
            <a:r>
              <a:rPr sz="1700" b="1" i="0">
                <a:solidFill>
                  <a:srgbClr val="03306E"/>
                </a:solidFill>
                <a:latin typeface="Calibri"/>
              </a:rPr>
              <a:t>Plan</a:t>
            </a:r>
          </a:p>
        </p:txBody>
      </p:sp>
      <p:sp>
        <p:nvSpPr>
          <p:cNvPr id="21" name="Rounded Rectangle 20"/>
          <p:cNvSpPr/>
          <p:nvPr/>
        </p:nvSpPr>
        <p:spPr>
          <a:xfrm>
            <a:off x="6164427" y="3939540"/>
            <a:ext cx="1734769" cy="14478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01587" y="4076700"/>
            <a:ext cx="1460449" cy="1173480"/>
          </a:xfrm>
          <a:prstGeom prst="rect">
            <a:avLst/>
          </a:prstGeom>
          <a:noFill/>
        </p:spPr>
        <p:txBody>
          <a:bodyPr wrap="square" anchor="t" lIns="0" rIns="0" tIns="0" bIns="0"/>
          <a:lstStyle/>
          <a:p>
            <a:pPr algn="l"/>
            <a:r>
              <a:rPr sz="1700" b="0" i="0">
                <a:solidFill>
                  <a:srgbClr val="202122"/>
                </a:solidFill>
                <a:latin typeface="Calibri"/>
              </a:rPr>
              <a:t>Decide on a plan of action.</a:t>
            </a:r>
          </a:p>
        </p:txBody>
      </p:sp>
      <p:sp>
        <p:nvSpPr>
          <p:cNvPr id="23" name="Oval 22"/>
          <p:cNvSpPr/>
          <p:nvPr/>
        </p:nvSpPr>
        <p:spPr>
          <a:xfrm>
            <a:off x="8583701" y="238506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5</a:t>
            </a:r>
          </a:p>
        </p:txBody>
      </p:sp>
      <p:sp>
        <p:nvSpPr>
          <p:cNvPr id="24" name="TextBox 23"/>
          <p:cNvSpPr txBox="1"/>
          <p:nvPr/>
        </p:nvSpPr>
        <p:spPr>
          <a:xfrm>
            <a:off x="8036356" y="3162300"/>
            <a:ext cx="1734769" cy="731520"/>
          </a:xfrm>
          <a:prstGeom prst="rect">
            <a:avLst/>
          </a:prstGeom>
          <a:noFill/>
        </p:spPr>
        <p:txBody>
          <a:bodyPr wrap="square" anchor="t" lIns="0" rIns="0" tIns="0" bIns="0"/>
          <a:lstStyle/>
          <a:p>
            <a:pPr algn="ctr"/>
            <a:r>
              <a:rPr sz="1700" b="1" i="0">
                <a:solidFill>
                  <a:srgbClr val="03306E"/>
                </a:solidFill>
                <a:latin typeface="Calibri"/>
              </a:rPr>
              <a:t>Implement</a:t>
            </a:r>
          </a:p>
        </p:txBody>
      </p:sp>
      <p:sp>
        <p:nvSpPr>
          <p:cNvPr id="25" name="Rounded Rectangle 24"/>
          <p:cNvSpPr/>
          <p:nvPr/>
        </p:nvSpPr>
        <p:spPr>
          <a:xfrm>
            <a:off x="8036356" y="3939540"/>
            <a:ext cx="1734769" cy="14478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73516" y="4076700"/>
            <a:ext cx="1460449" cy="1173480"/>
          </a:xfrm>
          <a:prstGeom prst="rect">
            <a:avLst/>
          </a:prstGeom>
          <a:noFill/>
        </p:spPr>
        <p:txBody>
          <a:bodyPr wrap="square" anchor="t" lIns="0" rIns="0" tIns="0" bIns="0"/>
          <a:lstStyle/>
          <a:p>
            <a:pPr algn="l"/>
            <a:r>
              <a:rPr sz="1700" b="0" i="0">
                <a:solidFill>
                  <a:srgbClr val="202122"/>
                </a:solidFill>
                <a:latin typeface="Calibri"/>
              </a:rPr>
              <a:t>Carry out the solution.</a:t>
            </a:r>
          </a:p>
        </p:txBody>
      </p:sp>
      <p:sp>
        <p:nvSpPr>
          <p:cNvPr id="27" name="Oval 26"/>
          <p:cNvSpPr/>
          <p:nvPr/>
        </p:nvSpPr>
        <p:spPr>
          <a:xfrm>
            <a:off x="10455630" y="238506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6</a:t>
            </a:r>
          </a:p>
        </p:txBody>
      </p:sp>
      <p:sp>
        <p:nvSpPr>
          <p:cNvPr id="28" name="TextBox 27"/>
          <p:cNvSpPr txBox="1"/>
          <p:nvPr/>
        </p:nvSpPr>
        <p:spPr>
          <a:xfrm>
            <a:off x="9908286" y="3162300"/>
            <a:ext cx="1734769" cy="731520"/>
          </a:xfrm>
          <a:prstGeom prst="rect">
            <a:avLst/>
          </a:prstGeom>
          <a:noFill/>
        </p:spPr>
        <p:txBody>
          <a:bodyPr wrap="square" anchor="t" lIns="0" rIns="0" tIns="0" bIns="0"/>
          <a:lstStyle/>
          <a:p>
            <a:pPr algn="ctr"/>
            <a:r>
              <a:rPr sz="1700" b="1" i="0">
                <a:solidFill>
                  <a:srgbClr val="03306E"/>
                </a:solidFill>
                <a:latin typeface="Calibri"/>
              </a:rPr>
              <a:t>Review</a:t>
            </a:r>
          </a:p>
        </p:txBody>
      </p:sp>
      <p:sp>
        <p:nvSpPr>
          <p:cNvPr id="29" name="Rounded Rectangle 28"/>
          <p:cNvSpPr/>
          <p:nvPr/>
        </p:nvSpPr>
        <p:spPr>
          <a:xfrm>
            <a:off x="9908286" y="3939540"/>
            <a:ext cx="1734769" cy="14478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45446" y="4076700"/>
            <a:ext cx="1460449" cy="1173480"/>
          </a:xfrm>
          <a:prstGeom prst="rect">
            <a:avLst/>
          </a:prstGeom>
          <a:noFill/>
        </p:spPr>
        <p:txBody>
          <a:bodyPr wrap="square" anchor="t" lIns="0" rIns="0" tIns="0" bIns="0"/>
          <a:lstStyle/>
          <a:p>
            <a:pPr algn="l"/>
            <a:r>
              <a:rPr sz="1700" b="0" i="0">
                <a:solidFill>
                  <a:srgbClr val="202122"/>
                </a:solidFill>
                <a:latin typeface="Calibri"/>
              </a:rPr>
              <a:t>Check the fix worked and nothing else broke.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Root cause analysis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A quick fix that treats a symptom lets the problem come back. Root cause analysis finds the underlying cause so it can be fixed for good.</a:t>
            </a:r>
          </a:p>
          <a:p>
            <a:pPr>
              <a:spcAft>
                <a:spcPts val="1200"/>
              </a:spcAft>
            </a:pPr>
            <a:r>
              <a:rPr sz="2000" b="1">
                <a:solidFill>
                  <a:srgbClr val="202122"/>
                </a:solidFill>
                <a:latin typeface="Calibri"/>
              </a:rPr>
              <a:t>Five whys:</a:t>
            </a:r>
            <a:r>
              <a:rPr sz="2000" b="0">
                <a:solidFill>
                  <a:srgbClr val="202122"/>
                </a:solidFill>
                <a:latin typeface="Calibri"/>
              </a:rPr>
              <a:t> ask 'why?' about the problem, then about each answer, until you reach a cause you can act on.</a:t>
            </a:r>
          </a:p>
          <a:p>
            <a:pPr>
              <a:spcAft>
                <a:spcPts val="1200"/>
              </a:spcAft>
            </a:pPr>
            <a:r>
              <a:rPr sz="2000" b="0">
                <a:solidFill>
                  <a:srgbClr val="202122"/>
                </a:solidFill>
                <a:latin typeface="Calibri"/>
              </a:rPr>
              <a:t>FMEA (Failure Mode and Effects Analysis): list every way a component could fail, what the effect would be and how serious it is, so the worst risks are tackled first.</a:t>
            </a:r>
          </a:p>
          <a:p>
            <a:pPr>
              <a:spcAft>
                <a:spcPts val="1200"/>
              </a:spcAft>
            </a:pPr>
            <a:r>
              <a:rPr sz="2000" b="1">
                <a:solidFill>
                  <a:srgbClr val="202122"/>
                </a:solidFill>
                <a:latin typeface="Calibri"/>
              </a:rPr>
              <a:t>Event tree analysis:</a:t>
            </a:r>
            <a:r>
              <a:rPr sz="2000" b="0">
                <a:solidFill>
                  <a:srgbClr val="202122"/>
                </a:solidFill>
                <a:latin typeface="Calibri"/>
              </a:rPr>
              <a:t> start from one event and map every outcome that could follow.</a:t>
            </a:r>
          </a:p>
          <a:p>
            <a:pPr>
              <a:spcAft>
                <a:spcPts val="1200"/>
              </a:spcAft>
            </a:pPr>
            <a:r>
              <a:rPr sz="2000" b="0">
                <a:solidFill>
                  <a:srgbClr val="202122"/>
                </a:solidFill>
                <a:latin typeface="Calibri"/>
              </a:rPr>
              <a:t>Once found, the root cause is logged, closed, or escalated to someone who can fix it.</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The website is down. Why? The server crashed. Why? The disk was full. Why? Logs were never deleted. Why? No clean-up task exists. Fix: schedule log clean-up, not just a reboot.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Root cause analysis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Five whys</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Keep asking 'why?' about each answer until you reach the underlying cause, usually about five times.</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FMEA</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Failure Mode and Effects Analysis lists every way a component could fail and the effect of each failure.</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Event Tree Analysis</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Starts from one initiating event and maps the possible outcomes that could follow from it.</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Then act</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Once the root cause is found: log it, close it, or escalate it to a manager, specialist or third party.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Root cause analysis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Why isn't fixing the symptom enough?</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FMEA list?</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Name the three actions once a root cause is found.</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Incidents and problems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140"/>
              </a:spcAft>
            </a:pPr>
            <a:r>
              <a:rPr sz="1900" b="0">
                <a:solidFill>
                  <a:srgbClr val="202122"/>
                </a:solidFill>
                <a:latin typeface="Calibri"/>
              </a:rPr>
              <a:t>In IT support, 'incident' and 'problem' mean different things.</a:t>
            </a:r>
          </a:p>
          <a:p>
            <a:pPr>
              <a:spcAft>
                <a:spcPts val="1140"/>
              </a:spcAft>
            </a:pPr>
            <a:r>
              <a:rPr sz="1900" b="0">
                <a:solidFill>
                  <a:srgbClr val="202122"/>
                </a:solidFill>
                <a:latin typeface="Calibri"/>
              </a:rPr>
              <a:t>A digital incident is a single unplanned event that disrupts a service or lowers its quality, such as users being unable to log in this morning. The priority is to restore service quickly.</a:t>
            </a:r>
          </a:p>
          <a:p>
            <a:pPr>
              <a:spcAft>
                <a:spcPts val="1140"/>
              </a:spcAft>
            </a:pPr>
            <a:r>
              <a:rPr sz="1900" b="0">
                <a:solidFill>
                  <a:srgbClr val="202122"/>
                </a:solidFill>
                <a:latin typeface="Calibri"/>
              </a:rPr>
              <a:t>A digital problem is the underlying cause of one or more incidents. The priority is to find and remove it so the incidents stop happening.</a:t>
            </a:r>
          </a:p>
          <a:p>
            <a:pPr>
              <a:spcAft>
                <a:spcPts val="1140"/>
              </a:spcAft>
            </a:pPr>
            <a:r>
              <a:rPr sz="1900" b="0">
                <a:solidFill>
                  <a:srgbClr val="202122"/>
                </a:solidFill>
                <a:latin typeface="Calibri"/>
              </a:rPr>
              <a:t>The incident management process has three stages: detection (report, record and prioritise), response (identify an owner, resolve, restore and record) and intelligence (record lessons, identify the cause and share what was learned).</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Three separate login failures in a week are three incidents. The expired certificate on the login server that caused them is one problem.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Incidents and problems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Digital incident</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A single unplanned event</a:t>
            </a:r>
          </a:p>
          <a:p>
            <a:pPr marL="274320" indent="-274320">
              <a:spcAft>
                <a:spcPts val="990"/>
              </a:spcAft>
              <a:buClr>
                <a:srgbClr val="0645AD"/>
              </a:buClr>
              <a:buFont typeface="Arial"/>
              <a:buChar char="•"/>
            </a:pPr>
            <a:r>
              <a:rPr sz="2200" b="0">
                <a:solidFill>
                  <a:srgbClr val="202122"/>
                </a:solidFill>
                <a:latin typeface="Calibri"/>
              </a:rPr>
              <a:t>Disrupts service operations</a:t>
            </a:r>
          </a:p>
          <a:p>
            <a:pPr marL="274320" indent="-274320">
              <a:spcAft>
                <a:spcPts val="990"/>
              </a:spcAft>
              <a:buClr>
                <a:srgbClr val="0645AD"/>
              </a:buClr>
              <a:buFont typeface="Arial"/>
              <a:buChar char="•"/>
            </a:pPr>
            <a:r>
              <a:rPr sz="2200" b="0">
                <a:solidFill>
                  <a:srgbClr val="202122"/>
                </a:solidFill>
                <a:latin typeface="Calibri"/>
              </a:rPr>
              <a:t>Reduces service quality</a:t>
            </a:r>
          </a:p>
          <a:p>
            <a:pPr marL="274320" indent="-274320">
              <a:spcAft>
                <a:spcPts val="990"/>
              </a:spcAft>
              <a:buClr>
                <a:srgbClr val="0645AD"/>
              </a:buClr>
              <a:buFont typeface="Arial"/>
              <a:buChar char="•"/>
            </a:pPr>
            <a:r>
              <a:rPr sz="2200" b="1">
                <a:solidFill>
                  <a:srgbClr val="202122"/>
                </a:solidFill>
                <a:latin typeface="Calibri"/>
              </a:rPr>
              <a:t>Example:</a:t>
            </a:r>
            <a:r>
              <a:rPr sz="2200" b="0">
                <a:solidFill>
                  <a:srgbClr val="202122"/>
                </a:solidFill>
                <a:latin typeface="Calibri"/>
              </a:rPr>
              <a:t> users cannot log in this morning</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Digital problem</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The underlying cause of one or more incidents</a:t>
            </a:r>
          </a:p>
          <a:p>
            <a:pPr marL="274320" indent="-274320">
              <a:spcAft>
                <a:spcPts val="990"/>
              </a:spcAft>
              <a:buClr>
                <a:srgbClr val="0645AD"/>
              </a:buClr>
              <a:buFont typeface="Arial"/>
              <a:buChar char="•"/>
            </a:pPr>
            <a:r>
              <a:rPr sz="2200" b="0">
                <a:solidFill>
                  <a:srgbClr val="202122"/>
                </a:solidFill>
                <a:latin typeface="Calibri"/>
              </a:rPr>
              <a:t>Found through root cause analysis</a:t>
            </a:r>
          </a:p>
          <a:p>
            <a:pPr marL="274320" indent="-274320">
              <a:spcAft>
                <a:spcPts val="990"/>
              </a:spcAft>
              <a:buClr>
                <a:srgbClr val="0645AD"/>
              </a:buClr>
              <a:buFont typeface="Arial"/>
              <a:buChar char="•"/>
            </a:pPr>
            <a:r>
              <a:rPr sz="2200" b="0">
                <a:solidFill>
                  <a:srgbClr val="202122"/>
                </a:solidFill>
                <a:latin typeface="Calibri"/>
              </a:rPr>
              <a:t>Fixing it stops incidents recurring</a:t>
            </a:r>
          </a:p>
          <a:p>
            <a:pPr marL="274320" indent="-274320">
              <a:spcAft>
                <a:spcPts val="990"/>
              </a:spcAft>
              <a:buClr>
                <a:srgbClr val="0645AD"/>
              </a:buClr>
              <a:buFont typeface="Arial"/>
              <a:buChar char="•"/>
            </a:pPr>
            <a:r>
              <a:rPr sz="2200" b="1">
                <a:solidFill>
                  <a:srgbClr val="202122"/>
                </a:solidFill>
                <a:latin typeface="Calibri"/>
              </a:rPr>
              <a:t>Example:</a:t>
            </a:r>
            <a:r>
              <a:rPr sz="2200" b="0">
                <a:solidFill>
                  <a:srgbClr val="202122"/>
                </a:solidFill>
                <a:latin typeface="Calibri"/>
              </a:rPr>
              <a:t> an expired certificate on the login server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Incidents and problems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Is 'the printer won't print today' an incident or a problem?</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are the three stages of incident management?</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Which stage stops the same incident happening again?</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incident management process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Rectangle 5"/>
          <p:cNvSpPr/>
          <p:nvPr/>
        </p:nvSpPr>
        <p:spPr>
          <a:xfrm>
            <a:off x="2351989" y="2382012"/>
            <a:ext cx="7487716"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031949" y="208026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2857500"/>
            <a:ext cx="3606698" cy="731520"/>
          </a:xfrm>
          <a:prstGeom prst="rect">
            <a:avLst/>
          </a:prstGeom>
          <a:noFill/>
        </p:spPr>
        <p:txBody>
          <a:bodyPr wrap="square" anchor="t" lIns="0" rIns="0" tIns="0" bIns="0"/>
          <a:lstStyle/>
          <a:p>
            <a:pPr algn="ctr"/>
            <a:r>
              <a:rPr sz="1700" b="1" i="0">
                <a:solidFill>
                  <a:srgbClr val="03306E"/>
                </a:solidFill>
                <a:latin typeface="Calibri"/>
              </a:rPr>
              <a:t>Detection</a:t>
            </a:r>
          </a:p>
        </p:txBody>
      </p:sp>
      <p:sp>
        <p:nvSpPr>
          <p:cNvPr id="9" name="Rounded Rectangle 8"/>
          <p:cNvSpPr/>
          <p:nvPr/>
        </p:nvSpPr>
        <p:spPr>
          <a:xfrm>
            <a:off x="548640" y="3634740"/>
            <a:ext cx="3606698"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3771900"/>
            <a:ext cx="3332378" cy="960119"/>
          </a:xfrm>
          <a:prstGeom prst="rect">
            <a:avLst/>
          </a:prstGeom>
          <a:noFill/>
        </p:spPr>
        <p:txBody>
          <a:bodyPr wrap="square" anchor="t" lIns="0" rIns="0" tIns="0" bIns="0"/>
          <a:lstStyle/>
          <a:p>
            <a:pPr algn="l"/>
            <a:r>
              <a:rPr sz="1800" b="0" i="0">
                <a:solidFill>
                  <a:srgbClr val="202122"/>
                </a:solidFill>
                <a:latin typeface="Calibri"/>
              </a:rPr>
              <a:t>Report, record and prioritise the incident.</a:t>
            </a:r>
          </a:p>
        </p:txBody>
      </p:sp>
      <p:sp>
        <p:nvSpPr>
          <p:cNvPr id="11" name="Oval 10"/>
          <p:cNvSpPr/>
          <p:nvPr/>
        </p:nvSpPr>
        <p:spPr>
          <a:xfrm>
            <a:off x="5775807" y="208026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4292498" y="2857500"/>
            <a:ext cx="3606698" cy="731520"/>
          </a:xfrm>
          <a:prstGeom prst="rect">
            <a:avLst/>
          </a:prstGeom>
          <a:noFill/>
        </p:spPr>
        <p:txBody>
          <a:bodyPr wrap="square" anchor="t" lIns="0" rIns="0" tIns="0" bIns="0"/>
          <a:lstStyle/>
          <a:p>
            <a:pPr algn="ctr"/>
            <a:r>
              <a:rPr sz="1700" b="1" i="0">
                <a:solidFill>
                  <a:srgbClr val="03306E"/>
                </a:solidFill>
                <a:latin typeface="Calibri"/>
              </a:rPr>
              <a:t>Response</a:t>
            </a:r>
          </a:p>
        </p:txBody>
      </p:sp>
      <p:sp>
        <p:nvSpPr>
          <p:cNvPr id="13" name="Rounded Rectangle 12"/>
          <p:cNvSpPr/>
          <p:nvPr/>
        </p:nvSpPr>
        <p:spPr>
          <a:xfrm>
            <a:off x="4292498" y="3634740"/>
            <a:ext cx="3606698"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29658" y="3771900"/>
            <a:ext cx="3332378" cy="960119"/>
          </a:xfrm>
          <a:prstGeom prst="rect">
            <a:avLst/>
          </a:prstGeom>
          <a:noFill/>
        </p:spPr>
        <p:txBody>
          <a:bodyPr wrap="square" anchor="t" lIns="0" rIns="0" tIns="0" bIns="0"/>
          <a:lstStyle/>
          <a:p>
            <a:pPr algn="l"/>
            <a:r>
              <a:rPr sz="1800" b="0" i="0">
                <a:solidFill>
                  <a:srgbClr val="202122"/>
                </a:solidFill>
                <a:latin typeface="Calibri"/>
              </a:rPr>
              <a:t>Identify the owner, resolve and restore service, record the resolution.</a:t>
            </a:r>
          </a:p>
        </p:txBody>
      </p:sp>
      <p:sp>
        <p:nvSpPr>
          <p:cNvPr id="15" name="Oval 14"/>
          <p:cNvSpPr/>
          <p:nvPr/>
        </p:nvSpPr>
        <p:spPr>
          <a:xfrm>
            <a:off x="9519666" y="208026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8036356" y="2857500"/>
            <a:ext cx="3606698" cy="731520"/>
          </a:xfrm>
          <a:prstGeom prst="rect">
            <a:avLst/>
          </a:prstGeom>
          <a:noFill/>
        </p:spPr>
        <p:txBody>
          <a:bodyPr wrap="square" anchor="t" lIns="0" rIns="0" tIns="0" bIns="0"/>
          <a:lstStyle/>
          <a:p>
            <a:pPr algn="ctr"/>
            <a:r>
              <a:rPr sz="1700" b="1" i="0">
                <a:solidFill>
                  <a:srgbClr val="03306E"/>
                </a:solidFill>
                <a:latin typeface="Calibri"/>
              </a:rPr>
              <a:t>Intelligence</a:t>
            </a:r>
          </a:p>
        </p:txBody>
      </p:sp>
      <p:sp>
        <p:nvSpPr>
          <p:cNvPr id="17" name="Rounded Rectangle 16"/>
          <p:cNvSpPr/>
          <p:nvPr/>
        </p:nvSpPr>
        <p:spPr>
          <a:xfrm>
            <a:off x="8036356" y="3634740"/>
            <a:ext cx="3606698"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73516" y="3771900"/>
            <a:ext cx="3332378" cy="960119"/>
          </a:xfrm>
          <a:prstGeom prst="rect">
            <a:avLst/>
          </a:prstGeom>
          <a:noFill/>
        </p:spPr>
        <p:txBody>
          <a:bodyPr wrap="square" anchor="t" lIns="0" rIns="0" tIns="0" bIns="0"/>
          <a:lstStyle/>
          <a:p>
            <a:pPr algn="l"/>
            <a:r>
              <a:rPr sz="1800" b="0" i="0">
                <a:solidFill>
                  <a:srgbClr val="202122"/>
                </a:solidFill>
                <a:latin typeface="Calibri"/>
              </a:rPr>
              <a:t>Record lessons, identify the cause and share what was learned.</a:t>
            </a:r>
          </a:p>
        </p:txBody>
      </p:sp>
      <p:sp>
        <p:nvSpPr>
          <p:cNvPr id="19" name="TextBox 18"/>
          <p:cNvSpPr txBox="1"/>
          <p:nvPr/>
        </p:nvSpPr>
        <p:spPr>
          <a:xfrm>
            <a:off x="548640" y="5143500"/>
            <a:ext cx="11094415" cy="548640"/>
          </a:xfrm>
          <a:prstGeom prst="rect">
            <a:avLst/>
          </a:prstGeom>
          <a:noFill/>
        </p:spPr>
        <p:txBody>
          <a:bodyPr wrap="square" anchor="t" lIns="0" rIns="0" tIns="0" bIns="0"/>
          <a:lstStyle/>
          <a:p>
            <a:pPr algn="l"/>
            <a:r>
              <a:rPr sz="1600" b="0" i="1">
                <a:solidFill>
                  <a:srgbClr val="54595D"/>
                </a:solidFill>
                <a:latin typeface="Calibri"/>
              </a:rPr>
              <a:t>Intelligence is the stage most often skipped, and the one that stops the same incident happening again.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Two reflective practice models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Reflective practice means looking back at how you handled something so you do it better next time.</a:t>
            </a:r>
          </a:p>
          <a:p>
            <a:pPr>
              <a:spcAft>
                <a:spcPts val="1200"/>
              </a:spcAft>
            </a:pPr>
            <a:r>
              <a:rPr sz="2000" b="0">
                <a:solidFill>
                  <a:srgbClr val="202122"/>
                </a:solidFill>
                <a:latin typeface="Calibri"/>
              </a:rPr>
              <a:t>Kolb's Experiential Learning Cycle has four stages: you have a concrete experience, reflect on what happened, draw general conclusions from it, then actively try out the new approach.</a:t>
            </a:r>
          </a:p>
          <a:p>
            <a:pPr>
              <a:spcAft>
                <a:spcPts val="1200"/>
              </a:spcAft>
            </a:pPr>
            <a:r>
              <a:rPr sz="2000" b="0">
                <a:solidFill>
                  <a:srgbClr val="202122"/>
                </a:solidFill>
                <a:latin typeface="Calibri"/>
              </a:rPr>
              <a:t>Gibbs' Reflective Cycle has six stages: description, feelings, evaluation, analysis, conclusion and an action plan. Because it includes feelings, it's especially useful after a stressful or difficult job.</a:t>
            </a:r>
          </a:p>
          <a:p>
            <a:pPr>
              <a:spcAft>
                <a:spcPts val="1200"/>
              </a:spcAft>
            </a:pPr>
            <a:r>
              <a:rPr sz="2000" b="0">
                <a:solidFill>
                  <a:srgbClr val="202122"/>
                </a:solidFill>
                <a:latin typeface="Calibri"/>
              </a:rPr>
              <a:t>Both models turn experience into improvement rather than repeating the same mistakes.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After a tense call with an angry user, Gibbs: what happened; I felt rushed; what went well or badly; why it escalated; I could have listened first; next time I'll summarise their issue before acting.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Two reflective practice models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Kolb's Experiential Learning Cycle</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Concrete experience:</a:t>
            </a:r>
            <a:r>
              <a:rPr sz="2200" b="0">
                <a:solidFill>
                  <a:srgbClr val="202122"/>
                </a:solidFill>
                <a:latin typeface="Calibri"/>
              </a:rPr>
              <a:t> something happens</a:t>
            </a:r>
          </a:p>
          <a:p>
            <a:pPr marL="274320" indent="-274320">
              <a:spcAft>
                <a:spcPts val="990"/>
              </a:spcAft>
              <a:buClr>
                <a:srgbClr val="0645AD"/>
              </a:buClr>
              <a:buFont typeface="Arial"/>
              <a:buChar char="•"/>
            </a:pPr>
            <a:r>
              <a:rPr sz="2200" b="1">
                <a:solidFill>
                  <a:srgbClr val="202122"/>
                </a:solidFill>
                <a:latin typeface="Calibri"/>
              </a:rPr>
              <a:t>Reflective observation:</a:t>
            </a:r>
            <a:r>
              <a:rPr sz="2200" b="0">
                <a:solidFill>
                  <a:srgbClr val="202122"/>
                </a:solidFill>
                <a:latin typeface="Calibri"/>
              </a:rPr>
              <a:t> think about what happened</a:t>
            </a:r>
          </a:p>
          <a:p>
            <a:pPr marL="274320" indent="-274320">
              <a:spcAft>
                <a:spcPts val="990"/>
              </a:spcAft>
              <a:buClr>
                <a:srgbClr val="0645AD"/>
              </a:buClr>
              <a:buFont typeface="Arial"/>
              <a:buChar char="•"/>
            </a:pPr>
            <a:r>
              <a:rPr sz="2200" b="1">
                <a:solidFill>
                  <a:srgbClr val="202122"/>
                </a:solidFill>
                <a:latin typeface="Calibri"/>
              </a:rPr>
              <a:t>Abstract conceptualisation:</a:t>
            </a:r>
            <a:r>
              <a:rPr sz="2200" b="0">
                <a:solidFill>
                  <a:srgbClr val="202122"/>
                </a:solidFill>
                <a:latin typeface="Calibri"/>
              </a:rPr>
              <a:t> draw conclusions</a:t>
            </a:r>
          </a:p>
          <a:p>
            <a:pPr marL="274320" indent="-274320">
              <a:spcAft>
                <a:spcPts val="990"/>
              </a:spcAft>
              <a:buClr>
                <a:srgbClr val="0645AD"/>
              </a:buClr>
              <a:buFont typeface="Arial"/>
              <a:buChar char="•"/>
            </a:pPr>
            <a:r>
              <a:rPr sz="2200" b="1">
                <a:solidFill>
                  <a:srgbClr val="202122"/>
                </a:solidFill>
                <a:latin typeface="Calibri"/>
              </a:rPr>
              <a:t>Active experimentation:</a:t>
            </a:r>
            <a:r>
              <a:rPr sz="2200" b="0">
                <a:solidFill>
                  <a:srgbClr val="202122"/>
                </a:solidFill>
                <a:latin typeface="Calibri"/>
              </a:rPr>
              <a:t> try the new idea</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Gibbs' Reflective Cycle</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1">
                <a:solidFill>
                  <a:srgbClr val="202122"/>
                </a:solidFill>
                <a:latin typeface="Calibri"/>
              </a:rPr>
              <a:t>Description:</a:t>
            </a:r>
            <a:r>
              <a:rPr sz="1800" b="0">
                <a:solidFill>
                  <a:srgbClr val="202122"/>
                </a:solidFill>
                <a:latin typeface="Calibri"/>
              </a:rPr>
              <a:t> what happened?</a:t>
            </a:r>
          </a:p>
          <a:p>
            <a:pPr marL="274320" indent="-274320">
              <a:spcAft>
                <a:spcPts val="810"/>
              </a:spcAft>
              <a:buClr>
                <a:srgbClr val="0645AD"/>
              </a:buClr>
              <a:buFont typeface="Arial"/>
              <a:buChar char="•"/>
            </a:pPr>
            <a:r>
              <a:rPr sz="1800" b="1">
                <a:solidFill>
                  <a:srgbClr val="202122"/>
                </a:solidFill>
                <a:latin typeface="Calibri"/>
              </a:rPr>
              <a:t>Feelings:</a:t>
            </a:r>
            <a:r>
              <a:rPr sz="1800" b="0">
                <a:solidFill>
                  <a:srgbClr val="202122"/>
                </a:solidFill>
                <a:latin typeface="Calibri"/>
              </a:rPr>
              <a:t> what were you thinking?</a:t>
            </a:r>
          </a:p>
          <a:p>
            <a:pPr marL="274320" indent="-274320">
              <a:spcAft>
                <a:spcPts val="810"/>
              </a:spcAft>
              <a:buClr>
                <a:srgbClr val="0645AD"/>
              </a:buClr>
              <a:buFont typeface="Arial"/>
              <a:buChar char="•"/>
            </a:pPr>
            <a:r>
              <a:rPr sz="1800" b="1">
                <a:solidFill>
                  <a:srgbClr val="202122"/>
                </a:solidFill>
                <a:latin typeface="Calibri"/>
              </a:rPr>
              <a:t>Evaluation:</a:t>
            </a:r>
            <a:r>
              <a:rPr sz="1800" b="0">
                <a:solidFill>
                  <a:srgbClr val="202122"/>
                </a:solidFill>
                <a:latin typeface="Calibri"/>
              </a:rPr>
              <a:t> what was good and bad?</a:t>
            </a:r>
          </a:p>
          <a:p>
            <a:pPr marL="274320" indent="-274320">
              <a:spcAft>
                <a:spcPts val="810"/>
              </a:spcAft>
              <a:buClr>
                <a:srgbClr val="0645AD"/>
              </a:buClr>
              <a:buFont typeface="Arial"/>
              <a:buChar char="•"/>
            </a:pPr>
            <a:r>
              <a:rPr sz="1800" b="1">
                <a:solidFill>
                  <a:srgbClr val="202122"/>
                </a:solidFill>
                <a:latin typeface="Calibri"/>
              </a:rPr>
              <a:t>Analysis:</a:t>
            </a:r>
            <a:r>
              <a:rPr sz="1800" b="0">
                <a:solidFill>
                  <a:srgbClr val="202122"/>
                </a:solidFill>
                <a:latin typeface="Calibri"/>
              </a:rPr>
              <a:t> what sense can you make of it?</a:t>
            </a:r>
          </a:p>
          <a:p>
            <a:pPr marL="274320" indent="-274320">
              <a:spcAft>
                <a:spcPts val="810"/>
              </a:spcAft>
              <a:buClr>
                <a:srgbClr val="0645AD"/>
              </a:buClr>
              <a:buFont typeface="Arial"/>
              <a:buChar char="•"/>
            </a:pPr>
            <a:r>
              <a:rPr sz="1800" b="1">
                <a:solidFill>
                  <a:srgbClr val="202122"/>
                </a:solidFill>
                <a:latin typeface="Calibri"/>
              </a:rPr>
              <a:t>Conclusion:</a:t>
            </a:r>
            <a:r>
              <a:rPr sz="1800" b="0">
                <a:solidFill>
                  <a:srgbClr val="202122"/>
                </a:solidFill>
                <a:latin typeface="Calibri"/>
              </a:rPr>
              <a:t> what else could you have done?</a:t>
            </a:r>
          </a:p>
          <a:p>
            <a:pPr marL="274320" indent="-274320">
              <a:spcAft>
                <a:spcPts val="810"/>
              </a:spcAft>
              <a:buClr>
                <a:srgbClr val="0645AD"/>
              </a:buClr>
              <a:buFont typeface="Arial"/>
              <a:buChar char="•"/>
            </a:pPr>
            <a:r>
              <a:rPr sz="1800" b="1">
                <a:solidFill>
                  <a:srgbClr val="202122"/>
                </a:solidFill>
                <a:latin typeface="Calibri"/>
              </a:rPr>
              <a:t>Action plan:</a:t>
            </a:r>
            <a:r>
              <a:rPr sz="1800" b="0">
                <a:solidFill>
                  <a:srgbClr val="202122"/>
                </a:solidFill>
                <a:latin typeface="Calibri"/>
              </a:rPr>
              <a:t> what will you do next time?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Two reflective practice models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16</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How many stages does Gibbs' cycle have?</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the final stage of Kolb's cycle?</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is Gibbs useful after a difficult call?</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Concept mapping and design thinking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17</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1">
                <a:solidFill>
                  <a:srgbClr val="202122"/>
                </a:solidFill>
                <a:latin typeface="Calibri"/>
              </a:rPr>
              <a:t>Concept mapping:</a:t>
            </a:r>
            <a:r>
              <a:rPr sz="2200" b="0">
                <a:solidFill>
                  <a:srgbClr val="202122"/>
                </a:solidFill>
                <a:latin typeface="Calibri"/>
              </a:rPr>
              <a:t> put the main idea in the centre and link related concepts to it. In digital support these are usually hardware, software, people, information and processes, joined by verb labels such as 'stores' or 'uses'. It helps you see how a system fits together.</a:t>
            </a:r>
          </a:p>
          <a:p>
            <a:pPr>
              <a:spcAft>
                <a:spcPts val="1320"/>
              </a:spcAft>
            </a:pPr>
            <a:r>
              <a:rPr sz="2200" b="1">
                <a:solidFill>
                  <a:srgbClr val="202122"/>
                </a:solidFill>
                <a:latin typeface="Calibri"/>
              </a:rPr>
              <a:t>Design thinking:</a:t>
            </a:r>
            <a:r>
              <a:rPr sz="2200" b="0">
                <a:solidFill>
                  <a:srgbClr val="202122"/>
                </a:solidFill>
                <a:latin typeface="Calibri"/>
              </a:rPr>
              <a:t> a user-centred cycle for solving problems. Empathise with users, define the real problem, ideate possible solutions, prototype one, get user feedback, then repeat. It stops you building the wrong solution to the right problem.</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concept map for email: User 'sends' Email 'via' Mail server 'protected by' Spam filter 'configured by' Technician.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Concept mapping and design thinking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18</a:t>
            </a:r>
          </a:p>
        </p:txBody>
      </p:sp>
      <p:sp>
        <p:nvSpPr>
          <p:cNvPr id="6" name="Rounded Rectangle 5"/>
          <p:cNvSpPr/>
          <p:nvPr/>
        </p:nvSpPr>
        <p:spPr>
          <a:xfrm>
            <a:off x="548640" y="1600200"/>
            <a:ext cx="5410047"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Concept mapping</a:t>
            </a:r>
          </a:p>
        </p:txBody>
      </p:sp>
      <p:sp>
        <p:nvSpPr>
          <p:cNvPr id="9" name="TextBox 8"/>
          <p:cNvSpPr txBox="1"/>
          <p:nvPr/>
        </p:nvSpPr>
        <p:spPr>
          <a:xfrm>
            <a:off x="777240" y="2468880"/>
            <a:ext cx="4952847" cy="3566160"/>
          </a:xfrm>
          <a:prstGeom prst="rect">
            <a:avLst/>
          </a:prstGeom>
          <a:noFill/>
        </p:spPr>
        <p:txBody>
          <a:bodyPr wrap="square" anchor="t" lIns="0" rIns="0" tIns="0" bIns="0"/>
          <a:lstStyle/>
          <a:p>
            <a:pPr algn="l"/>
            <a:r>
              <a:rPr sz="2000" b="0" i="0">
                <a:solidFill>
                  <a:srgbClr val="202122"/>
                </a:solidFill>
                <a:latin typeface="Calibri"/>
              </a:rPr>
              <a:t>Put the main idea in the centre, then link concepts (hardware, software, people, information, processes) using verb labels such as 'stores' or 'uses'.</a:t>
            </a:r>
          </a:p>
        </p:txBody>
      </p:sp>
      <p:sp>
        <p:nvSpPr>
          <p:cNvPr id="10" name="Rounded Rectangle 9"/>
          <p:cNvSpPr/>
          <p:nvPr/>
        </p:nvSpPr>
        <p:spPr>
          <a:xfrm>
            <a:off x="6233007" y="1600200"/>
            <a:ext cx="5410047"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Design thinking</a:t>
            </a:r>
          </a:p>
        </p:txBody>
      </p:sp>
      <p:sp>
        <p:nvSpPr>
          <p:cNvPr id="13" name="TextBox 12"/>
          <p:cNvSpPr txBox="1"/>
          <p:nvPr/>
        </p:nvSpPr>
        <p:spPr>
          <a:xfrm>
            <a:off x="6461607" y="2468880"/>
            <a:ext cx="4952847" cy="3566160"/>
          </a:xfrm>
          <a:prstGeom prst="rect">
            <a:avLst/>
          </a:prstGeom>
          <a:noFill/>
        </p:spPr>
        <p:txBody>
          <a:bodyPr wrap="square" anchor="t" lIns="0" rIns="0" tIns="0" bIns="0"/>
          <a:lstStyle/>
          <a:p>
            <a:pPr algn="l"/>
            <a:r>
              <a:rPr sz="2000" b="0" i="0">
                <a:solidFill>
                  <a:srgbClr val="202122"/>
                </a:solidFill>
                <a:latin typeface="Calibri"/>
              </a:rPr>
              <a:t>Empathise, define, ideate, prototype, get user feedback, then repeat. It keeps the user at the centre of the solution.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Concept mapping and design thinking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19</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goes in the centre of a concept map?</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the first stage of design thinking?</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get user feedback on a prototype?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20</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2200" b="0" i="0">
                <a:solidFill>
                  <a:srgbClr val="202122"/>
                </a:solidFill>
                <a:latin typeface="Calibri"/>
              </a:rPr>
              <a:t>Which approach starts with the whole problem and breaks it down?</a:t>
            </a:r>
          </a:p>
        </p:txBody>
      </p:sp>
      <p:sp>
        <p:nvSpPr>
          <p:cNvPr id="8" name="Oval 7"/>
          <p:cNvSpPr/>
          <p:nvPr/>
        </p:nvSpPr>
        <p:spPr>
          <a:xfrm>
            <a:off x="548640" y="2574950"/>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2200" b="0" i="0">
                <a:solidFill>
                  <a:srgbClr val="202122"/>
                </a:solidFill>
                <a:latin typeface="Calibri"/>
              </a:rPr>
              <a:t>What is the difference between an incident and a problem?</a:t>
            </a:r>
          </a:p>
        </p:txBody>
      </p:sp>
      <p:sp>
        <p:nvSpPr>
          <p:cNvPr id="10" name="Oval 9"/>
          <p:cNvSpPr/>
          <p:nvPr/>
        </p:nvSpPr>
        <p:spPr>
          <a:xfrm>
            <a:off x="548640" y="3531412"/>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2200" b="0" i="0">
                <a:solidFill>
                  <a:srgbClr val="202122"/>
                </a:solidFill>
                <a:latin typeface="Calibri"/>
              </a:rPr>
              <a:t>Name the three stages of incident management.</a:t>
            </a:r>
          </a:p>
        </p:txBody>
      </p:sp>
      <p:sp>
        <p:nvSpPr>
          <p:cNvPr id="12" name="Oval 11"/>
          <p:cNvSpPr/>
          <p:nvPr/>
        </p:nvSpPr>
        <p:spPr>
          <a:xfrm>
            <a:off x="548640" y="4487875"/>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2200" b="0" i="0">
                <a:solidFill>
                  <a:srgbClr val="202122"/>
                </a:solidFill>
                <a:latin typeface="Calibri"/>
              </a:rPr>
              <a:t>What does FMEA stand for?</a:t>
            </a:r>
          </a:p>
        </p:txBody>
      </p:sp>
      <p:sp>
        <p:nvSpPr>
          <p:cNvPr id="14" name="Oval 13"/>
          <p:cNvSpPr/>
          <p:nvPr/>
        </p:nvSpPr>
        <p:spPr>
          <a:xfrm>
            <a:off x="548640" y="5444337"/>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2200" b="0" i="0">
                <a:solidFill>
                  <a:srgbClr val="202122"/>
                </a:solidFill>
                <a:latin typeface="Calibri"/>
              </a:rPr>
              <a:t>What is the final stage of Gibbs' Reflective Cycle?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21</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1800" b="0" i="0">
                <a:solidFill>
                  <a:srgbClr val="54595D"/>
                </a:solidFill>
                <a:latin typeface="Calibri"/>
              </a:rPr>
              <a:t>Which approach starts with the whole problem and breaks it down?</a:t>
            </a:r>
          </a:p>
          <a:p>
            <a:r>
              <a:rPr sz="1800" b="1">
                <a:solidFill>
                  <a:srgbClr val="03306E"/>
                </a:solidFill>
                <a:latin typeface="Calibri"/>
              </a:rPr>
              <a:t>Top-down.</a:t>
            </a:r>
          </a:p>
        </p:txBody>
      </p:sp>
      <p:sp>
        <p:nvSpPr>
          <p:cNvPr id="8" name="Oval 7"/>
          <p:cNvSpPr/>
          <p:nvPr/>
        </p:nvSpPr>
        <p:spPr>
          <a:xfrm>
            <a:off x="548640" y="2574950"/>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1800" b="0" i="0">
                <a:solidFill>
                  <a:srgbClr val="54595D"/>
                </a:solidFill>
                <a:latin typeface="Calibri"/>
              </a:rPr>
              <a:t>What is the difference between an incident and a problem?</a:t>
            </a:r>
          </a:p>
          <a:p>
            <a:r>
              <a:rPr sz="1800" b="1">
                <a:solidFill>
                  <a:srgbClr val="03306E"/>
                </a:solidFill>
                <a:latin typeface="Calibri"/>
              </a:rPr>
              <a:t>An incident is a single unplanned disruption; a problem is its underlying cause.</a:t>
            </a:r>
          </a:p>
        </p:txBody>
      </p:sp>
      <p:sp>
        <p:nvSpPr>
          <p:cNvPr id="10" name="Oval 9"/>
          <p:cNvSpPr/>
          <p:nvPr/>
        </p:nvSpPr>
        <p:spPr>
          <a:xfrm>
            <a:off x="548640" y="3531412"/>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1800" b="0" i="0">
                <a:solidFill>
                  <a:srgbClr val="54595D"/>
                </a:solidFill>
                <a:latin typeface="Calibri"/>
              </a:rPr>
              <a:t>Name the three stages of incident management.</a:t>
            </a:r>
          </a:p>
          <a:p>
            <a:r>
              <a:rPr sz="1800" b="1">
                <a:solidFill>
                  <a:srgbClr val="03306E"/>
                </a:solidFill>
                <a:latin typeface="Calibri"/>
              </a:rPr>
              <a:t>Detection, response, intelligence.</a:t>
            </a:r>
          </a:p>
        </p:txBody>
      </p:sp>
      <p:sp>
        <p:nvSpPr>
          <p:cNvPr id="12" name="Oval 11"/>
          <p:cNvSpPr/>
          <p:nvPr/>
        </p:nvSpPr>
        <p:spPr>
          <a:xfrm>
            <a:off x="548640" y="4487875"/>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1800" b="0" i="0">
                <a:solidFill>
                  <a:srgbClr val="54595D"/>
                </a:solidFill>
                <a:latin typeface="Calibri"/>
              </a:rPr>
              <a:t>What does FMEA stand for?</a:t>
            </a:r>
          </a:p>
          <a:p>
            <a:r>
              <a:rPr sz="1800" b="1">
                <a:solidFill>
                  <a:srgbClr val="03306E"/>
                </a:solidFill>
                <a:latin typeface="Calibri"/>
              </a:rPr>
              <a:t>Failure Mode and Effects Analysis.</a:t>
            </a:r>
          </a:p>
        </p:txBody>
      </p:sp>
      <p:sp>
        <p:nvSpPr>
          <p:cNvPr id="14" name="Oval 13"/>
          <p:cNvSpPr/>
          <p:nvPr/>
        </p:nvSpPr>
        <p:spPr>
          <a:xfrm>
            <a:off x="548640" y="5444337"/>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1800" b="0" i="0">
                <a:solidFill>
                  <a:srgbClr val="54595D"/>
                </a:solidFill>
                <a:latin typeface="Calibri"/>
              </a:rPr>
              <a:t>What is the final stage of Gibbs' Reflective Cycle?</a:t>
            </a:r>
          </a:p>
          <a:p>
            <a:r>
              <a:rPr sz="1800" b="1">
                <a:solidFill>
                  <a:srgbClr val="03306E"/>
                </a:solidFill>
                <a:latin typeface="Calibri"/>
              </a:rPr>
              <a:t>Action plan.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Five whys on a real fault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Problem-Solving Strategies and Reflective Practice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22</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Small groups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Scenario: staff in one office keep losing their Wi-Fi connection every afternoon.</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Use the five whys to reach a believable root cause.</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Decide whether to log, close or escalate it, and to whom.</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Write a short Gibbs reflection as the technician who fixed it.</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Each 'why' follows logically from the last</a:t>
            </a:r>
          </a:p>
          <a:p>
            <a:pPr marL="274320" indent="-274320">
              <a:spcAft>
                <a:spcPts val="810"/>
              </a:spcAft>
              <a:buClr>
                <a:srgbClr val="0645AD"/>
              </a:buClr>
              <a:buFont typeface="Arial"/>
              <a:buChar char="•"/>
            </a:pPr>
            <a:r>
              <a:rPr sz="1800" b="0">
                <a:solidFill>
                  <a:srgbClr val="202122"/>
                </a:solidFill>
                <a:latin typeface="Calibri"/>
              </a:rPr>
              <a:t>Root cause is a cause, not a symptom</a:t>
            </a:r>
          </a:p>
          <a:p>
            <a:pPr marL="274320" indent="-274320">
              <a:spcAft>
                <a:spcPts val="810"/>
              </a:spcAft>
              <a:buClr>
                <a:srgbClr val="0645AD"/>
              </a:buClr>
              <a:buFont typeface="Arial"/>
              <a:buChar char="•"/>
            </a:pPr>
            <a:r>
              <a:rPr sz="1800" b="0">
                <a:solidFill>
                  <a:srgbClr val="202122"/>
                </a:solidFill>
                <a:latin typeface="Calibri"/>
              </a:rPr>
              <a:t>Escalation decision is justified</a:t>
            </a:r>
          </a:p>
          <a:p>
            <a:pPr marL="274320" indent="-274320">
              <a:spcAft>
                <a:spcPts val="810"/>
              </a:spcAft>
              <a:buClr>
                <a:srgbClr val="0645AD"/>
              </a:buClr>
              <a:buFont typeface="Arial"/>
              <a:buChar char="•"/>
            </a:pPr>
            <a:r>
              <a:rPr sz="1800" b="0">
                <a:solidFill>
                  <a:srgbClr val="202122"/>
                </a:solidFill>
                <a:latin typeface="Calibri"/>
              </a:rPr>
              <a:t>All six Gibbs stages are covered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Give one example of a digital incident and its possible underlying problem.</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When would modularisation be a good approach?</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Which reflective model would you choose after a stressful call, and why?</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Core Paper 1: Problem Solving, Digital Support and Data</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https://lana6478.github.io/Digital-Suport-and-security-T-levle/#/01-core-component/01-core-paper-1.md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Problem-Solving Strategies and Reflective Practice</dc:title>
  <dc:subject>Digital Support and Security T Level: Core Paper 1</dc:subject>
  <dc:creator>Samuel O'Connell</dc:creator>
  <cp:keywords>T Level; Digital Support and Security; lesson slides; 1.3, 2.10</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