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Creates and manages virtual machines.</a:t>
            </a:r>
          </a:p>
          <a:p>
            <a:r>
              <a:t>2. Directly on the hardware.</a:t>
            </a:r>
          </a:p>
          <a:p>
            <a:r>
              <a:t>3. E.g. lower cost at scale, easy recovery, safe testing.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User accounts and data.</a:t>
            </a:r>
          </a:p>
          <a:p>
            <a:r>
              <a:t>2. IaaS.</a:t>
            </a:r>
          </a:p>
          <a:p>
            <a:r>
              <a:t>3. Scaling resources up and down as demand changes.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Benefits of resilience: better security, better reputation and less downtime.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Duplicate components so one failure doesn't stop the service.</a:t>
            </a:r>
          </a:p>
          <a:p>
            <a:r>
              <a:t>2. Removing unneeded ports, apps and permissions.</a:t>
            </a:r>
          </a:p>
          <a:p>
            <a:r>
              <a:t>3. So it survives a fire, flood or theft at the main site.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 hot site.</a:t>
            </a:r>
          </a:p>
          <a:p>
            <a:r>
              <a:t>2. Data restored from backups.</a:t>
            </a:r>
          </a:p>
          <a:p>
            <a:r>
              <a:t>3. It's the cheapest option if longer downtime is acceptable.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CORE COMPONENT</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Virtual, Cloud and Resilient Environments</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Paper 2</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7.4, 7.5, 7.6</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Support and Security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Virtual, Cloud and Resilient Environments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4028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14400"/>
          </a:xfrm>
          <a:prstGeom prst="rect">
            <a:avLst/>
          </a:prstGeom>
          <a:noFill/>
        </p:spPr>
        <p:txBody>
          <a:bodyPr wrap="square" anchor="ctr" lIns="0" rIns="0" tIns="0" bIns="0"/>
          <a:lstStyle/>
          <a:p>
            <a:pPr algn="l"/>
            <a:r>
              <a:rPr sz="2000" b="0" i="0">
                <a:solidFill>
                  <a:srgbClr val="202122"/>
                </a:solidFill>
                <a:latin typeface="Calibri"/>
              </a:rPr>
              <a:t>Describe virtual machines, hypervisors and the benefits and drawbacks of virtualisation.</a:t>
            </a:r>
          </a:p>
        </p:txBody>
      </p:sp>
      <p:sp>
        <p:nvSpPr>
          <p:cNvPr id="9" name="Oval 8"/>
          <p:cNvSpPr/>
          <p:nvPr/>
        </p:nvSpPr>
        <p:spPr>
          <a:xfrm>
            <a:off x="548640" y="329184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63240"/>
            <a:ext cx="6035040" cy="914400"/>
          </a:xfrm>
          <a:prstGeom prst="rect">
            <a:avLst/>
          </a:prstGeom>
          <a:noFill/>
        </p:spPr>
        <p:txBody>
          <a:bodyPr wrap="square" anchor="ctr" lIns="0" rIns="0" tIns="0" bIns="0"/>
          <a:lstStyle/>
          <a:p>
            <a:pPr algn="l"/>
            <a:r>
              <a:rPr sz="2000" b="0" i="0">
                <a:solidFill>
                  <a:srgbClr val="202122"/>
                </a:solidFill>
                <a:latin typeface="Calibri"/>
              </a:rPr>
              <a:t>Compare private and public cloud and the IaaS, PaaS and SaaS models.</a:t>
            </a:r>
          </a:p>
        </p:txBody>
      </p:sp>
      <p:sp>
        <p:nvSpPr>
          <p:cNvPr id="11" name="Oval 10"/>
          <p:cNvSpPr/>
          <p:nvPr/>
        </p:nvSpPr>
        <p:spPr>
          <a:xfrm>
            <a:off x="548640" y="43434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114800"/>
            <a:ext cx="6035040" cy="914400"/>
          </a:xfrm>
          <a:prstGeom prst="rect">
            <a:avLst/>
          </a:prstGeom>
          <a:noFill/>
        </p:spPr>
        <p:txBody>
          <a:bodyPr wrap="square" anchor="ctr" lIns="0" rIns="0" tIns="0" bIns="0"/>
          <a:lstStyle/>
          <a:p>
            <a:pPr algn="l"/>
            <a:r>
              <a:rPr sz="2000" b="0" i="0">
                <a:solidFill>
                  <a:srgbClr val="202122"/>
                </a:solidFill>
                <a:latin typeface="Calibri"/>
              </a:rPr>
              <a:t>Explain methods to make a digital environment resilient.</a:t>
            </a:r>
          </a:p>
        </p:txBody>
      </p:sp>
      <p:sp>
        <p:nvSpPr>
          <p:cNvPr id="13" name="Rounded Rectangle 12"/>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5" name="TextBox 14"/>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If your college's server room flooded tonight, what would still work tomorrow morning? What would not?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Virtual environments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Virtual, Cloud and Resilient Environments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Virtualisation runs several virtual machines (VMs) on one physical computer, each behaving like a separate PC, server, switch or router.</a:t>
            </a:r>
          </a:p>
          <a:p>
            <a:pPr>
              <a:spcAft>
                <a:spcPts val="1200"/>
              </a:spcAft>
            </a:pPr>
            <a:r>
              <a:rPr sz="2000" b="0">
                <a:solidFill>
                  <a:srgbClr val="202122"/>
                </a:solidFill>
                <a:latin typeface="Calibri"/>
              </a:rPr>
              <a:t>A hypervisor manages them. A Type 1 hypervisor runs directly on the hardware and is used in data centres. A Type 2 runs on top of a normal OS, like VirtualBox on a laptop.</a:t>
            </a:r>
          </a:p>
          <a:p>
            <a:pPr>
              <a:spcAft>
                <a:spcPts val="1200"/>
              </a:spcAft>
            </a:pPr>
            <a:r>
              <a:rPr sz="2000" b="0">
                <a:solidFill>
                  <a:srgbClr val="202122"/>
                </a:solidFill>
                <a:latin typeface="Calibri"/>
              </a:rPr>
              <a:t>VMs are isolated, portable and easy to copy, so they're cost-effective at scale, easy to manage, and great for disaster recovery, testing and training.</a:t>
            </a:r>
          </a:p>
          <a:p>
            <a:pPr>
              <a:spcAft>
                <a:spcPts val="1200"/>
              </a:spcAft>
            </a:pPr>
            <a:r>
              <a:rPr sz="2000" b="1">
                <a:solidFill>
                  <a:srgbClr val="202122"/>
                </a:solidFill>
                <a:latin typeface="Calibri"/>
              </a:rPr>
              <a:t>The downsides:</a:t>
            </a:r>
            <a:r>
              <a:rPr sz="2000" b="0">
                <a:solidFill>
                  <a:srgbClr val="202122"/>
                </a:solidFill>
                <a:latin typeface="Calibri"/>
              </a:rPr>
              <a:t> they put extra load on the hardware, run a little slower, and performance figures can be misleading.</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college runs 40 student VMs on two physical servers. If a student breaks theirs, the technician restores it from a snapshot in minutes.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Virtual environments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Virtual, Cloud and Resilient Environments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Components and features</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1">
                <a:solidFill>
                  <a:srgbClr val="202122"/>
                </a:solidFill>
                <a:latin typeface="Calibri"/>
              </a:rPr>
              <a:t>Virtual machines:</a:t>
            </a:r>
            <a:r>
              <a:rPr sz="2200" b="0">
                <a:solidFill>
                  <a:srgbClr val="202122"/>
                </a:solidFill>
                <a:latin typeface="Calibri"/>
              </a:rPr>
              <a:t> PCs, switches, routers, servers</a:t>
            </a:r>
          </a:p>
          <a:p>
            <a:pPr marL="274320" indent="-274320">
              <a:spcAft>
                <a:spcPts val="990"/>
              </a:spcAft>
              <a:buClr>
                <a:srgbClr val="0645AD"/>
              </a:buClr>
              <a:buFont typeface="Arial"/>
              <a:buChar char="•"/>
            </a:pPr>
            <a:r>
              <a:rPr sz="2200" b="0">
                <a:solidFill>
                  <a:srgbClr val="202122"/>
                </a:solidFill>
                <a:latin typeface="Calibri"/>
              </a:rPr>
              <a:t>Type 1 hypervisor runs directly on hardware</a:t>
            </a:r>
          </a:p>
          <a:p>
            <a:pPr marL="274320" indent="-274320">
              <a:spcAft>
                <a:spcPts val="990"/>
              </a:spcAft>
              <a:buClr>
                <a:srgbClr val="0645AD"/>
              </a:buClr>
              <a:buFont typeface="Arial"/>
              <a:buChar char="•"/>
            </a:pPr>
            <a:r>
              <a:rPr sz="2200" b="0">
                <a:solidFill>
                  <a:srgbClr val="202122"/>
                </a:solidFill>
                <a:latin typeface="Calibri"/>
              </a:rPr>
              <a:t>Type 2 hypervisor runs on top of an OS</a:t>
            </a:r>
          </a:p>
          <a:p>
            <a:pPr marL="274320" indent="-274320">
              <a:spcAft>
                <a:spcPts val="990"/>
              </a:spcAft>
              <a:buClr>
                <a:srgbClr val="0645AD"/>
              </a:buClr>
              <a:buFont typeface="Arial"/>
              <a:buChar char="•"/>
            </a:pPr>
            <a:r>
              <a:rPr sz="2200" b="1">
                <a:solidFill>
                  <a:srgbClr val="202122"/>
                </a:solidFill>
                <a:latin typeface="Calibri"/>
              </a:rPr>
              <a:t>Features:</a:t>
            </a:r>
            <a:r>
              <a:rPr sz="2200" b="0">
                <a:solidFill>
                  <a:srgbClr val="202122"/>
                </a:solidFill>
                <a:latin typeface="Calibri"/>
              </a:rPr>
              <a:t> isolation, emulation, portability, sharing</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Benefits and drawbacks</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855"/>
              </a:spcAft>
              <a:buClr>
                <a:srgbClr val="0645AD"/>
              </a:buClr>
              <a:buFont typeface="Arial"/>
              <a:buChar char="•"/>
            </a:pPr>
            <a:r>
              <a:rPr sz="1900" b="0">
                <a:solidFill>
                  <a:srgbClr val="202122"/>
                </a:solidFill>
                <a:latin typeface="Calibri"/>
              </a:rPr>
              <a:t>Cost-effective at scale and easy to manage</a:t>
            </a:r>
          </a:p>
          <a:p>
            <a:pPr marL="274320" indent="-274320">
              <a:spcAft>
                <a:spcPts val="855"/>
              </a:spcAft>
              <a:buClr>
                <a:srgbClr val="0645AD"/>
              </a:buClr>
              <a:buFont typeface="Arial"/>
              <a:buChar char="•"/>
            </a:pPr>
            <a:r>
              <a:rPr sz="1900" b="0">
                <a:solidFill>
                  <a:srgbClr val="202122"/>
                </a:solidFill>
                <a:latin typeface="Calibri"/>
              </a:rPr>
              <a:t>Resilient, better disaster recovery and testing</a:t>
            </a:r>
          </a:p>
          <a:p>
            <a:pPr marL="274320" indent="-274320">
              <a:spcAft>
                <a:spcPts val="855"/>
              </a:spcAft>
              <a:buClr>
                <a:srgbClr val="0645AD"/>
              </a:buClr>
              <a:buFont typeface="Arial"/>
              <a:buChar char="•"/>
            </a:pPr>
            <a:r>
              <a:rPr sz="1900" b="0">
                <a:solidFill>
                  <a:srgbClr val="202122"/>
                </a:solidFill>
                <a:latin typeface="Calibri"/>
              </a:rPr>
              <a:t>Possibly lower carbon footprint</a:t>
            </a:r>
          </a:p>
          <a:p>
            <a:pPr marL="274320" indent="-274320">
              <a:spcAft>
                <a:spcPts val="855"/>
              </a:spcAft>
              <a:buClr>
                <a:srgbClr val="0645AD"/>
              </a:buClr>
              <a:buFont typeface="Arial"/>
              <a:buChar char="•"/>
            </a:pPr>
            <a:r>
              <a:rPr sz="1900" b="1">
                <a:solidFill>
                  <a:srgbClr val="202122"/>
                </a:solidFill>
                <a:latin typeface="Calibri"/>
              </a:rPr>
              <a:t>But:</a:t>
            </a:r>
            <a:r>
              <a:rPr sz="1900" b="0">
                <a:solidFill>
                  <a:srgbClr val="202122"/>
                </a:solidFill>
                <a:latin typeface="Calibri"/>
              </a:rPr>
              <a:t> extra load on hardware and slower execution</a:t>
            </a:r>
          </a:p>
          <a:p>
            <a:pPr marL="274320" indent="-274320">
              <a:spcAft>
                <a:spcPts val="855"/>
              </a:spcAft>
              <a:buClr>
                <a:srgbClr val="0645AD"/>
              </a:buClr>
              <a:buFont typeface="Arial"/>
              <a:buChar char="•"/>
            </a:pPr>
            <a:r>
              <a:rPr sz="1900" b="1">
                <a:solidFill>
                  <a:srgbClr val="202122"/>
                </a:solidFill>
                <a:latin typeface="Calibri"/>
              </a:rPr>
              <a:t>But:</a:t>
            </a:r>
            <a:r>
              <a:rPr sz="1900" b="0">
                <a:solidFill>
                  <a:srgbClr val="202122"/>
                </a:solidFill>
                <a:latin typeface="Calibri"/>
              </a:rPr>
              <a:t> performance figures can be misleading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Virtual environments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Virtual, Cloud and Resilient Environments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does a hypervisor do?</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Where does a Type 1 hypervisor run?</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Give one benefit of virtualisation.</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Cloud delivery models: who manages what?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Virtual, Cloud and Resilient Environments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080"/>
              </a:spcAft>
            </a:pPr>
            <a:r>
              <a:rPr sz="1800" b="0">
                <a:solidFill>
                  <a:srgbClr val="202122"/>
                </a:solidFill>
                <a:latin typeface="Calibri"/>
              </a:rPr>
              <a:t>Cloud computing rents computing resources over the internet. It can be public (shared provider infrastructure) or private (dedicated to one organisation). Its benefits are portability, elasticity (scaling up and down), fewer storage limits and cost.</a:t>
            </a:r>
          </a:p>
          <a:p>
            <a:pPr>
              <a:spcAft>
                <a:spcPts val="1080"/>
              </a:spcAft>
            </a:pPr>
            <a:r>
              <a:rPr sz="1800" b="0">
                <a:solidFill>
                  <a:srgbClr val="202122"/>
                </a:solidFill>
                <a:latin typeface="Calibri"/>
              </a:rPr>
              <a:t>The three delivery models differ in who manages what.</a:t>
            </a:r>
          </a:p>
          <a:p>
            <a:pPr>
              <a:spcAft>
                <a:spcPts val="1080"/>
              </a:spcAft>
            </a:pPr>
            <a:r>
              <a:rPr sz="1800" b="1">
                <a:solidFill>
                  <a:srgbClr val="202122"/>
                </a:solidFill>
                <a:latin typeface="Calibri"/>
              </a:rPr>
              <a:t>IaaS (Infrastructure as a Service):</a:t>
            </a:r>
            <a:r>
              <a:rPr sz="1800" b="0">
                <a:solidFill>
                  <a:srgbClr val="202122"/>
                </a:solidFill>
                <a:latin typeface="Calibri"/>
              </a:rPr>
              <a:t> the provider supplies virtual hardware; you manage the OS and everything above it.</a:t>
            </a:r>
          </a:p>
          <a:p>
            <a:pPr>
              <a:spcAft>
                <a:spcPts val="1080"/>
              </a:spcAft>
            </a:pPr>
            <a:r>
              <a:rPr sz="1800" b="1">
                <a:solidFill>
                  <a:srgbClr val="202122"/>
                </a:solidFill>
                <a:latin typeface="Calibri"/>
              </a:rPr>
              <a:t>PaaS (Platform as a Service):</a:t>
            </a:r>
            <a:r>
              <a:rPr sz="1800" b="0">
                <a:solidFill>
                  <a:srgbClr val="202122"/>
                </a:solidFill>
                <a:latin typeface="Calibri"/>
              </a:rPr>
              <a:t> the provider also manages the OS and runtime; you manage your applications and data.</a:t>
            </a:r>
          </a:p>
          <a:p>
            <a:pPr>
              <a:spcAft>
                <a:spcPts val="1080"/>
              </a:spcAft>
            </a:pPr>
            <a:r>
              <a:rPr sz="1800" b="1">
                <a:solidFill>
                  <a:srgbClr val="202122"/>
                </a:solidFill>
                <a:latin typeface="Calibri"/>
              </a:rPr>
              <a:t>SaaS (Software as a Service):</a:t>
            </a:r>
            <a:r>
              <a:rPr sz="1800" b="0">
                <a:solidFill>
                  <a:srgbClr val="202122"/>
                </a:solidFill>
                <a:latin typeface="Calibri"/>
              </a:rPr>
              <a:t> the provider runs everything; you just manage users and data.</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Renting virtual servers on AWS is IaaS; deploying code to a managed app platform is PaaS; using Microsoft 365 is SaaS.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Cloud delivery models: who manages what?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Virtual, Cloud and Resilient Environments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graphicFrame>
        <p:nvGraphicFramePr>
          <p:cNvPr id="6" name="Table 5"/>
          <p:cNvGraphicFramePr>
            <a:graphicFrameLocks noGrp="1"/>
          </p:cNvGraphicFramePr>
          <p:nvPr/>
        </p:nvGraphicFramePr>
        <p:xfrm>
          <a:off x="548640" y="1600200"/>
          <a:ext cx="11094413" cy="3977640"/>
        </p:xfrm>
        <a:graphic>
          <a:graphicData uri="http://schemas.openxmlformats.org/drawingml/2006/table">
            <a:tbl>
              <a:tblPr firstRow="1" bandRow="1">
                <a:tableStyleId>{5C22544A-7EE6-4342-B048-85BDC9FD1C3A}</a:tableStyleId>
              </a:tblPr>
              <a:tblGrid>
                <a:gridCol w="1548057"/>
                <a:gridCol w="4773178"/>
                <a:gridCol w="4773178"/>
              </a:tblGrid>
              <a:tr h="994410">
                <a:tc>
                  <a:txBody>
                    <a:bodyPr wrap="square"/>
                    <a:lstStyle/>
                    <a:p>
                      <a:r>
                        <a:rPr sz="1600" b="1">
                          <a:solidFill>
                            <a:srgbClr val="FFFFFF"/>
                          </a:solidFill>
                          <a:latin typeface="Calibri"/>
                        </a:rPr>
                        <a:t>Model</a:t>
                      </a:r>
                    </a:p>
                  </a:txBody>
                  <a:tcPr marL="91440" marR="91440" anchor="ctr">
                    <a:solidFill>
                      <a:srgbClr val="03306E"/>
                    </a:solidFill>
                  </a:tcPr>
                </a:tc>
                <a:tc>
                  <a:txBody>
                    <a:bodyPr wrap="square"/>
                    <a:lstStyle/>
                    <a:p>
                      <a:r>
                        <a:rPr sz="1600" b="1">
                          <a:solidFill>
                            <a:srgbClr val="FFFFFF"/>
                          </a:solidFill>
                          <a:latin typeface="Calibri"/>
                        </a:rPr>
                        <a:t>Client manages</a:t>
                      </a:r>
                    </a:p>
                  </a:txBody>
                  <a:tcPr marL="91440" marR="91440" anchor="ctr">
                    <a:solidFill>
                      <a:srgbClr val="03306E"/>
                    </a:solidFill>
                  </a:tcPr>
                </a:tc>
                <a:tc>
                  <a:txBody>
                    <a:bodyPr wrap="square"/>
                    <a:lstStyle/>
                    <a:p>
                      <a:r>
                        <a:rPr sz="1600" b="1">
                          <a:solidFill>
                            <a:srgbClr val="FFFFFF"/>
                          </a:solidFill>
                          <a:latin typeface="Calibri"/>
                        </a:rPr>
                        <a:t>Provider manages</a:t>
                      </a:r>
                    </a:p>
                  </a:txBody>
                  <a:tcPr marL="91440" marR="91440" anchor="ctr">
                    <a:solidFill>
                      <a:srgbClr val="03306E"/>
                    </a:solidFill>
                  </a:tcPr>
                </a:tc>
              </a:tr>
              <a:tr h="994410">
                <a:tc>
                  <a:txBody>
                    <a:bodyPr wrap="square"/>
                    <a:lstStyle/>
                    <a:p>
                      <a:r>
                        <a:rPr sz="1600" b="1">
                          <a:solidFill>
                            <a:srgbClr val="03306E"/>
                          </a:solidFill>
                          <a:latin typeface="Calibri"/>
                        </a:rPr>
                        <a:t>IaaS</a:t>
                      </a:r>
                    </a:p>
                  </a:txBody>
                  <a:tcPr marL="91440" marR="91440" anchor="ctr">
                    <a:solidFill>
                      <a:srgbClr val="FFFFFF"/>
                    </a:solidFill>
                  </a:tcPr>
                </a:tc>
                <a:tc>
                  <a:txBody>
                    <a:bodyPr wrap="square"/>
                    <a:lstStyle/>
                    <a:p>
                      <a:r>
                        <a:rPr sz="1600" b="0">
                          <a:solidFill>
                            <a:srgbClr val="202122"/>
                          </a:solidFill>
                          <a:latin typeface="Calibri"/>
                        </a:rPr>
                        <a:t>Applications, OS and middleware, runtime, data, user accounts</a:t>
                      </a:r>
                    </a:p>
                  </a:txBody>
                  <a:tcPr marL="91440" marR="91440" anchor="ctr">
                    <a:solidFill>
                      <a:srgbClr val="FFFFFF"/>
                    </a:solidFill>
                  </a:tcPr>
                </a:tc>
                <a:tc>
                  <a:txBody>
                    <a:bodyPr wrap="square"/>
                    <a:lstStyle/>
                    <a:p>
                      <a:r>
                        <a:rPr sz="1600" b="0">
                          <a:solidFill>
                            <a:srgbClr val="202122"/>
                          </a:solidFill>
                          <a:latin typeface="Calibri"/>
                        </a:rPr>
                        <a:t>Virtualisation and hardware</a:t>
                      </a:r>
                    </a:p>
                  </a:txBody>
                  <a:tcPr marL="91440" marR="91440" anchor="ctr">
                    <a:solidFill>
                      <a:srgbClr val="FFFFFF"/>
                    </a:solidFill>
                  </a:tcPr>
                </a:tc>
              </a:tr>
              <a:tr h="994410">
                <a:tc>
                  <a:txBody>
                    <a:bodyPr wrap="square"/>
                    <a:lstStyle/>
                    <a:p>
                      <a:r>
                        <a:rPr sz="1600" b="1">
                          <a:solidFill>
                            <a:srgbClr val="03306E"/>
                          </a:solidFill>
                          <a:latin typeface="Calibri"/>
                        </a:rPr>
                        <a:t>PaaS</a:t>
                      </a:r>
                    </a:p>
                  </a:txBody>
                  <a:tcPr marL="91440" marR="91440" anchor="ctr">
                    <a:solidFill>
                      <a:srgbClr val="EAF3FF"/>
                    </a:solidFill>
                  </a:tcPr>
                </a:tc>
                <a:tc>
                  <a:txBody>
                    <a:bodyPr wrap="square"/>
                    <a:lstStyle/>
                    <a:p>
                      <a:r>
                        <a:rPr sz="1600" b="0">
                          <a:solidFill>
                            <a:srgbClr val="202122"/>
                          </a:solidFill>
                          <a:latin typeface="Calibri"/>
                        </a:rPr>
                        <a:t>Applications, data, user accounts</a:t>
                      </a:r>
                    </a:p>
                  </a:txBody>
                  <a:tcPr marL="91440" marR="91440" anchor="ctr">
                    <a:solidFill>
                      <a:srgbClr val="EAF3FF"/>
                    </a:solidFill>
                  </a:tcPr>
                </a:tc>
                <a:tc>
                  <a:txBody>
                    <a:bodyPr wrap="square"/>
                    <a:lstStyle/>
                    <a:p>
                      <a:r>
                        <a:rPr sz="1600" b="0">
                          <a:solidFill>
                            <a:srgbClr val="202122"/>
                          </a:solidFill>
                          <a:latin typeface="Calibri"/>
                        </a:rPr>
                        <a:t>Hardware, virtualisation, OS and runtime</a:t>
                      </a:r>
                    </a:p>
                  </a:txBody>
                  <a:tcPr marL="91440" marR="91440" anchor="ctr">
                    <a:solidFill>
                      <a:srgbClr val="EAF3FF"/>
                    </a:solidFill>
                  </a:tcPr>
                </a:tc>
              </a:tr>
              <a:tr h="994410">
                <a:tc>
                  <a:txBody>
                    <a:bodyPr wrap="square"/>
                    <a:lstStyle/>
                    <a:p>
                      <a:r>
                        <a:rPr sz="1600" b="1">
                          <a:solidFill>
                            <a:srgbClr val="03306E"/>
                          </a:solidFill>
                          <a:latin typeface="Calibri"/>
                        </a:rPr>
                        <a:t>SaaS</a:t>
                      </a:r>
                    </a:p>
                  </a:txBody>
                  <a:tcPr marL="91440" marR="91440" anchor="ctr">
                    <a:solidFill>
                      <a:srgbClr val="FFFFFF"/>
                    </a:solidFill>
                  </a:tcPr>
                </a:tc>
                <a:tc>
                  <a:txBody>
                    <a:bodyPr wrap="square"/>
                    <a:lstStyle/>
                    <a:p>
                      <a:r>
                        <a:rPr sz="1600" b="0">
                          <a:solidFill>
                            <a:srgbClr val="202122"/>
                          </a:solidFill>
                          <a:latin typeface="Calibri"/>
                        </a:rPr>
                        <a:t>User accounts and data</a:t>
                      </a:r>
                    </a:p>
                  </a:txBody>
                  <a:tcPr marL="91440" marR="91440" anchor="ctr">
                    <a:solidFill>
                      <a:srgbClr val="FFFFFF"/>
                    </a:solidFill>
                  </a:tcPr>
                </a:tc>
                <a:tc>
                  <a:txBody>
                    <a:bodyPr wrap="square"/>
                    <a:lstStyle/>
                    <a:p>
                      <a:r>
                        <a:rPr sz="1600" b="0">
                          <a:solidFill>
                            <a:srgbClr val="202122"/>
                          </a:solidFill>
                          <a:latin typeface="Calibri"/>
                        </a:rPr>
                        <a:t>Everything else, including the application</a:t>
                      </a:r>
                    </a:p>
                  </a:txBody>
                  <a:tcPr marL="91440" marR="91440" anchor="ctr">
                    <a:solidFill>
                      <a:srgbClr val="FFFFFF"/>
                    </a:solidFill>
                  </a:tcPr>
                </a:tc>
              </a:tr>
            </a:tbl>
          </a:graphicData>
        </a:graphic>
      </p:graphicFrame>
      <p:sp>
        <p:nvSpPr>
          <p:cNvPr id="7" name="TextBox 6"/>
          <p:cNvSpPr txBox="1"/>
          <p:nvPr/>
        </p:nvSpPr>
        <p:spPr>
          <a:xfrm>
            <a:off x="548640" y="5715000"/>
            <a:ext cx="11094415" cy="457200"/>
          </a:xfrm>
          <a:prstGeom prst="rect">
            <a:avLst/>
          </a:prstGeom>
          <a:noFill/>
        </p:spPr>
        <p:txBody>
          <a:bodyPr wrap="square" anchor="t" lIns="0" rIns="0" tIns="0" bIns="0"/>
          <a:lstStyle/>
          <a:p>
            <a:pPr algn="l"/>
            <a:r>
              <a:rPr sz="1300" b="0" i="1">
                <a:solidFill>
                  <a:srgbClr val="54595D"/>
                </a:solidFill>
                <a:latin typeface="Calibri"/>
              </a:rPr>
              <a:t>Cloud can be private or public. Benefits: portability, elasticity, fewer storage limits, cost-effectiveness.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100" b="1" i="0">
                <a:solidFill>
                  <a:srgbClr val="03306E"/>
                </a:solidFill>
                <a:latin typeface="Cambria"/>
              </a:rPr>
              <a:t>Quick check: Cloud delivery models: who manages what?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Virtual, Cloud and Resilient Environments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In SaaS, what does the client manage?</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Which model gives the client the most control?</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is elasticity?</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Making environments resilient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Virtual, Cloud and Resilient Environments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A resilient environment keeps working, or recovers quickly, when something goes wrong. It improves security, protects reputation and reduces downtime.</a:t>
            </a:r>
          </a:p>
          <a:p>
            <a:pPr>
              <a:spcAft>
                <a:spcPts val="1320"/>
              </a:spcAft>
            </a:pPr>
            <a:r>
              <a:rPr sz="2200" b="1">
                <a:solidFill>
                  <a:srgbClr val="202122"/>
                </a:solidFill>
                <a:latin typeface="Calibri"/>
              </a:rPr>
              <a:t>Methods include:</a:t>
            </a:r>
            <a:r>
              <a:rPr sz="2200" b="0">
                <a:solidFill>
                  <a:srgbClr val="202122"/>
                </a:solidFill>
                <a:latin typeface="Calibri"/>
              </a:rPr>
              <a:t> applying software updates and patches; replacing hardware on a rolling plan and disposing of old kit securely; building in redundancy so no single failure stops the service; hardening devices by removing unneeded ports, apps and permissions; backing up onsite, offsite and to the cloud with tested recovery procedures; and standard operating procedures with training so staff handle incidents consistently.</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shop's card system uses two internet connections and a backup router. When the main line fails, sales continue on the backup.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Making environments resilient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Virtual, Cloud and Resilient Environments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Patches and updates</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2000" b="0" i="0">
                <a:solidFill>
                  <a:srgbClr val="202122"/>
                </a:solidFill>
                <a:latin typeface="Calibri"/>
              </a:rPr>
              <a:t>Planned, and in response to new vulnerabilities.</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800" b="1" i="0">
                <a:solidFill>
                  <a:srgbClr val="03306E"/>
                </a:solidFill>
                <a:latin typeface="Calibri"/>
              </a:rPr>
              <a:t>Hardware replacement</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2000" b="0" i="0">
                <a:solidFill>
                  <a:srgbClr val="202122"/>
                </a:solidFill>
                <a:latin typeface="Calibri"/>
              </a:rPr>
              <a:t>Rolling plans and secure disposal.</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Redundancy</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2000" b="0" i="0">
                <a:solidFill>
                  <a:srgbClr val="202122"/>
                </a:solidFill>
                <a:latin typeface="Calibri"/>
              </a:rPr>
              <a:t>Duplicate data and systems so one failure is not fatal.</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900" b="1" i="0">
                <a:solidFill>
                  <a:srgbClr val="03306E"/>
                </a:solidFill>
                <a:latin typeface="Calibri"/>
              </a:rPr>
              <a:t>Device hardening</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2000" b="0" i="0">
                <a:solidFill>
                  <a:srgbClr val="202122"/>
                </a:solidFill>
                <a:latin typeface="Calibri"/>
              </a:rPr>
              <a:t>Remove unneeded ports, apps, permissions and access.</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800" b="1" i="0">
                <a:solidFill>
                  <a:srgbClr val="03306E"/>
                </a:solidFill>
                <a:latin typeface="Calibri"/>
              </a:rPr>
              <a:t>Backups and recovery</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2000" b="0" i="0">
                <a:solidFill>
                  <a:srgbClr val="202122"/>
                </a:solidFill>
                <a:latin typeface="Calibri"/>
              </a:rPr>
              <a:t>Onsite, offsite and cloud; hot, warm or cold sites.</a:t>
            </a:r>
          </a:p>
        </p:txBody>
      </p:sp>
      <p:sp>
        <p:nvSpPr>
          <p:cNvPr id="26" name="Rounded Rectangle 25"/>
          <p:cNvSpPr/>
          <p:nvPr/>
        </p:nvSpPr>
        <p:spPr>
          <a:xfrm>
            <a:off x="8127796"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356396"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6</a:t>
            </a:r>
          </a:p>
        </p:txBody>
      </p:sp>
      <p:sp>
        <p:nvSpPr>
          <p:cNvPr id="28" name="TextBox 27"/>
          <p:cNvSpPr txBox="1"/>
          <p:nvPr/>
        </p:nvSpPr>
        <p:spPr>
          <a:xfrm>
            <a:off x="8950756" y="4224528"/>
            <a:ext cx="2509418" cy="512064"/>
          </a:xfrm>
          <a:prstGeom prst="rect">
            <a:avLst/>
          </a:prstGeom>
          <a:noFill/>
        </p:spPr>
        <p:txBody>
          <a:bodyPr wrap="square" anchor="ctr" lIns="0" rIns="0" tIns="0" bIns="0"/>
          <a:lstStyle/>
          <a:p>
            <a:pPr algn="l"/>
            <a:r>
              <a:rPr sz="1900" b="1" i="0">
                <a:solidFill>
                  <a:srgbClr val="03306E"/>
                </a:solidFill>
                <a:latin typeface="Calibri"/>
              </a:rPr>
              <a:t>Standard procedures</a:t>
            </a:r>
          </a:p>
        </p:txBody>
      </p:sp>
      <p:sp>
        <p:nvSpPr>
          <p:cNvPr id="29" name="TextBox 28"/>
          <p:cNvSpPr txBox="1"/>
          <p:nvPr/>
        </p:nvSpPr>
        <p:spPr>
          <a:xfrm>
            <a:off x="8356396" y="4892040"/>
            <a:ext cx="3058058" cy="1143000"/>
          </a:xfrm>
          <a:prstGeom prst="rect">
            <a:avLst/>
          </a:prstGeom>
          <a:noFill/>
        </p:spPr>
        <p:txBody>
          <a:bodyPr wrap="square" anchor="t" lIns="0" rIns="0" tIns="0" bIns="0"/>
          <a:lstStyle/>
          <a:p>
            <a:pPr algn="l"/>
            <a:r>
              <a:rPr sz="2000" b="0" i="0">
                <a:solidFill>
                  <a:srgbClr val="202122"/>
                </a:solidFill>
                <a:latin typeface="Calibri"/>
              </a:rPr>
              <a:t>Training, induction and careful rollout of new systems.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Making environments resilient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Virtual, Cloud and Resilient Environments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redundancy?</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device hardening?</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keep a backup offsite?</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Hot, warm and cold sites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Virtual, Cloud and Resilient Environments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If the main site is lost, organisations can move to a backup site. There are three types.</a:t>
            </a:r>
          </a:p>
          <a:p>
            <a:pPr>
              <a:spcAft>
                <a:spcPts val="1260"/>
              </a:spcAft>
            </a:pPr>
            <a:r>
              <a:rPr sz="2100" b="0">
                <a:solidFill>
                  <a:srgbClr val="202122"/>
                </a:solidFill>
                <a:latin typeface="Calibri"/>
              </a:rPr>
              <a:t>A hot site is fully equipped with up-to-date data, ready within minutes or hours. It's the most expensive.</a:t>
            </a:r>
          </a:p>
          <a:p>
            <a:pPr>
              <a:spcAft>
                <a:spcPts val="1260"/>
              </a:spcAft>
            </a:pPr>
            <a:r>
              <a:rPr sz="2100" b="0">
                <a:solidFill>
                  <a:srgbClr val="202122"/>
                </a:solidFill>
                <a:latin typeface="Calibri"/>
              </a:rPr>
              <a:t>A warm site has equipment in place but data must be restored first, taking hours to days.</a:t>
            </a:r>
          </a:p>
          <a:p>
            <a:pPr>
              <a:spcAft>
                <a:spcPts val="1260"/>
              </a:spcAft>
            </a:pPr>
            <a:r>
              <a:rPr sz="2100" b="0">
                <a:solidFill>
                  <a:srgbClr val="202122"/>
                </a:solidFill>
                <a:latin typeface="Calibri"/>
              </a:rPr>
              <a:t>A cold site is just space, power and connectivity, taking days or weeks to set up, but it's cheap.</a:t>
            </a:r>
          </a:p>
          <a:p>
            <a:pPr>
              <a:spcAft>
                <a:spcPts val="1260"/>
              </a:spcAft>
            </a:pPr>
            <a:r>
              <a:rPr sz="2100" b="0">
                <a:solidFill>
                  <a:srgbClr val="202122"/>
                </a:solidFill>
                <a:latin typeface="Calibri"/>
              </a:rPr>
              <a:t>The choice depends on how long the business can survive without its systems.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bank needs a hot site because minutes of downtime cost millions. A small charity might accept a cold site or rely on cloud services.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Hot, warm and cold sites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Virtual, Cloud and Resilient Environments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graphicFrame>
        <p:nvGraphicFramePr>
          <p:cNvPr id="6" name="Table 5"/>
          <p:cNvGraphicFramePr>
            <a:graphicFrameLocks noGrp="1"/>
          </p:cNvGraphicFramePr>
          <p:nvPr/>
        </p:nvGraphicFramePr>
        <p:xfrm>
          <a:off x="548640" y="1600200"/>
          <a:ext cx="11094413" cy="4526280"/>
        </p:xfrm>
        <a:graphic>
          <a:graphicData uri="http://schemas.openxmlformats.org/drawingml/2006/table">
            <a:tbl>
              <a:tblPr firstRow="1" bandRow="1">
                <a:tableStyleId>{5C22544A-7EE6-4342-B048-85BDC9FD1C3A}</a:tableStyleId>
              </a:tblPr>
              <a:tblGrid>
                <a:gridCol w="1584916"/>
                <a:gridCol w="5283054"/>
                <a:gridCol w="2377374"/>
                <a:gridCol w="1849069"/>
              </a:tblGrid>
              <a:tr h="1131570">
                <a:tc>
                  <a:txBody>
                    <a:bodyPr wrap="square"/>
                    <a:lstStyle/>
                    <a:p>
                      <a:r>
                        <a:rPr sz="1600" b="1">
                          <a:solidFill>
                            <a:srgbClr val="FFFFFF"/>
                          </a:solidFill>
                          <a:latin typeface="Calibri"/>
                        </a:rPr>
                        <a:t>Site</a:t>
                      </a:r>
                    </a:p>
                  </a:txBody>
                  <a:tcPr marL="91440" marR="91440" anchor="ctr">
                    <a:solidFill>
                      <a:srgbClr val="03306E"/>
                    </a:solidFill>
                  </a:tcPr>
                </a:tc>
                <a:tc>
                  <a:txBody>
                    <a:bodyPr wrap="square"/>
                    <a:lstStyle/>
                    <a:p>
                      <a:r>
                        <a:rPr sz="1600" b="1">
                          <a:solidFill>
                            <a:srgbClr val="FFFFFF"/>
                          </a:solidFill>
                          <a:latin typeface="Calibri"/>
                        </a:rPr>
                        <a:t>What it has</a:t>
                      </a:r>
                    </a:p>
                  </a:txBody>
                  <a:tcPr marL="91440" marR="91440" anchor="ctr">
                    <a:solidFill>
                      <a:srgbClr val="03306E"/>
                    </a:solidFill>
                  </a:tcPr>
                </a:tc>
                <a:tc>
                  <a:txBody>
                    <a:bodyPr wrap="square"/>
                    <a:lstStyle/>
                    <a:p>
                      <a:r>
                        <a:rPr sz="1600" b="1">
                          <a:solidFill>
                            <a:srgbClr val="FFFFFF"/>
                          </a:solidFill>
                          <a:latin typeface="Calibri"/>
                        </a:rPr>
                        <a:t>Recovery speed</a:t>
                      </a:r>
                    </a:p>
                  </a:txBody>
                  <a:tcPr marL="91440" marR="91440" anchor="ctr">
                    <a:solidFill>
                      <a:srgbClr val="03306E"/>
                    </a:solidFill>
                  </a:tcPr>
                </a:tc>
                <a:tc>
                  <a:txBody>
                    <a:bodyPr wrap="square"/>
                    <a:lstStyle/>
                    <a:p>
                      <a:r>
                        <a:rPr sz="1600" b="1">
                          <a:solidFill>
                            <a:srgbClr val="FFFFFF"/>
                          </a:solidFill>
                          <a:latin typeface="Calibri"/>
                        </a:rPr>
                        <a:t>Cost</a:t>
                      </a:r>
                    </a:p>
                  </a:txBody>
                  <a:tcPr marL="91440" marR="91440" anchor="ctr">
                    <a:solidFill>
                      <a:srgbClr val="03306E"/>
                    </a:solidFill>
                  </a:tcPr>
                </a:tc>
              </a:tr>
              <a:tr h="1131570">
                <a:tc>
                  <a:txBody>
                    <a:bodyPr wrap="square"/>
                    <a:lstStyle/>
                    <a:p>
                      <a:r>
                        <a:rPr sz="1600" b="1">
                          <a:solidFill>
                            <a:srgbClr val="03306E"/>
                          </a:solidFill>
                          <a:latin typeface="Calibri"/>
                        </a:rPr>
                        <a:t>Hot</a:t>
                      </a:r>
                    </a:p>
                  </a:txBody>
                  <a:tcPr marL="91440" marR="91440" anchor="ctr">
                    <a:solidFill>
                      <a:srgbClr val="FFFFFF"/>
                    </a:solidFill>
                  </a:tcPr>
                </a:tc>
                <a:tc>
                  <a:txBody>
                    <a:bodyPr wrap="square"/>
                    <a:lstStyle/>
                    <a:p>
                      <a:r>
                        <a:rPr sz="1600" b="0">
                          <a:solidFill>
                            <a:srgbClr val="202122"/>
                          </a:solidFill>
                          <a:latin typeface="Calibri"/>
                        </a:rPr>
                        <a:t>Fully equipped with live, up-to-date data</a:t>
                      </a:r>
                    </a:p>
                  </a:txBody>
                  <a:tcPr marL="91440" marR="91440" anchor="ctr">
                    <a:solidFill>
                      <a:srgbClr val="FFFFFF"/>
                    </a:solidFill>
                  </a:tcPr>
                </a:tc>
                <a:tc>
                  <a:txBody>
                    <a:bodyPr wrap="square"/>
                    <a:lstStyle/>
                    <a:p>
                      <a:r>
                        <a:rPr sz="1600" b="0">
                          <a:solidFill>
                            <a:srgbClr val="202122"/>
                          </a:solidFill>
                          <a:latin typeface="Calibri"/>
                        </a:rPr>
                        <a:t>Minutes to hours</a:t>
                      </a:r>
                    </a:p>
                  </a:txBody>
                  <a:tcPr marL="91440" marR="91440" anchor="ctr">
                    <a:solidFill>
                      <a:srgbClr val="FFFFFF"/>
                    </a:solidFill>
                  </a:tcPr>
                </a:tc>
                <a:tc>
                  <a:txBody>
                    <a:bodyPr wrap="square"/>
                    <a:lstStyle/>
                    <a:p>
                      <a:r>
                        <a:rPr sz="1600" b="0">
                          <a:solidFill>
                            <a:srgbClr val="202122"/>
                          </a:solidFill>
                          <a:latin typeface="Calibri"/>
                        </a:rPr>
                        <a:t>High</a:t>
                      </a:r>
                    </a:p>
                  </a:txBody>
                  <a:tcPr marL="91440" marR="91440" anchor="ctr">
                    <a:solidFill>
                      <a:srgbClr val="FFFFFF"/>
                    </a:solidFill>
                  </a:tcPr>
                </a:tc>
              </a:tr>
              <a:tr h="1131570">
                <a:tc>
                  <a:txBody>
                    <a:bodyPr wrap="square"/>
                    <a:lstStyle/>
                    <a:p>
                      <a:r>
                        <a:rPr sz="1600" b="1">
                          <a:solidFill>
                            <a:srgbClr val="03306E"/>
                          </a:solidFill>
                          <a:latin typeface="Calibri"/>
                        </a:rPr>
                        <a:t>Warm</a:t>
                      </a:r>
                    </a:p>
                  </a:txBody>
                  <a:tcPr marL="91440" marR="91440" anchor="ctr">
                    <a:solidFill>
                      <a:srgbClr val="EAF3FF"/>
                    </a:solidFill>
                  </a:tcPr>
                </a:tc>
                <a:tc>
                  <a:txBody>
                    <a:bodyPr wrap="square"/>
                    <a:lstStyle/>
                    <a:p>
                      <a:r>
                        <a:rPr sz="1600" b="0">
                          <a:solidFill>
                            <a:srgbClr val="202122"/>
                          </a:solidFill>
                          <a:latin typeface="Calibri"/>
                        </a:rPr>
                        <a:t>Equipment in place, data needs restoring</a:t>
                      </a:r>
                    </a:p>
                  </a:txBody>
                  <a:tcPr marL="91440" marR="91440" anchor="ctr">
                    <a:solidFill>
                      <a:srgbClr val="EAF3FF"/>
                    </a:solidFill>
                  </a:tcPr>
                </a:tc>
                <a:tc>
                  <a:txBody>
                    <a:bodyPr wrap="square"/>
                    <a:lstStyle/>
                    <a:p>
                      <a:r>
                        <a:rPr sz="1600" b="0">
                          <a:solidFill>
                            <a:srgbClr val="202122"/>
                          </a:solidFill>
                          <a:latin typeface="Calibri"/>
                        </a:rPr>
                        <a:t>Hours to days</a:t>
                      </a:r>
                    </a:p>
                  </a:txBody>
                  <a:tcPr marL="91440" marR="91440" anchor="ctr">
                    <a:solidFill>
                      <a:srgbClr val="EAF3FF"/>
                    </a:solidFill>
                  </a:tcPr>
                </a:tc>
                <a:tc>
                  <a:txBody>
                    <a:bodyPr wrap="square"/>
                    <a:lstStyle/>
                    <a:p>
                      <a:r>
                        <a:rPr sz="1600" b="0">
                          <a:solidFill>
                            <a:srgbClr val="202122"/>
                          </a:solidFill>
                          <a:latin typeface="Calibri"/>
                        </a:rPr>
                        <a:t>Medium</a:t>
                      </a:r>
                    </a:p>
                  </a:txBody>
                  <a:tcPr marL="91440" marR="91440" anchor="ctr">
                    <a:solidFill>
                      <a:srgbClr val="EAF3FF"/>
                    </a:solidFill>
                  </a:tcPr>
                </a:tc>
              </a:tr>
              <a:tr h="1131570">
                <a:tc>
                  <a:txBody>
                    <a:bodyPr wrap="square"/>
                    <a:lstStyle/>
                    <a:p>
                      <a:r>
                        <a:rPr sz="1600" b="1">
                          <a:solidFill>
                            <a:srgbClr val="03306E"/>
                          </a:solidFill>
                          <a:latin typeface="Calibri"/>
                        </a:rPr>
                        <a:t>Cold</a:t>
                      </a:r>
                    </a:p>
                  </a:txBody>
                  <a:tcPr marL="91440" marR="91440" anchor="ctr">
                    <a:solidFill>
                      <a:srgbClr val="FFFFFF"/>
                    </a:solidFill>
                  </a:tcPr>
                </a:tc>
                <a:tc>
                  <a:txBody>
                    <a:bodyPr wrap="square"/>
                    <a:lstStyle/>
                    <a:p>
                      <a:r>
                        <a:rPr sz="1600" b="0">
                          <a:solidFill>
                            <a:srgbClr val="202122"/>
                          </a:solidFill>
                          <a:latin typeface="Calibri"/>
                        </a:rPr>
                        <a:t>Space and power only</a:t>
                      </a:r>
                    </a:p>
                  </a:txBody>
                  <a:tcPr marL="91440" marR="91440" anchor="ctr">
                    <a:solidFill>
                      <a:srgbClr val="FFFFFF"/>
                    </a:solidFill>
                  </a:tcPr>
                </a:tc>
                <a:tc>
                  <a:txBody>
                    <a:bodyPr wrap="square"/>
                    <a:lstStyle/>
                    <a:p>
                      <a:r>
                        <a:rPr sz="1600" b="0">
                          <a:solidFill>
                            <a:srgbClr val="202122"/>
                          </a:solidFill>
                          <a:latin typeface="Calibri"/>
                        </a:rPr>
                        <a:t>Days to weeks</a:t>
                      </a:r>
                    </a:p>
                  </a:txBody>
                  <a:tcPr marL="91440" marR="91440" anchor="ctr">
                    <a:solidFill>
                      <a:srgbClr val="FFFFFF"/>
                    </a:solidFill>
                  </a:tcPr>
                </a:tc>
                <a:tc>
                  <a:txBody>
                    <a:bodyPr wrap="square"/>
                    <a:lstStyle/>
                    <a:p>
                      <a:r>
                        <a:rPr sz="1600" b="0">
                          <a:solidFill>
                            <a:srgbClr val="202122"/>
                          </a:solidFill>
                          <a:latin typeface="Calibri"/>
                        </a:rPr>
                        <a:t>Low</a:t>
                      </a:r>
                    </a:p>
                  </a:txBody>
                  <a:tcPr marL="91440" marR="91440"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Hot, warm and cold sites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Virtual, Cloud and Resilient Environments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site type is fastest to switch to?</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does a warm site need before use?</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would a business choose a cold site?</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Virtual, Cloud and Resilient Environments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What is the difference between a Type 1 and Type 2 hypervisor?</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In SaaS, what does the client manage?</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What is device hardening?</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Which disaster recovery site is fastest to switch to?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Virtual, Cloud and Resilient Environments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16</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What is the difference between a Type 1 and Type 2 hypervisor?</a:t>
            </a:r>
          </a:p>
          <a:p>
            <a:r>
              <a:rPr sz="1800" b="1">
                <a:solidFill>
                  <a:srgbClr val="03306E"/>
                </a:solidFill>
                <a:latin typeface="Calibri"/>
              </a:rPr>
              <a:t>Type 1 runs directly on hardware; Type 2 runs on an operating system.</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In SaaS, what does the client manage?</a:t>
            </a:r>
          </a:p>
          <a:p>
            <a:r>
              <a:rPr sz="1800" b="1">
                <a:solidFill>
                  <a:srgbClr val="03306E"/>
                </a:solidFill>
                <a:latin typeface="Calibri"/>
              </a:rPr>
              <a:t>User accounts and data.</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What is device hardening?</a:t>
            </a:r>
          </a:p>
          <a:p>
            <a:r>
              <a:rPr sz="1800" b="1">
                <a:solidFill>
                  <a:srgbClr val="03306E"/>
                </a:solidFill>
                <a:latin typeface="Calibri"/>
              </a:rPr>
              <a:t>Removing unneeded ports, apps, permissions and access to reduce vulnerabilities.</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Which disaster recovery site is fastest to switch to?</a:t>
            </a:r>
          </a:p>
          <a:p>
            <a:r>
              <a:rPr sz="1800" b="1">
                <a:solidFill>
                  <a:srgbClr val="03306E"/>
                </a:solidFill>
                <a:latin typeface="Calibri"/>
              </a:rPr>
              <a:t>A hot site.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Choose a cloud model</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Virtual, Cloud and Resilient Environments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17</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20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Three clients: a start-up building its own web app; a school wanting email; a company that needs full control of its servers.</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Recommend IaaS, PaaS or SaaS for each.</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Explain what each client would still be responsible for.</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Suggest one resilience measure for each.</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Model matches the level of control needed</a:t>
            </a:r>
          </a:p>
          <a:p>
            <a:pPr marL="274320" indent="-274320">
              <a:spcAft>
                <a:spcPts val="810"/>
              </a:spcAft>
              <a:buClr>
                <a:srgbClr val="0645AD"/>
              </a:buClr>
              <a:buFont typeface="Arial"/>
              <a:buChar char="•"/>
            </a:pPr>
            <a:r>
              <a:rPr sz="1800" b="0">
                <a:solidFill>
                  <a:srgbClr val="202122"/>
                </a:solidFill>
                <a:latin typeface="Calibri"/>
              </a:rPr>
              <a:t>Responsibilities stated correctly</a:t>
            </a:r>
          </a:p>
          <a:p>
            <a:pPr marL="274320" indent="-274320">
              <a:spcAft>
                <a:spcPts val="810"/>
              </a:spcAft>
              <a:buClr>
                <a:srgbClr val="0645AD"/>
              </a:buClr>
              <a:buFont typeface="Arial"/>
              <a:buChar char="•"/>
            </a:pPr>
            <a:r>
              <a:rPr sz="1800" b="0">
                <a:solidFill>
                  <a:srgbClr val="202122"/>
                </a:solidFill>
                <a:latin typeface="Calibri"/>
              </a:rPr>
              <a:t>Resilience measure is realistic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Give one drawback of virtualisation.</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Which cloud model gives the client the most control?</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Why use offsite backups?</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Core Paper 2: Legislation, Business, Emerging Issues, Environments and Security</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https://lana6478.github.io/Digital-Suport-and-security-T-levle/#/01-core-component/02-core-paper-2.md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 Cloud and Resilient Environments</dc:title>
  <dc:subject>Digital Support and Security T Level: Core Paper 2</dc:subject>
  <dc:creator>Samuel O'Connell</dc:creator>
  <cp:keywords>T Level; Digital Support and Security; lesson slides; 7.4, 7.5, 7.6</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