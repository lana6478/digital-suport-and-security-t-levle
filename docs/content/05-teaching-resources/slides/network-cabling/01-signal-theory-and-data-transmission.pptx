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Stops and retries after a random delay.</a:t>
            </a:r>
          </a:p>
          <a:p>
            <a:r>
              <a:t>2. CSMA/CA.</a:t>
            </a:r>
          </a:p>
          <a:p>
            <a:r>
              <a:t>3. Let data be reassembled in the right order.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Total internal reflection.</a:t>
            </a:r>
          </a:p>
          <a:p>
            <a:r>
              <a:t>2. Single-mode.</a:t>
            </a:r>
          </a:p>
          <a:p>
            <a:r>
              <a:t>3. Different light paths arrive at slightly different times.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Poor handling faults: dirty or damaged connectors (unreliable or no link), bending too tightly, and poor-quality cable or connectors.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Decibels (dB).</a:t>
            </a:r>
          </a:p>
          <a:p>
            <a:r>
              <a:t>2. Any two: absorption, scattering, bending.</a:t>
            </a:r>
          </a:p>
          <a:p>
            <a:r>
              <a:t>3. Clean and inspect the connectors.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12 V across 4 ohms gives 3 A. Double the resistance and the current halves.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V = I x R.</a:t>
            </a:r>
          </a:p>
          <a:p>
            <a:r>
              <a:t>2. It decreases.</a:t>
            </a:r>
          </a:p>
          <a:p>
            <a:r>
              <a:t>3. 100 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F2B705"/>
                </a:solidFill>
                <a:latin typeface="Calibri"/>
              </a:rPr>
              <a:t>NETWORK CABLING</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Signal Theory and Data Transmission</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Network Cabling Content Area 2</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2.1, 2.7 to 2.10</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Digital Support and Security T Level  ·  Lesson slides</a:t>
            </a:r>
          </a:p>
          <a:p>
            <a:pPr algn="l"/>
            <a:r>
              <a:rPr sz="1100" b="0" i="0">
                <a:solidFill>
                  <a:srgbClr val="A9C8F0"/>
                </a:solidFill>
                <a:latin typeface="Calibri"/>
              </a:rPr>
              <a:t>Unofficial teaching resource. Check the official Pearson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Signal Theory and Data Transmission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3456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02969"/>
          </a:xfrm>
          <a:prstGeom prst="rect">
            <a:avLst/>
          </a:prstGeom>
          <a:noFill/>
        </p:spPr>
        <p:txBody>
          <a:bodyPr wrap="square" anchor="ctr" lIns="0" rIns="0" tIns="0" bIns="0"/>
          <a:lstStyle/>
          <a:p>
            <a:pPr algn="l"/>
            <a:r>
              <a:rPr sz="2000" b="0" i="0">
                <a:solidFill>
                  <a:srgbClr val="202122"/>
                </a:solidFill>
                <a:latin typeface="Calibri"/>
              </a:rPr>
              <a:t>Describe how data is represented, encapsulated and transmitted.</a:t>
            </a:r>
          </a:p>
        </p:txBody>
      </p:sp>
      <p:sp>
        <p:nvSpPr>
          <p:cNvPr id="9" name="Oval 8"/>
          <p:cNvSpPr/>
          <p:nvPr/>
        </p:nvSpPr>
        <p:spPr>
          <a:xfrm>
            <a:off x="548640" y="327469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51810"/>
            <a:ext cx="6035040" cy="902969"/>
          </a:xfrm>
          <a:prstGeom prst="rect">
            <a:avLst/>
          </a:prstGeom>
          <a:noFill/>
        </p:spPr>
        <p:txBody>
          <a:bodyPr wrap="square" anchor="ctr" lIns="0" rIns="0" tIns="0" bIns="0"/>
          <a:lstStyle/>
          <a:p>
            <a:pPr algn="l"/>
            <a:r>
              <a:rPr sz="2000" b="0" i="0">
                <a:solidFill>
                  <a:srgbClr val="202122"/>
                </a:solidFill>
                <a:latin typeface="Calibri"/>
              </a:rPr>
              <a:t>Explain total internal reflection and single-mode and multi-mode fibre.</a:t>
            </a:r>
          </a:p>
        </p:txBody>
      </p:sp>
      <p:sp>
        <p:nvSpPr>
          <p:cNvPr id="11" name="Oval 10"/>
          <p:cNvSpPr/>
          <p:nvPr/>
        </p:nvSpPr>
        <p:spPr>
          <a:xfrm>
            <a:off x="548640" y="431482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091939"/>
            <a:ext cx="6035040" cy="902969"/>
          </a:xfrm>
          <a:prstGeom prst="rect">
            <a:avLst/>
          </a:prstGeom>
          <a:noFill/>
        </p:spPr>
        <p:txBody>
          <a:bodyPr wrap="square" anchor="ctr" lIns="0" rIns="0" tIns="0" bIns="0"/>
          <a:lstStyle/>
          <a:p>
            <a:pPr algn="l"/>
            <a:r>
              <a:rPr sz="2000" b="0" i="0">
                <a:solidFill>
                  <a:srgbClr val="202122"/>
                </a:solidFill>
                <a:latin typeface="Calibri"/>
              </a:rPr>
              <a:t>Explain the causes of attenuation and the effects of poor fibre handling.</a:t>
            </a:r>
          </a:p>
        </p:txBody>
      </p:sp>
      <p:sp>
        <p:nvSpPr>
          <p:cNvPr id="13" name="Oval 12"/>
          <p:cNvSpPr/>
          <p:nvPr/>
        </p:nvSpPr>
        <p:spPr>
          <a:xfrm>
            <a:off x="548640" y="5354954"/>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4</a:t>
            </a:r>
          </a:p>
        </p:txBody>
      </p:sp>
      <p:sp>
        <p:nvSpPr>
          <p:cNvPr id="14" name="TextBox 13"/>
          <p:cNvSpPr txBox="1"/>
          <p:nvPr/>
        </p:nvSpPr>
        <p:spPr>
          <a:xfrm>
            <a:off x="1234440" y="5132069"/>
            <a:ext cx="6035040" cy="902969"/>
          </a:xfrm>
          <a:prstGeom prst="rect">
            <a:avLst/>
          </a:prstGeom>
          <a:noFill/>
        </p:spPr>
        <p:txBody>
          <a:bodyPr wrap="square" anchor="ctr" lIns="0" rIns="0" tIns="0" bIns="0"/>
          <a:lstStyle/>
          <a:p>
            <a:pPr algn="l"/>
            <a:r>
              <a:rPr sz="2000" b="0" i="0">
                <a:solidFill>
                  <a:srgbClr val="202122"/>
                </a:solidFill>
                <a:latin typeface="Calibri"/>
              </a:rPr>
              <a:t>Apply Ohm's law to copper cabling.</a:t>
            </a:r>
          </a:p>
        </p:txBody>
      </p:sp>
      <p:sp>
        <p:nvSpPr>
          <p:cNvPr id="15" name="Rounded Rectangle 14"/>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7" name="TextBox 16"/>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Shine a torch down a long clear pipe. Why does less light come out of the far 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Principles of data transmission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Signal Theory and Data Transmission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140"/>
              </a:spcAft>
            </a:pPr>
            <a:r>
              <a:rPr sz="1900" b="0">
                <a:solidFill>
                  <a:srgbClr val="202122"/>
                </a:solidFill>
                <a:latin typeface="Calibri"/>
              </a:rPr>
              <a:t>Networks carry data as bits, grouped into bytes and packets.</a:t>
            </a:r>
          </a:p>
          <a:p>
            <a:pPr>
              <a:spcAft>
                <a:spcPts val="1140"/>
              </a:spcAft>
            </a:pPr>
            <a:r>
              <a:rPr sz="1900" b="0">
                <a:solidFill>
                  <a:srgbClr val="202122"/>
                </a:solidFill>
                <a:latin typeface="Calibri"/>
              </a:rPr>
              <a:t>Transmission can be synchronous, with sender and receiver sharing a clock, or asynchronous, with start and stop bits marking each chunk. Links must detect and correct errors, cope with limited bandwidth and noise, and may compress data.</a:t>
            </a:r>
          </a:p>
          <a:p>
            <a:pPr>
              <a:spcAft>
                <a:spcPts val="1140"/>
              </a:spcAft>
            </a:pPr>
            <a:r>
              <a:rPr sz="1900" b="0">
                <a:solidFill>
                  <a:srgbClr val="202122"/>
                </a:solidFill>
                <a:latin typeface="Calibri"/>
              </a:rPr>
              <a:t>When several devices share a medium, an access method decides who sends. CSMA/CD (wired) listens, sends, and backs off if a collision is detected. CSMA/CA (wireless) tries to avoid collisions before sending.</a:t>
            </a:r>
          </a:p>
          <a:p>
            <a:pPr>
              <a:spcAft>
                <a:spcPts val="1140"/>
              </a:spcAft>
            </a:pPr>
            <a:r>
              <a:rPr sz="1900" b="0">
                <a:solidFill>
                  <a:srgbClr val="202122"/>
                </a:solidFill>
                <a:latin typeface="Calibri"/>
              </a:rPr>
              <a:t>The network interface card wraps data into frames, packets and datagrams with addresses and sequence numbers.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On Wi-Fi, devices can't hear every collision, so they wait for a clear channel and a short random time before sending: that's CSMA/CA.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Principles of data transmission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Signal Theory and Data Transmission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sp>
        <p:nvSpPr>
          <p:cNvPr id="6" name="TextBox 5"/>
          <p:cNvSpPr txBox="1"/>
          <p:nvPr/>
        </p:nvSpPr>
        <p:spPr>
          <a:xfrm>
            <a:off x="548640" y="1600200"/>
            <a:ext cx="6675120" cy="4572000"/>
          </a:xfrm>
          <a:prstGeom prst="rect">
            <a:avLst/>
          </a:prstGeom>
          <a:noFill/>
        </p:spPr>
        <p:txBody>
          <a:bodyPr wrap="square" lIns="0" rIns="0" tIns="0" bIns="0">
            <a:spAutoFit/>
          </a:bodyPr>
          <a:lstStyle/>
          <a:p>
            <a:pPr marL="274320" indent="-274320">
              <a:spcAft>
                <a:spcPts val="945"/>
              </a:spcAft>
              <a:buClr>
                <a:srgbClr val="0645AD"/>
              </a:buClr>
              <a:buFont typeface="Arial"/>
              <a:buChar char="•"/>
            </a:pPr>
            <a:r>
              <a:rPr sz="2100" b="0">
                <a:solidFill>
                  <a:srgbClr val="202122"/>
                </a:solidFill>
                <a:latin typeface="Calibri"/>
              </a:rPr>
              <a:t>Data is represented as bits, bytes and packets.</a:t>
            </a:r>
          </a:p>
          <a:p>
            <a:pPr marL="274320" indent="-274320">
              <a:spcAft>
                <a:spcPts val="945"/>
              </a:spcAft>
              <a:buClr>
                <a:srgbClr val="0645AD"/>
              </a:buClr>
              <a:buFont typeface="Arial"/>
              <a:buChar char="•"/>
            </a:pPr>
            <a:r>
              <a:rPr sz="2100" b="0">
                <a:solidFill>
                  <a:srgbClr val="202122"/>
                </a:solidFill>
                <a:latin typeface="Calibri"/>
              </a:rPr>
              <a:t>Transmission is synchronous or asynchronous.</a:t>
            </a:r>
          </a:p>
          <a:p>
            <a:pPr marL="274320" indent="-274320">
              <a:spcAft>
                <a:spcPts val="945"/>
              </a:spcAft>
              <a:buClr>
                <a:srgbClr val="0645AD"/>
              </a:buClr>
              <a:buFont typeface="Arial"/>
              <a:buChar char="•"/>
            </a:pPr>
            <a:r>
              <a:rPr sz="2100" b="0">
                <a:solidFill>
                  <a:srgbClr val="202122"/>
                </a:solidFill>
                <a:latin typeface="Calibri"/>
              </a:rPr>
              <a:t>Links must handle error detection and correction, bandwidth limits, noise and compression.</a:t>
            </a:r>
          </a:p>
          <a:p>
            <a:pPr marL="274320" indent="-274320">
              <a:spcAft>
                <a:spcPts val="945"/>
              </a:spcAft>
              <a:buClr>
                <a:srgbClr val="0645AD"/>
              </a:buClr>
              <a:buFont typeface="Arial"/>
              <a:buChar char="•"/>
            </a:pPr>
            <a:r>
              <a:rPr sz="2100" b="1">
                <a:solidFill>
                  <a:srgbClr val="202122"/>
                </a:solidFill>
                <a:latin typeface="Calibri"/>
              </a:rPr>
              <a:t>Access methods:</a:t>
            </a:r>
            <a:r>
              <a:rPr sz="2100" b="0">
                <a:solidFill>
                  <a:srgbClr val="202122"/>
                </a:solidFill>
                <a:latin typeface="Calibri"/>
              </a:rPr>
              <a:t> CSMA/CD on wired networks, CSMA/CA on wireless.</a:t>
            </a:r>
          </a:p>
          <a:p>
            <a:pPr marL="274320" indent="-274320">
              <a:spcAft>
                <a:spcPts val="945"/>
              </a:spcAft>
              <a:buClr>
                <a:srgbClr val="0645AD"/>
              </a:buClr>
              <a:buFont typeface="Arial"/>
              <a:buChar char="•"/>
            </a:pPr>
            <a:r>
              <a:rPr sz="2100" b="0">
                <a:solidFill>
                  <a:srgbClr val="202122"/>
                </a:solidFill>
                <a:latin typeface="Calibri"/>
              </a:rPr>
              <a:t>The NIC encapsulates data into frames, packets and datagrams with addresses and sequence numbers.</a:t>
            </a:r>
          </a:p>
        </p:txBody>
      </p:sp>
      <p:sp>
        <p:nvSpPr>
          <p:cNvPr id="7" name="Rounded Rectangle 6"/>
          <p:cNvSpPr/>
          <p:nvPr/>
        </p:nvSpPr>
        <p:spPr>
          <a:xfrm>
            <a:off x="7772400" y="1600200"/>
            <a:ext cx="3867912" cy="443484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74519"/>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a:t>
            </a:r>
          </a:p>
        </p:txBody>
      </p:sp>
      <p:sp>
        <p:nvSpPr>
          <p:cNvPr id="9" name="TextBox 8"/>
          <p:cNvSpPr txBox="1"/>
          <p:nvPr/>
        </p:nvSpPr>
        <p:spPr>
          <a:xfrm>
            <a:off x="8046720" y="2606040"/>
            <a:ext cx="3291840" cy="365760"/>
          </a:xfrm>
          <a:prstGeom prst="rect">
            <a:avLst/>
          </a:prstGeom>
          <a:noFill/>
        </p:spPr>
        <p:txBody>
          <a:bodyPr wrap="square" anchor="t" lIns="0" rIns="0" tIns="0" bIns="0"/>
          <a:lstStyle/>
          <a:p>
            <a:pPr algn="l"/>
            <a:r>
              <a:rPr sz="1300" b="1" i="0">
                <a:solidFill>
                  <a:srgbClr val="A9C8F0"/>
                </a:solidFill>
                <a:latin typeface="Calibri"/>
              </a:rPr>
              <a:t>KEY IDEA</a:t>
            </a:r>
          </a:p>
        </p:txBody>
      </p:sp>
      <p:sp>
        <p:nvSpPr>
          <p:cNvPr id="10" name="TextBox 9"/>
          <p:cNvSpPr txBox="1"/>
          <p:nvPr/>
        </p:nvSpPr>
        <p:spPr>
          <a:xfrm>
            <a:off x="8046720" y="3017520"/>
            <a:ext cx="3291840" cy="2926080"/>
          </a:xfrm>
          <a:prstGeom prst="rect">
            <a:avLst/>
          </a:prstGeom>
          <a:noFill/>
        </p:spPr>
        <p:txBody>
          <a:bodyPr wrap="square" anchor="t" lIns="0" rIns="0" tIns="0" bIns="0"/>
          <a:lstStyle/>
          <a:p>
            <a:pPr algn="l"/>
            <a:r>
              <a:rPr sz="2200" b="0" i="0">
                <a:solidFill>
                  <a:srgbClr val="FFFFFF"/>
                </a:solidFill>
                <a:latin typeface="Cambria"/>
              </a:rPr>
              <a:t>Addressing: IPv4 (schemes, subnetting, masks) and IPv6 (address types).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Principles of data transmission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Signal Theory and Data Transmission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does CSMA/CD do when a collision happens?</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Which access method does Wi-Fi use?</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do sequence numbers do?</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How fibre carries light</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Signal Theory and Data Transmission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00"/>
              </a:spcAft>
            </a:pPr>
            <a:r>
              <a:rPr sz="2000" b="0">
                <a:solidFill>
                  <a:srgbClr val="202122"/>
                </a:solidFill>
                <a:latin typeface="Calibri"/>
              </a:rPr>
              <a:t>Fibre optic cable has a glass core surrounded by cladding with a slightly different refractive index.</a:t>
            </a:r>
          </a:p>
          <a:p>
            <a:pPr>
              <a:spcAft>
                <a:spcPts val="1200"/>
              </a:spcAft>
            </a:pPr>
            <a:r>
              <a:rPr sz="2000" b="0">
                <a:solidFill>
                  <a:srgbClr val="202122"/>
                </a:solidFill>
                <a:latin typeface="Calibri"/>
              </a:rPr>
              <a:t>Light entering the core at a shallow enough angle hits the boundary with the cladding and reflects back inside instead of escaping. This total internal reflection keeps the light bouncing along the core for kilometres.</a:t>
            </a:r>
          </a:p>
          <a:p>
            <a:pPr>
              <a:spcAft>
                <a:spcPts val="1200"/>
              </a:spcAft>
            </a:pPr>
            <a:r>
              <a:rPr sz="2000" b="0">
                <a:solidFill>
                  <a:srgbClr val="202122"/>
                </a:solidFill>
                <a:latin typeface="Calibri"/>
              </a:rPr>
              <a:t>Single-mode fibre has a very narrow core, so light travels in essentially one path. It goes much further and is used for long links. Multi-mode fibre has a wider core carrying many light paths; they arrive at slightly different times, which limits distance, so it's used within buildings.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campus uses multi-mode (OM4) between floors of one building, and single-mode (OS2) for the 3 km link to another site.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How fibre carries light</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Signal Theory and Data Transmission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Total internal reflection</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Light travels down the glass core</a:t>
            </a:r>
          </a:p>
          <a:p>
            <a:pPr marL="274320" indent="-274320">
              <a:spcAft>
                <a:spcPts val="990"/>
              </a:spcAft>
              <a:buClr>
                <a:srgbClr val="0645AD"/>
              </a:buClr>
              <a:buFont typeface="Arial"/>
              <a:buChar char="•"/>
            </a:pPr>
            <a:r>
              <a:rPr sz="2200" b="0">
                <a:solidFill>
                  <a:srgbClr val="202122"/>
                </a:solidFill>
                <a:latin typeface="Calibri"/>
              </a:rPr>
              <a:t>It reflects off the boundary with the cladding</a:t>
            </a:r>
          </a:p>
          <a:p>
            <a:pPr marL="274320" indent="-274320">
              <a:spcAft>
                <a:spcPts val="990"/>
              </a:spcAft>
              <a:buClr>
                <a:srgbClr val="0645AD"/>
              </a:buClr>
              <a:buFont typeface="Arial"/>
              <a:buChar char="•"/>
            </a:pPr>
            <a:r>
              <a:rPr sz="2200" b="0">
                <a:solidFill>
                  <a:srgbClr val="202122"/>
                </a:solidFill>
                <a:latin typeface="Calibri"/>
              </a:rPr>
              <a:t>Refraction principles keep it inside the core</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Single-mode and multi-mode</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1">
                <a:solidFill>
                  <a:srgbClr val="202122"/>
                </a:solidFill>
                <a:latin typeface="Calibri"/>
              </a:rPr>
              <a:t>Single-mode:</a:t>
            </a:r>
            <a:r>
              <a:rPr sz="2200" b="0">
                <a:solidFill>
                  <a:srgbClr val="202122"/>
                </a:solidFill>
                <a:latin typeface="Calibri"/>
              </a:rPr>
              <a:t> one ray, narrow core, long distance</a:t>
            </a:r>
          </a:p>
          <a:p>
            <a:pPr marL="274320" indent="-274320">
              <a:spcAft>
                <a:spcPts val="990"/>
              </a:spcAft>
              <a:buClr>
                <a:srgbClr val="0645AD"/>
              </a:buClr>
              <a:buFont typeface="Arial"/>
              <a:buChar char="•"/>
            </a:pPr>
            <a:r>
              <a:rPr sz="2200" b="1">
                <a:solidFill>
                  <a:srgbClr val="202122"/>
                </a:solidFill>
                <a:latin typeface="Calibri"/>
              </a:rPr>
              <a:t>Multi-mode:</a:t>
            </a:r>
            <a:r>
              <a:rPr sz="2200" b="0">
                <a:solidFill>
                  <a:srgbClr val="202122"/>
                </a:solidFill>
                <a:latin typeface="Calibri"/>
              </a:rPr>
              <a:t> many rays, wider core, shorter distance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How fibre carries light</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Signal Theory and Data Transmission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keeps light inside a fibre core?</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Which fibre type suits long distances?</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Why is multi-mode limited in distance?</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Attenuation: losing signal over distance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Signal Theory and Data Transmission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Attenuation is the loss of signal strength as it travels, measured in decibels (dB).</a:t>
            </a:r>
          </a:p>
          <a:p>
            <a:pPr>
              <a:spcAft>
                <a:spcPts val="1260"/>
              </a:spcAft>
            </a:pPr>
            <a:r>
              <a:rPr sz="2100" b="0">
                <a:solidFill>
                  <a:srgbClr val="202122"/>
                </a:solidFill>
                <a:latin typeface="Calibri"/>
              </a:rPr>
              <a:t>In fibre, absorption happens when impurities in the glass soak up light, getting worse with distance. Scattering happens when light hits tiny particles and is lost into the cladding. Bending the cable too tightly, whether a large macrobend or tiny microbends from pressure, lets light escape.</a:t>
            </a:r>
          </a:p>
          <a:p>
            <a:pPr>
              <a:spcAft>
                <a:spcPts val="1260"/>
              </a:spcAft>
            </a:pPr>
            <a:r>
              <a:rPr sz="2100" b="1">
                <a:solidFill>
                  <a:srgbClr val="202122"/>
                </a:solidFill>
                <a:latin typeface="Calibri"/>
              </a:rPr>
              <a:t>Poor handling adds more loss:</a:t>
            </a:r>
            <a:r>
              <a:rPr sz="2100" b="0">
                <a:solidFill>
                  <a:srgbClr val="202122"/>
                </a:solidFill>
                <a:latin typeface="Calibri"/>
              </a:rPr>
              <a:t> dirty or damaged connectors can cause an unreliable link or no link at all, and poor-quality cable or connectors add interference. Always clean and inspect fibre ends before connecting.</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new fibre link fails its loss test. An inspection scope shows a fingerprint on one connector; cleaning it brings the loss within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Attenuation: losing signal over distance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Signal Theory and Data Transmission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Rounded Rectangle 5"/>
          <p:cNvSpPr/>
          <p:nvPr/>
        </p:nvSpPr>
        <p:spPr>
          <a:xfrm>
            <a:off x="548640"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4404207" cy="512064"/>
          </a:xfrm>
          <a:prstGeom prst="rect">
            <a:avLst/>
          </a:prstGeom>
          <a:noFill/>
        </p:spPr>
        <p:txBody>
          <a:bodyPr wrap="square" anchor="ctr" lIns="0" rIns="0" tIns="0" bIns="0"/>
          <a:lstStyle/>
          <a:p>
            <a:pPr algn="l"/>
            <a:r>
              <a:rPr sz="1900" b="1" i="0">
                <a:solidFill>
                  <a:srgbClr val="03306E"/>
                </a:solidFill>
                <a:latin typeface="Calibri"/>
              </a:rPr>
              <a:t>Measured in dB</a:t>
            </a:r>
          </a:p>
        </p:txBody>
      </p:sp>
      <p:sp>
        <p:nvSpPr>
          <p:cNvPr id="9" name="TextBox 8"/>
          <p:cNvSpPr txBox="1"/>
          <p:nvPr/>
        </p:nvSpPr>
        <p:spPr>
          <a:xfrm>
            <a:off x="777240" y="2468880"/>
            <a:ext cx="4952847" cy="1143000"/>
          </a:xfrm>
          <a:prstGeom prst="rect">
            <a:avLst/>
          </a:prstGeom>
          <a:noFill/>
        </p:spPr>
        <p:txBody>
          <a:bodyPr wrap="square" anchor="t" lIns="0" rIns="0" tIns="0" bIns="0"/>
          <a:lstStyle/>
          <a:p>
            <a:pPr algn="l"/>
            <a:r>
              <a:rPr sz="2000" b="0" i="0">
                <a:solidFill>
                  <a:srgbClr val="202122"/>
                </a:solidFill>
                <a:latin typeface="Calibri"/>
              </a:rPr>
              <a:t>Loss of signal strength along the cable.</a:t>
            </a:r>
          </a:p>
        </p:txBody>
      </p:sp>
      <p:sp>
        <p:nvSpPr>
          <p:cNvPr id="10" name="Rounded Rectangle 9"/>
          <p:cNvSpPr/>
          <p:nvPr/>
        </p:nvSpPr>
        <p:spPr>
          <a:xfrm>
            <a:off x="6233007"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61607"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7055967" y="1801368"/>
            <a:ext cx="4404207" cy="512064"/>
          </a:xfrm>
          <a:prstGeom prst="rect">
            <a:avLst/>
          </a:prstGeom>
          <a:noFill/>
        </p:spPr>
        <p:txBody>
          <a:bodyPr wrap="square" anchor="ctr" lIns="0" rIns="0" tIns="0" bIns="0"/>
          <a:lstStyle/>
          <a:p>
            <a:pPr algn="l"/>
            <a:r>
              <a:rPr sz="1900" b="1" i="0">
                <a:solidFill>
                  <a:srgbClr val="03306E"/>
                </a:solidFill>
                <a:latin typeface="Calibri"/>
              </a:rPr>
              <a:t>Absorption</a:t>
            </a:r>
          </a:p>
        </p:txBody>
      </p:sp>
      <p:sp>
        <p:nvSpPr>
          <p:cNvPr id="13" name="TextBox 12"/>
          <p:cNvSpPr txBox="1"/>
          <p:nvPr/>
        </p:nvSpPr>
        <p:spPr>
          <a:xfrm>
            <a:off x="6461607" y="2468880"/>
            <a:ext cx="4952847" cy="1143000"/>
          </a:xfrm>
          <a:prstGeom prst="rect">
            <a:avLst/>
          </a:prstGeom>
          <a:noFill/>
        </p:spPr>
        <p:txBody>
          <a:bodyPr wrap="square" anchor="t" lIns="0" rIns="0" tIns="0" bIns="0"/>
          <a:lstStyle/>
          <a:p>
            <a:pPr algn="l"/>
            <a:r>
              <a:rPr sz="2000" b="0" i="0">
                <a:solidFill>
                  <a:srgbClr val="202122"/>
                </a:solidFill>
                <a:latin typeface="Calibri"/>
              </a:rPr>
              <a:t>Light absorbed by particles in the glass; worse over distance.</a:t>
            </a:r>
          </a:p>
        </p:txBody>
      </p:sp>
      <p:sp>
        <p:nvSpPr>
          <p:cNvPr id="14" name="Rounded Rectangle 13"/>
          <p:cNvSpPr/>
          <p:nvPr/>
        </p:nvSpPr>
        <p:spPr>
          <a:xfrm>
            <a:off x="548640"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1371600" y="4224528"/>
            <a:ext cx="4404207" cy="512064"/>
          </a:xfrm>
          <a:prstGeom prst="rect">
            <a:avLst/>
          </a:prstGeom>
          <a:noFill/>
        </p:spPr>
        <p:txBody>
          <a:bodyPr wrap="square" anchor="ctr" lIns="0" rIns="0" tIns="0" bIns="0"/>
          <a:lstStyle/>
          <a:p>
            <a:pPr algn="l"/>
            <a:r>
              <a:rPr sz="1900" b="1" i="0">
                <a:solidFill>
                  <a:srgbClr val="03306E"/>
                </a:solidFill>
                <a:latin typeface="Calibri"/>
              </a:rPr>
              <a:t>Scattering</a:t>
            </a:r>
          </a:p>
        </p:txBody>
      </p:sp>
      <p:sp>
        <p:nvSpPr>
          <p:cNvPr id="17" name="TextBox 16"/>
          <p:cNvSpPr txBox="1"/>
          <p:nvPr/>
        </p:nvSpPr>
        <p:spPr>
          <a:xfrm>
            <a:off x="777240" y="4892040"/>
            <a:ext cx="4952847" cy="1143000"/>
          </a:xfrm>
          <a:prstGeom prst="rect">
            <a:avLst/>
          </a:prstGeom>
          <a:noFill/>
        </p:spPr>
        <p:txBody>
          <a:bodyPr wrap="square" anchor="t" lIns="0" rIns="0" tIns="0" bIns="0"/>
          <a:lstStyle/>
          <a:p>
            <a:pPr algn="l"/>
            <a:r>
              <a:rPr sz="2000" b="0" i="0">
                <a:solidFill>
                  <a:srgbClr val="202122"/>
                </a:solidFill>
                <a:latin typeface="Calibri"/>
              </a:rPr>
              <a:t>Light hits particles and is lost into the cladding.</a:t>
            </a:r>
          </a:p>
        </p:txBody>
      </p:sp>
      <p:sp>
        <p:nvSpPr>
          <p:cNvPr id="18" name="Rounded Rectangle 17"/>
          <p:cNvSpPr/>
          <p:nvPr/>
        </p:nvSpPr>
        <p:spPr>
          <a:xfrm>
            <a:off x="6233007"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61607"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7055967" y="4224528"/>
            <a:ext cx="4404207" cy="512064"/>
          </a:xfrm>
          <a:prstGeom prst="rect">
            <a:avLst/>
          </a:prstGeom>
          <a:noFill/>
        </p:spPr>
        <p:txBody>
          <a:bodyPr wrap="square" anchor="ctr" lIns="0" rIns="0" tIns="0" bIns="0"/>
          <a:lstStyle/>
          <a:p>
            <a:pPr algn="l"/>
            <a:r>
              <a:rPr sz="1900" b="1" i="0">
                <a:solidFill>
                  <a:srgbClr val="03306E"/>
                </a:solidFill>
                <a:latin typeface="Calibri"/>
              </a:rPr>
              <a:t>Bending</a:t>
            </a:r>
          </a:p>
        </p:txBody>
      </p:sp>
      <p:sp>
        <p:nvSpPr>
          <p:cNvPr id="21" name="TextBox 20"/>
          <p:cNvSpPr txBox="1"/>
          <p:nvPr/>
        </p:nvSpPr>
        <p:spPr>
          <a:xfrm>
            <a:off x="6461607" y="4892040"/>
            <a:ext cx="4952847" cy="1143000"/>
          </a:xfrm>
          <a:prstGeom prst="rect">
            <a:avLst/>
          </a:prstGeom>
          <a:noFill/>
        </p:spPr>
        <p:txBody>
          <a:bodyPr wrap="square" anchor="t" lIns="0" rIns="0" tIns="0" bIns="0"/>
          <a:lstStyle/>
          <a:p>
            <a:pPr algn="l"/>
            <a:r>
              <a:rPr sz="2000" b="0" i="0">
                <a:solidFill>
                  <a:srgbClr val="202122"/>
                </a:solidFill>
                <a:latin typeface="Calibri"/>
              </a:rPr>
              <a:t>Macrobends and microbends let light escape.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100" b="1" i="0">
                <a:solidFill>
                  <a:srgbClr val="03306E"/>
                </a:solidFill>
                <a:latin typeface="Cambria"/>
              </a:rPr>
              <a:t>Quick check: Attenuation: losing signal over distance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Signal Theory and Data Transmission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unit is attenuation measured in?</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Name two causes of attenuation in fibre.</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should you do before connecting fibre?</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Ohm's law and copper cabling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Signal Theory and Data Transmission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Ohm's law links voltage (V), current (I) and resistance (R): V = I x R.</a:t>
            </a:r>
          </a:p>
          <a:p>
            <a:pPr>
              <a:spcAft>
                <a:spcPts val="1320"/>
              </a:spcAft>
            </a:pPr>
            <a:r>
              <a:rPr sz="2200" b="0">
                <a:solidFill>
                  <a:srgbClr val="202122"/>
                </a:solidFill>
                <a:latin typeface="Calibri"/>
              </a:rPr>
              <a:t>For a given voltage, more resistance means less current. In a cable, resistance increases with length, and effectively with signal frequency; thinner conductors also have higher resistance.</a:t>
            </a:r>
          </a:p>
          <a:p>
            <a:pPr>
              <a:spcAft>
                <a:spcPts val="1320"/>
              </a:spcAft>
            </a:pPr>
            <a:r>
              <a:rPr sz="2200" b="0">
                <a:solidFill>
                  <a:srgbClr val="202122"/>
                </a:solidFill>
                <a:latin typeface="Calibri"/>
              </a:rPr>
              <a:t>As a copper cable gets longer, the signal weakens until the receiver can't read it reliably. That's why copper Ethernet has a limit: 90 m for the permanent link plus up to 10 m of patch leads, 100 m in total.</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12 V across 4 ohms gives 12 / 4 = 3 A. Double the resistance to 8 ohms and the current halves to 1.5 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Ohm's law and copper cabling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Signal Theory and Data Transmission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13</a:t>
            </a:r>
          </a:p>
        </p:txBody>
      </p:sp>
      <p:sp>
        <p:nvSpPr>
          <p:cNvPr id="6" name="TextBox 5"/>
          <p:cNvSpPr txBox="1"/>
          <p:nvPr/>
        </p:nvSpPr>
        <p:spPr>
          <a:xfrm>
            <a:off x="548640" y="1600200"/>
            <a:ext cx="6675120" cy="4572000"/>
          </a:xfrm>
          <a:prstGeom prst="rect">
            <a:avLst/>
          </a:prstGeom>
          <a:noFill/>
        </p:spPr>
        <p:txBody>
          <a:bodyPr wrap="square" lIns="0" rIns="0" tIns="0" bIns="0">
            <a:spAutoFit/>
          </a:bodyPr>
          <a:lstStyle/>
          <a:p>
            <a:pPr marL="274320" indent="-274320">
              <a:spcAft>
                <a:spcPts val="1080"/>
              </a:spcAft>
              <a:buClr>
                <a:srgbClr val="0645AD"/>
              </a:buClr>
              <a:buFont typeface="Arial"/>
              <a:buChar char="•"/>
            </a:pPr>
            <a:r>
              <a:rPr sz="2400" b="1">
                <a:solidFill>
                  <a:srgbClr val="202122"/>
                </a:solidFill>
                <a:latin typeface="Calibri"/>
              </a:rPr>
              <a:t>V = I x R:</a:t>
            </a:r>
            <a:r>
              <a:rPr sz="2400" b="0">
                <a:solidFill>
                  <a:srgbClr val="202122"/>
                </a:solidFill>
                <a:latin typeface="Calibri"/>
              </a:rPr>
              <a:t> voltage equals current times resistance.</a:t>
            </a:r>
          </a:p>
          <a:p>
            <a:pPr marL="274320" indent="-274320">
              <a:spcAft>
                <a:spcPts val="1080"/>
              </a:spcAft>
              <a:buClr>
                <a:srgbClr val="0645AD"/>
              </a:buClr>
              <a:buFont typeface="Arial"/>
              <a:buChar char="•"/>
            </a:pPr>
            <a:r>
              <a:rPr sz="2400" b="0">
                <a:solidFill>
                  <a:srgbClr val="202122"/>
                </a:solidFill>
                <a:latin typeface="Calibri"/>
              </a:rPr>
              <a:t>More voltage gives more current.</a:t>
            </a:r>
          </a:p>
          <a:p>
            <a:pPr marL="274320" indent="-274320">
              <a:spcAft>
                <a:spcPts val="1080"/>
              </a:spcAft>
              <a:buClr>
                <a:srgbClr val="0645AD"/>
              </a:buClr>
              <a:buFont typeface="Arial"/>
              <a:buChar char="•"/>
            </a:pPr>
            <a:r>
              <a:rPr sz="2400" b="0">
                <a:solidFill>
                  <a:srgbClr val="202122"/>
                </a:solidFill>
                <a:latin typeface="Calibri"/>
              </a:rPr>
              <a:t>More resistance gives less current.</a:t>
            </a:r>
          </a:p>
          <a:p>
            <a:pPr marL="274320" indent="-274320">
              <a:spcAft>
                <a:spcPts val="1080"/>
              </a:spcAft>
              <a:buClr>
                <a:srgbClr val="0645AD"/>
              </a:buClr>
              <a:buFont typeface="Arial"/>
              <a:buChar char="•"/>
            </a:pPr>
            <a:r>
              <a:rPr sz="2400" b="0">
                <a:solidFill>
                  <a:srgbClr val="202122"/>
                </a:solidFill>
                <a:latin typeface="Calibri"/>
              </a:rPr>
              <a:t>Resistance rises with cable length, signal frequency and smaller cable size.</a:t>
            </a:r>
          </a:p>
        </p:txBody>
      </p:sp>
      <p:sp>
        <p:nvSpPr>
          <p:cNvPr id="7" name="Rounded Rectangle 6"/>
          <p:cNvSpPr/>
          <p:nvPr/>
        </p:nvSpPr>
        <p:spPr>
          <a:xfrm>
            <a:off x="7772400" y="1600200"/>
            <a:ext cx="3867912" cy="443484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74519"/>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a:t>
            </a:r>
          </a:p>
        </p:txBody>
      </p:sp>
      <p:sp>
        <p:nvSpPr>
          <p:cNvPr id="9" name="TextBox 8"/>
          <p:cNvSpPr txBox="1"/>
          <p:nvPr/>
        </p:nvSpPr>
        <p:spPr>
          <a:xfrm>
            <a:off x="8046720" y="2606040"/>
            <a:ext cx="3291840" cy="365760"/>
          </a:xfrm>
          <a:prstGeom prst="rect">
            <a:avLst/>
          </a:prstGeom>
          <a:noFill/>
        </p:spPr>
        <p:txBody>
          <a:bodyPr wrap="square" anchor="t" lIns="0" rIns="0" tIns="0" bIns="0"/>
          <a:lstStyle/>
          <a:p>
            <a:pPr algn="l"/>
            <a:r>
              <a:rPr sz="1300" b="1" i="0">
                <a:solidFill>
                  <a:srgbClr val="A9C8F0"/>
                </a:solidFill>
                <a:latin typeface="Calibri"/>
              </a:rPr>
              <a:t>KEY IDEA</a:t>
            </a:r>
          </a:p>
        </p:txBody>
      </p:sp>
      <p:sp>
        <p:nvSpPr>
          <p:cNvPr id="10" name="TextBox 9"/>
          <p:cNvSpPr txBox="1"/>
          <p:nvPr/>
        </p:nvSpPr>
        <p:spPr>
          <a:xfrm>
            <a:off x="8046720" y="3017520"/>
            <a:ext cx="3291840" cy="2926080"/>
          </a:xfrm>
          <a:prstGeom prst="rect">
            <a:avLst/>
          </a:prstGeom>
          <a:noFill/>
        </p:spPr>
        <p:txBody>
          <a:bodyPr wrap="square" anchor="t" lIns="0" rIns="0" tIns="0" bIns="0"/>
          <a:lstStyle/>
          <a:p>
            <a:pPr algn="l"/>
            <a:r>
              <a:rPr sz="2200" b="0" i="0">
                <a:solidFill>
                  <a:srgbClr val="FFFFFF"/>
                </a:solidFill>
                <a:latin typeface="Cambria"/>
              </a:rPr>
              <a:t>Resistance is why copper has a maximum length: 90 m permanent link and 100 m total channel.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Ohm's law and copper cabling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Signal Theory and Data Transmission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14</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State Ohm's law.</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happens to current if resistance increases?</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is the maximum copper Ethernet channel length?</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Signal Theory and Data Transmission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15</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2200" b="0" i="0">
                <a:solidFill>
                  <a:srgbClr val="202122"/>
                </a:solidFill>
                <a:latin typeface="Calibri"/>
              </a:rPr>
              <a:t>What does CSMA/CD stand for?</a:t>
            </a:r>
          </a:p>
        </p:txBody>
      </p:sp>
      <p:sp>
        <p:nvSpPr>
          <p:cNvPr id="8" name="Oval 7"/>
          <p:cNvSpPr/>
          <p:nvPr/>
        </p:nvSpPr>
        <p:spPr>
          <a:xfrm>
            <a:off x="548640" y="2574950"/>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2200" b="0" i="0">
                <a:solidFill>
                  <a:srgbClr val="202122"/>
                </a:solidFill>
                <a:latin typeface="Calibri"/>
              </a:rPr>
              <a:t>What keeps light inside a fibre core?</a:t>
            </a:r>
          </a:p>
        </p:txBody>
      </p:sp>
      <p:sp>
        <p:nvSpPr>
          <p:cNvPr id="10" name="Oval 9"/>
          <p:cNvSpPr/>
          <p:nvPr/>
        </p:nvSpPr>
        <p:spPr>
          <a:xfrm>
            <a:off x="548640" y="3531412"/>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2200" b="0" i="0">
                <a:solidFill>
                  <a:srgbClr val="202122"/>
                </a:solidFill>
                <a:latin typeface="Calibri"/>
              </a:rPr>
              <a:t>Which fibre type suits long distances?</a:t>
            </a:r>
          </a:p>
        </p:txBody>
      </p:sp>
      <p:sp>
        <p:nvSpPr>
          <p:cNvPr id="12" name="Oval 11"/>
          <p:cNvSpPr/>
          <p:nvPr/>
        </p:nvSpPr>
        <p:spPr>
          <a:xfrm>
            <a:off x="548640" y="4487875"/>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2200" b="0" i="0">
                <a:solidFill>
                  <a:srgbClr val="202122"/>
                </a:solidFill>
                <a:latin typeface="Calibri"/>
              </a:rPr>
              <a:t>Name two causes of attenuation.</a:t>
            </a:r>
          </a:p>
        </p:txBody>
      </p:sp>
      <p:sp>
        <p:nvSpPr>
          <p:cNvPr id="14" name="Oval 13"/>
          <p:cNvSpPr/>
          <p:nvPr/>
        </p:nvSpPr>
        <p:spPr>
          <a:xfrm>
            <a:off x="548640" y="5444337"/>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2200" b="0" i="0">
                <a:solidFill>
                  <a:srgbClr val="202122"/>
                </a:solidFill>
                <a:latin typeface="Calibri"/>
              </a:rPr>
              <a:t>Using V = I x R, what current flows with 10 V and 5 ohms?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Signal Theory and Data Transmission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16</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1800" b="0" i="0">
                <a:solidFill>
                  <a:srgbClr val="54595D"/>
                </a:solidFill>
                <a:latin typeface="Calibri"/>
              </a:rPr>
              <a:t>What does CSMA/CD stand for?</a:t>
            </a:r>
          </a:p>
          <a:p>
            <a:r>
              <a:rPr sz="1800" b="1">
                <a:solidFill>
                  <a:srgbClr val="03306E"/>
                </a:solidFill>
                <a:latin typeface="Calibri"/>
              </a:rPr>
              <a:t>Carrier Sense Multiple Access with Collision Detection.</a:t>
            </a:r>
          </a:p>
        </p:txBody>
      </p:sp>
      <p:sp>
        <p:nvSpPr>
          <p:cNvPr id="8" name="Oval 7"/>
          <p:cNvSpPr/>
          <p:nvPr/>
        </p:nvSpPr>
        <p:spPr>
          <a:xfrm>
            <a:off x="548640" y="2574950"/>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1800" b="0" i="0">
                <a:solidFill>
                  <a:srgbClr val="54595D"/>
                </a:solidFill>
                <a:latin typeface="Calibri"/>
              </a:rPr>
              <a:t>What keeps light inside a fibre core?</a:t>
            </a:r>
          </a:p>
          <a:p>
            <a:r>
              <a:rPr sz="1800" b="1">
                <a:solidFill>
                  <a:srgbClr val="03306E"/>
                </a:solidFill>
                <a:latin typeface="Calibri"/>
              </a:rPr>
              <a:t>Total internal reflection.</a:t>
            </a:r>
          </a:p>
        </p:txBody>
      </p:sp>
      <p:sp>
        <p:nvSpPr>
          <p:cNvPr id="10" name="Oval 9"/>
          <p:cNvSpPr/>
          <p:nvPr/>
        </p:nvSpPr>
        <p:spPr>
          <a:xfrm>
            <a:off x="548640" y="3531412"/>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1800" b="0" i="0">
                <a:solidFill>
                  <a:srgbClr val="54595D"/>
                </a:solidFill>
                <a:latin typeface="Calibri"/>
              </a:rPr>
              <a:t>Which fibre type suits long distances?</a:t>
            </a:r>
          </a:p>
          <a:p>
            <a:r>
              <a:rPr sz="1800" b="1">
                <a:solidFill>
                  <a:srgbClr val="03306E"/>
                </a:solidFill>
                <a:latin typeface="Calibri"/>
              </a:rPr>
              <a:t>Single-mode.</a:t>
            </a:r>
          </a:p>
        </p:txBody>
      </p:sp>
      <p:sp>
        <p:nvSpPr>
          <p:cNvPr id="12" name="Oval 11"/>
          <p:cNvSpPr/>
          <p:nvPr/>
        </p:nvSpPr>
        <p:spPr>
          <a:xfrm>
            <a:off x="548640" y="4487875"/>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1800" b="0" i="0">
                <a:solidFill>
                  <a:srgbClr val="54595D"/>
                </a:solidFill>
                <a:latin typeface="Calibri"/>
              </a:rPr>
              <a:t>Name two causes of attenuation.</a:t>
            </a:r>
          </a:p>
          <a:p>
            <a:r>
              <a:rPr sz="1800" b="1">
                <a:solidFill>
                  <a:srgbClr val="03306E"/>
                </a:solidFill>
                <a:latin typeface="Calibri"/>
              </a:rPr>
              <a:t>Any two of: absorption, scattering, macrobending, microbending.</a:t>
            </a:r>
          </a:p>
        </p:txBody>
      </p:sp>
      <p:sp>
        <p:nvSpPr>
          <p:cNvPr id="14" name="Oval 13"/>
          <p:cNvSpPr/>
          <p:nvPr/>
        </p:nvSpPr>
        <p:spPr>
          <a:xfrm>
            <a:off x="548640" y="5444337"/>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1800" b="0" i="0">
                <a:solidFill>
                  <a:srgbClr val="54595D"/>
                </a:solidFill>
                <a:latin typeface="Calibri"/>
              </a:rPr>
              <a:t>Using V = I x R, what current flows with 10 V and 5 ohms?</a:t>
            </a:r>
          </a:p>
          <a:p>
            <a:r>
              <a:rPr sz="1800" b="1">
                <a:solidFill>
                  <a:srgbClr val="03306E"/>
                </a:solidFill>
                <a:latin typeface="Calibri"/>
              </a:rPr>
              <a:t>2 amps.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Signal loss investigation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Signal Theory and Data Transmission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17</a:t>
            </a:r>
          </a:p>
        </p:txBody>
      </p:sp>
      <p:sp>
        <p:nvSpPr>
          <p:cNvPr id="6" name="Rounded Rectangle 5"/>
          <p:cNvSpPr/>
          <p:nvPr/>
        </p:nvSpPr>
        <p:spPr>
          <a:xfrm>
            <a:off x="548640" y="1508760"/>
            <a:ext cx="2011680" cy="457200"/>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25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Pairs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Use the fibre loss figures given by your teacher for three links.</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Identify which link has a fault, and the most likely cause.</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Calculate current for three copper examples using Ohm's law.</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Explain why a 150 m copper run would be a problem.</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Faulty link found with evidence</a:t>
            </a:r>
          </a:p>
          <a:p>
            <a:pPr marL="274320" indent="-274320">
              <a:spcAft>
                <a:spcPts val="810"/>
              </a:spcAft>
              <a:buClr>
                <a:srgbClr val="0645AD"/>
              </a:buClr>
              <a:buFont typeface="Arial"/>
              <a:buChar char="•"/>
            </a:pPr>
            <a:r>
              <a:rPr sz="1800" b="0">
                <a:solidFill>
                  <a:srgbClr val="202122"/>
                </a:solidFill>
                <a:latin typeface="Calibri"/>
              </a:rPr>
              <a:t>Calculations correct with units</a:t>
            </a:r>
          </a:p>
          <a:p>
            <a:pPr marL="274320" indent="-274320">
              <a:spcAft>
                <a:spcPts val="810"/>
              </a:spcAft>
              <a:buClr>
                <a:srgbClr val="0645AD"/>
              </a:buClr>
              <a:buFont typeface="Arial"/>
              <a:buChar char="•"/>
            </a:pPr>
            <a:r>
              <a:rPr sz="1800" b="0">
                <a:solidFill>
                  <a:srgbClr val="202122"/>
                </a:solidFill>
                <a:latin typeface="Calibri"/>
              </a:rPr>
              <a:t>Maximum length explained using resistance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Why is multi-mode fibre used for short runs?</a:t>
            </a:r>
          </a:p>
        </p:txBody>
      </p:sp>
      <p:sp>
        <p:nvSpPr>
          <p:cNvPr id="6" name="Oval 5"/>
          <p:cNvSpPr/>
          <p:nvPr/>
        </p:nvSpPr>
        <p:spPr>
          <a:xfrm>
            <a:off x="548640" y="26974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What happens to current if resistance increases?</a:t>
            </a:r>
          </a:p>
        </p:txBody>
      </p:sp>
      <p:sp>
        <p:nvSpPr>
          <p:cNvPr id="8" name="Oval 7"/>
          <p:cNvSpPr/>
          <p:nvPr/>
        </p:nvSpPr>
        <p:spPr>
          <a:xfrm>
            <a:off x="548640" y="365760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Name one way poor handling damages fibre.</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Network Cabling - Installation and Testing</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https://lana6478.github.io/Digital-Suport-and-security-T-levle/#/02-occupational-specialisms/network-cabling/02-cabling-installation-and-testing.md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Signal Theory and Data Transmission</dc:title>
  <dc:subject>Digital Support and Security T Level: Network Cabling Content Area 2</dc:subject>
  <dc:creator>Samuel O'Connell</dc:creator>
  <cp:keywords>T Level; Digital Support and Security; lesson slides; 2.1, 2.7 to 2.10</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