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assess the job, select the right tool and use it safely per manufacturer guidance.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Tracing a cable.</a:t>
            </a:r>
          </a:p>
          <a:p>
            <a:r>
              <a:t>2. Finds faults and losses along a fibre.</a:t>
            </a:r>
          </a:p>
          <a:p>
            <a:r>
              <a:t>3. A mobile elevating work platform.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Devices include firewalls, routers, switches with SFP modules, access points, VoIP endpoints, CCTV and servers.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Space, power and cooling.</a:t>
            </a:r>
          </a:p>
          <a:p>
            <a:r>
              <a:t>2. In the design specification.</a:t>
            </a:r>
          </a:p>
          <a:p>
            <a:r>
              <a:t>3. Testing that it works, then configuring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is shaped by logical and physical topology, standards, permanent links and channels, campus distribution and passive and active design.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list of every component and quantity needed.</a:t>
            </a:r>
          </a:p>
          <a:p>
            <a:r>
              <a:t>2. So the network can expand without re-cabling.</a:t>
            </a:r>
          </a:p>
          <a:p>
            <a:r>
              <a:t>3. What the customer needs.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NETWORK CABLING</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Structured Cabling Design and Installation</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Network Cabling Content Area 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2.2 to 2.6, 2.25</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Select tools and equipment for testing, terminating and access.</a:t>
            </a:r>
          </a:p>
        </p:txBody>
      </p:sp>
      <p:sp>
        <p:nvSpPr>
          <p:cNvPr id="9" name="Oval 8"/>
          <p:cNvSpPr/>
          <p:nvPr/>
        </p:nvSpPr>
        <p:spPr>
          <a:xfrm>
            <a:off x="548640" y="327469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Install and configure networking devices to a design specification.</a:t>
            </a:r>
          </a:p>
        </p:txBody>
      </p:sp>
      <p:sp>
        <p:nvSpPr>
          <p:cNvPr id="11" name="Oval 10"/>
          <p:cNvSpPr/>
          <p:nvPr/>
        </p:nvSpPr>
        <p:spPr>
          <a:xfrm>
            <a:off x="548640" y="431482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Describe what a network design specification contains.</a:t>
            </a:r>
          </a:p>
        </p:txBody>
      </p:sp>
      <p:sp>
        <p:nvSpPr>
          <p:cNvPr id="13" name="Oval 12"/>
          <p:cNvSpPr/>
          <p:nvPr/>
        </p:nvSpPr>
        <p:spPr>
          <a:xfrm>
            <a:off x="548640" y="5354954"/>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Install fixtures and fittings such as cabinets, racks and containment.</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You arrive at a new building to install a network. What documents would you want in your hand before you start?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Tools and equipment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Cabling installers need the right tool for each job, used safely and to the manufacturer's guidance.</a:t>
            </a:r>
          </a:p>
          <a:p>
            <a:pPr>
              <a:spcAft>
                <a:spcPts val="1260"/>
              </a:spcAft>
            </a:pPr>
            <a:r>
              <a:rPr sz="2100" b="0">
                <a:solidFill>
                  <a:srgbClr val="202122"/>
                </a:solidFill>
                <a:latin typeface="Calibri"/>
              </a:rPr>
              <a:t>Testing tools include multimeters, tone generators and probes (to trace a cable), continuity testers, OTDRs (to find faults along fibre), light sources and power meters, and spectrum analysers.</a:t>
            </a:r>
          </a:p>
          <a:p>
            <a:pPr>
              <a:spcAft>
                <a:spcPts val="1260"/>
              </a:spcAft>
            </a:pPr>
            <a:r>
              <a:rPr sz="2100" b="0">
                <a:solidFill>
                  <a:srgbClr val="202122"/>
                </a:solidFill>
                <a:latin typeface="Calibri"/>
              </a:rPr>
              <a:t>Terminating tools include crimpers, strippers, cutters, punch-down tools, fusion splicers, fibre cleaning kits and cleavers.</a:t>
            </a:r>
          </a:p>
          <a:p>
            <a:pPr>
              <a:spcAft>
                <a:spcPts val="1260"/>
              </a:spcAft>
            </a:pPr>
            <a:r>
              <a:rPr sz="2100" b="0">
                <a:solidFill>
                  <a:srgbClr val="202122"/>
                </a:solidFill>
                <a:latin typeface="Calibri"/>
              </a:rPr>
              <a:t>Access equipment such as step ladders, low-level towers and MEWPs is needed for high work, along with cabinets, racks, trunking and containment.</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Finding which unlabelled cable runs to room 12: the tone generator is clipped on in the room and the probe traces it at the patch panel.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Tools and equipment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Testing</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Multimeter, tone generator and probe, OTDR, light source and power meter, spectrum analyser, continuity tester.</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Terminating</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Crimper, strippers, cutters, punch-down tool, fusion splicer, fibre cleaning and cleave tools.</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Access</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MEWPs, low-level access towers, step ladders.</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Fixtures</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Prebuilt or flat-pack cabinets, racks, trunking and containment.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Tools and equipment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 tone generator and probe used for?</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an OTDR do?</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a MEWP?</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Installing a networking device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Installing a device such as a switch, firewall or access point follows a checklist.</a:t>
            </a:r>
          </a:p>
          <a:p>
            <a:pPr>
              <a:spcAft>
                <a:spcPts val="1320"/>
              </a:spcAft>
            </a:pPr>
            <a:r>
              <a:rPr sz="2200" b="0">
                <a:solidFill>
                  <a:srgbClr val="202122"/>
                </a:solidFill>
                <a:latin typeface="Calibri"/>
              </a:rPr>
              <a:t>Find its location in the design specification. Check the equipment supplied matches the specification. Confirm it physically fits, with enough space, power and cooling. Mount it in the rack securely. Test that it works. Then configure it to the requirements.</a:t>
            </a:r>
          </a:p>
          <a:p>
            <a:pPr>
              <a:spcAft>
                <a:spcPts val="1320"/>
              </a:spcAft>
            </a:pPr>
            <a:r>
              <a:rPr sz="2200" b="0">
                <a:solidFill>
                  <a:srgbClr val="202122"/>
                </a:solidFill>
                <a:latin typeface="Calibri"/>
              </a:rPr>
              <a:t>Skipping checks causes expensive problems, such as a switch that overheats in a cabinet without enough airflow.</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Before racking a new PoE switch, the installer checks the cabinet's power supply can handle the extra load from 24 cameras.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Installing a networking device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ectangle 5"/>
          <p:cNvSpPr/>
          <p:nvPr/>
        </p:nvSpPr>
        <p:spPr>
          <a:xfrm>
            <a:off x="1416024" y="2816352"/>
            <a:ext cx="9359646" cy="36576"/>
          </a:xfrm>
          <a:prstGeom prst="rect">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095984" y="251460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1</a:t>
            </a:r>
          </a:p>
        </p:txBody>
      </p:sp>
      <p:sp>
        <p:nvSpPr>
          <p:cNvPr id="8" name="TextBox 7"/>
          <p:cNvSpPr txBox="1"/>
          <p:nvPr/>
        </p:nvSpPr>
        <p:spPr>
          <a:xfrm>
            <a:off x="548640" y="3291840"/>
            <a:ext cx="1734769" cy="731520"/>
          </a:xfrm>
          <a:prstGeom prst="rect">
            <a:avLst/>
          </a:prstGeom>
          <a:noFill/>
        </p:spPr>
        <p:txBody>
          <a:bodyPr wrap="square" anchor="t" lIns="0" rIns="0" tIns="0" bIns="0"/>
          <a:lstStyle/>
          <a:p>
            <a:pPr algn="ctr"/>
            <a:r>
              <a:rPr sz="1700" b="1" i="0">
                <a:solidFill>
                  <a:srgbClr val="03306E"/>
                </a:solidFill>
                <a:latin typeface="Calibri"/>
              </a:rPr>
              <a:t>Locate</a:t>
            </a:r>
          </a:p>
        </p:txBody>
      </p:sp>
      <p:sp>
        <p:nvSpPr>
          <p:cNvPr id="9" name="Rounded Rectangle 8"/>
          <p:cNvSpPr/>
          <p:nvPr/>
        </p:nvSpPr>
        <p:spPr>
          <a:xfrm>
            <a:off x="548640" y="4069080"/>
            <a:ext cx="1734769" cy="118872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206240"/>
            <a:ext cx="1460449" cy="914400"/>
          </a:xfrm>
          <a:prstGeom prst="rect">
            <a:avLst/>
          </a:prstGeom>
          <a:noFill/>
        </p:spPr>
        <p:txBody>
          <a:bodyPr wrap="square" anchor="t" lIns="0" rIns="0" tIns="0" bIns="0"/>
          <a:lstStyle/>
          <a:p>
            <a:pPr algn="l"/>
            <a:r>
              <a:rPr sz="1700" b="0" i="0">
                <a:solidFill>
                  <a:srgbClr val="202122"/>
                </a:solidFill>
                <a:latin typeface="Calibri"/>
              </a:rPr>
              <a:t>Find its position in the design spec.</a:t>
            </a:r>
          </a:p>
        </p:txBody>
      </p:sp>
      <p:sp>
        <p:nvSpPr>
          <p:cNvPr id="11" name="Oval 10"/>
          <p:cNvSpPr/>
          <p:nvPr/>
        </p:nvSpPr>
        <p:spPr>
          <a:xfrm>
            <a:off x="2967913" y="251460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2</a:t>
            </a:r>
          </a:p>
        </p:txBody>
      </p:sp>
      <p:sp>
        <p:nvSpPr>
          <p:cNvPr id="12" name="TextBox 11"/>
          <p:cNvSpPr txBox="1"/>
          <p:nvPr/>
        </p:nvSpPr>
        <p:spPr>
          <a:xfrm>
            <a:off x="2420569" y="3291840"/>
            <a:ext cx="1734769" cy="731520"/>
          </a:xfrm>
          <a:prstGeom prst="rect">
            <a:avLst/>
          </a:prstGeom>
          <a:noFill/>
        </p:spPr>
        <p:txBody>
          <a:bodyPr wrap="square" anchor="t" lIns="0" rIns="0" tIns="0" bIns="0"/>
          <a:lstStyle/>
          <a:p>
            <a:pPr algn="ctr"/>
            <a:r>
              <a:rPr sz="1700" b="1" i="0">
                <a:solidFill>
                  <a:srgbClr val="03306E"/>
                </a:solidFill>
                <a:latin typeface="Calibri"/>
              </a:rPr>
              <a:t>Check</a:t>
            </a:r>
          </a:p>
        </p:txBody>
      </p:sp>
      <p:sp>
        <p:nvSpPr>
          <p:cNvPr id="13" name="Rounded Rectangle 12"/>
          <p:cNvSpPr/>
          <p:nvPr/>
        </p:nvSpPr>
        <p:spPr>
          <a:xfrm>
            <a:off x="2420569" y="4069080"/>
            <a:ext cx="1734769" cy="118872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57729" y="4206240"/>
            <a:ext cx="1460449" cy="914400"/>
          </a:xfrm>
          <a:prstGeom prst="rect">
            <a:avLst/>
          </a:prstGeom>
          <a:noFill/>
        </p:spPr>
        <p:txBody>
          <a:bodyPr wrap="square" anchor="t" lIns="0" rIns="0" tIns="0" bIns="0"/>
          <a:lstStyle/>
          <a:p>
            <a:pPr algn="l"/>
            <a:r>
              <a:rPr sz="1700" b="0" i="0">
                <a:solidFill>
                  <a:srgbClr val="202122"/>
                </a:solidFill>
                <a:latin typeface="Calibri"/>
              </a:rPr>
              <a:t>Equipment matches the spec.</a:t>
            </a:r>
          </a:p>
        </p:txBody>
      </p:sp>
      <p:sp>
        <p:nvSpPr>
          <p:cNvPr id="15" name="Oval 14"/>
          <p:cNvSpPr/>
          <p:nvPr/>
        </p:nvSpPr>
        <p:spPr>
          <a:xfrm>
            <a:off x="4839843" y="251460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3</a:t>
            </a:r>
          </a:p>
        </p:txBody>
      </p:sp>
      <p:sp>
        <p:nvSpPr>
          <p:cNvPr id="16" name="TextBox 15"/>
          <p:cNvSpPr txBox="1"/>
          <p:nvPr/>
        </p:nvSpPr>
        <p:spPr>
          <a:xfrm>
            <a:off x="4292498" y="3291840"/>
            <a:ext cx="1734769" cy="731520"/>
          </a:xfrm>
          <a:prstGeom prst="rect">
            <a:avLst/>
          </a:prstGeom>
          <a:noFill/>
        </p:spPr>
        <p:txBody>
          <a:bodyPr wrap="square" anchor="t" lIns="0" rIns="0" tIns="0" bIns="0"/>
          <a:lstStyle/>
          <a:p>
            <a:pPr algn="ctr"/>
            <a:r>
              <a:rPr sz="1700" b="1" i="0">
                <a:solidFill>
                  <a:srgbClr val="03306E"/>
                </a:solidFill>
                <a:latin typeface="Calibri"/>
              </a:rPr>
              <a:t>Fit</a:t>
            </a:r>
          </a:p>
        </p:txBody>
      </p:sp>
      <p:sp>
        <p:nvSpPr>
          <p:cNvPr id="17" name="Rounded Rectangle 16"/>
          <p:cNvSpPr/>
          <p:nvPr/>
        </p:nvSpPr>
        <p:spPr>
          <a:xfrm>
            <a:off x="4292498" y="4069080"/>
            <a:ext cx="1734769" cy="118872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429658" y="4206240"/>
            <a:ext cx="1460449" cy="914400"/>
          </a:xfrm>
          <a:prstGeom prst="rect">
            <a:avLst/>
          </a:prstGeom>
          <a:noFill/>
        </p:spPr>
        <p:txBody>
          <a:bodyPr wrap="square" anchor="t" lIns="0" rIns="0" tIns="0" bIns="0"/>
          <a:lstStyle/>
          <a:p>
            <a:pPr algn="l"/>
            <a:r>
              <a:rPr sz="1700" b="0" i="0">
                <a:solidFill>
                  <a:srgbClr val="202122"/>
                </a:solidFill>
                <a:latin typeface="Calibri"/>
              </a:rPr>
              <a:t>Confirm space, power and cooling.</a:t>
            </a:r>
          </a:p>
        </p:txBody>
      </p:sp>
      <p:sp>
        <p:nvSpPr>
          <p:cNvPr id="19" name="Oval 18"/>
          <p:cNvSpPr/>
          <p:nvPr/>
        </p:nvSpPr>
        <p:spPr>
          <a:xfrm>
            <a:off x="6711772" y="251460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4</a:t>
            </a:r>
          </a:p>
        </p:txBody>
      </p:sp>
      <p:sp>
        <p:nvSpPr>
          <p:cNvPr id="20" name="TextBox 19"/>
          <p:cNvSpPr txBox="1"/>
          <p:nvPr/>
        </p:nvSpPr>
        <p:spPr>
          <a:xfrm>
            <a:off x="6164427" y="3291840"/>
            <a:ext cx="1734769" cy="731520"/>
          </a:xfrm>
          <a:prstGeom prst="rect">
            <a:avLst/>
          </a:prstGeom>
          <a:noFill/>
        </p:spPr>
        <p:txBody>
          <a:bodyPr wrap="square" anchor="t" lIns="0" rIns="0" tIns="0" bIns="0"/>
          <a:lstStyle/>
          <a:p>
            <a:pPr algn="ctr"/>
            <a:r>
              <a:rPr sz="1700" b="1" i="0">
                <a:solidFill>
                  <a:srgbClr val="03306E"/>
                </a:solidFill>
                <a:latin typeface="Calibri"/>
              </a:rPr>
              <a:t>Rack</a:t>
            </a:r>
          </a:p>
        </p:txBody>
      </p:sp>
      <p:sp>
        <p:nvSpPr>
          <p:cNvPr id="21" name="Rounded Rectangle 20"/>
          <p:cNvSpPr/>
          <p:nvPr/>
        </p:nvSpPr>
        <p:spPr>
          <a:xfrm>
            <a:off x="6164427" y="4069080"/>
            <a:ext cx="1734769" cy="118872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01587" y="4206240"/>
            <a:ext cx="1460449" cy="914400"/>
          </a:xfrm>
          <a:prstGeom prst="rect">
            <a:avLst/>
          </a:prstGeom>
          <a:noFill/>
        </p:spPr>
        <p:txBody>
          <a:bodyPr wrap="square" anchor="t" lIns="0" rIns="0" tIns="0" bIns="0"/>
          <a:lstStyle/>
          <a:p>
            <a:pPr algn="l"/>
            <a:r>
              <a:rPr sz="1700" b="0" i="0">
                <a:solidFill>
                  <a:srgbClr val="202122"/>
                </a:solidFill>
                <a:latin typeface="Calibri"/>
              </a:rPr>
              <a:t>Mount the device.</a:t>
            </a:r>
          </a:p>
        </p:txBody>
      </p:sp>
      <p:sp>
        <p:nvSpPr>
          <p:cNvPr id="23" name="Oval 22"/>
          <p:cNvSpPr/>
          <p:nvPr/>
        </p:nvSpPr>
        <p:spPr>
          <a:xfrm>
            <a:off x="8583701" y="251460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5</a:t>
            </a:r>
          </a:p>
        </p:txBody>
      </p:sp>
      <p:sp>
        <p:nvSpPr>
          <p:cNvPr id="24" name="TextBox 23"/>
          <p:cNvSpPr txBox="1"/>
          <p:nvPr/>
        </p:nvSpPr>
        <p:spPr>
          <a:xfrm>
            <a:off x="8036356" y="3291840"/>
            <a:ext cx="1734769" cy="731520"/>
          </a:xfrm>
          <a:prstGeom prst="rect">
            <a:avLst/>
          </a:prstGeom>
          <a:noFill/>
        </p:spPr>
        <p:txBody>
          <a:bodyPr wrap="square" anchor="t" lIns="0" rIns="0" tIns="0" bIns="0"/>
          <a:lstStyle/>
          <a:p>
            <a:pPr algn="ctr"/>
            <a:r>
              <a:rPr sz="1700" b="1" i="0">
                <a:solidFill>
                  <a:srgbClr val="03306E"/>
                </a:solidFill>
                <a:latin typeface="Calibri"/>
              </a:rPr>
              <a:t>Test</a:t>
            </a:r>
          </a:p>
        </p:txBody>
      </p:sp>
      <p:sp>
        <p:nvSpPr>
          <p:cNvPr id="25" name="Rounded Rectangle 24"/>
          <p:cNvSpPr/>
          <p:nvPr/>
        </p:nvSpPr>
        <p:spPr>
          <a:xfrm>
            <a:off x="8036356" y="4069080"/>
            <a:ext cx="1734769" cy="118872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73516" y="4206240"/>
            <a:ext cx="1460449" cy="914400"/>
          </a:xfrm>
          <a:prstGeom prst="rect">
            <a:avLst/>
          </a:prstGeom>
          <a:noFill/>
        </p:spPr>
        <p:txBody>
          <a:bodyPr wrap="square" anchor="t" lIns="0" rIns="0" tIns="0" bIns="0"/>
          <a:lstStyle/>
          <a:p>
            <a:pPr algn="l"/>
            <a:r>
              <a:rPr sz="1700" b="0" i="0">
                <a:solidFill>
                  <a:srgbClr val="202122"/>
                </a:solidFill>
                <a:latin typeface="Calibri"/>
              </a:rPr>
              <a:t>Check it works.</a:t>
            </a:r>
          </a:p>
        </p:txBody>
      </p:sp>
      <p:sp>
        <p:nvSpPr>
          <p:cNvPr id="27" name="Oval 26"/>
          <p:cNvSpPr/>
          <p:nvPr/>
        </p:nvSpPr>
        <p:spPr>
          <a:xfrm>
            <a:off x="10455630" y="251460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6</a:t>
            </a:r>
          </a:p>
        </p:txBody>
      </p:sp>
      <p:sp>
        <p:nvSpPr>
          <p:cNvPr id="28" name="TextBox 27"/>
          <p:cNvSpPr txBox="1"/>
          <p:nvPr/>
        </p:nvSpPr>
        <p:spPr>
          <a:xfrm>
            <a:off x="9908286" y="3291840"/>
            <a:ext cx="1734769" cy="731520"/>
          </a:xfrm>
          <a:prstGeom prst="rect">
            <a:avLst/>
          </a:prstGeom>
          <a:noFill/>
        </p:spPr>
        <p:txBody>
          <a:bodyPr wrap="square" anchor="t" lIns="0" rIns="0" tIns="0" bIns="0"/>
          <a:lstStyle/>
          <a:p>
            <a:pPr algn="ctr"/>
            <a:r>
              <a:rPr sz="1700" b="1" i="0">
                <a:solidFill>
                  <a:srgbClr val="03306E"/>
                </a:solidFill>
                <a:latin typeface="Calibri"/>
              </a:rPr>
              <a:t>Configure</a:t>
            </a:r>
          </a:p>
        </p:txBody>
      </p:sp>
      <p:sp>
        <p:nvSpPr>
          <p:cNvPr id="29" name="Rounded Rectangle 28"/>
          <p:cNvSpPr/>
          <p:nvPr/>
        </p:nvSpPr>
        <p:spPr>
          <a:xfrm>
            <a:off x="9908286" y="4069080"/>
            <a:ext cx="1734769" cy="118872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045446" y="4206240"/>
            <a:ext cx="1460449" cy="914400"/>
          </a:xfrm>
          <a:prstGeom prst="rect">
            <a:avLst/>
          </a:prstGeom>
          <a:noFill/>
        </p:spPr>
        <p:txBody>
          <a:bodyPr wrap="square" anchor="t" lIns="0" rIns="0" tIns="0" bIns="0"/>
          <a:lstStyle/>
          <a:p>
            <a:pPr algn="l"/>
            <a:r>
              <a:rPr sz="1700" b="0" i="0">
                <a:solidFill>
                  <a:srgbClr val="202122"/>
                </a:solidFill>
                <a:latin typeface="Calibri"/>
              </a:rPr>
              <a:t>Set it up to the requirement.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Installing a networking device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Name three physical things to check before racking a device.</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Where do you find where a device goes?</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comes after mounting?</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network design specification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A network design specification tells the installer exactly what to build.</a:t>
            </a:r>
          </a:p>
          <a:p>
            <a:pPr>
              <a:spcAft>
                <a:spcPts val="1320"/>
              </a:spcAft>
            </a:pPr>
            <a:r>
              <a:rPr sz="2200" b="0">
                <a:solidFill>
                  <a:srgbClr val="202122"/>
                </a:solidFill>
                <a:latin typeface="Calibri"/>
              </a:rPr>
              <a:t>It includes the customer's statement of requirements, a bill of materials listing every component and quantity, design documents (floor plans, power and cooling, containment and cable routes), installation admin such as labelling, certification and warranty, installation procedures, contractual penalties, and a plan for future growth.</a:t>
            </a:r>
          </a:p>
          <a:p>
            <a:pPr>
              <a:spcAft>
                <a:spcPts val="1320"/>
              </a:spcAft>
            </a:pPr>
            <a:r>
              <a:rPr sz="2200" b="0">
                <a:solidFill>
                  <a:srgbClr val="202122"/>
                </a:solidFill>
                <a:latin typeface="Calibri"/>
              </a:rPr>
              <a:t>Design depends on the topology, the standards to meet, the permanent links and channels, and whether the network spans a campus.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The bill of materials lists 48 Cat6a outlets, 2 x 24-port patch panels and 2,400 m of cable, calculated from the floor plans plus slack.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network design specification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Rounded Rectangle 5"/>
          <p:cNvSpPr/>
          <p:nvPr/>
        </p:nvSpPr>
        <p:spPr>
          <a:xfrm>
            <a:off x="548640"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600" b="1" i="0">
                <a:solidFill>
                  <a:srgbClr val="03306E"/>
                </a:solidFill>
                <a:latin typeface="Calibri"/>
              </a:rPr>
              <a:t>Statement of requirement</a:t>
            </a:r>
          </a:p>
        </p:txBody>
      </p:sp>
      <p:sp>
        <p:nvSpPr>
          <p:cNvPr id="9" name="TextBox 8"/>
          <p:cNvSpPr txBox="1"/>
          <p:nvPr/>
        </p:nvSpPr>
        <p:spPr>
          <a:xfrm>
            <a:off x="777240" y="2468880"/>
            <a:ext cx="3058058" cy="1143000"/>
          </a:xfrm>
          <a:prstGeom prst="rect">
            <a:avLst/>
          </a:prstGeom>
          <a:noFill/>
        </p:spPr>
        <p:txBody>
          <a:bodyPr wrap="square" anchor="t" lIns="0" rIns="0" tIns="0" bIns="0"/>
          <a:lstStyle/>
          <a:p>
            <a:pPr algn="l"/>
            <a:r>
              <a:rPr sz="2000" b="0" i="0">
                <a:solidFill>
                  <a:srgbClr val="202122"/>
                </a:solidFill>
                <a:latin typeface="Calibri"/>
              </a:rPr>
              <a:t>What the customer needs.</a:t>
            </a:r>
          </a:p>
        </p:txBody>
      </p:sp>
      <p:sp>
        <p:nvSpPr>
          <p:cNvPr id="10" name="Rounded Rectangle 9"/>
          <p:cNvSpPr/>
          <p:nvPr/>
        </p:nvSpPr>
        <p:spPr>
          <a:xfrm>
            <a:off x="4338218"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Bill of materials</a:t>
            </a:r>
          </a:p>
        </p:txBody>
      </p:sp>
      <p:sp>
        <p:nvSpPr>
          <p:cNvPr id="13" name="TextBox 12"/>
          <p:cNvSpPr txBox="1"/>
          <p:nvPr/>
        </p:nvSpPr>
        <p:spPr>
          <a:xfrm>
            <a:off x="4566818" y="2468880"/>
            <a:ext cx="3058058" cy="1143000"/>
          </a:xfrm>
          <a:prstGeom prst="rect">
            <a:avLst/>
          </a:prstGeom>
          <a:noFill/>
        </p:spPr>
        <p:txBody>
          <a:bodyPr wrap="square" anchor="t" lIns="0" rIns="0" tIns="0" bIns="0"/>
          <a:lstStyle/>
          <a:p>
            <a:pPr algn="l"/>
            <a:r>
              <a:rPr sz="2000" b="0" i="0">
                <a:solidFill>
                  <a:srgbClr val="202122"/>
                </a:solidFill>
                <a:latin typeface="Calibri"/>
              </a:rPr>
              <a:t>Every component and quantity.</a:t>
            </a:r>
          </a:p>
        </p:txBody>
      </p:sp>
      <p:sp>
        <p:nvSpPr>
          <p:cNvPr id="14" name="Rounded Rectangle 13"/>
          <p:cNvSpPr/>
          <p:nvPr/>
        </p:nvSpPr>
        <p:spPr>
          <a:xfrm>
            <a:off x="8127796"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Design documents</a:t>
            </a:r>
          </a:p>
        </p:txBody>
      </p:sp>
      <p:sp>
        <p:nvSpPr>
          <p:cNvPr id="17" name="TextBox 16"/>
          <p:cNvSpPr txBox="1"/>
          <p:nvPr/>
        </p:nvSpPr>
        <p:spPr>
          <a:xfrm>
            <a:off x="8356396" y="2468880"/>
            <a:ext cx="3058058" cy="1143000"/>
          </a:xfrm>
          <a:prstGeom prst="rect">
            <a:avLst/>
          </a:prstGeom>
          <a:noFill/>
        </p:spPr>
        <p:txBody>
          <a:bodyPr wrap="square" anchor="t" lIns="0" rIns="0" tIns="0" bIns="0"/>
          <a:lstStyle/>
          <a:p>
            <a:pPr algn="l"/>
            <a:r>
              <a:rPr sz="2000" b="0" i="0">
                <a:solidFill>
                  <a:srgbClr val="202122"/>
                </a:solidFill>
                <a:latin typeface="Calibri"/>
              </a:rPr>
              <a:t>Floor plans, power and cooling, containment, cable routes.</a:t>
            </a:r>
          </a:p>
        </p:txBody>
      </p:sp>
      <p:sp>
        <p:nvSpPr>
          <p:cNvPr id="18" name="Rounded Rectangle 17"/>
          <p:cNvSpPr/>
          <p:nvPr/>
        </p:nvSpPr>
        <p:spPr>
          <a:xfrm>
            <a:off x="548640"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1371600" y="4224528"/>
            <a:ext cx="2509418" cy="512064"/>
          </a:xfrm>
          <a:prstGeom prst="rect">
            <a:avLst/>
          </a:prstGeom>
          <a:noFill/>
        </p:spPr>
        <p:txBody>
          <a:bodyPr wrap="square" anchor="ctr" lIns="0" rIns="0" tIns="0" bIns="0"/>
          <a:lstStyle/>
          <a:p>
            <a:pPr algn="l"/>
            <a:r>
              <a:rPr sz="1900" b="1" i="0">
                <a:solidFill>
                  <a:srgbClr val="03306E"/>
                </a:solidFill>
                <a:latin typeface="Calibri"/>
              </a:rPr>
              <a:t>Installation admin</a:t>
            </a:r>
          </a:p>
        </p:txBody>
      </p:sp>
      <p:sp>
        <p:nvSpPr>
          <p:cNvPr id="21" name="TextBox 20"/>
          <p:cNvSpPr txBox="1"/>
          <p:nvPr/>
        </p:nvSpPr>
        <p:spPr>
          <a:xfrm>
            <a:off x="777240" y="4892040"/>
            <a:ext cx="3058058" cy="1143000"/>
          </a:xfrm>
          <a:prstGeom prst="rect">
            <a:avLst/>
          </a:prstGeom>
          <a:noFill/>
        </p:spPr>
        <p:txBody>
          <a:bodyPr wrap="square" anchor="t" lIns="0" rIns="0" tIns="0" bIns="0"/>
          <a:lstStyle/>
          <a:p>
            <a:pPr algn="l"/>
            <a:r>
              <a:rPr sz="2000" b="0" i="0">
                <a:solidFill>
                  <a:srgbClr val="202122"/>
                </a:solidFill>
                <a:latin typeface="Calibri"/>
              </a:rPr>
              <a:t>Labelling, certification, warranty, performance declarations.</a:t>
            </a:r>
          </a:p>
        </p:txBody>
      </p:sp>
      <p:sp>
        <p:nvSpPr>
          <p:cNvPr id="22" name="Rounded Rectangle 21"/>
          <p:cNvSpPr/>
          <p:nvPr/>
        </p:nvSpPr>
        <p:spPr>
          <a:xfrm>
            <a:off x="4338218"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66818"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5</a:t>
            </a:r>
          </a:p>
        </p:txBody>
      </p:sp>
      <p:sp>
        <p:nvSpPr>
          <p:cNvPr id="24" name="TextBox 23"/>
          <p:cNvSpPr txBox="1"/>
          <p:nvPr/>
        </p:nvSpPr>
        <p:spPr>
          <a:xfrm>
            <a:off x="5161178" y="4224528"/>
            <a:ext cx="2509418" cy="512064"/>
          </a:xfrm>
          <a:prstGeom prst="rect">
            <a:avLst/>
          </a:prstGeom>
          <a:noFill/>
        </p:spPr>
        <p:txBody>
          <a:bodyPr wrap="square" anchor="ctr" lIns="0" rIns="0" tIns="0" bIns="0"/>
          <a:lstStyle/>
          <a:p>
            <a:pPr algn="l"/>
            <a:r>
              <a:rPr sz="1600" b="1" i="0">
                <a:solidFill>
                  <a:srgbClr val="03306E"/>
                </a:solidFill>
                <a:latin typeface="Calibri"/>
              </a:rPr>
              <a:t>Procedures and penalties</a:t>
            </a:r>
          </a:p>
        </p:txBody>
      </p:sp>
      <p:sp>
        <p:nvSpPr>
          <p:cNvPr id="25" name="TextBox 24"/>
          <p:cNvSpPr txBox="1"/>
          <p:nvPr/>
        </p:nvSpPr>
        <p:spPr>
          <a:xfrm>
            <a:off x="4566818" y="4892040"/>
            <a:ext cx="3058058" cy="1143000"/>
          </a:xfrm>
          <a:prstGeom prst="rect">
            <a:avLst/>
          </a:prstGeom>
          <a:noFill/>
        </p:spPr>
        <p:txBody>
          <a:bodyPr wrap="square" anchor="t" lIns="0" rIns="0" tIns="0" bIns="0"/>
          <a:lstStyle/>
          <a:p>
            <a:pPr algn="l"/>
            <a:r>
              <a:rPr sz="2000" b="0" i="0">
                <a:solidFill>
                  <a:srgbClr val="202122"/>
                </a:solidFill>
                <a:latin typeface="Calibri"/>
              </a:rPr>
              <a:t>How to install, and contractual penalties.</a:t>
            </a:r>
          </a:p>
        </p:txBody>
      </p:sp>
      <p:sp>
        <p:nvSpPr>
          <p:cNvPr id="26" name="Rounded Rectangle 25"/>
          <p:cNvSpPr/>
          <p:nvPr/>
        </p:nvSpPr>
        <p:spPr>
          <a:xfrm>
            <a:off x="8127796"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56396"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6</a:t>
            </a:r>
          </a:p>
        </p:txBody>
      </p:sp>
      <p:sp>
        <p:nvSpPr>
          <p:cNvPr id="28" name="TextBox 27"/>
          <p:cNvSpPr txBox="1"/>
          <p:nvPr/>
        </p:nvSpPr>
        <p:spPr>
          <a:xfrm>
            <a:off x="8950756" y="4224528"/>
            <a:ext cx="2509418" cy="512064"/>
          </a:xfrm>
          <a:prstGeom prst="rect">
            <a:avLst/>
          </a:prstGeom>
          <a:noFill/>
        </p:spPr>
        <p:txBody>
          <a:bodyPr wrap="square" anchor="ctr" lIns="0" rIns="0" tIns="0" bIns="0"/>
          <a:lstStyle/>
          <a:p>
            <a:pPr algn="l"/>
            <a:r>
              <a:rPr sz="1900" b="1" i="0">
                <a:solidFill>
                  <a:srgbClr val="03306E"/>
                </a:solidFill>
                <a:latin typeface="Calibri"/>
              </a:rPr>
              <a:t>Future proofing</a:t>
            </a:r>
          </a:p>
        </p:txBody>
      </p:sp>
      <p:sp>
        <p:nvSpPr>
          <p:cNvPr id="29" name="TextBox 28"/>
          <p:cNvSpPr txBox="1"/>
          <p:nvPr/>
        </p:nvSpPr>
        <p:spPr>
          <a:xfrm>
            <a:off x="8356396" y="4892040"/>
            <a:ext cx="3058058" cy="1143000"/>
          </a:xfrm>
          <a:prstGeom prst="rect">
            <a:avLst/>
          </a:prstGeom>
          <a:noFill/>
        </p:spPr>
        <p:txBody>
          <a:bodyPr wrap="square" anchor="t" lIns="0" rIns="0" tIns="0" bIns="0"/>
          <a:lstStyle/>
          <a:p>
            <a:pPr algn="l"/>
            <a:r>
              <a:rPr sz="2000" b="0" i="0">
                <a:solidFill>
                  <a:srgbClr val="202122"/>
                </a:solidFill>
                <a:latin typeface="Calibri"/>
              </a:rPr>
              <a:t>Room to grow.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The network design specification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 bill of materials?</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Why plan for future growth?</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does the statement of requirements describe?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Installing fixtures and fittings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Rectangle 5"/>
          <p:cNvSpPr/>
          <p:nvPr/>
        </p:nvSpPr>
        <p:spPr>
          <a:xfrm>
            <a:off x="1603217" y="2656332"/>
            <a:ext cx="8985260" cy="36576"/>
          </a:xfrm>
          <a:prstGeom prst="rect">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283177" y="235458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1</a:t>
            </a:r>
          </a:p>
        </p:txBody>
      </p:sp>
      <p:sp>
        <p:nvSpPr>
          <p:cNvPr id="8" name="TextBox 7"/>
          <p:cNvSpPr txBox="1"/>
          <p:nvPr/>
        </p:nvSpPr>
        <p:spPr>
          <a:xfrm>
            <a:off x="548640" y="3131820"/>
            <a:ext cx="2109155" cy="731520"/>
          </a:xfrm>
          <a:prstGeom prst="rect">
            <a:avLst/>
          </a:prstGeom>
          <a:noFill/>
        </p:spPr>
        <p:txBody>
          <a:bodyPr wrap="square" anchor="t" lIns="0" rIns="0" tIns="0" bIns="0"/>
          <a:lstStyle/>
          <a:p>
            <a:pPr algn="ctr"/>
            <a:r>
              <a:rPr sz="1700" b="1" i="0">
                <a:solidFill>
                  <a:srgbClr val="03306E"/>
                </a:solidFill>
                <a:latin typeface="Calibri"/>
              </a:rPr>
              <a:t>Interpret</a:t>
            </a:r>
          </a:p>
        </p:txBody>
      </p:sp>
      <p:sp>
        <p:nvSpPr>
          <p:cNvPr id="9" name="Rounded Rectangle 8"/>
          <p:cNvSpPr/>
          <p:nvPr/>
        </p:nvSpPr>
        <p:spPr>
          <a:xfrm>
            <a:off x="548640"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046220"/>
            <a:ext cx="1834835" cy="1234439"/>
          </a:xfrm>
          <a:prstGeom prst="rect">
            <a:avLst/>
          </a:prstGeom>
          <a:noFill/>
        </p:spPr>
        <p:txBody>
          <a:bodyPr wrap="square" anchor="t" lIns="0" rIns="0" tIns="0" bIns="0"/>
          <a:lstStyle/>
          <a:p>
            <a:pPr algn="l"/>
            <a:r>
              <a:rPr sz="1800" b="0" i="0">
                <a:solidFill>
                  <a:srgbClr val="202122"/>
                </a:solidFill>
                <a:latin typeface="Calibri"/>
              </a:rPr>
              <a:t>Read the cabling design spec.</a:t>
            </a:r>
          </a:p>
        </p:txBody>
      </p:sp>
      <p:sp>
        <p:nvSpPr>
          <p:cNvPr id="11" name="Oval 10"/>
          <p:cNvSpPr/>
          <p:nvPr/>
        </p:nvSpPr>
        <p:spPr>
          <a:xfrm>
            <a:off x="3529492" y="235458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2</a:t>
            </a:r>
          </a:p>
        </p:txBody>
      </p:sp>
      <p:sp>
        <p:nvSpPr>
          <p:cNvPr id="12" name="TextBox 11"/>
          <p:cNvSpPr txBox="1"/>
          <p:nvPr/>
        </p:nvSpPr>
        <p:spPr>
          <a:xfrm>
            <a:off x="2794955" y="3131820"/>
            <a:ext cx="2109155" cy="731520"/>
          </a:xfrm>
          <a:prstGeom prst="rect">
            <a:avLst/>
          </a:prstGeom>
          <a:noFill/>
        </p:spPr>
        <p:txBody>
          <a:bodyPr wrap="square" anchor="t" lIns="0" rIns="0" tIns="0" bIns="0"/>
          <a:lstStyle/>
          <a:p>
            <a:pPr algn="ctr"/>
            <a:r>
              <a:rPr sz="1700" b="1" i="0">
                <a:solidFill>
                  <a:srgbClr val="03306E"/>
                </a:solidFill>
                <a:latin typeface="Calibri"/>
              </a:rPr>
              <a:t>Survey</a:t>
            </a:r>
          </a:p>
        </p:txBody>
      </p:sp>
      <p:sp>
        <p:nvSpPr>
          <p:cNvPr id="13" name="Rounded Rectangle 12"/>
          <p:cNvSpPr/>
          <p:nvPr/>
        </p:nvSpPr>
        <p:spPr>
          <a:xfrm>
            <a:off x="2794955"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32115" y="4046220"/>
            <a:ext cx="1834835" cy="1234439"/>
          </a:xfrm>
          <a:prstGeom prst="rect">
            <a:avLst/>
          </a:prstGeom>
          <a:noFill/>
        </p:spPr>
        <p:txBody>
          <a:bodyPr wrap="square" anchor="t" lIns="0" rIns="0" tIns="0" bIns="0"/>
          <a:lstStyle/>
          <a:p>
            <a:pPr algn="l"/>
            <a:r>
              <a:rPr sz="1800" b="0" i="0">
                <a:solidFill>
                  <a:srgbClr val="202122"/>
                </a:solidFill>
                <a:latin typeface="Calibri"/>
              </a:rPr>
              <a:t>Compare the site: space, power, cooling.</a:t>
            </a:r>
          </a:p>
        </p:txBody>
      </p:sp>
      <p:sp>
        <p:nvSpPr>
          <p:cNvPr id="15" name="Oval 14"/>
          <p:cNvSpPr/>
          <p:nvPr/>
        </p:nvSpPr>
        <p:spPr>
          <a:xfrm>
            <a:off x="5775807" y="235458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3</a:t>
            </a:r>
          </a:p>
        </p:txBody>
      </p:sp>
      <p:sp>
        <p:nvSpPr>
          <p:cNvPr id="16" name="TextBox 15"/>
          <p:cNvSpPr txBox="1"/>
          <p:nvPr/>
        </p:nvSpPr>
        <p:spPr>
          <a:xfrm>
            <a:off x="5041270" y="3131820"/>
            <a:ext cx="2109155" cy="731520"/>
          </a:xfrm>
          <a:prstGeom prst="rect">
            <a:avLst/>
          </a:prstGeom>
          <a:noFill/>
        </p:spPr>
        <p:txBody>
          <a:bodyPr wrap="square" anchor="t" lIns="0" rIns="0" tIns="0" bIns="0"/>
          <a:lstStyle/>
          <a:p>
            <a:pPr algn="ctr"/>
            <a:r>
              <a:rPr sz="1700" b="1" i="0">
                <a:solidFill>
                  <a:srgbClr val="03306E"/>
                </a:solidFill>
                <a:latin typeface="Calibri"/>
              </a:rPr>
              <a:t>Build</a:t>
            </a:r>
          </a:p>
        </p:txBody>
      </p:sp>
      <p:sp>
        <p:nvSpPr>
          <p:cNvPr id="17" name="Rounded Rectangle 16"/>
          <p:cNvSpPr/>
          <p:nvPr/>
        </p:nvSpPr>
        <p:spPr>
          <a:xfrm>
            <a:off x="5041270"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78430" y="4046220"/>
            <a:ext cx="1834835" cy="1234439"/>
          </a:xfrm>
          <a:prstGeom prst="rect">
            <a:avLst/>
          </a:prstGeom>
          <a:noFill/>
        </p:spPr>
        <p:txBody>
          <a:bodyPr wrap="square" anchor="t" lIns="0" rIns="0" tIns="0" bIns="0"/>
          <a:lstStyle/>
          <a:p>
            <a:pPr algn="l"/>
            <a:r>
              <a:rPr sz="1800" b="0" i="0">
                <a:solidFill>
                  <a:srgbClr val="202122"/>
                </a:solidFill>
                <a:latin typeface="Calibri"/>
              </a:rPr>
              <a:t>Construct cabinets and racks per manufacturer guidance.</a:t>
            </a:r>
          </a:p>
        </p:txBody>
      </p:sp>
      <p:sp>
        <p:nvSpPr>
          <p:cNvPr id="19" name="Oval 18"/>
          <p:cNvSpPr/>
          <p:nvPr/>
        </p:nvSpPr>
        <p:spPr>
          <a:xfrm>
            <a:off x="8022122" y="235458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4</a:t>
            </a:r>
          </a:p>
        </p:txBody>
      </p:sp>
      <p:sp>
        <p:nvSpPr>
          <p:cNvPr id="20" name="TextBox 19"/>
          <p:cNvSpPr txBox="1"/>
          <p:nvPr/>
        </p:nvSpPr>
        <p:spPr>
          <a:xfrm>
            <a:off x="7287585" y="3131820"/>
            <a:ext cx="2109155" cy="731520"/>
          </a:xfrm>
          <a:prstGeom prst="rect">
            <a:avLst/>
          </a:prstGeom>
          <a:noFill/>
        </p:spPr>
        <p:txBody>
          <a:bodyPr wrap="square" anchor="t" lIns="0" rIns="0" tIns="0" bIns="0"/>
          <a:lstStyle/>
          <a:p>
            <a:pPr algn="ctr"/>
            <a:r>
              <a:rPr sz="1700" b="1" i="0">
                <a:solidFill>
                  <a:srgbClr val="03306E"/>
                </a:solidFill>
                <a:latin typeface="Calibri"/>
              </a:rPr>
              <a:t>Contain</a:t>
            </a:r>
          </a:p>
        </p:txBody>
      </p:sp>
      <p:sp>
        <p:nvSpPr>
          <p:cNvPr id="21" name="Rounded Rectangle 20"/>
          <p:cNvSpPr/>
          <p:nvPr/>
        </p:nvSpPr>
        <p:spPr>
          <a:xfrm>
            <a:off x="7287585"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24745" y="4046220"/>
            <a:ext cx="1834835" cy="1234439"/>
          </a:xfrm>
          <a:prstGeom prst="rect">
            <a:avLst/>
          </a:prstGeom>
          <a:noFill/>
        </p:spPr>
        <p:txBody>
          <a:bodyPr wrap="square" anchor="t" lIns="0" rIns="0" tIns="0" bIns="0"/>
          <a:lstStyle/>
          <a:p>
            <a:pPr algn="l"/>
            <a:r>
              <a:rPr sz="1800" b="0" i="0">
                <a:solidFill>
                  <a:srgbClr val="202122"/>
                </a:solidFill>
                <a:latin typeface="Calibri"/>
              </a:rPr>
              <a:t>Add trunking and containment.</a:t>
            </a:r>
          </a:p>
        </p:txBody>
      </p:sp>
      <p:sp>
        <p:nvSpPr>
          <p:cNvPr id="23" name="Oval 22"/>
          <p:cNvSpPr/>
          <p:nvPr/>
        </p:nvSpPr>
        <p:spPr>
          <a:xfrm>
            <a:off x="10268437" y="235458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5</a:t>
            </a:r>
          </a:p>
        </p:txBody>
      </p:sp>
      <p:sp>
        <p:nvSpPr>
          <p:cNvPr id="24" name="TextBox 23"/>
          <p:cNvSpPr txBox="1"/>
          <p:nvPr/>
        </p:nvSpPr>
        <p:spPr>
          <a:xfrm>
            <a:off x="9533900" y="3131820"/>
            <a:ext cx="2109155" cy="731520"/>
          </a:xfrm>
          <a:prstGeom prst="rect">
            <a:avLst/>
          </a:prstGeom>
          <a:noFill/>
        </p:spPr>
        <p:txBody>
          <a:bodyPr wrap="square" anchor="t" lIns="0" rIns="0" tIns="0" bIns="0"/>
          <a:lstStyle/>
          <a:p>
            <a:pPr algn="ctr"/>
            <a:r>
              <a:rPr sz="1700" b="1" i="0">
                <a:solidFill>
                  <a:srgbClr val="03306E"/>
                </a:solidFill>
                <a:latin typeface="Calibri"/>
              </a:rPr>
              <a:t>Arrange and test</a:t>
            </a:r>
          </a:p>
        </p:txBody>
      </p:sp>
      <p:sp>
        <p:nvSpPr>
          <p:cNvPr id="25" name="Rounded Rectangle 24"/>
          <p:cNvSpPr/>
          <p:nvPr/>
        </p:nvSpPr>
        <p:spPr>
          <a:xfrm>
            <a:off x="9533900"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71060" y="4046220"/>
            <a:ext cx="1834835" cy="1234439"/>
          </a:xfrm>
          <a:prstGeom prst="rect">
            <a:avLst/>
          </a:prstGeom>
          <a:noFill/>
        </p:spPr>
        <p:txBody>
          <a:bodyPr wrap="square" anchor="t" lIns="0" rIns="0" tIns="0" bIns="0"/>
          <a:lstStyle/>
          <a:p>
            <a:pPr algn="l"/>
            <a:r>
              <a:rPr sz="1800" b="0" i="0">
                <a:solidFill>
                  <a:srgbClr val="202122"/>
                </a:solidFill>
                <a:latin typeface="Calibri"/>
              </a:rPr>
              <a:t>Lay out kit to spec and test compliance.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What does an OTDR test?</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What is a bill of materials?</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What three things must be checked before racking a device?</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What is a MEWP?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What does an OTDR test?</a:t>
            </a:r>
          </a:p>
          <a:p>
            <a:r>
              <a:rPr sz="1800" b="1">
                <a:solidFill>
                  <a:srgbClr val="03306E"/>
                </a:solidFill>
                <a:latin typeface="Calibri"/>
              </a:rPr>
              <a:t>Fibre links, locating faults and loss along the cable.</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What is a bill of materials?</a:t>
            </a:r>
          </a:p>
          <a:p>
            <a:r>
              <a:rPr sz="1800" b="1">
                <a:solidFill>
                  <a:srgbClr val="03306E"/>
                </a:solidFill>
                <a:latin typeface="Calibri"/>
              </a:rPr>
              <a:t>A list of every component and quantity needed.</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What three things must be checked before racking a device?</a:t>
            </a:r>
          </a:p>
          <a:p>
            <a:r>
              <a:rPr sz="1800" b="1">
                <a:solidFill>
                  <a:srgbClr val="03306E"/>
                </a:solidFill>
                <a:latin typeface="Calibri"/>
              </a:rPr>
              <a:t>Space, power and cooling.</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What is a MEWP?</a:t>
            </a:r>
          </a:p>
          <a:p>
            <a:r>
              <a:rPr sz="1800" b="1">
                <a:solidFill>
                  <a:srgbClr val="03306E"/>
                </a:solidFill>
                <a:latin typeface="Calibri"/>
              </a:rPr>
              <a:t>A mobile elevating work platform.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Read the design spec</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Structured Cabling Design and Installation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30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Small groups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Study the sample floor plan and statement of requirement from your teacher.</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Calculate cable lengths and quantities for each outlet.</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Produce a bill of materials.</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Flag three potential issues with the design.</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Lengths include slack and stay under 90 m</a:t>
            </a:r>
          </a:p>
          <a:p>
            <a:pPr marL="274320" indent="-274320">
              <a:spcAft>
                <a:spcPts val="810"/>
              </a:spcAft>
              <a:buClr>
                <a:srgbClr val="0645AD"/>
              </a:buClr>
              <a:buFont typeface="Arial"/>
              <a:buChar char="•"/>
            </a:pPr>
            <a:r>
              <a:rPr sz="1800" b="0">
                <a:solidFill>
                  <a:srgbClr val="202122"/>
                </a:solidFill>
                <a:latin typeface="Calibri"/>
              </a:rPr>
              <a:t>Bill of materials is complete</a:t>
            </a:r>
          </a:p>
          <a:p>
            <a:pPr marL="274320" indent="-274320">
              <a:spcAft>
                <a:spcPts val="810"/>
              </a:spcAft>
              <a:buClr>
                <a:srgbClr val="0645AD"/>
              </a:buClr>
              <a:buFont typeface="Arial"/>
              <a:buChar char="•"/>
            </a:pPr>
            <a:r>
              <a:rPr sz="1800" b="0">
                <a:solidFill>
                  <a:srgbClr val="202122"/>
                </a:solidFill>
                <a:latin typeface="Calibri"/>
              </a:rPr>
              <a:t>Issues are realistic and explained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Why is future-proofing part of the design?</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Name one terminating tool for fibre.</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What goes on a label at a patch panel?</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Network Cabling - Installation and Testing</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https://lana6478.github.io/Digital-Suport-and-security-T-levle/#/02-occupational-specialisms/network-cabling/02-cabling-installation-and-testing.md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Cabling Design and Installation</dc:title>
  <dc:subject>Digital Support and Security T Level: Network Cabling Content Area 2</dc:subject>
  <dc:creator>Samuel O'Connell</dc:creator>
  <cp:keywords>T Level; Digital Support and Security; lesson slides; 2.2 to 2.6, 2.25</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