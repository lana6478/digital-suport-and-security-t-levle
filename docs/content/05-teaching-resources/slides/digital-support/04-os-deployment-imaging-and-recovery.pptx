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format is fast and files are easier to recover; full format scans for bad sectors, is slower and makes recovery harder.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Booting a device over the network.</a:t>
            </a:r>
          </a:p>
          <a:p>
            <a:r>
              <a:t>2. exFAT.</a:t>
            </a:r>
          </a:p>
          <a:p>
            <a:r>
              <a:t>3. Scans for bad sectors and makes data harder to recover.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Multi-boot is also listed: several OSs on one device, but fiddly to set up and maintain.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One that answers setup questions automatically from a file.</a:t>
            </a:r>
          </a:p>
          <a:p>
            <a:r>
              <a:t>2. Quick and consistent at scale.</a:t>
            </a:r>
          </a:p>
          <a:p>
            <a:r>
              <a:t>3. An in-place upgrade.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A complete copy of a configured system.</a:t>
            </a:r>
          </a:p>
          <a:p>
            <a:r>
              <a:t>2. So new devices don't start with old, vulnerable software.</a:t>
            </a:r>
          </a:p>
          <a:p>
            <a:r>
              <a:t>3. Any two: saves time, consistency, lower support cost, fast restoration.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 make sure data is backed up, boot into recovery tools, follow the steps, then test that the issue is fixed.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a:t>
            </a:r>
          </a:p>
          <a:p>
            <a:r>
              <a:t>1. Recovery.</a:t>
            </a:r>
          </a:p>
          <a:p>
            <a:r>
              <a:t>2. Recent changes since the restore point.</a:t>
            </a:r>
          </a:p>
          <a:p>
            <a:r>
              <a:t>3. Make sure data is backed up.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students a few minutes to answer on mini whiteboards or paper, then reveal the answers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through any answers the class found difficult.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answer on a sticky note or in the chat before leaving.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Oval 1"/>
          <p:cNvSpPr/>
          <p:nvPr/>
        </p:nvSpPr>
        <p:spPr>
          <a:xfrm>
            <a:off x="8595360" y="1005840"/>
            <a:ext cx="3291840" cy="3291840"/>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9966960" y="3200400"/>
            <a:ext cx="2377440" cy="23774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8138160" y="4023360"/>
            <a:ext cx="1371600" cy="1371600"/>
          </a:xfrm>
          <a:prstGeom prst="ellipse">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48640" y="914400"/>
            <a:ext cx="7315200" cy="365760"/>
          </a:xfrm>
          <a:prstGeom prst="rect">
            <a:avLst/>
          </a:prstGeom>
          <a:noFill/>
        </p:spPr>
        <p:txBody>
          <a:bodyPr wrap="square" anchor="t" lIns="0" rIns="0" tIns="0" bIns="0"/>
          <a:lstStyle/>
          <a:p>
            <a:pPr algn="l"/>
            <a:r>
              <a:rPr sz="1400" b="1" i="0">
                <a:solidFill>
                  <a:srgbClr val="4EA1FF"/>
                </a:solidFill>
                <a:latin typeface="Calibri"/>
              </a:rPr>
              <a:t>DIGITAL SUPPORT</a:t>
            </a:r>
          </a:p>
        </p:txBody>
      </p:sp>
      <p:sp>
        <p:nvSpPr>
          <p:cNvPr id="6" name="TextBox 5"/>
          <p:cNvSpPr txBox="1"/>
          <p:nvPr/>
        </p:nvSpPr>
        <p:spPr>
          <a:xfrm>
            <a:off x="548640" y="1371600"/>
            <a:ext cx="7315200" cy="2286000"/>
          </a:xfrm>
          <a:prstGeom prst="rect">
            <a:avLst/>
          </a:prstGeom>
          <a:noFill/>
        </p:spPr>
        <p:txBody>
          <a:bodyPr wrap="square" anchor="b" lIns="0" rIns="0" tIns="0" bIns="0"/>
          <a:lstStyle/>
          <a:p>
            <a:pPr algn="l"/>
            <a:r>
              <a:rPr sz="4400" b="1" i="0">
                <a:solidFill>
                  <a:srgbClr val="FFFFFF"/>
                </a:solidFill>
                <a:latin typeface="Cambria"/>
              </a:rPr>
              <a:t>OS Deployment, Imaging and Recovery</a:t>
            </a:r>
          </a:p>
        </p:txBody>
      </p:sp>
      <p:sp>
        <p:nvSpPr>
          <p:cNvPr id="7" name="TextBox 6"/>
          <p:cNvSpPr txBox="1"/>
          <p:nvPr/>
        </p:nvSpPr>
        <p:spPr>
          <a:xfrm>
            <a:off x="548640" y="3840480"/>
            <a:ext cx="7315200" cy="457200"/>
          </a:xfrm>
          <a:prstGeom prst="rect">
            <a:avLst/>
          </a:prstGeom>
          <a:noFill/>
        </p:spPr>
        <p:txBody>
          <a:bodyPr wrap="square" anchor="t" lIns="0" rIns="0" tIns="0" bIns="0"/>
          <a:lstStyle/>
          <a:p>
            <a:pPr algn="l"/>
            <a:r>
              <a:rPr sz="1800" b="0" i="0">
                <a:solidFill>
                  <a:srgbClr val="A9C8F0"/>
                </a:solidFill>
                <a:latin typeface="Calibri"/>
              </a:rPr>
              <a:t>Digital Support Content Area 2</a:t>
            </a:r>
          </a:p>
        </p:txBody>
      </p:sp>
      <p:sp>
        <p:nvSpPr>
          <p:cNvPr id="8" name="TextBox 7"/>
          <p:cNvSpPr txBox="1"/>
          <p:nvPr/>
        </p:nvSpPr>
        <p:spPr>
          <a:xfrm>
            <a:off x="548640" y="4297680"/>
            <a:ext cx="7315200" cy="457200"/>
          </a:xfrm>
          <a:prstGeom prst="rect">
            <a:avLst/>
          </a:prstGeom>
          <a:noFill/>
        </p:spPr>
        <p:txBody>
          <a:bodyPr wrap="square" anchor="t" lIns="0" rIns="0" tIns="0" bIns="0"/>
          <a:lstStyle/>
          <a:p>
            <a:pPr algn="l"/>
            <a:r>
              <a:rPr sz="1400" b="0" i="0">
                <a:solidFill>
                  <a:srgbClr val="A9C8F0"/>
                </a:solidFill>
                <a:latin typeface="Calibri"/>
              </a:rPr>
              <a:t>Specification reference: 2.10 to 2.15</a:t>
            </a:r>
          </a:p>
        </p:txBody>
      </p:sp>
      <p:sp>
        <p:nvSpPr>
          <p:cNvPr id="9" name="TextBox 8"/>
          <p:cNvSpPr txBox="1"/>
          <p:nvPr/>
        </p:nvSpPr>
        <p:spPr>
          <a:xfrm>
            <a:off x="548640" y="5760720"/>
            <a:ext cx="7498079" cy="640080"/>
          </a:xfrm>
          <a:prstGeom prst="rect">
            <a:avLst/>
          </a:prstGeom>
          <a:noFill/>
        </p:spPr>
        <p:txBody>
          <a:bodyPr wrap="square" anchor="t" lIns="0" rIns="0" tIns="0" bIns="0"/>
          <a:lstStyle/>
          <a:p>
            <a:pPr algn="l"/>
            <a:r>
              <a:rPr sz="1100" b="0" i="0">
                <a:solidFill>
                  <a:srgbClr val="A9C8F0"/>
                </a:solidFill>
                <a:latin typeface="Calibri"/>
              </a:rPr>
              <a:t>Digital Support and Security T Level  ·  Lesson slides</a:t>
            </a:r>
          </a:p>
          <a:p>
            <a:pPr algn="l"/>
            <a:r>
              <a:rPr sz="1100" b="0" i="0">
                <a:solidFill>
                  <a:srgbClr val="A9C8F0"/>
                </a:solidFill>
                <a:latin typeface="Calibri"/>
              </a:rPr>
              <a:t>Unofficial teaching resource. Check the official Pearson specification for assessment detail.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Learning objectives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2</a:t>
            </a:r>
          </a:p>
        </p:txBody>
      </p:sp>
      <p:sp>
        <p:nvSpPr>
          <p:cNvPr id="6" name="TextBox 5"/>
          <p:cNvSpPr txBox="1"/>
          <p:nvPr/>
        </p:nvSpPr>
        <p:spPr>
          <a:xfrm>
            <a:off x="548640" y="1508760"/>
            <a:ext cx="6766560" cy="365760"/>
          </a:xfrm>
          <a:prstGeom prst="rect">
            <a:avLst/>
          </a:prstGeom>
          <a:noFill/>
        </p:spPr>
        <p:txBody>
          <a:bodyPr wrap="square" anchor="t" lIns="0" rIns="0" tIns="0" bIns="0"/>
          <a:lstStyle/>
          <a:p>
            <a:pPr algn="l"/>
            <a:r>
              <a:rPr sz="1600" b="0" i="1">
                <a:solidFill>
                  <a:srgbClr val="54595D"/>
                </a:solidFill>
                <a:latin typeface="Calibri"/>
              </a:rPr>
              <a:t>By the end of this lesson you should be able to:</a:t>
            </a:r>
          </a:p>
        </p:txBody>
      </p:sp>
      <p:sp>
        <p:nvSpPr>
          <p:cNvPr id="7" name="Oval 6"/>
          <p:cNvSpPr/>
          <p:nvPr/>
        </p:nvSpPr>
        <p:spPr>
          <a:xfrm>
            <a:off x="548640" y="223456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8" name="TextBox 7"/>
          <p:cNvSpPr txBox="1"/>
          <p:nvPr/>
        </p:nvSpPr>
        <p:spPr>
          <a:xfrm>
            <a:off x="1234440" y="2011680"/>
            <a:ext cx="6035040" cy="902969"/>
          </a:xfrm>
          <a:prstGeom prst="rect">
            <a:avLst/>
          </a:prstGeom>
          <a:noFill/>
        </p:spPr>
        <p:txBody>
          <a:bodyPr wrap="square" anchor="ctr" lIns="0" rIns="0" tIns="0" bIns="0"/>
          <a:lstStyle/>
          <a:p>
            <a:pPr algn="l"/>
            <a:r>
              <a:rPr sz="2000" b="0" i="0">
                <a:solidFill>
                  <a:srgbClr val="202122"/>
                </a:solidFill>
                <a:latin typeface="Calibri"/>
              </a:rPr>
              <a:t>Describe installation methods, boot methods, partitioning and file systems.</a:t>
            </a:r>
          </a:p>
        </p:txBody>
      </p:sp>
      <p:sp>
        <p:nvSpPr>
          <p:cNvPr id="9" name="Oval 8"/>
          <p:cNvSpPr/>
          <p:nvPr/>
        </p:nvSpPr>
        <p:spPr>
          <a:xfrm>
            <a:off x="548640" y="327469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10" name="TextBox 9"/>
          <p:cNvSpPr txBox="1"/>
          <p:nvPr/>
        </p:nvSpPr>
        <p:spPr>
          <a:xfrm>
            <a:off x="1234440" y="3051810"/>
            <a:ext cx="6035040" cy="902969"/>
          </a:xfrm>
          <a:prstGeom prst="rect">
            <a:avLst/>
          </a:prstGeom>
          <a:noFill/>
        </p:spPr>
        <p:txBody>
          <a:bodyPr wrap="square" anchor="ctr" lIns="0" rIns="0" tIns="0" bIns="0"/>
          <a:lstStyle/>
          <a:p>
            <a:pPr algn="l"/>
            <a:r>
              <a:rPr sz="2000" b="0" i="0">
                <a:solidFill>
                  <a:srgbClr val="202122"/>
                </a:solidFill>
                <a:latin typeface="Calibri"/>
              </a:rPr>
              <a:t>Compare deployment methods and their advantages and disadvantages.</a:t>
            </a:r>
          </a:p>
        </p:txBody>
      </p:sp>
      <p:sp>
        <p:nvSpPr>
          <p:cNvPr id="11" name="Oval 10"/>
          <p:cNvSpPr/>
          <p:nvPr/>
        </p:nvSpPr>
        <p:spPr>
          <a:xfrm>
            <a:off x="548640" y="4314825"/>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2" name="TextBox 11"/>
          <p:cNvSpPr txBox="1"/>
          <p:nvPr/>
        </p:nvSpPr>
        <p:spPr>
          <a:xfrm>
            <a:off x="1234440" y="4091939"/>
            <a:ext cx="6035040" cy="902969"/>
          </a:xfrm>
          <a:prstGeom prst="rect">
            <a:avLst/>
          </a:prstGeom>
          <a:noFill/>
        </p:spPr>
        <p:txBody>
          <a:bodyPr wrap="square" anchor="ctr" lIns="0" rIns="0" tIns="0" bIns="0"/>
          <a:lstStyle/>
          <a:p>
            <a:pPr algn="l"/>
            <a:r>
              <a:rPr sz="2000" b="0" i="0">
                <a:solidFill>
                  <a:srgbClr val="202122"/>
                </a:solidFill>
                <a:latin typeface="Calibri"/>
              </a:rPr>
              <a:t>Create and deploy disk images and explain their benefits.</a:t>
            </a:r>
          </a:p>
        </p:txBody>
      </p:sp>
      <p:sp>
        <p:nvSpPr>
          <p:cNvPr id="13" name="Oval 12"/>
          <p:cNvSpPr/>
          <p:nvPr/>
        </p:nvSpPr>
        <p:spPr>
          <a:xfrm>
            <a:off x="548640" y="5354954"/>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4</a:t>
            </a:r>
          </a:p>
        </p:txBody>
      </p:sp>
      <p:sp>
        <p:nvSpPr>
          <p:cNvPr id="14" name="TextBox 13"/>
          <p:cNvSpPr txBox="1"/>
          <p:nvPr/>
        </p:nvSpPr>
        <p:spPr>
          <a:xfrm>
            <a:off x="1234440" y="5132069"/>
            <a:ext cx="6035040" cy="902969"/>
          </a:xfrm>
          <a:prstGeom prst="rect">
            <a:avLst/>
          </a:prstGeom>
          <a:noFill/>
        </p:spPr>
        <p:txBody>
          <a:bodyPr wrap="square" anchor="ctr" lIns="0" rIns="0" tIns="0" bIns="0"/>
          <a:lstStyle/>
          <a:p>
            <a:pPr algn="l"/>
            <a:r>
              <a:rPr sz="2000" b="0" i="0">
                <a:solidFill>
                  <a:srgbClr val="202122"/>
                </a:solidFill>
                <a:latin typeface="Calibri"/>
              </a:rPr>
              <a:t>Explain the difference between system recovery and restoration.</a:t>
            </a:r>
          </a:p>
        </p:txBody>
      </p:sp>
      <p:sp>
        <p:nvSpPr>
          <p:cNvPr id="15" name="Rounded Rectangle 14"/>
          <p:cNvSpPr/>
          <p:nvPr/>
        </p:nvSpPr>
        <p:spPr>
          <a:xfrm>
            <a:off x="7772400" y="1508760"/>
            <a:ext cx="3867912" cy="452628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STARTER</a:t>
            </a:r>
          </a:p>
        </p:txBody>
      </p:sp>
      <p:sp>
        <p:nvSpPr>
          <p:cNvPr id="17" name="TextBox 16"/>
          <p:cNvSpPr txBox="1"/>
          <p:nvPr/>
        </p:nvSpPr>
        <p:spPr>
          <a:xfrm>
            <a:off x="8046720" y="2194560"/>
            <a:ext cx="3291840" cy="3657600"/>
          </a:xfrm>
          <a:prstGeom prst="rect">
            <a:avLst/>
          </a:prstGeom>
          <a:noFill/>
        </p:spPr>
        <p:txBody>
          <a:bodyPr wrap="square" anchor="t" lIns="0" rIns="0" tIns="0" bIns="0"/>
          <a:lstStyle/>
          <a:p>
            <a:pPr algn="l"/>
            <a:r>
              <a:rPr sz="2200" b="0" i="0">
                <a:solidFill>
                  <a:srgbClr val="03306E"/>
                </a:solidFill>
                <a:latin typeface="Cambria"/>
              </a:rPr>
              <a:t>You have to set up 200 identical laptops by Monday. Doing each by hand takes an hour. What could you do instead?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Deployment considerations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3</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60"/>
              </a:spcAft>
            </a:pPr>
            <a:r>
              <a:rPr sz="2100" b="0">
                <a:solidFill>
                  <a:srgbClr val="202122"/>
                </a:solidFill>
                <a:latin typeface="Calibri"/>
              </a:rPr>
              <a:t>Deploying an OS involves several choices.</a:t>
            </a:r>
          </a:p>
          <a:p>
            <a:pPr>
              <a:spcAft>
                <a:spcPts val="1260"/>
              </a:spcAft>
            </a:pPr>
            <a:r>
              <a:rPr sz="2100" b="1">
                <a:solidFill>
                  <a:srgbClr val="202122"/>
                </a:solidFill>
                <a:latin typeface="Calibri"/>
              </a:rPr>
              <a:t>Installation method:</a:t>
            </a:r>
            <a:r>
              <a:rPr sz="2100" b="0">
                <a:solidFill>
                  <a:srgbClr val="202122"/>
                </a:solidFill>
                <a:latin typeface="Calibri"/>
              </a:rPr>
              <a:t> over the network, locally from USB, virtualised, or cloud-based. Boot method: from the internal drive, external media, or the network using PXE.</a:t>
            </a:r>
          </a:p>
          <a:p>
            <a:pPr>
              <a:spcAft>
                <a:spcPts val="1260"/>
              </a:spcAft>
            </a:pPr>
            <a:r>
              <a:rPr sz="2100" b="1">
                <a:solidFill>
                  <a:srgbClr val="202122"/>
                </a:solidFill>
                <a:latin typeface="Calibri"/>
              </a:rPr>
              <a:t>Partitioning:</a:t>
            </a:r>
            <a:r>
              <a:rPr sz="2100" b="0">
                <a:solidFill>
                  <a:srgbClr val="202122"/>
                </a:solidFill>
                <a:latin typeface="Calibri"/>
              </a:rPr>
              <a:t> GPT is the modern standard; older disks use MBR with primary, extended and logical partitions. File system: NTFS for Windows, ext4 for Linux, exFAT for USB sticks shared between systems.</a:t>
            </a:r>
          </a:p>
          <a:p>
            <a:pPr>
              <a:spcAft>
                <a:spcPts val="1260"/>
              </a:spcAft>
            </a:pPr>
            <a:r>
              <a:rPr sz="2100" b="1">
                <a:solidFill>
                  <a:srgbClr val="202122"/>
                </a:solidFill>
                <a:latin typeface="Calibri"/>
              </a:rPr>
              <a:t>Formatting:</a:t>
            </a:r>
            <a:r>
              <a:rPr sz="2100" b="0">
                <a:solidFill>
                  <a:srgbClr val="202122"/>
                </a:solidFill>
                <a:latin typeface="Calibri"/>
              </a:rPr>
              <a:t> a quick format is fast and data can still be recovered; a full format scans for bad sectors and makes recovery much harder.</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Before giving an old laptop to a new user, a full format (plus secure wipe) makes sure the previous user's files can't be recovered.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Deployment considerations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4</a:t>
            </a:r>
          </a:p>
        </p:txBody>
      </p:sp>
      <p:sp>
        <p:nvSpPr>
          <p:cNvPr id="6" name="Rounded Rectangle 5"/>
          <p:cNvSpPr/>
          <p:nvPr/>
        </p:nvSpPr>
        <p:spPr>
          <a:xfrm>
            <a:off x="548640"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777240"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1</a:t>
            </a:r>
          </a:p>
        </p:txBody>
      </p:sp>
      <p:sp>
        <p:nvSpPr>
          <p:cNvPr id="8" name="TextBox 7"/>
          <p:cNvSpPr txBox="1"/>
          <p:nvPr/>
        </p:nvSpPr>
        <p:spPr>
          <a:xfrm>
            <a:off x="1371600" y="1801368"/>
            <a:ext cx="4404207" cy="512064"/>
          </a:xfrm>
          <a:prstGeom prst="rect">
            <a:avLst/>
          </a:prstGeom>
          <a:noFill/>
        </p:spPr>
        <p:txBody>
          <a:bodyPr wrap="square" anchor="ctr" lIns="0" rIns="0" tIns="0" bIns="0"/>
          <a:lstStyle/>
          <a:p>
            <a:pPr algn="l"/>
            <a:r>
              <a:rPr sz="1900" b="1" i="0">
                <a:solidFill>
                  <a:srgbClr val="03306E"/>
                </a:solidFill>
                <a:latin typeface="Calibri"/>
              </a:rPr>
              <a:t>Installation methods</a:t>
            </a:r>
          </a:p>
        </p:txBody>
      </p:sp>
      <p:sp>
        <p:nvSpPr>
          <p:cNvPr id="9" name="TextBox 8"/>
          <p:cNvSpPr txBox="1"/>
          <p:nvPr/>
        </p:nvSpPr>
        <p:spPr>
          <a:xfrm>
            <a:off x="777240" y="2468880"/>
            <a:ext cx="4952847" cy="1143000"/>
          </a:xfrm>
          <a:prstGeom prst="rect">
            <a:avLst/>
          </a:prstGeom>
          <a:noFill/>
        </p:spPr>
        <p:txBody>
          <a:bodyPr wrap="square" anchor="t" lIns="0" rIns="0" tIns="0" bIns="0"/>
          <a:lstStyle/>
          <a:p>
            <a:pPr algn="l"/>
            <a:r>
              <a:rPr sz="2000" b="0" i="0">
                <a:solidFill>
                  <a:srgbClr val="202122"/>
                </a:solidFill>
                <a:latin typeface="Calibri"/>
              </a:rPr>
              <a:t>Network, local (CD or USB), virtualised, cloud-based.</a:t>
            </a:r>
          </a:p>
        </p:txBody>
      </p:sp>
      <p:sp>
        <p:nvSpPr>
          <p:cNvPr id="10" name="Rounded Rectangle 9"/>
          <p:cNvSpPr/>
          <p:nvPr/>
        </p:nvSpPr>
        <p:spPr>
          <a:xfrm>
            <a:off x="6233007" y="160020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6461607" y="182880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2</a:t>
            </a:r>
          </a:p>
        </p:txBody>
      </p:sp>
      <p:sp>
        <p:nvSpPr>
          <p:cNvPr id="12" name="TextBox 11"/>
          <p:cNvSpPr txBox="1"/>
          <p:nvPr/>
        </p:nvSpPr>
        <p:spPr>
          <a:xfrm>
            <a:off x="7055967" y="1801368"/>
            <a:ext cx="4404207" cy="512064"/>
          </a:xfrm>
          <a:prstGeom prst="rect">
            <a:avLst/>
          </a:prstGeom>
          <a:noFill/>
        </p:spPr>
        <p:txBody>
          <a:bodyPr wrap="square" anchor="ctr" lIns="0" rIns="0" tIns="0" bIns="0"/>
          <a:lstStyle/>
          <a:p>
            <a:pPr algn="l"/>
            <a:r>
              <a:rPr sz="1900" b="1" i="0">
                <a:solidFill>
                  <a:srgbClr val="03306E"/>
                </a:solidFill>
                <a:latin typeface="Calibri"/>
              </a:rPr>
              <a:t>Boot methods</a:t>
            </a:r>
          </a:p>
        </p:txBody>
      </p:sp>
      <p:sp>
        <p:nvSpPr>
          <p:cNvPr id="13" name="TextBox 12"/>
          <p:cNvSpPr txBox="1"/>
          <p:nvPr/>
        </p:nvSpPr>
        <p:spPr>
          <a:xfrm>
            <a:off x="6461607" y="2468880"/>
            <a:ext cx="4952847" cy="1143000"/>
          </a:xfrm>
          <a:prstGeom prst="rect">
            <a:avLst/>
          </a:prstGeom>
          <a:noFill/>
        </p:spPr>
        <p:txBody>
          <a:bodyPr wrap="square" anchor="t" lIns="0" rIns="0" tIns="0" bIns="0"/>
          <a:lstStyle/>
          <a:p>
            <a:pPr algn="l"/>
            <a:r>
              <a:rPr sz="2000" b="0" i="0">
                <a:solidFill>
                  <a:srgbClr val="202122"/>
                </a:solidFill>
                <a:latin typeface="Calibri"/>
              </a:rPr>
              <a:t>Internal drive, external media, or network boot (PXE, Netboot).</a:t>
            </a:r>
          </a:p>
        </p:txBody>
      </p:sp>
      <p:sp>
        <p:nvSpPr>
          <p:cNvPr id="14" name="Rounded Rectangle 13"/>
          <p:cNvSpPr/>
          <p:nvPr/>
        </p:nvSpPr>
        <p:spPr>
          <a:xfrm>
            <a:off x="548640"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77240"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3</a:t>
            </a:r>
          </a:p>
        </p:txBody>
      </p:sp>
      <p:sp>
        <p:nvSpPr>
          <p:cNvPr id="16" name="TextBox 15"/>
          <p:cNvSpPr txBox="1"/>
          <p:nvPr/>
        </p:nvSpPr>
        <p:spPr>
          <a:xfrm>
            <a:off x="1371600" y="4224528"/>
            <a:ext cx="4404207" cy="512064"/>
          </a:xfrm>
          <a:prstGeom prst="rect">
            <a:avLst/>
          </a:prstGeom>
          <a:noFill/>
        </p:spPr>
        <p:txBody>
          <a:bodyPr wrap="square" anchor="ctr" lIns="0" rIns="0" tIns="0" bIns="0"/>
          <a:lstStyle/>
          <a:p>
            <a:pPr algn="l"/>
            <a:r>
              <a:rPr sz="1900" b="1" i="0">
                <a:solidFill>
                  <a:srgbClr val="03306E"/>
                </a:solidFill>
                <a:latin typeface="Calibri"/>
              </a:rPr>
              <a:t>Partitioning</a:t>
            </a:r>
          </a:p>
        </p:txBody>
      </p:sp>
      <p:sp>
        <p:nvSpPr>
          <p:cNvPr id="17" name="TextBox 16"/>
          <p:cNvSpPr txBox="1"/>
          <p:nvPr/>
        </p:nvSpPr>
        <p:spPr>
          <a:xfrm>
            <a:off x="777240" y="4892040"/>
            <a:ext cx="4952847" cy="1143000"/>
          </a:xfrm>
          <a:prstGeom prst="rect">
            <a:avLst/>
          </a:prstGeom>
          <a:noFill/>
        </p:spPr>
        <p:txBody>
          <a:bodyPr wrap="square" anchor="t" lIns="0" rIns="0" tIns="0" bIns="0"/>
          <a:lstStyle/>
          <a:p>
            <a:pPr algn="l"/>
            <a:r>
              <a:rPr sz="2000" b="0" i="0">
                <a:solidFill>
                  <a:srgbClr val="202122"/>
                </a:solidFill>
                <a:latin typeface="Calibri"/>
              </a:rPr>
              <a:t>Basic, dynamic, primary, extended, logical, GPT.</a:t>
            </a:r>
          </a:p>
        </p:txBody>
      </p:sp>
      <p:sp>
        <p:nvSpPr>
          <p:cNvPr id="18" name="Rounded Rectangle 17"/>
          <p:cNvSpPr/>
          <p:nvPr/>
        </p:nvSpPr>
        <p:spPr>
          <a:xfrm>
            <a:off x="6233007" y="4023360"/>
            <a:ext cx="5410047" cy="2148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61607" y="4251960"/>
            <a:ext cx="457200" cy="45720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202122"/>
                </a:solidFill>
                <a:latin typeface="Calibri"/>
              </a:rPr>
              <a:t>4</a:t>
            </a:r>
          </a:p>
        </p:txBody>
      </p:sp>
      <p:sp>
        <p:nvSpPr>
          <p:cNvPr id="20" name="TextBox 19"/>
          <p:cNvSpPr txBox="1"/>
          <p:nvPr/>
        </p:nvSpPr>
        <p:spPr>
          <a:xfrm>
            <a:off x="7055967" y="4224528"/>
            <a:ext cx="4404207" cy="512064"/>
          </a:xfrm>
          <a:prstGeom prst="rect">
            <a:avLst/>
          </a:prstGeom>
          <a:noFill/>
        </p:spPr>
        <p:txBody>
          <a:bodyPr wrap="square" anchor="ctr" lIns="0" rIns="0" tIns="0" bIns="0"/>
          <a:lstStyle/>
          <a:p>
            <a:pPr algn="l"/>
            <a:r>
              <a:rPr sz="1900" b="1" i="0">
                <a:solidFill>
                  <a:srgbClr val="03306E"/>
                </a:solidFill>
                <a:latin typeface="Calibri"/>
              </a:rPr>
              <a:t>File systems</a:t>
            </a:r>
          </a:p>
        </p:txBody>
      </p:sp>
      <p:sp>
        <p:nvSpPr>
          <p:cNvPr id="21" name="TextBox 20"/>
          <p:cNvSpPr txBox="1"/>
          <p:nvPr/>
        </p:nvSpPr>
        <p:spPr>
          <a:xfrm>
            <a:off x="6461607" y="4892040"/>
            <a:ext cx="4952847" cy="1143000"/>
          </a:xfrm>
          <a:prstGeom prst="rect">
            <a:avLst/>
          </a:prstGeom>
          <a:noFill/>
        </p:spPr>
        <p:txBody>
          <a:bodyPr wrap="square" anchor="t" lIns="0" rIns="0" tIns="0" bIns="0"/>
          <a:lstStyle/>
          <a:p>
            <a:pPr algn="l"/>
            <a:r>
              <a:rPr sz="2000" b="0" i="0">
                <a:solidFill>
                  <a:srgbClr val="202122"/>
                </a:solidFill>
                <a:latin typeface="Calibri"/>
              </a:rPr>
              <a:t>NTFS, exFAT, FAT32, ReFS, NFS, ext3, ext4, HFS, swap.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Deployment considerations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5</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does PXE allow?</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Which file system suits a USB stick used on Windows and macOS?</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does a full format do that a quick format doesn't?</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Deployment methods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6</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Different deployment methods suit different situations.</a:t>
            </a:r>
          </a:p>
          <a:p>
            <a:pPr>
              <a:spcAft>
                <a:spcPts val="1200"/>
              </a:spcAft>
            </a:pPr>
            <a:r>
              <a:rPr sz="2000" b="0">
                <a:solidFill>
                  <a:srgbClr val="202122"/>
                </a:solidFill>
                <a:latin typeface="Calibri"/>
              </a:rPr>
              <a:t>An unattended installation answers setup questions automatically from a file. Thin imaging installs a basic OS and adds drivers and apps per device: flexible but more work to manage. A base image captures a complete, configured system: quick at scale but less flexible.</a:t>
            </a:r>
          </a:p>
          <a:p>
            <a:pPr>
              <a:spcAft>
                <a:spcPts val="1200"/>
              </a:spcAft>
            </a:pPr>
            <a:r>
              <a:rPr sz="2000" b="0">
                <a:solidFill>
                  <a:srgbClr val="202122"/>
                </a:solidFill>
                <a:latin typeface="Calibri"/>
              </a:rPr>
              <a:t>An in-place upgrade keeps user profiles but can hit compatibility problems. A clean install gives a fresh system but needs a backup first. A repair install fixes the OS without losing data. Multi-boot runs several OSs. Remote network installation needs no physical access but depends on network speed.</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Deploying 200 identical laptops: a base image. Upgrading one manager's laptop without losing their settings: an in-place upgrade.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Deployment methods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7</a:t>
            </a:r>
          </a:p>
        </p:txBody>
      </p:sp>
      <p:graphicFrame>
        <p:nvGraphicFramePr>
          <p:cNvPr id="6" name="Table 5"/>
          <p:cNvGraphicFramePr>
            <a:graphicFrameLocks noGrp="1"/>
          </p:cNvGraphicFramePr>
          <p:nvPr/>
        </p:nvGraphicFramePr>
        <p:xfrm>
          <a:off x="548640" y="1600200"/>
          <a:ext cx="11094414" cy="4526280"/>
        </p:xfrm>
        <a:graphic>
          <a:graphicData uri="http://schemas.openxmlformats.org/drawingml/2006/table">
            <a:tbl>
              <a:tblPr firstRow="1" bandRow="1">
                <a:tableStyleId>{5C22544A-7EE6-4342-B048-85BDC9FD1C3A}</a:tableStyleId>
              </a:tblPr>
              <a:tblGrid>
                <a:gridCol w="2838106"/>
                <a:gridCol w="4128154"/>
                <a:gridCol w="4128154"/>
              </a:tblGrid>
              <a:tr h="565785">
                <a:tc>
                  <a:txBody>
                    <a:bodyPr wrap="square"/>
                    <a:lstStyle/>
                    <a:p>
                      <a:r>
                        <a:rPr sz="1500" b="1">
                          <a:solidFill>
                            <a:srgbClr val="FFFFFF"/>
                          </a:solidFill>
                          <a:latin typeface="Calibri"/>
                        </a:rPr>
                        <a:t>Method</a:t>
                      </a:r>
                    </a:p>
                  </a:txBody>
                  <a:tcPr marL="91440" marR="91440" anchor="ctr">
                    <a:solidFill>
                      <a:srgbClr val="03306E"/>
                    </a:solidFill>
                  </a:tcPr>
                </a:tc>
                <a:tc>
                  <a:txBody>
                    <a:bodyPr wrap="square"/>
                    <a:lstStyle/>
                    <a:p>
                      <a:r>
                        <a:rPr sz="1500" b="1">
                          <a:solidFill>
                            <a:srgbClr val="FFFFFF"/>
                          </a:solidFill>
                          <a:latin typeface="Calibri"/>
                        </a:rPr>
                        <a:t>Advantage</a:t>
                      </a:r>
                    </a:p>
                  </a:txBody>
                  <a:tcPr marL="91440" marR="91440" anchor="ctr">
                    <a:solidFill>
                      <a:srgbClr val="03306E"/>
                    </a:solidFill>
                  </a:tcPr>
                </a:tc>
                <a:tc>
                  <a:txBody>
                    <a:bodyPr wrap="square"/>
                    <a:lstStyle/>
                    <a:p>
                      <a:r>
                        <a:rPr sz="1500" b="1">
                          <a:solidFill>
                            <a:srgbClr val="FFFFFF"/>
                          </a:solidFill>
                          <a:latin typeface="Calibri"/>
                        </a:rPr>
                        <a:t>Disadvantage</a:t>
                      </a:r>
                    </a:p>
                  </a:txBody>
                  <a:tcPr marL="91440" marR="91440" anchor="ctr">
                    <a:solidFill>
                      <a:srgbClr val="03306E"/>
                    </a:solidFill>
                  </a:tcPr>
                </a:tc>
              </a:tr>
              <a:tr h="565785">
                <a:tc>
                  <a:txBody>
                    <a:bodyPr wrap="square"/>
                    <a:lstStyle/>
                    <a:p>
                      <a:r>
                        <a:rPr sz="1500" b="1">
                          <a:solidFill>
                            <a:srgbClr val="03306E"/>
                          </a:solidFill>
                          <a:latin typeface="Calibri"/>
                        </a:rPr>
                        <a:t>Unattended</a:t>
                      </a:r>
                    </a:p>
                  </a:txBody>
                  <a:tcPr marL="91440" marR="91440" anchor="ctr">
                    <a:solidFill>
                      <a:srgbClr val="FFFFFF"/>
                    </a:solidFill>
                  </a:tcPr>
                </a:tc>
                <a:tc>
                  <a:txBody>
                    <a:bodyPr wrap="square"/>
                    <a:lstStyle/>
                    <a:p>
                      <a:r>
                        <a:rPr sz="1500" b="0">
                          <a:solidFill>
                            <a:srgbClr val="202122"/>
                          </a:solidFill>
                          <a:latin typeface="Calibri"/>
                        </a:rPr>
                        <a:t>Minimal technician input</a:t>
                      </a:r>
                    </a:p>
                  </a:txBody>
                  <a:tcPr marL="91440" marR="91440" anchor="ctr">
                    <a:solidFill>
                      <a:srgbClr val="FFFFFF"/>
                    </a:solidFill>
                  </a:tcPr>
                </a:tc>
                <a:tc>
                  <a:txBody>
                    <a:bodyPr wrap="square"/>
                    <a:lstStyle/>
                    <a:p>
                      <a:r>
                        <a:rPr sz="1500" b="0">
                          <a:solidFill>
                            <a:srgbClr val="202122"/>
                          </a:solidFill>
                          <a:latin typeface="Calibri"/>
                        </a:rPr>
                        <a:t>Answers must be prepared in advance</a:t>
                      </a:r>
                    </a:p>
                  </a:txBody>
                  <a:tcPr marL="91440" marR="91440" anchor="ctr">
                    <a:solidFill>
                      <a:srgbClr val="FFFFFF"/>
                    </a:solidFill>
                  </a:tcPr>
                </a:tc>
              </a:tr>
              <a:tr h="565785">
                <a:tc>
                  <a:txBody>
                    <a:bodyPr wrap="square"/>
                    <a:lstStyle/>
                    <a:p>
                      <a:r>
                        <a:rPr sz="1500" b="1">
                          <a:solidFill>
                            <a:srgbClr val="03306E"/>
                          </a:solidFill>
                          <a:latin typeface="Calibri"/>
                        </a:rPr>
                        <a:t>Thin imaging</a:t>
                      </a:r>
                    </a:p>
                  </a:txBody>
                  <a:tcPr marL="91440" marR="91440" anchor="ctr">
                    <a:solidFill>
                      <a:srgbClr val="EAF3FF"/>
                    </a:solidFill>
                  </a:tcPr>
                </a:tc>
                <a:tc>
                  <a:txBody>
                    <a:bodyPr wrap="square"/>
                    <a:lstStyle/>
                    <a:p>
                      <a:r>
                        <a:rPr sz="1500" b="0">
                          <a:solidFill>
                            <a:srgbClr val="202122"/>
                          </a:solidFill>
                          <a:latin typeface="Calibri"/>
                        </a:rPr>
                        <a:t>Flexible across varied devices</a:t>
                      </a:r>
                    </a:p>
                  </a:txBody>
                  <a:tcPr marL="91440" marR="91440" anchor="ctr">
                    <a:solidFill>
                      <a:srgbClr val="EAF3FF"/>
                    </a:solidFill>
                  </a:tcPr>
                </a:tc>
                <a:tc>
                  <a:txBody>
                    <a:bodyPr wrap="square"/>
                    <a:lstStyle/>
                    <a:p>
                      <a:r>
                        <a:rPr sz="1500" b="0">
                          <a:solidFill>
                            <a:srgbClr val="202122"/>
                          </a:solidFill>
                          <a:latin typeface="Calibri"/>
                        </a:rPr>
                        <a:t>More maintenance, harder to configure</a:t>
                      </a:r>
                    </a:p>
                  </a:txBody>
                  <a:tcPr marL="91440" marR="91440" anchor="ctr">
                    <a:solidFill>
                      <a:srgbClr val="EAF3FF"/>
                    </a:solidFill>
                  </a:tcPr>
                </a:tc>
              </a:tr>
              <a:tr h="565785">
                <a:tc>
                  <a:txBody>
                    <a:bodyPr wrap="square"/>
                    <a:lstStyle/>
                    <a:p>
                      <a:r>
                        <a:rPr sz="1500" b="1">
                          <a:solidFill>
                            <a:srgbClr val="03306E"/>
                          </a:solidFill>
                          <a:latin typeface="Calibri"/>
                        </a:rPr>
                        <a:t>Base image</a:t>
                      </a:r>
                    </a:p>
                  </a:txBody>
                  <a:tcPr marL="91440" marR="91440" anchor="ctr">
                    <a:solidFill>
                      <a:srgbClr val="FFFFFF"/>
                    </a:solidFill>
                  </a:tcPr>
                </a:tc>
                <a:tc>
                  <a:txBody>
                    <a:bodyPr wrap="square"/>
                    <a:lstStyle/>
                    <a:p>
                      <a:r>
                        <a:rPr sz="1500" b="0">
                          <a:solidFill>
                            <a:srgbClr val="202122"/>
                          </a:solidFill>
                          <a:latin typeface="Calibri"/>
                        </a:rPr>
                        <a:t>Easy to create at scale</a:t>
                      </a:r>
                    </a:p>
                  </a:txBody>
                  <a:tcPr marL="91440" marR="91440" anchor="ctr">
                    <a:solidFill>
                      <a:srgbClr val="FFFFFF"/>
                    </a:solidFill>
                  </a:tcPr>
                </a:tc>
                <a:tc>
                  <a:txBody>
                    <a:bodyPr wrap="square"/>
                    <a:lstStyle/>
                    <a:p>
                      <a:r>
                        <a:rPr sz="1500" b="0">
                          <a:solidFill>
                            <a:srgbClr val="202122"/>
                          </a:solidFill>
                          <a:latin typeface="Calibri"/>
                        </a:rPr>
                        <a:t>Harder to maintain, less flexible</a:t>
                      </a:r>
                    </a:p>
                  </a:txBody>
                  <a:tcPr marL="91440" marR="91440" anchor="ctr">
                    <a:solidFill>
                      <a:srgbClr val="FFFFFF"/>
                    </a:solidFill>
                  </a:tcPr>
                </a:tc>
              </a:tr>
              <a:tr h="565785">
                <a:tc>
                  <a:txBody>
                    <a:bodyPr wrap="square"/>
                    <a:lstStyle/>
                    <a:p>
                      <a:r>
                        <a:rPr sz="1500" b="1">
                          <a:solidFill>
                            <a:srgbClr val="03306E"/>
                          </a:solidFill>
                          <a:latin typeface="Calibri"/>
                        </a:rPr>
                        <a:t>In-place upgrade</a:t>
                      </a:r>
                    </a:p>
                  </a:txBody>
                  <a:tcPr marL="91440" marR="91440" anchor="ctr">
                    <a:solidFill>
                      <a:srgbClr val="EAF3FF"/>
                    </a:solidFill>
                  </a:tcPr>
                </a:tc>
                <a:tc>
                  <a:txBody>
                    <a:bodyPr wrap="square"/>
                    <a:lstStyle/>
                    <a:p>
                      <a:r>
                        <a:rPr sz="1500" b="0">
                          <a:solidFill>
                            <a:srgbClr val="202122"/>
                          </a:solidFill>
                          <a:latin typeface="Calibri"/>
                        </a:rPr>
                        <a:t>Keeps user profiles</a:t>
                      </a:r>
                    </a:p>
                  </a:txBody>
                  <a:tcPr marL="91440" marR="91440" anchor="ctr">
                    <a:solidFill>
                      <a:srgbClr val="EAF3FF"/>
                    </a:solidFill>
                  </a:tcPr>
                </a:tc>
                <a:tc>
                  <a:txBody>
                    <a:bodyPr wrap="square"/>
                    <a:lstStyle/>
                    <a:p>
                      <a:r>
                        <a:rPr sz="1500" b="0">
                          <a:solidFill>
                            <a:srgbClr val="202122"/>
                          </a:solidFill>
                          <a:latin typeface="Calibri"/>
                        </a:rPr>
                        <a:t>Compatibility risks, needs full OS media</a:t>
                      </a:r>
                    </a:p>
                  </a:txBody>
                  <a:tcPr marL="91440" marR="91440" anchor="ctr">
                    <a:solidFill>
                      <a:srgbClr val="EAF3FF"/>
                    </a:solidFill>
                  </a:tcPr>
                </a:tc>
              </a:tr>
              <a:tr h="565785">
                <a:tc>
                  <a:txBody>
                    <a:bodyPr wrap="square"/>
                    <a:lstStyle/>
                    <a:p>
                      <a:r>
                        <a:rPr sz="1500" b="1">
                          <a:solidFill>
                            <a:srgbClr val="03306E"/>
                          </a:solidFill>
                          <a:latin typeface="Calibri"/>
                        </a:rPr>
                        <a:t>Clean install</a:t>
                      </a:r>
                    </a:p>
                  </a:txBody>
                  <a:tcPr marL="91440" marR="91440" anchor="ctr">
                    <a:solidFill>
                      <a:srgbClr val="FFFFFF"/>
                    </a:solidFill>
                  </a:tcPr>
                </a:tc>
                <a:tc>
                  <a:txBody>
                    <a:bodyPr wrap="square"/>
                    <a:lstStyle/>
                    <a:p>
                      <a:r>
                        <a:rPr sz="1500" b="0">
                          <a:solidFill>
                            <a:srgbClr val="202122"/>
                          </a:solidFill>
                          <a:latin typeface="Calibri"/>
                        </a:rPr>
                        <a:t>Latest OS, simple</a:t>
                      </a:r>
                    </a:p>
                  </a:txBody>
                  <a:tcPr marL="91440" marR="91440" anchor="ctr">
                    <a:solidFill>
                      <a:srgbClr val="FFFFFF"/>
                    </a:solidFill>
                  </a:tcPr>
                </a:tc>
                <a:tc>
                  <a:txBody>
                    <a:bodyPr wrap="square"/>
                    <a:lstStyle/>
                    <a:p>
                      <a:r>
                        <a:rPr sz="1500" b="0">
                          <a:solidFill>
                            <a:srgbClr val="202122"/>
                          </a:solidFill>
                          <a:latin typeface="Calibri"/>
                        </a:rPr>
                        <a:t>Needs a backup first and takes time</a:t>
                      </a:r>
                    </a:p>
                  </a:txBody>
                  <a:tcPr marL="91440" marR="91440" anchor="ctr">
                    <a:solidFill>
                      <a:srgbClr val="FFFFFF"/>
                    </a:solidFill>
                  </a:tcPr>
                </a:tc>
              </a:tr>
              <a:tr h="565785">
                <a:tc>
                  <a:txBody>
                    <a:bodyPr wrap="square"/>
                    <a:lstStyle/>
                    <a:p>
                      <a:r>
                        <a:rPr sz="1500" b="1">
                          <a:solidFill>
                            <a:srgbClr val="03306E"/>
                          </a:solidFill>
                          <a:latin typeface="Calibri"/>
                        </a:rPr>
                        <a:t>Repair install</a:t>
                      </a:r>
                    </a:p>
                  </a:txBody>
                  <a:tcPr marL="91440" marR="91440" anchor="ctr">
                    <a:solidFill>
                      <a:srgbClr val="EAF3FF"/>
                    </a:solidFill>
                  </a:tcPr>
                </a:tc>
                <a:tc>
                  <a:txBody>
                    <a:bodyPr wrap="square"/>
                    <a:lstStyle/>
                    <a:p>
                      <a:r>
                        <a:rPr sz="1500" b="0">
                          <a:solidFill>
                            <a:srgbClr val="202122"/>
                          </a:solidFill>
                          <a:latin typeface="Calibri"/>
                        </a:rPr>
                        <a:t>Fixes without data loss</a:t>
                      </a:r>
                    </a:p>
                  </a:txBody>
                  <a:tcPr marL="91440" marR="91440" anchor="ctr">
                    <a:solidFill>
                      <a:srgbClr val="EAF3FF"/>
                    </a:solidFill>
                  </a:tcPr>
                </a:tc>
                <a:tc>
                  <a:txBody>
                    <a:bodyPr wrap="square"/>
                    <a:lstStyle/>
                    <a:p>
                      <a:r>
                        <a:rPr sz="1500" b="0">
                          <a:solidFill>
                            <a:srgbClr val="202122"/>
                          </a:solidFill>
                          <a:latin typeface="Calibri"/>
                        </a:rPr>
                        <a:t>Manual; may not fix every problem</a:t>
                      </a:r>
                    </a:p>
                  </a:txBody>
                  <a:tcPr marL="91440" marR="91440" anchor="ctr">
                    <a:solidFill>
                      <a:srgbClr val="EAF3FF"/>
                    </a:solidFill>
                  </a:tcPr>
                </a:tc>
              </a:tr>
              <a:tr h="565785">
                <a:tc>
                  <a:txBody>
                    <a:bodyPr wrap="square"/>
                    <a:lstStyle/>
                    <a:p>
                      <a:r>
                        <a:rPr sz="1500" b="1">
                          <a:solidFill>
                            <a:srgbClr val="03306E"/>
                          </a:solidFill>
                          <a:latin typeface="Calibri"/>
                        </a:rPr>
                        <a:t>Remote network install</a:t>
                      </a:r>
                    </a:p>
                  </a:txBody>
                  <a:tcPr marL="91440" marR="91440" anchor="ctr">
                    <a:solidFill>
                      <a:srgbClr val="FFFFFF"/>
                    </a:solidFill>
                  </a:tcPr>
                </a:tc>
                <a:tc>
                  <a:txBody>
                    <a:bodyPr wrap="square"/>
                    <a:lstStyle/>
                    <a:p>
                      <a:r>
                        <a:rPr sz="1500" b="0">
                          <a:solidFill>
                            <a:srgbClr val="202122"/>
                          </a:solidFill>
                          <a:latin typeface="Calibri"/>
                        </a:rPr>
                        <a:t>No physical access, scales well</a:t>
                      </a:r>
                    </a:p>
                  </a:txBody>
                  <a:tcPr marL="91440" marR="91440" anchor="ctr">
                    <a:solidFill>
                      <a:srgbClr val="FFFFFF"/>
                    </a:solidFill>
                  </a:tcPr>
                </a:tc>
                <a:tc>
                  <a:txBody>
                    <a:bodyPr wrap="square"/>
                    <a:lstStyle/>
                    <a:p>
                      <a:r>
                        <a:rPr sz="1500" b="0">
                          <a:solidFill>
                            <a:srgbClr val="202122"/>
                          </a:solidFill>
                          <a:latin typeface="Calibri"/>
                        </a:rPr>
                        <a:t>Limited by network speed; needs PXE setup</a:t>
                      </a:r>
                    </a:p>
                  </a:txBody>
                  <a:tcPr marL="91440" marR="91440"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Deployment methods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8</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an unattended installation?</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Give one advantage of a base image.</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Which method keeps user profiles?</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Creating and deploying a disk image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9</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200"/>
              </a:spcAft>
            </a:pPr>
            <a:r>
              <a:rPr sz="2000" b="0">
                <a:solidFill>
                  <a:srgbClr val="202122"/>
                </a:solidFill>
                <a:latin typeface="Calibri"/>
              </a:rPr>
              <a:t>A disk image is a complete copy of a configured system, used to set up many devices identically.</a:t>
            </a:r>
          </a:p>
          <a:p>
            <a:pPr>
              <a:spcAft>
                <a:spcPts val="1200"/>
              </a:spcAft>
            </a:pPr>
            <a:r>
              <a:rPr sz="2000" b="0">
                <a:solidFill>
                  <a:srgbClr val="202122"/>
                </a:solidFill>
                <a:latin typeface="Calibri"/>
              </a:rPr>
              <a:t>Install and configure the OS, applications and drivers on one reference machine and capture it as the base image. Create an answer (customisation) file for things like the computer name and region. Add any extra drivers or software. Distribute the image to a deployment server, then deploy it to the target devices.</a:t>
            </a:r>
          </a:p>
          <a:p>
            <a:pPr>
              <a:spcAft>
                <a:spcPts val="1200"/>
              </a:spcAft>
            </a:pPr>
            <a:r>
              <a:rPr sz="2000" b="0">
                <a:solidFill>
                  <a:srgbClr val="202122"/>
                </a:solidFill>
                <a:latin typeface="Calibri"/>
              </a:rPr>
              <a:t>Keep the image updated, or every new device starts with old software and known vulnerabilities.</a:t>
            </a:r>
          </a:p>
          <a:p>
            <a:pPr>
              <a:spcAft>
                <a:spcPts val="1200"/>
              </a:spcAft>
            </a:pPr>
            <a:r>
              <a:rPr sz="2000" b="0">
                <a:solidFill>
                  <a:srgbClr val="202122"/>
                </a:solidFill>
                <a:latin typeface="Calibri"/>
              </a:rPr>
              <a:t>Imaging saves time, keeps builds consistent, cuts support costs and allows fast restoration.</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When a laptop gets malware, the technician simply reimages it in 20 minutes instead of spending hours cleaning it.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Creating and deploying a disk image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10</a:t>
            </a:r>
          </a:p>
        </p:txBody>
      </p:sp>
      <p:sp>
        <p:nvSpPr>
          <p:cNvPr id="6" name="Rectangle 5"/>
          <p:cNvSpPr/>
          <p:nvPr/>
        </p:nvSpPr>
        <p:spPr>
          <a:xfrm>
            <a:off x="1416024" y="2305812"/>
            <a:ext cx="9359646" cy="36576"/>
          </a:xfrm>
          <a:prstGeom prst="rect">
            <a:avLst/>
          </a:prstGeom>
          <a:solidFill>
            <a:srgbClr val="A9C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95984" y="2004059"/>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1</a:t>
            </a:r>
          </a:p>
        </p:txBody>
      </p:sp>
      <p:sp>
        <p:nvSpPr>
          <p:cNvPr id="8" name="TextBox 7"/>
          <p:cNvSpPr txBox="1"/>
          <p:nvPr/>
        </p:nvSpPr>
        <p:spPr>
          <a:xfrm>
            <a:off x="548640" y="2781300"/>
            <a:ext cx="1734769" cy="731520"/>
          </a:xfrm>
          <a:prstGeom prst="rect">
            <a:avLst/>
          </a:prstGeom>
          <a:noFill/>
        </p:spPr>
        <p:txBody>
          <a:bodyPr wrap="square" anchor="t" lIns="0" rIns="0" tIns="0" bIns="0"/>
          <a:lstStyle/>
          <a:p>
            <a:pPr algn="ctr"/>
            <a:r>
              <a:rPr sz="1700" b="1" i="0">
                <a:solidFill>
                  <a:srgbClr val="03306E"/>
                </a:solidFill>
                <a:latin typeface="Calibri"/>
              </a:rPr>
              <a:t>Base image</a:t>
            </a:r>
          </a:p>
        </p:txBody>
      </p:sp>
      <p:sp>
        <p:nvSpPr>
          <p:cNvPr id="9" name="Rounded Rectangle 8"/>
          <p:cNvSpPr/>
          <p:nvPr/>
        </p:nvSpPr>
        <p:spPr>
          <a:xfrm>
            <a:off x="548640" y="3558540"/>
            <a:ext cx="1734769" cy="1386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85800" y="3695700"/>
            <a:ext cx="1460449" cy="1112520"/>
          </a:xfrm>
          <a:prstGeom prst="rect">
            <a:avLst/>
          </a:prstGeom>
          <a:noFill/>
        </p:spPr>
        <p:txBody>
          <a:bodyPr wrap="square" anchor="t" lIns="0" rIns="0" tIns="0" bIns="0"/>
          <a:lstStyle/>
          <a:p>
            <a:pPr algn="l"/>
            <a:r>
              <a:rPr sz="1600" b="0" i="0">
                <a:solidFill>
                  <a:srgbClr val="202122"/>
                </a:solidFill>
                <a:latin typeface="Calibri"/>
              </a:rPr>
              <a:t>Install and configure the OS, apps and drivers.</a:t>
            </a:r>
          </a:p>
        </p:txBody>
      </p:sp>
      <p:sp>
        <p:nvSpPr>
          <p:cNvPr id="11" name="Oval 10"/>
          <p:cNvSpPr/>
          <p:nvPr/>
        </p:nvSpPr>
        <p:spPr>
          <a:xfrm>
            <a:off x="2967913" y="2004059"/>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2</a:t>
            </a:r>
          </a:p>
        </p:txBody>
      </p:sp>
      <p:sp>
        <p:nvSpPr>
          <p:cNvPr id="12" name="TextBox 11"/>
          <p:cNvSpPr txBox="1"/>
          <p:nvPr/>
        </p:nvSpPr>
        <p:spPr>
          <a:xfrm>
            <a:off x="2420569" y="2781300"/>
            <a:ext cx="1734769" cy="731520"/>
          </a:xfrm>
          <a:prstGeom prst="rect">
            <a:avLst/>
          </a:prstGeom>
          <a:noFill/>
        </p:spPr>
        <p:txBody>
          <a:bodyPr wrap="square" anchor="t" lIns="0" rIns="0" tIns="0" bIns="0"/>
          <a:lstStyle/>
          <a:p>
            <a:pPr algn="ctr"/>
            <a:r>
              <a:rPr sz="1700" b="1" i="0">
                <a:solidFill>
                  <a:srgbClr val="03306E"/>
                </a:solidFill>
                <a:latin typeface="Calibri"/>
              </a:rPr>
              <a:t>Answer file</a:t>
            </a:r>
          </a:p>
        </p:txBody>
      </p:sp>
      <p:sp>
        <p:nvSpPr>
          <p:cNvPr id="13" name="Rounded Rectangle 12"/>
          <p:cNvSpPr/>
          <p:nvPr/>
        </p:nvSpPr>
        <p:spPr>
          <a:xfrm>
            <a:off x="2420569" y="3558540"/>
            <a:ext cx="1734769" cy="1386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2557729" y="3695700"/>
            <a:ext cx="1460449" cy="1112520"/>
          </a:xfrm>
          <a:prstGeom prst="rect">
            <a:avLst/>
          </a:prstGeom>
          <a:noFill/>
        </p:spPr>
        <p:txBody>
          <a:bodyPr wrap="square" anchor="t" lIns="0" rIns="0" tIns="0" bIns="0"/>
          <a:lstStyle/>
          <a:p>
            <a:pPr algn="l"/>
            <a:r>
              <a:rPr sz="1600" b="0" i="0">
                <a:solidFill>
                  <a:srgbClr val="202122"/>
                </a:solidFill>
                <a:latin typeface="Calibri"/>
              </a:rPr>
              <a:t>Create the customisation file.</a:t>
            </a:r>
          </a:p>
        </p:txBody>
      </p:sp>
      <p:sp>
        <p:nvSpPr>
          <p:cNvPr id="15" name="Oval 14"/>
          <p:cNvSpPr/>
          <p:nvPr/>
        </p:nvSpPr>
        <p:spPr>
          <a:xfrm>
            <a:off x="4839843" y="2004059"/>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3</a:t>
            </a:r>
          </a:p>
        </p:txBody>
      </p:sp>
      <p:sp>
        <p:nvSpPr>
          <p:cNvPr id="16" name="TextBox 15"/>
          <p:cNvSpPr txBox="1"/>
          <p:nvPr/>
        </p:nvSpPr>
        <p:spPr>
          <a:xfrm>
            <a:off x="4292498" y="2781300"/>
            <a:ext cx="1734769" cy="731520"/>
          </a:xfrm>
          <a:prstGeom prst="rect">
            <a:avLst/>
          </a:prstGeom>
          <a:noFill/>
        </p:spPr>
        <p:txBody>
          <a:bodyPr wrap="square" anchor="t" lIns="0" rIns="0" tIns="0" bIns="0"/>
          <a:lstStyle/>
          <a:p>
            <a:pPr algn="ctr"/>
            <a:r>
              <a:rPr sz="1700" b="1" i="0">
                <a:solidFill>
                  <a:srgbClr val="03306E"/>
                </a:solidFill>
                <a:latin typeface="Calibri"/>
              </a:rPr>
              <a:t>Extras</a:t>
            </a:r>
          </a:p>
        </p:txBody>
      </p:sp>
      <p:sp>
        <p:nvSpPr>
          <p:cNvPr id="17" name="Rounded Rectangle 16"/>
          <p:cNvSpPr/>
          <p:nvPr/>
        </p:nvSpPr>
        <p:spPr>
          <a:xfrm>
            <a:off x="4292498" y="3558540"/>
            <a:ext cx="1734769" cy="1386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4429658" y="3695700"/>
            <a:ext cx="1460449" cy="1112520"/>
          </a:xfrm>
          <a:prstGeom prst="rect">
            <a:avLst/>
          </a:prstGeom>
          <a:noFill/>
        </p:spPr>
        <p:txBody>
          <a:bodyPr wrap="square" anchor="t" lIns="0" rIns="0" tIns="0" bIns="0"/>
          <a:lstStyle/>
          <a:p>
            <a:pPr algn="l"/>
            <a:r>
              <a:rPr sz="1600" b="0" i="0">
                <a:solidFill>
                  <a:srgbClr val="202122"/>
                </a:solidFill>
                <a:latin typeface="Calibri"/>
              </a:rPr>
              <a:t>Add drivers and software.</a:t>
            </a:r>
          </a:p>
        </p:txBody>
      </p:sp>
      <p:sp>
        <p:nvSpPr>
          <p:cNvPr id="19" name="Oval 18"/>
          <p:cNvSpPr/>
          <p:nvPr/>
        </p:nvSpPr>
        <p:spPr>
          <a:xfrm>
            <a:off x="6711772" y="2004059"/>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4</a:t>
            </a:r>
          </a:p>
        </p:txBody>
      </p:sp>
      <p:sp>
        <p:nvSpPr>
          <p:cNvPr id="20" name="TextBox 19"/>
          <p:cNvSpPr txBox="1"/>
          <p:nvPr/>
        </p:nvSpPr>
        <p:spPr>
          <a:xfrm>
            <a:off x="6164427" y="2781300"/>
            <a:ext cx="1734769" cy="731520"/>
          </a:xfrm>
          <a:prstGeom prst="rect">
            <a:avLst/>
          </a:prstGeom>
          <a:noFill/>
        </p:spPr>
        <p:txBody>
          <a:bodyPr wrap="square" anchor="t" lIns="0" rIns="0" tIns="0" bIns="0"/>
          <a:lstStyle/>
          <a:p>
            <a:pPr algn="ctr"/>
            <a:r>
              <a:rPr sz="1700" b="1" i="0">
                <a:solidFill>
                  <a:srgbClr val="03306E"/>
                </a:solidFill>
                <a:latin typeface="Calibri"/>
              </a:rPr>
              <a:t>Distribute</a:t>
            </a:r>
          </a:p>
        </p:txBody>
      </p:sp>
      <p:sp>
        <p:nvSpPr>
          <p:cNvPr id="21" name="Rounded Rectangle 20"/>
          <p:cNvSpPr/>
          <p:nvPr/>
        </p:nvSpPr>
        <p:spPr>
          <a:xfrm>
            <a:off x="6164427" y="3558540"/>
            <a:ext cx="1734769" cy="1386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01587" y="3695700"/>
            <a:ext cx="1460449" cy="1112520"/>
          </a:xfrm>
          <a:prstGeom prst="rect">
            <a:avLst/>
          </a:prstGeom>
          <a:noFill/>
        </p:spPr>
        <p:txBody>
          <a:bodyPr wrap="square" anchor="t" lIns="0" rIns="0" tIns="0" bIns="0"/>
          <a:lstStyle/>
          <a:p>
            <a:pPr algn="l"/>
            <a:r>
              <a:rPr sz="1600" b="0" i="0">
                <a:solidFill>
                  <a:srgbClr val="202122"/>
                </a:solidFill>
                <a:latin typeface="Calibri"/>
              </a:rPr>
              <a:t>Put the image where devices can reach it.</a:t>
            </a:r>
          </a:p>
        </p:txBody>
      </p:sp>
      <p:sp>
        <p:nvSpPr>
          <p:cNvPr id="23" name="Oval 22"/>
          <p:cNvSpPr/>
          <p:nvPr/>
        </p:nvSpPr>
        <p:spPr>
          <a:xfrm>
            <a:off x="8583701" y="2004059"/>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5</a:t>
            </a:r>
          </a:p>
        </p:txBody>
      </p:sp>
      <p:sp>
        <p:nvSpPr>
          <p:cNvPr id="24" name="TextBox 23"/>
          <p:cNvSpPr txBox="1"/>
          <p:nvPr/>
        </p:nvSpPr>
        <p:spPr>
          <a:xfrm>
            <a:off x="8036356" y="2781300"/>
            <a:ext cx="1734769" cy="731520"/>
          </a:xfrm>
          <a:prstGeom prst="rect">
            <a:avLst/>
          </a:prstGeom>
          <a:noFill/>
        </p:spPr>
        <p:txBody>
          <a:bodyPr wrap="square" anchor="t" lIns="0" rIns="0" tIns="0" bIns="0"/>
          <a:lstStyle/>
          <a:p>
            <a:pPr algn="ctr"/>
            <a:r>
              <a:rPr sz="1700" b="1" i="0">
                <a:solidFill>
                  <a:srgbClr val="03306E"/>
                </a:solidFill>
                <a:latin typeface="Calibri"/>
              </a:rPr>
              <a:t>Deploy</a:t>
            </a:r>
          </a:p>
        </p:txBody>
      </p:sp>
      <p:sp>
        <p:nvSpPr>
          <p:cNvPr id="25" name="Rounded Rectangle 24"/>
          <p:cNvSpPr/>
          <p:nvPr/>
        </p:nvSpPr>
        <p:spPr>
          <a:xfrm>
            <a:off x="8036356" y="3558540"/>
            <a:ext cx="1734769" cy="1386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173516" y="3695700"/>
            <a:ext cx="1460449" cy="1112520"/>
          </a:xfrm>
          <a:prstGeom prst="rect">
            <a:avLst/>
          </a:prstGeom>
          <a:noFill/>
        </p:spPr>
        <p:txBody>
          <a:bodyPr wrap="square" anchor="t" lIns="0" rIns="0" tIns="0" bIns="0"/>
          <a:lstStyle/>
          <a:p>
            <a:pPr algn="l"/>
            <a:r>
              <a:rPr sz="1600" b="0" i="0">
                <a:solidFill>
                  <a:srgbClr val="202122"/>
                </a:solidFill>
                <a:latin typeface="Calibri"/>
              </a:rPr>
              <a:t>Push it to the devices.</a:t>
            </a:r>
          </a:p>
        </p:txBody>
      </p:sp>
      <p:sp>
        <p:nvSpPr>
          <p:cNvPr id="27" name="Oval 26"/>
          <p:cNvSpPr/>
          <p:nvPr/>
        </p:nvSpPr>
        <p:spPr>
          <a:xfrm>
            <a:off x="10455630" y="2004059"/>
            <a:ext cx="640080" cy="6400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000" b="1">
                <a:solidFill>
                  <a:srgbClr val="202122"/>
                </a:solidFill>
                <a:latin typeface="Calibri"/>
              </a:rPr>
              <a:t>6</a:t>
            </a:r>
          </a:p>
        </p:txBody>
      </p:sp>
      <p:sp>
        <p:nvSpPr>
          <p:cNvPr id="28" name="TextBox 27"/>
          <p:cNvSpPr txBox="1"/>
          <p:nvPr/>
        </p:nvSpPr>
        <p:spPr>
          <a:xfrm>
            <a:off x="9908286" y="2781300"/>
            <a:ext cx="1734769" cy="731520"/>
          </a:xfrm>
          <a:prstGeom prst="rect">
            <a:avLst/>
          </a:prstGeom>
          <a:noFill/>
        </p:spPr>
        <p:txBody>
          <a:bodyPr wrap="square" anchor="t" lIns="0" rIns="0" tIns="0" bIns="0"/>
          <a:lstStyle/>
          <a:p>
            <a:pPr algn="ctr"/>
            <a:r>
              <a:rPr sz="1700" b="1" i="0">
                <a:solidFill>
                  <a:srgbClr val="03306E"/>
                </a:solidFill>
                <a:latin typeface="Calibri"/>
              </a:rPr>
              <a:t>Maintain</a:t>
            </a:r>
          </a:p>
        </p:txBody>
      </p:sp>
      <p:sp>
        <p:nvSpPr>
          <p:cNvPr id="29" name="Rounded Rectangle 28"/>
          <p:cNvSpPr/>
          <p:nvPr/>
        </p:nvSpPr>
        <p:spPr>
          <a:xfrm>
            <a:off x="9908286" y="3558540"/>
            <a:ext cx="1734769" cy="1386840"/>
          </a:xfrm>
          <a:prstGeom prst="roundRect">
            <a:avLst>
              <a:gd name="adj" fmla="val 6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045446" y="3695700"/>
            <a:ext cx="1460449" cy="1112520"/>
          </a:xfrm>
          <a:prstGeom prst="rect">
            <a:avLst/>
          </a:prstGeom>
          <a:noFill/>
        </p:spPr>
        <p:txBody>
          <a:bodyPr wrap="square" anchor="t" lIns="0" rIns="0" tIns="0" bIns="0"/>
          <a:lstStyle/>
          <a:p>
            <a:pPr algn="l"/>
            <a:r>
              <a:rPr sz="1600" b="0" i="0">
                <a:solidFill>
                  <a:srgbClr val="202122"/>
                </a:solidFill>
                <a:latin typeface="Calibri"/>
              </a:rPr>
              <a:t>Keep versions and drivers updated.</a:t>
            </a:r>
          </a:p>
        </p:txBody>
      </p:sp>
      <p:sp>
        <p:nvSpPr>
          <p:cNvPr id="31" name="TextBox 30"/>
          <p:cNvSpPr txBox="1"/>
          <p:nvPr/>
        </p:nvSpPr>
        <p:spPr>
          <a:xfrm>
            <a:off x="548640" y="5219700"/>
            <a:ext cx="11094415" cy="548640"/>
          </a:xfrm>
          <a:prstGeom prst="rect">
            <a:avLst/>
          </a:prstGeom>
          <a:noFill/>
        </p:spPr>
        <p:txBody>
          <a:bodyPr wrap="square" anchor="t" lIns="0" rIns="0" tIns="0" bIns="0"/>
          <a:lstStyle/>
          <a:p>
            <a:pPr algn="l"/>
            <a:r>
              <a:rPr sz="1600" b="0" i="1">
                <a:solidFill>
                  <a:srgbClr val="54595D"/>
                </a:solidFill>
                <a:latin typeface="Calibri"/>
              </a:rPr>
              <a:t>Benefits: fewer resources, consistent builds, lower support costs and quick restoration.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Creating and deploying a disk image</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11</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What is a disk image?</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Why keep images updated?</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Give two benefits of imaging.</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Recovery and restoration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12</a:t>
            </a:r>
          </a:p>
        </p:txBody>
      </p:sp>
      <p:sp>
        <p:nvSpPr>
          <p:cNvPr id="6" name="TextBox 5"/>
          <p:cNvSpPr txBox="1"/>
          <p:nvPr/>
        </p:nvSpPr>
        <p:spPr>
          <a:xfrm>
            <a:off x="548640" y="1554480"/>
            <a:ext cx="6720840" cy="4617720"/>
          </a:xfrm>
          <a:prstGeom prst="rect">
            <a:avLst/>
          </a:prstGeom>
          <a:noFill/>
        </p:spPr>
        <p:txBody>
          <a:bodyPr wrap="square" lIns="0" rIns="0" tIns="0" bIns="0">
            <a:spAutoFit/>
          </a:bodyPr>
          <a:lstStyle/>
          <a:p>
            <a:pPr>
              <a:spcAft>
                <a:spcPts val="1320"/>
              </a:spcAft>
            </a:pPr>
            <a:r>
              <a:rPr sz="2200" b="0">
                <a:solidFill>
                  <a:srgbClr val="202122"/>
                </a:solidFill>
                <a:latin typeface="Calibri"/>
              </a:rPr>
              <a:t>When a system has problems, try recovery before restoration.</a:t>
            </a:r>
          </a:p>
          <a:p>
            <a:pPr>
              <a:spcAft>
                <a:spcPts val="1320"/>
              </a:spcAft>
            </a:pPr>
            <a:r>
              <a:rPr sz="2200" b="0">
                <a:solidFill>
                  <a:srgbClr val="202122"/>
                </a:solidFill>
                <a:latin typeface="Calibri"/>
              </a:rPr>
              <a:t>System recovery repairs the system in its current state, keeping the user's files and folders, for example with startup repair.</a:t>
            </a:r>
          </a:p>
          <a:p>
            <a:pPr>
              <a:spcAft>
                <a:spcPts val="1320"/>
              </a:spcAft>
            </a:pPr>
            <a:r>
              <a:rPr sz="2200" b="0">
                <a:solidFill>
                  <a:srgbClr val="202122"/>
                </a:solidFill>
                <a:latin typeface="Calibri"/>
              </a:rPr>
              <a:t>System restoration is used when recovery fails. It returns the system to an earlier state, such as a restore point or backup image, so recent changes may be lost.</a:t>
            </a:r>
          </a:p>
          <a:p>
            <a:pPr>
              <a:spcAft>
                <a:spcPts val="1320"/>
              </a:spcAft>
            </a:pPr>
            <a:r>
              <a:rPr sz="2200" b="1">
                <a:solidFill>
                  <a:srgbClr val="202122"/>
                </a:solidFill>
                <a:latin typeface="Calibri"/>
              </a:rPr>
              <a:t>Either way:</a:t>
            </a:r>
            <a:r>
              <a:rPr sz="2200" b="0">
                <a:solidFill>
                  <a:srgbClr val="202122"/>
                </a:solidFill>
                <a:latin typeface="Calibri"/>
              </a:rPr>
              <a:t> make sure data is backed up first, boot into the recovery tools, follow the steps, then test that the problem is really fixed.</a:t>
            </a:r>
          </a:p>
        </p:txBody>
      </p:sp>
      <p:sp>
        <p:nvSpPr>
          <p:cNvPr id="7" name="Rounded Rectangle 6"/>
          <p:cNvSpPr/>
          <p:nvPr/>
        </p:nvSpPr>
        <p:spPr>
          <a:xfrm>
            <a:off x="7772400" y="1554480"/>
            <a:ext cx="3867912" cy="4526280"/>
          </a:xfrm>
          <a:prstGeom prst="roundRect">
            <a:avLst>
              <a:gd name="adj" fmla="val 8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8046720" y="1828800"/>
            <a:ext cx="548640" cy="54864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202122"/>
                </a:solidFill>
                <a:latin typeface="Calibri"/>
              </a:rPr>
              <a:t>e.g.</a:t>
            </a:r>
          </a:p>
        </p:txBody>
      </p:sp>
      <p:sp>
        <p:nvSpPr>
          <p:cNvPr id="9" name="TextBox 8"/>
          <p:cNvSpPr txBox="1"/>
          <p:nvPr/>
        </p:nvSpPr>
        <p:spPr>
          <a:xfrm>
            <a:off x="8046720" y="2560320"/>
            <a:ext cx="3291840" cy="365760"/>
          </a:xfrm>
          <a:prstGeom prst="rect">
            <a:avLst/>
          </a:prstGeom>
          <a:noFill/>
        </p:spPr>
        <p:txBody>
          <a:bodyPr wrap="square" anchor="t" lIns="0" rIns="0" tIns="0" bIns="0"/>
          <a:lstStyle/>
          <a:p>
            <a:pPr algn="l"/>
            <a:r>
              <a:rPr sz="1300" b="1" i="0">
                <a:solidFill>
                  <a:srgbClr val="A9C8F0"/>
                </a:solidFill>
                <a:latin typeface="Calibri"/>
              </a:rPr>
              <a:t>EXAMPLE</a:t>
            </a:r>
          </a:p>
        </p:txBody>
      </p:sp>
      <p:sp>
        <p:nvSpPr>
          <p:cNvPr id="10" name="TextBox 9"/>
          <p:cNvSpPr txBox="1"/>
          <p:nvPr/>
        </p:nvSpPr>
        <p:spPr>
          <a:xfrm>
            <a:off x="8046720" y="2971800"/>
            <a:ext cx="3291840" cy="2971800"/>
          </a:xfrm>
          <a:prstGeom prst="rect">
            <a:avLst/>
          </a:prstGeom>
          <a:noFill/>
        </p:spPr>
        <p:txBody>
          <a:bodyPr wrap="square" anchor="t" lIns="0" rIns="0" tIns="0" bIns="0"/>
          <a:lstStyle/>
          <a:p>
            <a:pPr algn="l"/>
            <a:r>
              <a:rPr sz="1900" b="0" i="0">
                <a:solidFill>
                  <a:srgbClr val="FFFFFF"/>
                </a:solidFill>
                <a:latin typeface="Cambria"/>
              </a:rPr>
              <a:t>After a bad driver update, Windows won't start. Startup repair (recovery) fails, so the technician rolls back to yesterday's restore point (restoration).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Recovery and restoration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13</a:t>
            </a:r>
          </a:p>
        </p:txBody>
      </p:sp>
      <p:sp>
        <p:nvSpPr>
          <p:cNvPr id="6" name="Rounded Rectangle 5"/>
          <p:cNvSpPr/>
          <p:nvPr/>
        </p:nvSpPr>
        <p:spPr>
          <a:xfrm>
            <a:off x="548640" y="1600200"/>
            <a:ext cx="5364327" cy="640080"/>
          </a:xfrm>
          <a:prstGeom prst="roundRect">
            <a:avLst>
              <a:gd name="adj" fmla="val 15000"/>
            </a:avLst>
          </a:prstGeom>
          <a:solidFill>
            <a:srgbClr val="0330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77240" y="1600200"/>
            <a:ext cx="4907127" cy="640080"/>
          </a:xfrm>
          <a:prstGeom prst="rect">
            <a:avLst/>
          </a:prstGeom>
          <a:noFill/>
        </p:spPr>
        <p:txBody>
          <a:bodyPr wrap="square" anchor="ctr" lIns="0" rIns="0" tIns="0" bIns="0"/>
          <a:lstStyle/>
          <a:p>
            <a:pPr algn="l"/>
            <a:r>
              <a:rPr sz="2000" b="1" i="0">
                <a:solidFill>
                  <a:srgbClr val="FFFFFF"/>
                </a:solidFill>
                <a:latin typeface="Calibri"/>
              </a:rPr>
              <a:t>System recovery</a:t>
            </a:r>
          </a:p>
        </p:txBody>
      </p:sp>
      <p:sp>
        <p:nvSpPr>
          <p:cNvPr id="8" name="Rounded Rectangle 7"/>
          <p:cNvSpPr/>
          <p:nvPr/>
        </p:nvSpPr>
        <p:spPr>
          <a:xfrm>
            <a:off x="548640"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22959"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Fixes the system in its current state</a:t>
            </a:r>
          </a:p>
          <a:p>
            <a:pPr marL="274320" indent="-274320">
              <a:spcAft>
                <a:spcPts val="990"/>
              </a:spcAft>
              <a:buClr>
                <a:srgbClr val="0645AD"/>
              </a:buClr>
              <a:buFont typeface="Arial"/>
              <a:buChar char="•"/>
            </a:pPr>
            <a:r>
              <a:rPr sz="2200" b="0">
                <a:solidFill>
                  <a:srgbClr val="202122"/>
                </a:solidFill>
                <a:latin typeface="Calibri"/>
              </a:rPr>
              <a:t>Keeps files and folders</a:t>
            </a:r>
          </a:p>
          <a:p>
            <a:pPr marL="274320" indent="-274320">
              <a:spcAft>
                <a:spcPts val="990"/>
              </a:spcAft>
              <a:buClr>
                <a:srgbClr val="0645AD"/>
              </a:buClr>
              <a:buFont typeface="Arial"/>
              <a:buChar char="•"/>
            </a:pPr>
            <a:r>
              <a:rPr sz="2200" b="0">
                <a:solidFill>
                  <a:srgbClr val="202122"/>
                </a:solidFill>
                <a:latin typeface="Calibri"/>
              </a:rPr>
              <a:t>Try this first</a:t>
            </a:r>
          </a:p>
        </p:txBody>
      </p:sp>
      <p:sp>
        <p:nvSpPr>
          <p:cNvPr id="10" name="Rounded Rectangle 9"/>
          <p:cNvSpPr/>
          <p:nvPr/>
        </p:nvSpPr>
        <p:spPr>
          <a:xfrm>
            <a:off x="6278727" y="1600200"/>
            <a:ext cx="5364327" cy="640080"/>
          </a:xfrm>
          <a:prstGeom prst="roundRect">
            <a:avLst>
              <a:gd name="adj" fmla="val 15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07327" y="1600200"/>
            <a:ext cx="4907127" cy="640080"/>
          </a:xfrm>
          <a:prstGeom prst="rect">
            <a:avLst/>
          </a:prstGeom>
          <a:noFill/>
        </p:spPr>
        <p:txBody>
          <a:bodyPr wrap="square" anchor="ctr" lIns="0" rIns="0" tIns="0" bIns="0"/>
          <a:lstStyle/>
          <a:p>
            <a:pPr algn="l"/>
            <a:r>
              <a:rPr sz="2000" b="1" i="0">
                <a:solidFill>
                  <a:srgbClr val="FFFFFF"/>
                </a:solidFill>
                <a:latin typeface="Calibri"/>
              </a:rPr>
              <a:t>System restoration</a:t>
            </a:r>
          </a:p>
        </p:txBody>
      </p:sp>
      <p:sp>
        <p:nvSpPr>
          <p:cNvPr id="12" name="Rounded Rectangle 11"/>
          <p:cNvSpPr/>
          <p:nvPr/>
        </p:nvSpPr>
        <p:spPr>
          <a:xfrm>
            <a:off x="6278727" y="2377440"/>
            <a:ext cx="5364327" cy="3794760"/>
          </a:xfrm>
          <a:prstGeom prst="roundRect">
            <a:avLst>
              <a:gd name="adj" fmla="val 4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553047" y="2606040"/>
            <a:ext cx="4815687" cy="3337560"/>
          </a:xfrm>
          <a:prstGeom prst="rect">
            <a:avLst/>
          </a:prstGeom>
          <a:noFill/>
        </p:spPr>
        <p:txBody>
          <a:bodyPr wrap="square" lIns="0" rIns="0" tIns="0" bIns="0">
            <a:spAutoFit/>
          </a:bodyPr>
          <a:lstStyle/>
          <a:p>
            <a:pPr marL="274320" indent="-274320">
              <a:spcAft>
                <a:spcPts val="990"/>
              </a:spcAft>
              <a:buClr>
                <a:srgbClr val="0645AD"/>
              </a:buClr>
              <a:buFont typeface="Arial"/>
              <a:buChar char="•"/>
            </a:pPr>
            <a:r>
              <a:rPr sz="2200" b="0">
                <a:solidFill>
                  <a:srgbClr val="202122"/>
                </a:solidFill>
                <a:latin typeface="Calibri"/>
              </a:rPr>
              <a:t>Used when recovery fails</a:t>
            </a:r>
          </a:p>
          <a:p>
            <a:pPr marL="274320" indent="-274320">
              <a:spcAft>
                <a:spcPts val="990"/>
              </a:spcAft>
              <a:buClr>
                <a:srgbClr val="0645AD"/>
              </a:buClr>
              <a:buFont typeface="Arial"/>
              <a:buChar char="•"/>
            </a:pPr>
            <a:r>
              <a:rPr sz="2200" b="0">
                <a:solidFill>
                  <a:srgbClr val="202122"/>
                </a:solidFill>
                <a:latin typeface="Calibri"/>
              </a:rPr>
              <a:t>Reverts to an earlier state</a:t>
            </a:r>
          </a:p>
          <a:p>
            <a:pPr marL="274320" indent="-274320">
              <a:spcAft>
                <a:spcPts val="990"/>
              </a:spcAft>
              <a:buClr>
                <a:srgbClr val="0645AD"/>
              </a:buClr>
              <a:buFont typeface="Arial"/>
              <a:buChar char="•"/>
            </a:pPr>
            <a:r>
              <a:rPr sz="2200" b="0">
                <a:solidFill>
                  <a:srgbClr val="202122"/>
                </a:solidFill>
                <a:latin typeface="Calibri"/>
              </a:rPr>
              <a:t>Recent changes may be lost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Quick check: Recovery and restoration</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14</a:t>
            </a:r>
          </a:p>
        </p:txBody>
      </p:sp>
      <p:sp>
        <p:nvSpPr>
          <p:cNvPr id="6" name="Oval 5"/>
          <p:cNvSpPr/>
          <p:nvPr/>
        </p:nvSpPr>
        <p:spPr>
          <a:xfrm>
            <a:off x="548640" y="169164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1</a:t>
            </a:r>
          </a:p>
        </p:txBody>
      </p:sp>
      <p:sp>
        <p:nvSpPr>
          <p:cNvPr id="7" name="TextBox 6"/>
          <p:cNvSpPr txBox="1"/>
          <p:nvPr/>
        </p:nvSpPr>
        <p:spPr>
          <a:xfrm>
            <a:off x="1371600" y="1645920"/>
            <a:ext cx="10271455" cy="1188720"/>
          </a:xfrm>
          <a:prstGeom prst="rect">
            <a:avLst/>
          </a:prstGeom>
          <a:noFill/>
        </p:spPr>
        <p:txBody>
          <a:bodyPr wrap="square" anchor="t" lIns="0" rIns="0" tIns="0" bIns="0"/>
          <a:lstStyle/>
          <a:p>
            <a:pPr algn="l"/>
            <a:r>
              <a:rPr sz="2400" b="0" i="0">
                <a:solidFill>
                  <a:srgbClr val="202122"/>
                </a:solidFill>
                <a:latin typeface="Calibri"/>
              </a:rPr>
              <a:t>Which should you try first, recovery or restoration?</a:t>
            </a:r>
          </a:p>
        </p:txBody>
      </p:sp>
      <p:sp>
        <p:nvSpPr>
          <p:cNvPr id="8" name="Oval 7"/>
          <p:cNvSpPr/>
          <p:nvPr/>
        </p:nvSpPr>
        <p:spPr>
          <a:xfrm>
            <a:off x="548640" y="31089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2</a:t>
            </a:r>
          </a:p>
        </p:txBody>
      </p:sp>
      <p:sp>
        <p:nvSpPr>
          <p:cNvPr id="9" name="TextBox 8"/>
          <p:cNvSpPr txBox="1"/>
          <p:nvPr/>
        </p:nvSpPr>
        <p:spPr>
          <a:xfrm>
            <a:off x="1371600" y="3063240"/>
            <a:ext cx="10271455" cy="1188720"/>
          </a:xfrm>
          <a:prstGeom prst="rect">
            <a:avLst/>
          </a:prstGeom>
          <a:noFill/>
        </p:spPr>
        <p:txBody>
          <a:bodyPr wrap="square" anchor="t" lIns="0" rIns="0" tIns="0" bIns="0"/>
          <a:lstStyle/>
          <a:p>
            <a:pPr algn="l"/>
            <a:r>
              <a:rPr sz="2400" b="0" i="0">
                <a:solidFill>
                  <a:srgbClr val="202122"/>
                </a:solidFill>
                <a:latin typeface="Calibri"/>
              </a:rPr>
              <a:t>What might be lost in a restoration?</a:t>
            </a:r>
          </a:p>
        </p:txBody>
      </p:sp>
      <p:sp>
        <p:nvSpPr>
          <p:cNvPr id="10" name="Oval 9"/>
          <p:cNvSpPr/>
          <p:nvPr/>
        </p:nvSpPr>
        <p:spPr>
          <a:xfrm>
            <a:off x="548640" y="45262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202122"/>
                </a:solidFill>
                <a:latin typeface="Calibri"/>
              </a:rPr>
              <a:t>3</a:t>
            </a:r>
          </a:p>
        </p:txBody>
      </p:sp>
      <p:sp>
        <p:nvSpPr>
          <p:cNvPr id="11" name="TextBox 10"/>
          <p:cNvSpPr txBox="1"/>
          <p:nvPr/>
        </p:nvSpPr>
        <p:spPr>
          <a:xfrm>
            <a:off x="1371600" y="4480560"/>
            <a:ext cx="10271455" cy="1188720"/>
          </a:xfrm>
          <a:prstGeom prst="rect">
            <a:avLst/>
          </a:prstGeom>
          <a:noFill/>
        </p:spPr>
        <p:txBody>
          <a:bodyPr wrap="square" anchor="t" lIns="0" rIns="0" tIns="0" bIns="0"/>
          <a:lstStyle/>
          <a:p>
            <a:pPr algn="l"/>
            <a:r>
              <a:rPr sz="2400" b="0" i="0">
                <a:solidFill>
                  <a:srgbClr val="202122"/>
                </a:solidFill>
                <a:latin typeface="Calibri"/>
              </a:rPr>
              <a:t>What should you do before either?</a:t>
            </a:r>
          </a:p>
        </p:txBody>
      </p:sp>
      <p:sp>
        <p:nvSpPr>
          <p:cNvPr id="12" name="TextBox 11"/>
          <p:cNvSpPr txBox="1"/>
          <p:nvPr/>
        </p:nvSpPr>
        <p:spPr>
          <a:xfrm>
            <a:off x="548640" y="5852160"/>
            <a:ext cx="11094415" cy="365760"/>
          </a:xfrm>
          <a:prstGeom prst="rect">
            <a:avLst/>
          </a:prstGeom>
          <a:noFill/>
        </p:spPr>
        <p:txBody>
          <a:bodyPr wrap="square" anchor="t" lIns="0" rIns="0" tIns="0" bIns="0"/>
          <a:lstStyle/>
          <a:p>
            <a:pPr algn="l"/>
            <a:r>
              <a:rPr sz="1300" b="0" i="1">
                <a:solidFill>
                  <a:srgbClr val="54595D"/>
                </a:solidFill>
                <a:latin typeface="Calibri"/>
              </a:rPr>
              <a:t>Answer on mini whiteboards or in your book. Answers are in the speaker notes.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Check your understanding</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15</a:t>
            </a:r>
          </a:p>
        </p:txBody>
      </p:sp>
      <p:sp>
        <p:nvSpPr>
          <p:cNvPr id="6" name="Oval 5"/>
          <p:cNvSpPr/>
          <p:nvPr/>
        </p:nvSpPr>
        <p:spPr>
          <a:xfrm>
            <a:off x="548640" y="1618488"/>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2200" b="0" i="0">
                <a:solidFill>
                  <a:srgbClr val="202122"/>
                </a:solidFill>
                <a:latin typeface="Calibri"/>
              </a:rPr>
              <a:t>What does PXE allow?</a:t>
            </a:r>
          </a:p>
        </p:txBody>
      </p:sp>
      <p:sp>
        <p:nvSpPr>
          <p:cNvPr id="8" name="Oval 7"/>
          <p:cNvSpPr/>
          <p:nvPr/>
        </p:nvSpPr>
        <p:spPr>
          <a:xfrm>
            <a:off x="548640" y="2574950"/>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2200" b="0" i="0">
                <a:solidFill>
                  <a:srgbClr val="202122"/>
                </a:solidFill>
                <a:latin typeface="Calibri"/>
              </a:rPr>
              <a:t>Give one advantage of thin imaging.</a:t>
            </a:r>
          </a:p>
        </p:txBody>
      </p:sp>
      <p:sp>
        <p:nvSpPr>
          <p:cNvPr id="10" name="Oval 9"/>
          <p:cNvSpPr/>
          <p:nvPr/>
        </p:nvSpPr>
        <p:spPr>
          <a:xfrm>
            <a:off x="548640" y="3531412"/>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2200" b="0" i="0">
                <a:solidFill>
                  <a:srgbClr val="202122"/>
                </a:solidFill>
                <a:latin typeface="Calibri"/>
              </a:rPr>
              <a:t>Which format type scans for bad sectors?</a:t>
            </a:r>
          </a:p>
        </p:txBody>
      </p:sp>
      <p:sp>
        <p:nvSpPr>
          <p:cNvPr id="12" name="Oval 11"/>
          <p:cNvSpPr/>
          <p:nvPr/>
        </p:nvSpPr>
        <p:spPr>
          <a:xfrm>
            <a:off x="548640" y="4487875"/>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2200" b="0" i="0">
                <a:solidFill>
                  <a:srgbClr val="202122"/>
                </a:solidFill>
                <a:latin typeface="Calibri"/>
              </a:rPr>
              <a:t>What is an answer file?</a:t>
            </a:r>
          </a:p>
        </p:txBody>
      </p:sp>
      <p:sp>
        <p:nvSpPr>
          <p:cNvPr id="14" name="Oval 13"/>
          <p:cNvSpPr/>
          <p:nvPr/>
        </p:nvSpPr>
        <p:spPr>
          <a:xfrm>
            <a:off x="548640" y="5444337"/>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2200" b="0" i="0">
                <a:solidFill>
                  <a:srgbClr val="202122"/>
                </a:solidFill>
                <a:latin typeface="Calibri"/>
              </a:rPr>
              <a:t>When would you use restoration instead of recovery?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Answers</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16</a:t>
            </a:r>
          </a:p>
        </p:txBody>
      </p:sp>
      <p:sp>
        <p:nvSpPr>
          <p:cNvPr id="6" name="Oval 5"/>
          <p:cNvSpPr/>
          <p:nvPr/>
        </p:nvSpPr>
        <p:spPr>
          <a:xfrm>
            <a:off x="548640" y="1618488"/>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1</a:t>
            </a:r>
          </a:p>
        </p:txBody>
      </p:sp>
      <p:sp>
        <p:nvSpPr>
          <p:cNvPr id="7" name="TextBox 6"/>
          <p:cNvSpPr txBox="1"/>
          <p:nvPr/>
        </p:nvSpPr>
        <p:spPr>
          <a:xfrm>
            <a:off x="1234440" y="1600200"/>
            <a:ext cx="10408615" cy="791870"/>
          </a:xfrm>
          <a:prstGeom prst="rect">
            <a:avLst/>
          </a:prstGeom>
          <a:noFill/>
        </p:spPr>
        <p:txBody>
          <a:bodyPr wrap="square" anchor="t" lIns="0" rIns="0" tIns="0" bIns="0"/>
          <a:lstStyle/>
          <a:p>
            <a:pPr algn="l"/>
            <a:r>
              <a:rPr sz="1800" b="0" i="0">
                <a:solidFill>
                  <a:srgbClr val="54595D"/>
                </a:solidFill>
                <a:latin typeface="Calibri"/>
              </a:rPr>
              <a:t>What does PXE allow?</a:t>
            </a:r>
          </a:p>
          <a:p>
            <a:r>
              <a:rPr sz="1800" b="1">
                <a:solidFill>
                  <a:srgbClr val="03306E"/>
                </a:solidFill>
                <a:latin typeface="Calibri"/>
              </a:rPr>
              <a:t>Booting a device over the network.</a:t>
            </a:r>
          </a:p>
        </p:txBody>
      </p:sp>
      <p:sp>
        <p:nvSpPr>
          <p:cNvPr id="8" name="Oval 7"/>
          <p:cNvSpPr/>
          <p:nvPr/>
        </p:nvSpPr>
        <p:spPr>
          <a:xfrm>
            <a:off x="548640" y="2574950"/>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2</a:t>
            </a:r>
          </a:p>
        </p:txBody>
      </p:sp>
      <p:sp>
        <p:nvSpPr>
          <p:cNvPr id="9" name="TextBox 8"/>
          <p:cNvSpPr txBox="1"/>
          <p:nvPr/>
        </p:nvSpPr>
        <p:spPr>
          <a:xfrm>
            <a:off x="1234440" y="2556662"/>
            <a:ext cx="10408615" cy="791870"/>
          </a:xfrm>
          <a:prstGeom prst="rect">
            <a:avLst/>
          </a:prstGeom>
          <a:noFill/>
        </p:spPr>
        <p:txBody>
          <a:bodyPr wrap="square" anchor="t" lIns="0" rIns="0" tIns="0" bIns="0"/>
          <a:lstStyle/>
          <a:p>
            <a:pPr algn="l"/>
            <a:r>
              <a:rPr sz="1800" b="0" i="0">
                <a:solidFill>
                  <a:srgbClr val="54595D"/>
                </a:solidFill>
                <a:latin typeface="Calibri"/>
              </a:rPr>
              <a:t>Give one advantage of thin imaging.</a:t>
            </a:r>
          </a:p>
          <a:p>
            <a:r>
              <a:rPr sz="1800" b="1">
                <a:solidFill>
                  <a:srgbClr val="03306E"/>
                </a:solidFill>
                <a:latin typeface="Calibri"/>
              </a:rPr>
              <a:t>Flexible and scales across varied devices.</a:t>
            </a:r>
          </a:p>
        </p:txBody>
      </p:sp>
      <p:sp>
        <p:nvSpPr>
          <p:cNvPr id="10" name="Oval 9"/>
          <p:cNvSpPr/>
          <p:nvPr/>
        </p:nvSpPr>
        <p:spPr>
          <a:xfrm>
            <a:off x="548640" y="3531412"/>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3</a:t>
            </a:r>
          </a:p>
        </p:txBody>
      </p:sp>
      <p:sp>
        <p:nvSpPr>
          <p:cNvPr id="11" name="TextBox 10"/>
          <p:cNvSpPr txBox="1"/>
          <p:nvPr/>
        </p:nvSpPr>
        <p:spPr>
          <a:xfrm>
            <a:off x="1234440" y="3513124"/>
            <a:ext cx="10408615" cy="791870"/>
          </a:xfrm>
          <a:prstGeom prst="rect">
            <a:avLst/>
          </a:prstGeom>
          <a:noFill/>
        </p:spPr>
        <p:txBody>
          <a:bodyPr wrap="square" anchor="t" lIns="0" rIns="0" tIns="0" bIns="0"/>
          <a:lstStyle/>
          <a:p>
            <a:pPr algn="l"/>
            <a:r>
              <a:rPr sz="1800" b="0" i="0">
                <a:solidFill>
                  <a:srgbClr val="54595D"/>
                </a:solidFill>
                <a:latin typeface="Calibri"/>
              </a:rPr>
              <a:t>Which format type scans for bad sectors?</a:t>
            </a:r>
          </a:p>
          <a:p>
            <a:r>
              <a:rPr sz="1800" b="1">
                <a:solidFill>
                  <a:srgbClr val="03306E"/>
                </a:solidFill>
                <a:latin typeface="Calibri"/>
              </a:rPr>
              <a:t>Full format.</a:t>
            </a:r>
          </a:p>
        </p:txBody>
      </p:sp>
      <p:sp>
        <p:nvSpPr>
          <p:cNvPr id="12" name="Oval 11"/>
          <p:cNvSpPr/>
          <p:nvPr/>
        </p:nvSpPr>
        <p:spPr>
          <a:xfrm>
            <a:off x="548640" y="4487875"/>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4</a:t>
            </a:r>
          </a:p>
        </p:txBody>
      </p:sp>
      <p:sp>
        <p:nvSpPr>
          <p:cNvPr id="13" name="TextBox 12"/>
          <p:cNvSpPr txBox="1"/>
          <p:nvPr/>
        </p:nvSpPr>
        <p:spPr>
          <a:xfrm>
            <a:off x="1234440" y="4469587"/>
            <a:ext cx="10408615" cy="791870"/>
          </a:xfrm>
          <a:prstGeom prst="rect">
            <a:avLst/>
          </a:prstGeom>
          <a:noFill/>
        </p:spPr>
        <p:txBody>
          <a:bodyPr wrap="square" anchor="t" lIns="0" rIns="0" tIns="0" bIns="0"/>
          <a:lstStyle/>
          <a:p>
            <a:pPr algn="l"/>
            <a:r>
              <a:rPr sz="1800" b="0" i="0">
                <a:solidFill>
                  <a:srgbClr val="54595D"/>
                </a:solidFill>
                <a:latin typeface="Calibri"/>
              </a:rPr>
              <a:t>What is an answer file?</a:t>
            </a:r>
          </a:p>
          <a:p>
            <a:r>
              <a:rPr sz="1800" b="1">
                <a:solidFill>
                  <a:srgbClr val="03306E"/>
                </a:solidFill>
                <a:latin typeface="Calibri"/>
              </a:rPr>
              <a:t>A file containing setup answers so installation runs unattended.</a:t>
            </a:r>
          </a:p>
        </p:txBody>
      </p:sp>
      <p:sp>
        <p:nvSpPr>
          <p:cNvPr id="14" name="Oval 13"/>
          <p:cNvSpPr/>
          <p:nvPr/>
        </p:nvSpPr>
        <p:spPr>
          <a:xfrm>
            <a:off x="548640" y="5444337"/>
            <a:ext cx="411480" cy="41148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02122"/>
                </a:solidFill>
                <a:latin typeface="Calibri"/>
              </a:rPr>
              <a:t>5</a:t>
            </a:r>
          </a:p>
        </p:txBody>
      </p:sp>
      <p:sp>
        <p:nvSpPr>
          <p:cNvPr id="15" name="TextBox 14"/>
          <p:cNvSpPr txBox="1"/>
          <p:nvPr/>
        </p:nvSpPr>
        <p:spPr>
          <a:xfrm>
            <a:off x="1234440" y="5426049"/>
            <a:ext cx="10408615" cy="791870"/>
          </a:xfrm>
          <a:prstGeom prst="rect">
            <a:avLst/>
          </a:prstGeom>
          <a:noFill/>
        </p:spPr>
        <p:txBody>
          <a:bodyPr wrap="square" anchor="t" lIns="0" rIns="0" tIns="0" bIns="0"/>
          <a:lstStyle/>
          <a:p>
            <a:pPr algn="l"/>
            <a:r>
              <a:rPr sz="1800" b="0" i="0">
                <a:solidFill>
                  <a:srgbClr val="54595D"/>
                </a:solidFill>
                <a:latin typeface="Calibri"/>
              </a:rPr>
              <a:t>When would you use restoration instead of recovery?</a:t>
            </a:r>
          </a:p>
          <a:p>
            <a:r>
              <a:rPr sz="1800" b="1">
                <a:solidFill>
                  <a:srgbClr val="03306E"/>
                </a:solidFill>
                <a:latin typeface="Calibri"/>
              </a:rPr>
              <a:t>When recovery has failed to fix the system.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54595D"/>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03306E"/>
                </a:solidFill>
                <a:latin typeface="Cambria"/>
              </a:rPr>
              <a:t>Activity: Choose the deployment</a:t>
            </a:r>
          </a:p>
        </p:txBody>
      </p:sp>
      <p:sp>
        <p:nvSpPr>
          <p:cNvPr id="4" name="TextBox 3"/>
          <p:cNvSpPr txBox="1"/>
          <p:nvPr/>
        </p:nvSpPr>
        <p:spPr>
          <a:xfrm>
            <a:off x="548640" y="6446520"/>
            <a:ext cx="8229600" cy="274320"/>
          </a:xfrm>
          <a:prstGeom prst="rect">
            <a:avLst/>
          </a:prstGeom>
          <a:noFill/>
        </p:spPr>
        <p:txBody>
          <a:bodyPr wrap="square" anchor="t" lIns="0" rIns="0" tIns="0" bIns="0"/>
          <a:lstStyle/>
          <a:p>
            <a:pPr algn="l"/>
            <a:r>
              <a:rPr sz="1000" b="0" i="0">
                <a:solidFill>
                  <a:srgbClr val="54595D"/>
                </a:solidFill>
                <a:latin typeface="Calibri"/>
              </a:rPr>
              <a:t>Digital Support and Security T Level  ·  OS Deployment, Imaging and Recovery</a:t>
            </a:r>
          </a:p>
        </p:txBody>
      </p:sp>
      <p:sp>
        <p:nvSpPr>
          <p:cNvPr id="5" name="TextBox 4"/>
          <p:cNvSpPr txBox="1"/>
          <p:nvPr/>
        </p:nvSpPr>
        <p:spPr>
          <a:xfrm>
            <a:off x="10728655" y="6446520"/>
            <a:ext cx="914400" cy="274320"/>
          </a:xfrm>
          <a:prstGeom prst="rect">
            <a:avLst/>
          </a:prstGeom>
          <a:noFill/>
        </p:spPr>
        <p:txBody>
          <a:bodyPr wrap="square" anchor="t" lIns="0" rIns="0" tIns="0" bIns="0"/>
          <a:lstStyle/>
          <a:p>
            <a:pPr algn="r"/>
            <a:r>
              <a:rPr sz="1000" b="0" i="0">
                <a:solidFill>
                  <a:srgbClr val="54595D"/>
                </a:solidFill>
                <a:latin typeface="Calibri"/>
              </a:rPr>
              <a:t>17</a:t>
            </a:r>
          </a:p>
        </p:txBody>
      </p:sp>
      <p:sp>
        <p:nvSpPr>
          <p:cNvPr id="6" name="Rounded Rectangle 5"/>
          <p:cNvSpPr/>
          <p:nvPr/>
        </p:nvSpPr>
        <p:spPr>
          <a:xfrm>
            <a:off x="548640" y="1508760"/>
            <a:ext cx="2011680" cy="457200"/>
          </a:xfrm>
          <a:prstGeom prst="roundRect">
            <a:avLst>
              <a:gd name="adj" fmla="val 50000"/>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48640" y="1508760"/>
            <a:ext cx="2011680" cy="457200"/>
          </a:xfrm>
          <a:prstGeom prst="rect">
            <a:avLst/>
          </a:prstGeom>
          <a:noFill/>
        </p:spPr>
        <p:txBody>
          <a:bodyPr wrap="square" anchor="ctr" lIns="0" rIns="0" tIns="0" bIns="0"/>
          <a:lstStyle/>
          <a:p>
            <a:pPr algn="ctr"/>
            <a:r>
              <a:rPr sz="1400" b="1" i="0">
                <a:solidFill>
                  <a:srgbClr val="202122"/>
                </a:solidFill>
                <a:latin typeface="Calibri"/>
              </a:rPr>
              <a:t>20 minutes</a:t>
            </a:r>
          </a:p>
        </p:txBody>
      </p:sp>
      <p:sp>
        <p:nvSpPr>
          <p:cNvPr id="8" name="TextBox 7"/>
          <p:cNvSpPr txBox="1"/>
          <p:nvPr/>
        </p:nvSpPr>
        <p:spPr>
          <a:xfrm>
            <a:off x="2743200" y="1508760"/>
            <a:ext cx="4754880" cy="457200"/>
          </a:xfrm>
          <a:prstGeom prst="rect">
            <a:avLst/>
          </a:prstGeom>
          <a:noFill/>
        </p:spPr>
        <p:txBody>
          <a:bodyPr wrap="square" anchor="ctr" lIns="0" rIns="0" tIns="0" bIns="0"/>
          <a:lstStyle/>
          <a:p>
            <a:pPr algn="l"/>
            <a:r>
              <a:rPr sz="1400" b="0" i="1">
                <a:solidFill>
                  <a:srgbClr val="54595D"/>
                </a:solidFill>
                <a:latin typeface="Calibri"/>
              </a:rPr>
              <a:t>Pairs</a:t>
            </a:r>
          </a:p>
        </p:txBody>
      </p:sp>
      <p:sp>
        <p:nvSpPr>
          <p:cNvPr id="9" name="Oval 8"/>
          <p:cNvSpPr/>
          <p:nvPr/>
        </p:nvSpPr>
        <p:spPr>
          <a:xfrm>
            <a:off x="548640" y="2482596"/>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10" name="TextBox 9"/>
          <p:cNvSpPr txBox="1"/>
          <p:nvPr/>
        </p:nvSpPr>
        <p:spPr>
          <a:xfrm>
            <a:off x="1143000" y="2240280"/>
            <a:ext cx="5943600" cy="868680"/>
          </a:xfrm>
          <a:prstGeom prst="rect">
            <a:avLst/>
          </a:prstGeom>
          <a:noFill/>
        </p:spPr>
        <p:txBody>
          <a:bodyPr wrap="square" anchor="ctr" lIns="0" rIns="0" tIns="0" bIns="0"/>
          <a:lstStyle/>
          <a:p>
            <a:pPr algn="l"/>
            <a:r>
              <a:rPr sz="1700" b="0" i="0">
                <a:solidFill>
                  <a:srgbClr val="202122"/>
                </a:solidFill>
                <a:latin typeface="Calibri"/>
              </a:rPr>
              <a:t>Scenario A: 200 identical laptops for a school.</a:t>
            </a:r>
          </a:p>
        </p:txBody>
      </p:sp>
      <p:sp>
        <p:nvSpPr>
          <p:cNvPr id="11" name="Oval 10"/>
          <p:cNvSpPr/>
          <p:nvPr/>
        </p:nvSpPr>
        <p:spPr>
          <a:xfrm>
            <a:off x="548640" y="3461004"/>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1143000" y="3218688"/>
            <a:ext cx="5943600" cy="868680"/>
          </a:xfrm>
          <a:prstGeom prst="rect">
            <a:avLst/>
          </a:prstGeom>
          <a:noFill/>
        </p:spPr>
        <p:txBody>
          <a:bodyPr wrap="square" anchor="ctr" lIns="0" rIns="0" tIns="0" bIns="0"/>
          <a:lstStyle/>
          <a:p>
            <a:pPr algn="l"/>
            <a:r>
              <a:rPr sz="1700" b="0" i="0">
                <a:solidFill>
                  <a:srgbClr val="202122"/>
                </a:solidFill>
                <a:latin typeface="Calibri"/>
              </a:rPr>
              <a:t>Scenario B: 30 mixed devices for a design agency.</a:t>
            </a:r>
          </a:p>
        </p:txBody>
      </p:sp>
      <p:sp>
        <p:nvSpPr>
          <p:cNvPr id="13" name="Oval 12"/>
          <p:cNvSpPr/>
          <p:nvPr/>
        </p:nvSpPr>
        <p:spPr>
          <a:xfrm>
            <a:off x="548640" y="4439412"/>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4" name="TextBox 13"/>
          <p:cNvSpPr txBox="1"/>
          <p:nvPr/>
        </p:nvSpPr>
        <p:spPr>
          <a:xfrm>
            <a:off x="1143000" y="4197096"/>
            <a:ext cx="5943600" cy="868680"/>
          </a:xfrm>
          <a:prstGeom prst="rect">
            <a:avLst/>
          </a:prstGeom>
          <a:noFill/>
        </p:spPr>
        <p:txBody>
          <a:bodyPr wrap="square" anchor="ctr" lIns="0" rIns="0" tIns="0" bIns="0"/>
          <a:lstStyle/>
          <a:p>
            <a:pPr algn="l"/>
            <a:r>
              <a:rPr sz="1700" b="0" i="0">
                <a:solidFill>
                  <a:srgbClr val="202122"/>
                </a:solidFill>
                <a:latin typeface="Calibri"/>
              </a:rPr>
              <a:t>Scenario C: one director's PC that will not boot, with irreplaceable files on it.</a:t>
            </a:r>
          </a:p>
        </p:txBody>
      </p:sp>
      <p:sp>
        <p:nvSpPr>
          <p:cNvPr id="15" name="Oval 14"/>
          <p:cNvSpPr/>
          <p:nvPr/>
        </p:nvSpPr>
        <p:spPr>
          <a:xfrm>
            <a:off x="548640" y="5417820"/>
            <a:ext cx="384048" cy="384048"/>
          </a:xfrm>
          <a:prstGeom prst="ellipse">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6" name="TextBox 15"/>
          <p:cNvSpPr txBox="1"/>
          <p:nvPr/>
        </p:nvSpPr>
        <p:spPr>
          <a:xfrm>
            <a:off x="1143000" y="5175504"/>
            <a:ext cx="5943600" cy="868680"/>
          </a:xfrm>
          <a:prstGeom prst="rect">
            <a:avLst/>
          </a:prstGeom>
          <a:noFill/>
        </p:spPr>
        <p:txBody>
          <a:bodyPr wrap="square" anchor="ctr" lIns="0" rIns="0" tIns="0" bIns="0"/>
          <a:lstStyle/>
          <a:p>
            <a:pPr algn="l"/>
            <a:r>
              <a:rPr sz="1700" b="0" i="0">
                <a:solidFill>
                  <a:srgbClr val="202122"/>
                </a:solidFill>
                <a:latin typeface="Calibri"/>
              </a:rPr>
              <a:t>Choose and justify a deployment or recovery method for each.</a:t>
            </a:r>
          </a:p>
        </p:txBody>
      </p:sp>
      <p:sp>
        <p:nvSpPr>
          <p:cNvPr id="17" name="Rounded Rectangle 16"/>
          <p:cNvSpPr/>
          <p:nvPr/>
        </p:nvSpPr>
        <p:spPr>
          <a:xfrm>
            <a:off x="7772400" y="1508760"/>
            <a:ext cx="3867912" cy="4572000"/>
          </a:xfrm>
          <a:prstGeom prst="roundRect">
            <a:avLst>
              <a:gd name="adj" fmla="val 8000"/>
            </a:avLst>
          </a:prstGeom>
          <a:solidFill>
            <a:srgbClr val="EAF3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046720" y="1737360"/>
            <a:ext cx="3291840" cy="365760"/>
          </a:xfrm>
          <a:prstGeom prst="rect">
            <a:avLst/>
          </a:prstGeom>
          <a:noFill/>
        </p:spPr>
        <p:txBody>
          <a:bodyPr wrap="square" anchor="t" lIns="0" rIns="0" tIns="0" bIns="0"/>
          <a:lstStyle/>
          <a:p>
            <a:pPr algn="l"/>
            <a:r>
              <a:rPr sz="1300" b="1" i="0">
                <a:solidFill>
                  <a:srgbClr val="0645AD"/>
                </a:solidFill>
                <a:latin typeface="Calibri"/>
              </a:rPr>
              <a:t>SUCCESS CRITERIA</a:t>
            </a:r>
          </a:p>
        </p:txBody>
      </p:sp>
      <p:sp>
        <p:nvSpPr>
          <p:cNvPr id="19" name="TextBox 18"/>
          <p:cNvSpPr txBox="1"/>
          <p:nvPr/>
        </p:nvSpPr>
        <p:spPr>
          <a:xfrm>
            <a:off x="8046720" y="2240280"/>
            <a:ext cx="3337560" cy="3657600"/>
          </a:xfrm>
          <a:prstGeom prst="rect">
            <a:avLst/>
          </a:prstGeom>
          <a:noFill/>
        </p:spPr>
        <p:txBody>
          <a:bodyPr wrap="square" lIns="0" rIns="0" tIns="0" bIns="0">
            <a:spAutoFit/>
          </a:bodyPr>
          <a:lstStyle/>
          <a:p>
            <a:pPr marL="274320" indent="-274320">
              <a:spcAft>
                <a:spcPts val="810"/>
              </a:spcAft>
              <a:buClr>
                <a:srgbClr val="0645AD"/>
              </a:buClr>
              <a:buFont typeface="Arial"/>
              <a:buChar char="•"/>
            </a:pPr>
            <a:r>
              <a:rPr sz="1800" b="0">
                <a:solidFill>
                  <a:srgbClr val="202122"/>
                </a:solidFill>
                <a:latin typeface="Calibri"/>
              </a:rPr>
              <a:t>Method suits scale and variety</a:t>
            </a:r>
          </a:p>
          <a:p>
            <a:pPr marL="274320" indent="-274320">
              <a:spcAft>
                <a:spcPts val="810"/>
              </a:spcAft>
              <a:buClr>
                <a:srgbClr val="0645AD"/>
              </a:buClr>
              <a:buFont typeface="Arial"/>
              <a:buChar char="•"/>
            </a:pPr>
            <a:r>
              <a:rPr sz="1800" b="0">
                <a:solidFill>
                  <a:srgbClr val="202122"/>
                </a:solidFill>
                <a:latin typeface="Calibri"/>
              </a:rPr>
              <a:t>Data is protected in scenario C</a:t>
            </a:r>
          </a:p>
          <a:p>
            <a:pPr marL="274320" indent="-274320">
              <a:spcAft>
                <a:spcPts val="810"/>
              </a:spcAft>
              <a:buClr>
                <a:srgbClr val="0645AD"/>
              </a:buClr>
              <a:buFont typeface="Arial"/>
              <a:buChar char="•"/>
            </a:pPr>
            <a:r>
              <a:rPr sz="1800" b="0">
                <a:solidFill>
                  <a:srgbClr val="202122"/>
                </a:solidFill>
                <a:latin typeface="Calibri"/>
              </a:rPr>
              <a:t>Advantages and disadvantages weighed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3306E"/>
        </a:solidFill>
        <a:effectLst/>
      </p:bgPr>
    </p:bg>
    <p:spTree>
      <p:nvGrpSpPr>
        <p:cNvPr id="1" name=""/>
        <p:cNvGrpSpPr/>
        <p:nvPr/>
      </p:nvGrpSpPr>
      <p:grpSpPr/>
      <p:sp>
        <p:nvSpPr>
          <p:cNvPr id="2" name="TextBox 1"/>
          <p:cNvSpPr txBox="1"/>
          <p:nvPr/>
        </p:nvSpPr>
        <p:spPr>
          <a:xfrm>
            <a:off x="548640" y="320040"/>
            <a:ext cx="11094415" cy="274320"/>
          </a:xfrm>
          <a:prstGeom prst="rect">
            <a:avLst/>
          </a:prstGeom>
          <a:noFill/>
        </p:spPr>
        <p:txBody>
          <a:bodyPr wrap="square" anchor="t" lIns="0" rIns="0" tIns="0" bIns="0"/>
          <a:lstStyle/>
          <a:p>
            <a:pPr algn="l"/>
            <a:r>
              <a:rPr sz="1100" b="1" i="0">
                <a:solidFill>
                  <a:srgbClr val="A9C8F0"/>
                </a:solidFill>
                <a:latin typeface="Calibri"/>
              </a:rPr>
              <a:t>DIGITAL SUPPORT  ·  Digital Support Content Area 2</a:t>
            </a:r>
          </a:p>
        </p:txBody>
      </p:sp>
      <p:sp>
        <p:nvSpPr>
          <p:cNvPr id="3" name="TextBox 2"/>
          <p:cNvSpPr txBox="1"/>
          <p:nvPr/>
        </p:nvSpPr>
        <p:spPr>
          <a:xfrm>
            <a:off x="548640" y="566928"/>
            <a:ext cx="11094415" cy="822960"/>
          </a:xfrm>
          <a:prstGeom prst="rect">
            <a:avLst/>
          </a:prstGeom>
          <a:noFill/>
        </p:spPr>
        <p:txBody>
          <a:bodyPr wrap="square" anchor="ctr" lIns="0" rIns="0" tIns="0" bIns="0"/>
          <a:lstStyle/>
          <a:p>
            <a:pPr algn="l"/>
            <a:r>
              <a:rPr sz="3200" b="1" i="0">
                <a:solidFill>
                  <a:srgbClr val="FFFFFF"/>
                </a:solidFill>
                <a:latin typeface="Cambria"/>
              </a:rPr>
              <a:t>Exit ticket</a:t>
            </a:r>
          </a:p>
        </p:txBody>
      </p:sp>
      <p:sp>
        <p:nvSpPr>
          <p:cNvPr id="4" name="Oval 3"/>
          <p:cNvSpPr/>
          <p:nvPr/>
        </p:nvSpPr>
        <p:spPr>
          <a:xfrm>
            <a:off x="548640" y="173736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1</a:t>
            </a:r>
          </a:p>
        </p:txBody>
      </p:sp>
      <p:sp>
        <p:nvSpPr>
          <p:cNvPr id="5" name="TextBox 4"/>
          <p:cNvSpPr txBox="1"/>
          <p:nvPr/>
        </p:nvSpPr>
        <p:spPr>
          <a:xfrm>
            <a:off x="1325880" y="1645920"/>
            <a:ext cx="6583680" cy="822960"/>
          </a:xfrm>
          <a:prstGeom prst="rect">
            <a:avLst/>
          </a:prstGeom>
          <a:noFill/>
        </p:spPr>
        <p:txBody>
          <a:bodyPr wrap="square" anchor="ctr" lIns="0" rIns="0" tIns="0" bIns="0"/>
          <a:lstStyle/>
          <a:p>
            <a:pPr algn="l"/>
            <a:r>
              <a:rPr sz="2000" b="0" i="0">
                <a:solidFill>
                  <a:srgbClr val="FFFFFF"/>
                </a:solidFill>
                <a:latin typeface="Calibri"/>
              </a:rPr>
              <a:t>Why keep disk images updated?</a:t>
            </a:r>
          </a:p>
        </p:txBody>
      </p:sp>
      <p:sp>
        <p:nvSpPr>
          <p:cNvPr id="6" name="Oval 5"/>
          <p:cNvSpPr/>
          <p:nvPr/>
        </p:nvSpPr>
        <p:spPr>
          <a:xfrm>
            <a:off x="548640" y="269748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2</a:t>
            </a:r>
          </a:p>
        </p:txBody>
      </p:sp>
      <p:sp>
        <p:nvSpPr>
          <p:cNvPr id="7" name="TextBox 6"/>
          <p:cNvSpPr txBox="1"/>
          <p:nvPr/>
        </p:nvSpPr>
        <p:spPr>
          <a:xfrm>
            <a:off x="1325880" y="2606040"/>
            <a:ext cx="6583680" cy="822960"/>
          </a:xfrm>
          <a:prstGeom prst="rect">
            <a:avLst/>
          </a:prstGeom>
          <a:noFill/>
        </p:spPr>
        <p:txBody>
          <a:bodyPr wrap="square" anchor="ctr" lIns="0" rIns="0" tIns="0" bIns="0"/>
          <a:lstStyle/>
          <a:p>
            <a:pPr algn="l"/>
            <a:r>
              <a:rPr sz="2000" b="0" i="0">
                <a:solidFill>
                  <a:srgbClr val="FFFFFF"/>
                </a:solidFill>
                <a:latin typeface="Calibri"/>
              </a:rPr>
              <a:t>What file system would you choose for a USB stick used on Windows and macOS?</a:t>
            </a:r>
          </a:p>
        </p:txBody>
      </p:sp>
      <p:sp>
        <p:nvSpPr>
          <p:cNvPr id="8" name="Oval 7"/>
          <p:cNvSpPr/>
          <p:nvPr/>
        </p:nvSpPr>
        <p:spPr>
          <a:xfrm>
            <a:off x="548640" y="3657600"/>
            <a:ext cx="502920" cy="502920"/>
          </a:xfrm>
          <a:prstGeom prst="ellipse">
            <a:avLst/>
          </a:prstGeom>
          <a:solidFill>
            <a:srgbClr val="4EA1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700" b="1">
                <a:solidFill>
                  <a:srgbClr val="202122"/>
                </a:solidFill>
                <a:latin typeface="Calibri"/>
              </a:rPr>
              <a:t>3</a:t>
            </a:r>
          </a:p>
        </p:txBody>
      </p:sp>
      <p:sp>
        <p:nvSpPr>
          <p:cNvPr id="9" name="TextBox 8"/>
          <p:cNvSpPr txBox="1"/>
          <p:nvPr/>
        </p:nvSpPr>
        <p:spPr>
          <a:xfrm>
            <a:off x="1325880" y="3566160"/>
            <a:ext cx="6583680" cy="822960"/>
          </a:xfrm>
          <a:prstGeom prst="rect">
            <a:avLst/>
          </a:prstGeom>
          <a:noFill/>
        </p:spPr>
        <p:txBody>
          <a:bodyPr wrap="square" anchor="ctr" lIns="0" rIns="0" tIns="0" bIns="0"/>
          <a:lstStyle/>
          <a:p>
            <a:pPr algn="l"/>
            <a:r>
              <a:rPr sz="2000" b="0" i="0">
                <a:solidFill>
                  <a:srgbClr val="FFFFFF"/>
                </a:solidFill>
                <a:latin typeface="Calibri"/>
              </a:rPr>
              <a:t>Name one risk of an in-place upgrade.</a:t>
            </a:r>
          </a:p>
        </p:txBody>
      </p:sp>
      <p:sp>
        <p:nvSpPr>
          <p:cNvPr id="10" name="Rounded Rectangle 9"/>
          <p:cNvSpPr/>
          <p:nvPr/>
        </p:nvSpPr>
        <p:spPr>
          <a:xfrm>
            <a:off x="8229600" y="1645920"/>
            <a:ext cx="3410712" cy="2926080"/>
          </a:xfrm>
          <a:prstGeom prst="roundRect">
            <a:avLst>
              <a:gd name="adj" fmla="val 8000"/>
            </a:avLst>
          </a:prstGeom>
          <a:solidFill>
            <a:srgbClr val="0645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503920" y="1874519"/>
            <a:ext cx="2926080" cy="365760"/>
          </a:xfrm>
          <a:prstGeom prst="rect">
            <a:avLst/>
          </a:prstGeom>
          <a:noFill/>
        </p:spPr>
        <p:txBody>
          <a:bodyPr wrap="square" anchor="t" lIns="0" rIns="0" tIns="0" bIns="0"/>
          <a:lstStyle/>
          <a:p>
            <a:pPr algn="l"/>
            <a:r>
              <a:rPr sz="1300" b="1" i="0">
                <a:solidFill>
                  <a:srgbClr val="A9C8F0"/>
                </a:solidFill>
                <a:latin typeface="Calibri"/>
              </a:rPr>
              <a:t>REVISE THIS TOPIC</a:t>
            </a:r>
          </a:p>
        </p:txBody>
      </p:sp>
      <p:sp>
        <p:nvSpPr>
          <p:cNvPr id="12" name="TextBox 11"/>
          <p:cNvSpPr txBox="1"/>
          <p:nvPr/>
        </p:nvSpPr>
        <p:spPr>
          <a:xfrm>
            <a:off x="8503920" y="2286000"/>
            <a:ext cx="2926080" cy="548640"/>
          </a:xfrm>
          <a:prstGeom prst="rect">
            <a:avLst/>
          </a:prstGeom>
          <a:noFill/>
        </p:spPr>
        <p:txBody>
          <a:bodyPr wrap="square" anchor="t" lIns="0" rIns="0" tIns="0" bIns="0"/>
          <a:lstStyle/>
          <a:p>
            <a:pPr algn="l"/>
            <a:r>
              <a:rPr sz="1400" b="0" i="0">
                <a:solidFill>
                  <a:srgbClr val="FFFFFF"/>
                </a:solidFill>
                <a:latin typeface="Calibri"/>
              </a:rPr>
              <a:t>Revision notes for this lesson are on the study wiki:</a:t>
            </a:r>
          </a:p>
        </p:txBody>
      </p:sp>
      <p:sp>
        <p:nvSpPr>
          <p:cNvPr id="13" name="TextBox 12"/>
          <p:cNvSpPr txBox="1"/>
          <p:nvPr/>
        </p:nvSpPr>
        <p:spPr>
          <a:xfrm>
            <a:off x="8503920" y="2926080"/>
            <a:ext cx="2926080" cy="1463040"/>
          </a:xfrm>
          <a:prstGeom prst="rect">
            <a:avLst/>
          </a:prstGeom>
          <a:noFill/>
        </p:spPr>
        <p:txBody>
          <a:bodyPr wrap="square" anchor="t" lIns="0" rIns="0" tIns="0" bIns="0"/>
          <a:lstStyle/>
          <a:p>
            <a:pPr algn="l"/>
            <a:r>
              <a:rPr sz="1900" b="1" i="0">
                <a:solidFill>
                  <a:srgbClr val="FFFFFF"/>
                </a:solidFill>
                <a:latin typeface="Cambria"/>
              </a:rPr>
              <a:t>Digital Support - Installing, Configuring and Supporting Software and Operating Systems</a:t>
            </a:r>
          </a:p>
        </p:txBody>
      </p:sp>
      <p:sp>
        <p:nvSpPr>
          <p:cNvPr id="14" name="TextBox 13"/>
          <p:cNvSpPr txBox="1"/>
          <p:nvPr/>
        </p:nvSpPr>
        <p:spPr>
          <a:xfrm>
            <a:off x="548640" y="5669280"/>
            <a:ext cx="11094415" cy="548640"/>
          </a:xfrm>
          <a:prstGeom prst="rect">
            <a:avLst/>
          </a:prstGeom>
          <a:noFill/>
        </p:spPr>
        <p:txBody>
          <a:bodyPr wrap="square" anchor="t" lIns="0" rIns="0" tIns="0" bIns="0"/>
          <a:lstStyle/>
          <a:p>
            <a:pPr algn="l"/>
            <a:r>
              <a:rPr sz="1200" b="0" i="0">
                <a:solidFill>
                  <a:srgbClr val="A9C8F0"/>
                </a:solidFill>
                <a:latin typeface="Calibri"/>
              </a:rPr>
              <a:t>https://lana6478.github.io/Digital-Suport-and-security-T-levle/#/02-occupational-specialisms/digital-support/02-software-and-os-support.md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OS Deployment, Imaging and Recovery</dc:title>
  <dc:subject>Digital Support and Security T Level: Digital Support Content Area 2</dc:subject>
  <dc:creator>Samuel O'Connell</dc:creator>
  <cp:keywords>T Level; Digital Support and Security; lesson slides; 2.10 to 2.15</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