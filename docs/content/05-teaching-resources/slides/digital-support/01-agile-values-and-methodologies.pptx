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items on the right still matter; agile just values the items on the left more.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Comprehensive documentation.</a:t>
            </a:r>
          </a:p>
          <a:p>
            <a:r>
              <a:t>2. No, it just values working software more.</a:t>
            </a:r>
          </a:p>
          <a:p>
            <a:r>
              <a:t>3. So the result meets their real, changing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short fixed period delivering a usable increment.</a:t>
            </a:r>
          </a:p>
          <a:p>
            <a:r>
              <a:t>2. Caps how much work is in progress to expose bottlenecks.</a:t>
            </a:r>
          </a:p>
          <a:p>
            <a:r>
              <a:t>3. Cost, quality and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Won't have (this time).</a:t>
            </a:r>
          </a:p>
          <a:p>
            <a:r>
              <a:t>2. Could haves.</a:t>
            </a:r>
          </a:p>
          <a:p>
            <a:r>
              <a:t>3. It prevents scope creep by agreeing what's 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4EA1FF"/>
                </a:solidFill>
                <a:latin typeface="Calibri"/>
              </a:rPr>
              <a:t>DIGITAL SUPPORT</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Agile Values and Methodologies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Digital Support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2.1, 2.2</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4028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14400"/>
          </a:xfrm>
          <a:prstGeom prst="rect">
            <a:avLst/>
          </a:prstGeom>
          <a:noFill/>
        </p:spPr>
        <p:txBody>
          <a:bodyPr wrap="square" anchor="ctr" lIns="0" rIns="0" tIns="0" bIns="0"/>
          <a:lstStyle/>
          <a:p>
            <a:pPr algn="l"/>
            <a:r>
              <a:rPr sz="2000" b="0" i="0">
                <a:solidFill>
                  <a:srgbClr val="202122"/>
                </a:solidFill>
                <a:latin typeface="Calibri"/>
              </a:rPr>
              <a:t>State the four agile values.</a:t>
            </a:r>
          </a:p>
        </p:txBody>
      </p:sp>
      <p:sp>
        <p:nvSpPr>
          <p:cNvPr id="9" name="Oval 8"/>
          <p:cNvSpPr/>
          <p:nvPr/>
        </p:nvSpPr>
        <p:spPr>
          <a:xfrm>
            <a:off x="548640" y="329184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63240"/>
            <a:ext cx="6035040" cy="914400"/>
          </a:xfrm>
          <a:prstGeom prst="rect">
            <a:avLst/>
          </a:prstGeom>
          <a:noFill/>
        </p:spPr>
        <p:txBody>
          <a:bodyPr wrap="square" anchor="ctr" lIns="0" rIns="0" tIns="0" bIns="0"/>
          <a:lstStyle/>
          <a:p>
            <a:pPr algn="l"/>
            <a:r>
              <a:rPr sz="2000" b="0" i="0">
                <a:solidFill>
                  <a:srgbClr val="202122"/>
                </a:solidFill>
                <a:latin typeface="Calibri"/>
              </a:rPr>
              <a:t>Describe Scrum, Kanban, DSDM, FDD, Crystal, Lean and XP.</a:t>
            </a:r>
          </a:p>
        </p:txBody>
      </p:sp>
      <p:sp>
        <p:nvSpPr>
          <p:cNvPr id="11" name="Oval 10"/>
          <p:cNvSpPr/>
          <p:nvPr/>
        </p:nvSpPr>
        <p:spPr>
          <a:xfrm>
            <a:off x="548640" y="43434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114800"/>
            <a:ext cx="6035040" cy="914400"/>
          </a:xfrm>
          <a:prstGeom prst="rect">
            <a:avLst/>
          </a:prstGeom>
          <a:noFill/>
        </p:spPr>
        <p:txBody>
          <a:bodyPr wrap="square" anchor="ctr" lIns="0" rIns="0" tIns="0" bIns="0"/>
          <a:lstStyle/>
          <a:p>
            <a:pPr algn="l"/>
            <a:r>
              <a:rPr sz="2000" b="0" i="0">
                <a:solidFill>
                  <a:srgbClr val="202122"/>
                </a:solidFill>
                <a:latin typeface="Calibri"/>
              </a:rPr>
              <a:t>Choose an agile method to suit a support team's work.</a:t>
            </a:r>
          </a:p>
        </p:txBody>
      </p:sp>
      <p:sp>
        <p:nvSpPr>
          <p:cNvPr id="13" name="Rounded Rectangle 12"/>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5" name="TextBox 14"/>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Your team has 40 support tickets and new ones arrive every hour. How would you decide what to work on next?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four agile values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Agile is a way of working that delivers value in small, frequent steps and adapts to change. It rests on four values.</a:t>
            </a:r>
          </a:p>
          <a:p>
            <a:pPr>
              <a:spcAft>
                <a:spcPts val="1260"/>
              </a:spcAft>
            </a:pPr>
            <a:r>
              <a:rPr sz="2100" b="0">
                <a:solidFill>
                  <a:srgbClr val="202122"/>
                </a:solidFill>
                <a:latin typeface="Calibri"/>
              </a:rPr>
              <a:t>Individuals and interactions over processes and tools: people talking solve problems faster than forms. Working software over comprehensive documentation: something that works matters most. Customer collaboration over contract negotiation: work with the customer throughout, not just at the start. Responding to change over following a plan: adjust when needs change.</a:t>
            </a:r>
          </a:p>
          <a:p>
            <a:pPr>
              <a:spcAft>
                <a:spcPts val="1260"/>
              </a:spcAft>
            </a:pPr>
            <a:r>
              <a:rPr sz="2100" b="0">
                <a:solidFill>
                  <a:srgbClr val="202122"/>
                </a:solidFill>
                <a:latin typeface="Calibri"/>
              </a:rPr>
              <a:t>The items on the right still matter; agile just values the left more.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support team rolling out a new ticketing system shows users a working version every two weeks and changes it based on their feedback.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four agile values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Individuals and interactions</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over processes and tools.</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Working software</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over comprehensive documentation.</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Customer collaboration</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over contract negotiation.</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Responding to change</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over following a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The four agile values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Complete: working software over...</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Does agile mean no documentation?</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collaborate with customers throughout?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Agile methodologies (1)</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Scrum organises work into sprints, usually two to four weeks, each delivering something usable. It has defined roles (product owner, scrum master, team), events such as the daily scrum, and artefacts such as the backlog.</a:t>
            </a:r>
          </a:p>
          <a:p>
            <a:pPr>
              <a:spcAft>
                <a:spcPts val="1260"/>
              </a:spcAft>
            </a:pPr>
            <a:r>
              <a:rPr sz="2100" b="0">
                <a:solidFill>
                  <a:srgbClr val="202122"/>
                </a:solidFill>
                <a:latin typeface="Calibri"/>
              </a:rPr>
              <a:t>Kanban shows work as cards moving across a board (To do, In progress, Done). Work-in-progress (WIP) limits stop too much being started at once and make bottlenecks visible. It suits the steady flow of support tickets.</a:t>
            </a:r>
          </a:p>
          <a:p>
            <a:pPr>
              <a:spcAft>
                <a:spcPts val="1260"/>
              </a:spcAft>
            </a:pPr>
            <a:r>
              <a:rPr sz="2100" b="0">
                <a:solidFill>
                  <a:srgbClr val="202122"/>
                </a:solidFill>
                <a:latin typeface="Calibri"/>
              </a:rPr>
              <a:t>DSDM fixes cost, quality and time, and flexes the scope instead, prioritising features with MoSCoW.</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helpdesk's Kanban board shows 12 tickets stuck in 'Waiting for parts': the bottleneck is supply, not the technicians.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Agile methodologies (1)</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Scrum</a:t>
            </a:r>
          </a:p>
        </p:txBody>
      </p:sp>
      <p:sp>
        <p:nvSpPr>
          <p:cNvPr id="9" name="TextBox 8"/>
          <p:cNvSpPr txBox="1"/>
          <p:nvPr/>
        </p:nvSpPr>
        <p:spPr>
          <a:xfrm>
            <a:off x="777240" y="2468880"/>
            <a:ext cx="3058058" cy="3566160"/>
          </a:xfrm>
          <a:prstGeom prst="rect">
            <a:avLst/>
          </a:prstGeom>
          <a:noFill/>
        </p:spPr>
        <p:txBody>
          <a:bodyPr wrap="square" anchor="t" lIns="0" rIns="0" tIns="0" bIns="0"/>
          <a:lstStyle/>
          <a:p>
            <a:pPr algn="l"/>
            <a:r>
              <a:rPr sz="2000" b="0" i="0">
                <a:solidFill>
                  <a:srgbClr val="202122"/>
                </a:solidFill>
                <a:latin typeface="Calibri"/>
              </a:rPr>
              <a:t>Defined roles, events and artefacts; daily scrums; work in sprints.</a:t>
            </a:r>
          </a:p>
        </p:txBody>
      </p:sp>
      <p:sp>
        <p:nvSpPr>
          <p:cNvPr id="10" name="Rounded Rectangle 9"/>
          <p:cNvSpPr/>
          <p:nvPr/>
        </p:nvSpPr>
        <p:spPr>
          <a:xfrm>
            <a:off x="4338218"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Kanban</a:t>
            </a:r>
          </a:p>
        </p:txBody>
      </p:sp>
      <p:sp>
        <p:nvSpPr>
          <p:cNvPr id="13" name="TextBox 12"/>
          <p:cNvSpPr txBox="1"/>
          <p:nvPr/>
        </p:nvSpPr>
        <p:spPr>
          <a:xfrm>
            <a:off x="4566818" y="2468880"/>
            <a:ext cx="3058058" cy="3566160"/>
          </a:xfrm>
          <a:prstGeom prst="rect">
            <a:avLst/>
          </a:prstGeom>
          <a:noFill/>
        </p:spPr>
        <p:txBody>
          <a:bodyPr wrap="square" anchor="t" lIns="0" rIns="0" tIns="0" bIns="0"/>
          <a:lstStyle/>
          <a:p>
            <a:pPr algn="l"/>
            <a:r>
              <a:rPr sz="2000" b="0" i="0">
                <a:solidFill>
                  <a:srgbClr val="202122"/>
                </a:solidFill>
                <a:latin typeface="Calibri"/>
              </a:rPr>
              <a:t>Board with work-in-progress limits; balances demand and capacity; shows bottlenecks.</a:t>
            </a:r>
          </a:p>
        </p:txBody>
      </p:sp>
      <p:sp>
        <p:nvSpPr>
          <p:cNvPr id="14" name="Rounded Rectangle 13"/>
          <p:cNvSpPr/>
          <p:nvPr/>
        </p:nvSpPr>
        <p:spPr>
          <a:xfrm>
            <a:off x="8127796"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DSDM</a:t>
            </a:r>
          </a:p>
        </p:txBody>
      </p:sp>
      <p:sp>
        <p:nvSpPr>
          <p:cNvPr id="17" name="TextBox 16"/>
          <p:cNvSpPr txBox="1"/>
          <p:nvPr/>
        </p:nvSpPr>
        <p:spPr>
          <a:xfrm>
            <a:off x="8356396" y="2468880"/>
            <a:ext cx="3058058" cy="3566160"/>
          </a:xfrm>
          <a:prstGeom prst="rect">
            <a:avLst/>
          </a:prstGeom>
          <a:noFill/>
        </p:spPr>
        <p:txBody>
          <a:bodyPr wrap="square" anchor="t" lIns="0" rIns="0" tIns="0" bIns="0"/>
          <a:lstStyle/>
          <a:p>
            <a:pPr algn="l"/>
            <a:r>
              <a:rPr sz="2000" b="0" i="0">
                <a:solidFill>
                  <a:srgbClr val="202122"/>
                </a:solidFill>
                <a:latin typeface="Calibri"/>
              </a:rPr>
              <a:t>Fixes cost, quality and time; prioritises scope with MoSCoW.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Agile methodologies (1)</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sprint?</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a WIP limit do?</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DSDM keep fixed?</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Agile methodologies (2)</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Feature-driven development</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Plan, design and build one small feature at a time.</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Crystal</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Puts people and communication ahead of process and tools.</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Lean</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1900" b="0" i="0">
                <a:solidFill>
                  <a:srgbClr val="202122"/>
                </a:solidFill>
                <a:latin typeface="Calibri"/>
              </a:rPr>
              <a:t>Eliminate waste, build in quality, create knowledge, defer commitment, deliver fast, respect people, optimise the whole.</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Extreme Programming</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Frequent short releases, checkpoints for new requirements, feedback loops.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MoSCoW prioritisation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MoSCoW sorts requirements into four groups so the most important are delivered first.</a:t>
            </a:r>
          </a:p>
          <a:p>
            <a:pPr>
              <a:spcAft>
                <a:spcPts val="1320"/>
              </a:spcAft>
            </a:pPr>
            <a:r>
              <a:rPr sz="2200" b="1">
                <a:solidFill>
                  <a:srgbClr val="202122"/>
                </a:solidFill>
                <a:latin typeface="Calibri"/>
              </a:rPr>
              <a:t>Must have:</a:t>
            </a:r>
            <a:r>
              <a:rPr sz="2200" b="0">
                <a:solidFill>
                  <a:srgbClr val="202122"/>
                </a:solidFill>
                <a:latin typeface="Calibri"/>
              </a:rPr>
              <a:t> essential; without them the project fails. Should have: important but not vital; could be delayed if needed. Could have: nice extras if time allows. Won't have (this time): agreed to be left out for now, which prevents scope creep.</a:t>
            </a:r>
          </a:p>
          <a:p>
            <a:pPr>
              <a:spcAft>
                <a:spcPts val="1320"/>
              </a:spcAft>
            </a:pPr>
            <a:r>
              <a:rPr sz="2200" b="0">
                <a:solidFill>
                  <a:srgbClr val="202122"/>
                </a:solidFill>
                <a:latin typeface="Calibri"/>
              </a:rPr>
              <a:t>When time or money runs short, the 'could haves' are dropped first, protecting the 'must haves'.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New helpdesk system. Must: log and track tickets. Should: email updates. Could: chatbot. Won't (this time): mobile app.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MoSCoW prioritisation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2064077"/>
                <a:gridCol w="3870144"/>
                <a:gridCol w="5160193"/>
              </a:tblGrid>
              <a:tr h="905256">
                <a:tc>
                  <a:txBody>
                    <a:bodyPr wrap="square"/>
                    <a:lstStyle/>
                    <a:p>
                      <a:r>
                        <a:rPr sz="1600" b="1">
                          <a:solidFill>
                            <a:srgbClr val="FFFFFF"/>
                          </a:solidFill>
                          <a:latin typeface="Calibri"/>
                        </a:rPr>
                        <a:t>Priority</a:t>
                      </a:r>
                    </a:p>
                  </a:txBody>
                  <a:tcPr marL="91440" marR="91440" anchor="ctr">
                    <a:solidFill>
                      <a:srgbClr val="03306E"/>
                    </a:solidFill>
                  </a:tcPr>
                </a:tc>
                <a:tc>
                  <a:txBody>
                    <a:bodyPr wrap="square"/>
                    <a:lstStyle/>
                    <a:p>
                      <a:r>
                        <a:rPr sz="1600" b="1">
                          <a:solidFill>
                            <a:srgbClr val="FFFFFF"/>
                          </a:solidFill>
                          <a:latin typeface="Calibri"/>
                        </a:rPr>
                        <a:t>Meaning</a:t>
                      </a:r>
                    </a:p>
                  </a:txBody>
                  <a:tcPr marL="91440" marR="91440" anchor="ctr">
                    <a:solidFill>
                      <a:srgbClr val="03306E"/>
                    </a:solidFill>
                  </a:tcPr>
                </a:tc>
                <a:tc>
                  <a:txBody>
                    <a:bodyPr wrap="square"/>
                    <a:lstStyle/>
                    <a:p>
                      <a:r>
                        <a:rPr sz="1600" b="1">
                          <a:solidFill>
                            <a:srgbClr val="FFFFFF"/>
                          </a:solidFill>
                          <a:latin typeface="Calibri"/>
                        </a:rPr>
                        <a:t>Example for a new helpdesk system</a:t>
                      </a:r>
                    </a:p>
                  </a:txBody>
                  <a:tcPr marL="91440" marR="91440" anchor="ctr">
                    <a:solidFill>
                      <a:srgbClr val="03306E"/>
                    </a:solidFill>
                  </a:tcPr>
                </a:tc>
              </a:tr>
              <a:tr h="905256">
                <a:tc>
                  <a:txBody>
                    <a:bodyPr wrap="square"/>
                    <a:lstStyle/>
                    <a:p>
                      <a:r>
                        <a:rPr sz="1600" b="1">
                          <a:solidFill>
                            <a:srgbClr val="03306E"/>
                          </a:solidFill>
                          <a:latin typeface="Calibri"/>
                        </a:rPr>
                        <a:t>Must have</a:t>
                      </a:r>
                    </a:p>
                  </a:txBody>
                  <a:tcPr marL="91440" marR="91440" anchor="ctr">
                    <a:solidFill>
                      <a:srgbClr val="FFFFFF"/>
                    </a:solidFill>
                  </a:tcPr>
                </a:tc>
                <a:tc>
                  <a:txBody>
                    <a:bodyPr wrap="square"/>
                    <a:lstStyle/>
                    <a:p>
                      <a:r>
                        <a:rPr sz="1600" b="0">
                          <a:solidFill>
                            <a:srgbClr val="202122"/>
                          </a:solidFill>
                          <a:latin typeface="Calibri"/>
                        </a:rPr>
                        <a:t>Essential; without it the project fails</a:t>
                      </a:r>
                    </a:p>
                  </a:txBody>
                  <a:tcPr marL="91440" marR="91440" anchor="ctr">
                    <a:solidFill>
                      <a:srgbClr val="FFFFFF"/>
                    </a:solidFill>
                  </a:tcPr>
                </a:tc>
                <a:tc>
                  <a:txBody>
                    <a:bodyPr wrap="square"/>
                    <a:lstStyle/>
                    <a:p>
                      <a:r>
                        <a:rPr sz="1600" b="0">
                          <a:solidFill>
                            <a:srgbClr val="202122"/>
                          </a:solidFill>
                          <a:latin typeface="Calibri"/>
                        </a:rPr>
                        <a:t>Log and track tickets</a:t>
                      </a:r>
                    </a:p>
                  </a:txBody>
                  <a:tcPr marL="91440" marR="91440" anchor="ctr">
                    <a:solidFill>
                      <a:srgbClr val="FFFFFF"/>
                    </a:solidFill>
                  </a:tcPr>
                </a:tc>
              </a:tr>
              <a:tr h="905256">
                <a:tc>
                  <a:txBody>
                    <a:bodyPr wrap="square"/>
                    <a:lstStyle/>
                    <a:p>
                      <a:r>
                        <a:rPr sz="1600" b="1">
                          <a:solidFill>
                            <a:srgbClr val="03306E"/>
                          </a:solidFill>
                          <a:latin typeface="Calibri"/>
                        </a:rPr>
                        <a:t>Should have</a:t>
                      </a:r>
                    </a:p>
                  </a:txBody>
                  <a:tcPr marL="91440" marR="91440" anchor="ctr">
                    <a:solidFill>
                      <a:srgbClr val="EAF3FF"/>
                    </a:solidFill>
                  </a:tcPr>
                </a:tc>
                <a:tc>
                  <a:txBody>
                    <a:bodyPr wrap="square"/>
                    <a:lstStyle/>
                    <a:p>
                      <a:r>
                        <a:rPr sz="1600" b="0">
                          <a:solidFill>
                            <a:srgbClr val="202122"/>
                          </a:solidFill>
                          <a:latin typeface="Calibri"/>
                        </a:rPr>
                        <a:t>Important but not vital</a:t>
                      </a:r>
                    </a:p>
                  </a:txBody>
                  <a:tcPr marL="91440" marR="91440" anchor="ctr">
                    <a:solidFill>
                      <a:srgbClr val="EAF3FF"/>
                    </a:solidFill>
                  </a:tcPr>
                </a:tc>
                <a:tc>
                  <a:txBody>
                    <a:bodyPr wrap="square"/>
                    <a:lstStyle/>
                    <a:p>
                      <a:r>
                        <a:rPr sz="1600" b="0">
                          <a:solidFill>
                            <a:srgbClr val="202122"/>
                          </a:solidFill>
                          <a:latin typeface="Calibri"/>
                        </a:rPr>
                        <a:t>Email notifications</a:t>
                      </a:r>
                    </a:p>
                  </a:txBody>
                  <a:tcPr marL="91440" marR="91440" anchor="ctr">
                    <a:solidFill>
                      <a:srgbClr val="EAF3FF"/>
                    </a:solidFill>
                  </a:tcPr>
                </a:tc>
              </a:tr>
              <a:tr h="905256">
                <a:tc>
                  <a:txBody>
                    <a:bodyPr wrap="square"/>
                    <a:lstStyle/>
                    <a:p>
                      <a:r>
                        <a:rPr sz="1600" b="1">
                          <a:solidFill>
                            <a:srgbClr val="03306E"/>
                          </a:solidFill>
                          <a:latin typeface="Calibri"/>
                        </a:rPr>
                        <a:t>Could have</a:t>
                      </a:r>
                    </a:p>
                  </a:txBody>
                  <a:tcPr marL="91440" marR="91440" anchor="ctr">
                    <a:solidFill>
                      <a:srgbClr val="FFFFFF"/>
                    </a:solidFill>
                  </a:tcPr>
                </a:tc>
                <a:tc>
                  <a:txBody>
                    <a:bodyPr wrap="square"/>
                    <a:lstStyle/>
                    <a:p>
                      <a:r>
                        <a:rPr sz="1600" b="0">
                          <a:solidFill>
                            <a:srgbClr val="202122"/>
                          </a:solidFill>
                          <a:latin typeface="Calibri"/>
                        </a:rPr>
                        <a:t>Nice to have if time allows</a:t>
                      </a:r>
                    </a:p>
                  </a:txBody>
                  <a:tcPr marL="91440" marR="91440" anchor="ctr">
                    <a:solidFill>
                      <a:srgbClr val="FFFFFF"/>
                    </a:solidFill>
                  </a:tcPr>
                </a:tc>
                <a:tc>
                  <a:txBody>
                    <a:bodyPr wrap="square"/>
                    <a:lstStyle/>
                    <a:p>
                      <a:r>
                        <a:rPr sz="1600" b="0">
                          <a:solidFill>
                            <a:srgbClr val="202122"/>
                          </a:solidFill>
                          <a:latin typeface="Calibri"/>
                        </a:rPr>
                        <a:t>Chatbot for common questions</a:t>
                      </a:r>
                    </a:p>
                  </a:txBody>
                  <a:tcPr marL="91440" marR="91440" anchor="ctr">
                    <a:solidFill>
                      <a:srgbClr val="FFFFFF"/>
                    </a:solidFill>
                  </a:tcPr>
                </a:tc>
              </a:tr>
              <a:tr h="905256">
                <a:tc>
                  <a:txBody>
                    <a:bodyPr wrap="square"/>
                    <a:lstStyle/>
                    <a:p>
                      <a:r>
                        <a:rPr sz="1600" b="1">
                          <a:solidFill>
                            <a:srgbClr val="03306E"/>
                          </a:solidFill>
                          <a:latin typeface="Calibri"/>
                        </a:rPr>
                        <a:t>Won't have (this time)</a:t>
                      </a:r>
                    </a:p>
                  </a:txBody>
                  <a:tcPr marL="91440" marR="91440" anchor="ctr">
                    <a:solidFill>
                      <a:srgbClr val="EAF3FF"/>
                    </a:solidFill>
                  </a:tcPr>
                </a:tc>
                <a:tc>
                  <a:txBody>
                    <a:bodyPr wrap="square"/>
                    <a:lstStyle/>
                    <a:p>
                      <a:r>
                        <a:rPr sz="1600" b="0">
                          <a:solidFill>
                            <a:srgbClr val="202122"/>
                          </a:solidFill>
                          <a:latin typeface="Calibri"/>
                        </a:rPr>
                        <a:t>Agreed to leave out for now</a:t>
                      </a:r>
                    </a:p>
                  </a:txBody>
                  <a:tcPr marL="91440" marR="91440" anchor="ctr">
                    <a:solidFill>
                      <a:srgbClr val="EAF3FF"/>
                    </a:solidFill>
                  </a:tcPr>
                </a:tc>
                <a:tc>
                  <a:txBody>
                    <a:bodyPr wrap="square"/>
                    <a:lstStyle/>
                    <a:p>
                      <a:r>
                        <a:rPr sz="1600" b="0">
                          <a:solidFill>
                            <a:srgbClr val="202122"/>
                          </a:solidFill>
                          <a:latin typeface="Calibri"/>
                        </a:rPr>
                        <a:t>Mobile app</a:t>
                      </a:r>
                    </a:p>
                  </a:txBody>
                  <a:tcPr marL="91440" marR="91440" anchor="ctr">
                    <a:solidFill>
                      <a:srgbClr val="EAF3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MoSCoW prioritisation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the W in MoSCoW mean?</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dropped first if time runs out?</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How does 'won't have' help a project?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Complete the value: responding to change over...</a:t>
            </a:r>
          </a:p>
        </p:txBody>
      </p:sp>
      <p:sp>
        <p:nvSpPr>
          <p:cNvPr id="8" name="Oval 7"/>
          <p:cNvSpPr/>
          <p:nvPr/>
        </p:nvSpPr>
        <p:spPr>
          <a:xfrm>
            <a:off x="548640" y="2814066"/>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What is a WIP limit in Kanban?</a:t>
            </a:r>
          </a:p>
        </p:txBody>
      </p:sp>
      <p:sp>
        <p:nvSpPr>
          <p:cNvPr id="10" name="Oval 9"/>
          <p:cNvSpPr/>
          <p:nvPr/>
        </p:nvSpPr>
        <p:spPr>
          <a:xfrm>
            <a:off x="548640" y="4009644"/>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Which method uses MoSCoW?</a:t>
            </a:r>
          </a:p>
        </p:txBody>
      </p:sp>
      <p:sp>
        <p:nvSpPr>
          <p:cNvPr id="12" name="Oval 11"/>
          <p:cNvSpPr/>
          <p:nvPr/>
        </p:nvSpPr>
        <p:spPr>
          <a:xfrm>
            <a:off x="548640" y="5205221"/>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Name three Lean principles.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Complete the value: responding to change over...</a:t>
            </a:r>
          </a:p>
          <a:p>
            <a:r>
              <a:rPr sz="1800" b="1">
                <a:solidFill>
                  <a:srgbClr val="03306E"/>
                </a:solidFill>
                <a:latin typeface="Calibri"/>
              </a:rPr>
              <a:t>Following a plan.</a:t>
            </a:r>
          </a:p>
        </p:txBody>
      </p:sp>
      <p:sp>
        <p:nvSpPr>
          <p:cNvPr id="8" name="Oval 7"/>
          <p:cNvSpPr/>
          <p:nvPr/>
        </p:nvSpPr>
        <p:spPr>
          <a:xfrm>
            <a:off x="548640" y="2814066"/>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What is a WIP limit in Kanban?</a:t>
            </a:r>
          </a:p>
          <a:p>
            <a:r>
              <a:rPr sz="1800" b="1">
                <a:solidFill>
                  <a:srgbClr val="03306E"/>
                </a:solidFill>
                <a:latin typeface="Calibri"/>
              </a:rPr>
              <a:t>A cap on the number of items allowed in a column at once.</a:t>
            </a:r>
          </a:p>
        </p:txBody>
      </p:sp>
      <p:sp>
        <p:nvSpPr>
          <p:cNvPr id="10" name="Oval 9"/>
          <p:cNvSpPr/>
          <p:nvPr/>
        </p:nvSpPr>
        <p:spPr>
          <a:xfrm>
            <a:off x="548640" y="4009644"/>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Which method uses MoSCoW?</a:t>
            </a:r>
          </a:p>
          <a:p>
            <a:r>
              <a:rPr sz="1800" b="1">
                <a:solidFill>
                  <a:srgbClr val="03306E"/>
                </a:solidFill>
                <a:latin typeface="Calibri"/>
              </a:rPr>
              <a:t>DSDM.</a:t>
            </a:r>
          </a:p>
        </p:txBody>
      </p:sp>
      <p:sp>
        <p:nvSpPr>
          <p:cNvPr id="12" name="Oval 11"/>
          <p:cNvSpPr/>
          <p:nvPr/>
        </p:nvSpPr>
        <p:spPr>
          <a:xfrm>
            <a:off x="548640" y="5205221"/>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Name three Lean principles.</a:t>
            </a:r>
          </a:p>
          <a:p>
            <a:r>
              <a:rPr sz="1800" b="1">
                <a:solidFill>
                  <a:srgbClr val="03306E"/>
                </a:solidFill>
                <a:latin typeface="Calibri"/>
              </a:rPr>
              <a:t>Any three of the seven, e.g. eliminate waste, deliver fast, respect people.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Run a Kanban board</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Agile Values and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Draw a Kanban board with To do, In progress, Waiting on user and Done.</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Add the 12 ticket cards from your teacher.</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Set a WIP limit and play three 'rounds' of work, adding new tickets each round.</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Identify the bottleneck and suggest a fix.</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WIP limit respected</a:t>
            </a:r>
          </a:p>
          <a:p>
            <a:pPr marL="274320" indent="-274320">
              <a:spcAft>
                <a:spcPts val="810"/>
              </a:spcAft>
              <a:buClr>
                <a:srgbClr val="0645AD"/>
              </a:buClr>
              <a:buFont typeface="Arial"/>
              <a:buChar char="•"/>
            </a:pPr>
            <a:r>
              <a:rPr sz="1800" b="0">
                <a:solidFill>
                  <a:srgbClr val="202122"/>
                </a:solidFill>
                <a:latin typeface="Calibri"/>
              </a:rPr>
              <a:t>Priorities are sensible</a:t>
            </a:r>
          </a:p>
          <a:p>
            <a:pPr marL="274320" indent="-274320">
              <a:spcAft>
                <a:spcPts val="810"/>
              </a:spcAft>
              <a:buClr>
                <a:srgbClr val="0645AD"/>
              </a:buClr>
              <a:buFont typeface="Arial"/>
              <a:buChar char="•"/>
            </a:pPr>
            <a:r>
              <a:rPr sz="1800" b="0">
                <a:solidFill>
                  <a:srgbClr val="202122"/>
                </a:solidFill>
                <a:latin typeface="Calibri"/>
              </a:rPr>
              <a:t>Bottleneck identified with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Which agile method suits a helpdesk best, and why?</a:t>
            </a:r>
          </a:p>
        </p:txBody>
      </p:sp>
      <p:sp>
        <p:nvSpPr>
          <p:cNvPr id="6" name="Oval 5"/>
          <p:cNvSpPr/>
          <p:nvPr/>
        </p:nvSpPr>
        <p:spPr>
          <a:xfrm>
            <a:off x="548640" y="26974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What is a sprint?</a:t>
            </a:r>
          </a:p>
        </p:txBody>
      </p:sp>
      <p:sp>
        <p:nvSpPr>
          <p:cNvPr id="8" name="Oval 7"/>
          <p:cNvSpPr/>
          <p:nvPr/>
        </p:nvSpPr>
        <p:spPr>
          <a:xfrm>
            <a:off x="548640" y="365760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Give one 'Won't have' item for a project you know.</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1900" b="1" i="0">
                <a:solidFill>
                  <a:srgbClr val="FFFFFF"/>
                </a:solidFill>
                <a:latin typeface="Cambria"/>
              </a:rPr>
              <a:t>Digital Support - Installing, Configuring and Supporting Software and Operating Systems</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https://lana6478.github.io/Digital-Suport-and-security-T-levle/#/02-occupational-specialisms/digital-support/02-software-and-os-support.md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Agile Values and Methodologies</dc:title>
  <dc:subject>Digital Support and Security T Level: Digital Support Content Area 2</dc:subject>
  <dc:creator>Samuel O'Connell</dc:creator>
  <cp:keywords>T Level; Digital Support and Security; lesson slides; 2.1, 2.2</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