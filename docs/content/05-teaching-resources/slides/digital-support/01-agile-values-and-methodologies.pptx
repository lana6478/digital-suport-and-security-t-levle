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notesMasters/notesMaster1.xml" ContentType="application/vnd.openxmlformats-officedocument.presentationml.notesMaster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theme/theme2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1"/>
    <p:sldId id="260" r:id="rId12"/>
    <p:sldId id="261" r:id="rId13"/>
    <p:sldId id="262" r:id="rId14"/>
    <p:sldId id="263" r:id="rId15"/>
    <p:sldId id="264" r:id="rId16"/>
    <p:sldId id="265" r:id="rId17"/>
  </p:sldIdLst>
  <p:sldSz cx="12191695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notesMaster" Target="notesMasters/notesMaster1.xml"/><Relationship Id="rId11" Type="http://schemas.openxmlformats.org/officeDocument/2006/relationships/slide" Target="slides/slide4.xml"/><Relationship Id="rId12" Type="http://schemas.openxmlformats.org/officeDocument/2006/relationships/slide" Target="slides/slide5.xml"/><Relationship Id="rId13" Type="http://schemas.openxmlformats.org/officeDocument/2006/relationships/slide" Target="slides/slide6.xml"/><Relationship Id="rId14" Type="http://schemas.openxmlformats.org/officeDocument/2006/relationships/slide" Target="slides/slide7.xml"/><Relationship Id="rId15" Type="http://schemas.openxmlformats.org/officeDocument/2006/relationships/slide" Target="slides/slide8.xml"/><Relationship Id="rId16" Type="http://schemas.openxmlformats.org/officeDocument/2006/relationships/slide" Target="slides/slide9.xml"/><Relationship Id="rId17" Type="http://schemas.openxmlformats.org/officeDocument/2006/relationships/slide" Target="slides/slide10.xml"/></Relationships>
</file>

<file path=ppt/notesMasters/_rels/notesMaster1.xml.rels><?xml version='1.0' encoding='UTF-8' standalone='yes'?>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p="http://schemas.openxmlformats.org/presentationml/2006/main" xmlns:r="http://schemas.openxmlformats.org/officeDocument/2006/relationships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0F89C1C7-3DCD-1040-A9CF-14679D8B5DDD}" type="datetimeFigureOut">
              <a:rPr lang="en-US" smtClean="0"/>
              <a:t>10/17/16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1143000" y="685800"/>
            <a:ext cx="4572000" cy="34290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BB5E49A5-4136-284D-997B-48E1D791AD67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23252185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3.xml"/></Relationships>
</file>

<file path=ppt/notesSlides/_rels/notesSlide2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7.xml"/></Relationships>
</file>

<file path=ppt/notesSlides/_rels/notesSlide3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8.xml"/></Relationships>
</file>

<file path=ppt/notesSlides/_rels/notesSlide4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0.xml"/></Relationships>
</file>

<file path=ppt/notesSlides/notesSlide1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The items on the right still matter; agile just values the items on the left more.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Give students a few minutes to answer on mini whiteboards or paper, then reveal the answers on the next slide.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Talk through any answers the class found difficult.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Students answer on a sticky note or in the chat before leaving.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2.xml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3.xml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4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3306E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Oval 1"/>
          <p:cNvSpPr/>
          <p:nvPr/>
        </p:nvSpPr>
        <p:spPr>
          <a:xfrm>
            <a:off x="8595360" y="1005840"/>
            <a:ext cx="3291840" cy="3291840"/>
          </a:xfrm>
          <a:prstGeom prst="ellipse">
            <a:avLst/>
          </a:prstGeom>
          <a:solidFill>
            <a:srgbClr val="0645A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3" name="Oval 2"/>
          <p:cNvSpPr/>
          <p:nvPr/>
        </p:nvSpPr>
        <p:spPr>
          <a:xfrm>
            <a:off x="9966960" y="3200400"/>
            <a:ext cx="2377440" cy="2377440"/>
          </a:xfrm>
          <a:prstGeom prst="ellipse">
            <a:avLst/>
          </a:prstGeom>
          <a:solidFill>
            <a:srgbClr val="4EA1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4" name="Oval 3"/>
          <p:cNvSpPr/>
          <p:nvPr/>
        </p:nvSpPr>
        <p:spPr>
          <a:xfrm>
            <a:off x="8138160" y="4023360"/>
            <a:ext cx="1371600" cy="1371600"/>
          </a:xfrm>
          <a:prstGeom prst="ellipse">
            <a:avLst/>
          </a:prstGeom>
          <a:solidFill>
            <a:srgbClr val="A9C8F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5" name="TextBox 4"/>
          <p:cNvSpPr txBox="1"/>
          <p:nvPr/>
        </p:nvSpPr>
        <p:spPr>
          <a:xfrm>
            <a:off x="548640" y="914400"/>
            <a:ext cx="7315200" cy="365760"/>
          </a:xfrm>
          <a:prstGeom prst="rect">
            <a:avLst/>
          </a:prstGeom>
          <a:noFill/>
        </p:spPr>
        <p:txBody>
          <a:bodyPr wrap="square" anchor="t" lIns="0" rIns="0" tIns="0" bIns="0"/>
          <a:lstStyle/>
          <a:p>
            <a:pPr algn="l"/>
            <a:r>
              <a:rPr sz="1400" b="1" i="0">
                <a:solidFill>
                  <a:srgbClr val="4EA1FF"/>
                </a:solidFill>
                <a:latin typeface="Calibri"/>
              </a:rPr>
              <a:t>DIGITAL SUPPORT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48640" y="1371600"/>
            <a:ext cx="7315200" cy="2286000"/>
          </a:xfrm>
          <a:prstGeom prst="rect">
            <a:avLst/>
          </a:prstGeom>
          <a:noFill/>
        </p:spPr>
        <p:txBody>
          <a:bodyPr wrap="square" anchor="b" lIns="0" rIns="0" tIns="0" bIns="0"/>
          <a:lstStyle/>
          <a:p>
            <a:pPr algn="l"/>
            <a:r>
              <a:rPr sz="4400" b="1" i="0">
                <a:solidFill>
                  <a:srgbClr val="FFFFFF"/>
                </a:solidFill>
                <a:latin typeface="Cambria"/>
              </a:rPr>
              <a:t>Agile Values and Methodologies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548640" y="3840480"/>
            <a:ext cx="7315200" cy="457200"/>
          </a:xfrm>
          <a:prstGeom prst="rect">
            <a:avLst/>
          </a:prstGeom>
          <a:noFill/>
        </p:spPr>
        <p:txBody>
          <a:bodyPr wrap="square" anchor="t" lIns="0" rIns="0" tIns="0" bIns="0"/>
          <a:lstStyle/>
          <a:p>
            <a:pPr algn="l"/>
            <a:r>
              <a:rPr sz="1800" b="0" i="0">
                <a:solidFill>
                  <a:srgbClr val="A9C8F0"/>
                </a:solidFill>
                <a:latin typeface="Calibri"/>
              </a:rPr>
              <a:t>Digital Support Content Area 2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548640" y="4297680"/>
            <a:ext cx="7315200" cy="457200"/>
          </a:xfrm>
          <a:prstGeom prst="rect">
            <a:avLst/>
          </a:prstGeom>
          <a:noFill/>
        </p:spPr>
        <p:txBody>
          <a:bodyPr wrap="square" anchor="t" lIns="0" rIns="0" tIns="0" bIns="0"/>
          <a:lstStyle/>
          <a:p>
            <a:pPr algn="l"/>
            <a:r>
              <a:rPr sz="1400" b="0" i="0">
                <a:solidFill>
                  <a:srgbClr val="A9C8F0"/>
                </a:solidFill>
                <a:latin typeface="Calibri"/>
              </a:rPr>
              <a:t>Specification reference: 2.1, 2.2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548640" y="5760720"/>
            <a:ext cx="7498079" cy="640080"/>
          </a:xfrm>
          <a:prstGeom prst="rect">
            <a:avLst/>
          </a:prstGeom>
          <a:noFill/>
        </p:spPr>
        <p:txBody>
          <a:bodyPr wrap="square" anchor="t" lIns="0" rIns="0" tIns="0" bIns="0"/>
          <a:lstStyle/>
          <a:p>
            <a:pPr algn="l"/>
            <a:r>
              <a:rPr sz="1100" b="0" i="0">
                <a:solidFill>
                  <a:srgbClr val="A9C8F0"/>
                </a:solidFill>
                <a:latin typeface="Calibri"/>
              </a:rPr>
              <a:t>Digital Support and Security T Level  ·  Lesson slides</a:t>
            </a:r>
          </a:p>
          <a:p>
            <a:pPr algn="l"/>
            <a:r>
              <a:rPr sz="1100" b="0" i="0">
                <a:solidFill>
                  <a:srgbClr val="A9C8F0"/>
                </a:solidFill>
                <a:latin typeface="Calibri"/>
              </a:rPr>
              <a:t>Unofficial teaching resource. Check the official Pearson specification for assessment detail.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48640" y="320040"/>
            <a:ext cx="11094415" cy="274320"/>
          </a:xfrm>
          <a:prstGeom prst="rect">
            <a:avLst/>
          </a:prstGeom>
          <a:noFill/>
        </p:spPr>
        <p:txBody>
          <a:bodyPr wrap="square" anchor="t" lIns="0" rIns="0" tIns="0" bIns="0"/>
          <a:lstStyle/>
          <a:p>
            <a:pPr algn="l"/>
            <a:r>
              <a:rPr sz="1100" b="1" i="0">
                <a:solidFill>
                  <a:srgbClr val="54595D"/>
                </a:solidFill>
                <a:latin typeface="Calibri"/>
              </a:rPr>
              <a:t>DIGITAL SUPPORT  ·  Digital Support Content Area 2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48640" y="566928"/>
            <a:ext cx="11094415" cy="822960"/>
          </a:xfrm>
          <a:prstGeom prst="rect">
            <a:avLst/>
          </a:prstGeom>
          <a:noFill/>
        </p:spPr>
        <p:txBody>
          <a:bodyPr wrap="square" anchor="ctr" lIns="0" rIns="0" tIns="0" bIns="0"/>
          <a:lstStyle/>
          <a:p>
            <a:pPr algn="l"/>
            <a:r>
              <a:rPr sz="3200" b="1" i="0">
                <a:solidFill>
                  <a:srgbClr val="03306E"/>
                </a:solidFill>
                <a:latin typeface="Cambria"/>
              </a:rPr>
              <a:t>Learning objectives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48640" y="6446520"/>
            <a:ext cx="8229600" cy="274320"/>
          </a:xfrm>
          <a:prstGeom prst="rect">
            <a:avLst/>
          </a:prstGeom>
          <a:noFill/>
        </p:spPr>
        <p:txBody>
          <a:bodyPr wrap="square" anchor="t" lIns="0" rIns="0" tIns="0" bIns="0"/>
          <a:lstStyle/>
          <a:p>
            <a:pPr algn="l"/>
            <a:r>
              <a:rPr sz="1000" b="0" i="0">
                <a:solidFill>
                  <a:srgbClr val="54595D"/>
                </a:solidFill>
                <a:latin typeface="Calibri"/>
              </a:rPr>
              <a:t>Digital Support and Security T Level  ·  Agile Values and Methodologies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0728655" y="6446520"/>
            <a:ext cx="914400" cy="274320"/>
          </a:xfrm>
          <a:prstGeom prst="rect">
            <a:avLst/>
          </a:prstGeom>
          <a:noFill/>
        </p:spPr>
        <p:txBody>
          <a:bodyPr wrap="square" anchor="t" lIns="0" rIns="0" tIns="0" bIns="0"/>
          <a:lstStyle/>
          <a:p>
            <a:pPr algn="r"/>
            <a:r>
              <a:rPr sz="1000" b="0" i="0">
                <a:solidFill>
                  <a:srgbClr val="54595D"/>
                </a:solidFill>
                <a:latin typeface="Calibri"/>
              </a:rPr>
              <a:t>2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48640" y="1508760"/>
            <a:ext cx="6766560" cy="365760"/>
          </a:xfrm>
          <a:prstGeom prst="rect">
            <a:avLst/>
          </a:prstGeom>
          <a:noFill/>
        </p:spPr>
        <p:txBody>
          <a:bodyPr wrap="square" anchor="t" lIns="0" rIns="0" tIns="0" bIns="0"/>
          <a:lstStyle/>
          <a:p>
            <a:pPr algn="l"/>
            <a:r>
              <a:rPr sz="1600" b="0" i="1">
                <a:solidFill>
                  <a:srgbClr val="54595D"/>
                </a:solidFill>
                <a:latin typeface="Calibri"/>
              </a:rPr>
              <a:t>By the end of this lesson you should be able to:</a:t>
            </a:r>
          </a:p>
        </p:txBody>
      </p:sp>
      <p:sp>
        <p:nvSpPr>
          <p:cNvPr id="7" name="Oval 6"/>
          <p:cNvSpPr/>
          <p:nvPr/>
        </p:nvSpPr>
        <p:spPr>
          <a:xfrm>
            <a:off x="548640" y="2240280"/>
            <a:ext cx="457200" cy="457200"/>
          </a:xfrm>
          <a:prstGeom prst="ellipse">
            <a:avLst/>
          </a:prstGeom>
          <a:solidFill>
            <a:srgbClr val="4EA1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 tIns="0" bIns="0"/>
          <a:lstStyle/>
          <a:p>
            <a:pPr algn="ctr"/>
            <a:r>
              <a:rPr sz="1600" b="1">
                <a:solidFill>
                  <a:srgbClr val="202122"/>
                </a:solidFill>
                <a:latin typeface="Calibri"/>
              </a:rPr>
              <a:t>1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234440" y="2011680"/>
            <a:ext cx="6035040" cy="914400"/>
          </a:xfrm>
          <a:prstGeom prst="rect">
            <a:avLst/>
          </a:prstGeom>
          <a:noFill/>
        </p:spPr>
        <p:txBody>
          <a:bodyPr wrap="square" anchor="ctr" lIns="0" rIns="0" tIns="0" bIns="0"/>
          <a:lstStyle/>
          <a:p>
            <a:pPr algn="l"/>
            <a:r>
              <a:rPr sz="2000" b="0" i="0">
                <a:solidFill>
                  <a:srgbClr val="202122"/>
                </a:solidFill>
                <a:latin typeface="Calibri"/>
              </a:rPr>
              <a:t>State the four agile values.</a:t>
            </a:r>
          </a:p>
        </p:txBody>
      </p:sp>
      <p:sp>
        <p:nvSpPr>
          <p:cNvPr id="9" name="Oval 8"/>
          <p:cNvSpPr/>
          <p:nvPr/>
        </p:nvSpPr>
        <p:spPr>
          <a:xfrm>
            <a:off x="548640" y="3291840"/>
            <a:ext cx="457200" cy="457200"/>
          </a:xfrm>
          <a:prstGeom prst="ellipse">
            <a:avLst/>
          </a:prstGeom>
          <a:solidFill>
            <a:srgbClr val="4EA1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 tIns="0" bIns="0"/>
          <a:lstStyle/>
          <a:p>
            <a:pPr algn="ctr"/>
            <a:r>
              <a:rPr sz="1600" b="1">
                <a:solidFill>
                  <a:srgbClr val="202122"/>
                </a:solidFill>
                <a:latin typeface="Calibri"/>
              </a:rPr>
              <a:t>2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1234440" y="3063240"/>
            <a:ext cx="6035040" cy="914400"/>
          </a:xfrm>
          <a:prstGeom prst="rect">
            <a:avLst/>
          </a:prstGeom>
          <a:noFill/>
        </p:spPr>
        <p:txBody>
          <a:bodyPr wrap="square" anchor="ctr" lIns="0" rIns="0" tIns="0" bIns="0"/>
          <a:lstStyle/>
          <a:p>
            <a:pPr algn="l"/>
            <a:r>
              <a:rPr sz="2000" b="0" i="0">
                <a:solidFill>
                  <a:srgbClr val="202122"/>
                </a:solidFill>
                <a:latin typeface="Calibri"/>
              </a:rPr>
              <a:t>Describe Scrum, Kanban, DSDM, FDD, Crystal, Lean and XP.</a:t>
            </a:r>
          </a:p>
        </p:txBody>
      </p:sp>
      <p:sp>
        <p:nvSpPr>
          <p:cNvPr id="11" name="Oval 10"/>
          <p:cNvSpPr/>
          <p:nvPr/>
        </p:nvSpPr>
        <p:spPr>
          <a:xfrm>
            <a:off x="548640" y="4343400"/>
            <a:ext cx="457200" cy="457200"/>
          </a:xfrm>
          <a:prstGeom prst="ellipse">
            <a:avLst/>
          </a:prstGeom>
          <a:solidFill>
            <a:srgbClr val="4EA1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 tIns="0" bIns="0"/>
          <a:lstStyle/>
          <a:p>
            <a:pPr algn="ctr"/>
            <a:r>
              <a:rPr sz="1600" b="1">
                <a:solidFill>
                  <a:srgbClr val="202122"/>
                </a:solidFill>
                <a:latin typeface="Calibri"/>
              </a:rPr>
              <a:t>3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1234440" y="4114800"/>
            <a:ext cx="6035040" cy="914400"/>
          </a:xfrm>
          <a:prstGeom prst="rect">
            <a:avLst/>
          </a:prstGeom>
          <a:noFill/>
        </p:spPr>
        <p:txBody>
          <a:bodyPr wrap="square" anchor="ctr" lIns="0" rIns="0" tIns="0" bIns="0"/>
          <a:lstStyle/>
          <a:p>
            <a:pPr algn="l"/>
            <a:r>
              <a:rPr sz="2000" b="0" i="0">
                <a:solidFill>
                  <a:srgbClr val="202122"/>
                </a:solidFill>
                <a:latin typeface="Calibri"/>
              </a:rPr>
              <a:t>Choose an agile method to suit a support team's work.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7772400" y="1508760"/>
            <a:ext cx="3867912" cy="4526280"/>
          </a:xfrm>
          <a:prstGeom prst="roundRect">
            <a:avLst>
              <a:gd name="adj" fmla="val 8000"/>
            </a:avLst>
          </a:prstGeom>
          <a:solidFill>
            <a:srgbClr val="EAF3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4" name="TextBox 13"/>
          <p:cNvSpPr txBox="1"/>
          <p:nvPr/>
        </p:nvSpPr>
        <p:spPr>
          <a:xfrm>
            <a:off x="8046720" y="1737360"/>
            <a:ext cx="3291840" cy="365760"/>
          </a:xfrm>
          <a:prstGeom prst="rect">
            <a:avLst/>
          </a:prstGeom>
          <a:noFill/>
        </p:spPr>
        <p:txBody>
          <a:bodyPr wrap="square" anchor="t" lIns="0" rIns="0" tIns="0" bIns="0"/>
          <a:lstStyle/>
          <a:p>
            <a:pPr algn="l"/>
            <a:r>
              <a:rPr sz="1300" b="1" i="0">
                <a:solidFill>
                  <a:srgbClr val="0645AD"/>
                </a:solidFill>
                <a:latin typeface="Calibri"/>
              </a:rPr>
              <a:t>STARTER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8046720" y="2194560"/>
            <a:ext cx="3291840" cy="3657600"/>
          </a:xfrm>
          <a:prstGeom prst="rect">
            <a:avLst/>
          </a:prstGeom>
          <a:noFill/>
        </p:spPr>
        <p:txBody>
          <a:bodyPr wrap="square" anchor="t" lIns="0" rIns="0" tIns="0" bIns="0"/>
          <a:lstStyle/>
          <a:p>
            <a:pPr algn="l"/>
            <a:r>
              <a:rPr sz="2200" b="0" i="0">
                <a:solidFill>
                  <a:srgbClr val="03306E"/>
                </a:solidFill>
                <a:latin typeface="Cambria"/>
              </a:rPr>
              <a:t>Your team has 40 support tickets and new ones arrive every hour. How would you decide what to work on next?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48640" y="320040"/>
            <a:ext cx="11094415" cy="274320"/>
          </a:xfrm>
          <a:prstGeom prst="rect">
            <a:avLst/>
          </a:prstGeom>
          <a:noFill/>
        </p:spPr>
        <p:txBody>
          <a:bodyPr wrap="square" anchor="t" lIns="0" rIns="0" tIns="0" bIns="0"/>
          <a:lstStyle/>
          <a:p>
            <a:pPr algn="l"/>
            <a:r>
              <a:rPr sz="1100" b="1" i="0">
                <a:solidFill>
                  <a:srgbClr val="54595D"/>
                </a:solidFill>
                <a:latin typeface="Calibri"/>
              </a:rPr>
              <a:t>DIGITAL SUPPORT  ·  Digital Support Content Area 2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48640" y="566928"/>
            <a:ext cx="11094415" cy="822960"/>
          </a:xfrm>
          <a:prstGeom prst="rect">
            <a:avLst/>
          </a:prstGeom>
          <a:noFill/>
        </p:spPr>
        <p:txBody>
          <a:bodyPr wrap="square" anchor="ctr" lIns="0" rIns="0" tIns="0" bIns="0"/>
          <a:lstStyle/>
          <a:p>
            <a:pPr algn="l"/>
            <a:r>
              <a:rPr sz="3200" b="1" i="0">
                <a:solidFill>
                  <a:srgbClr val="03306E"/>
                </a:solidFill>
                <a:latin typeface="Cambria"/>
              </a:rPr>
              <a:t>The four agile values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48640" y="6446520"/>
            <a:ext cx="8229600" cy="274320"/>
          </a:xfrm>
          <a:prstGeom prst="rect">
            <a:avLst/>
          </a:prstGeom>
          <a:noFill/>
        </p:spPr>
        <p:txBody>
          <a:bodyPr wrap="square" anchor="t" lIns="0" rIns="0" tIns="0" bIns="0"/>
          <a:lstStyle/>
          <a:p>
            <a:pPr algn="l"/>
            <a:r>
              <a:rPr sz="1000" b="0" i="0">
                <a:solidFill>
                  <a:srgbClr val="54595D"/>
                </a:solidFill>
                <a:latin typeface="Calibri"/>
              </a:rPr>
              <a:t>Digital Support and Security T Level  ·  Agile Values and Methodologies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0728655" y="6446520"/>
            <a:ext cx="914400" cy="274320"/>
          </a:xfrm>
          <a:prstGeom prst="rect">
            <a:avLst/>
          </a:prstGeom>
          <a:noFill/>
        </p:spPr>
        <p:txBody>
          <a:bodyPr wrap="square" anchor="t" lIns="0" rIns="0" tIns="0" bIns="0"/>
          <a:lstStyle/>
          <a:p>
            <a:pPr algn="r"/>
            <a:r>
              <a:rPr sz="1000" b="0" i="0">
                <a:solidFill>
                  <a:srgbClr val="54595D"/>
                </a:solidFill>
                <a:latin typeface="Calibri"/>
              </a:rPr>
              <a:t>3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548640" y="1600200"/>
            <a:ext cx="5410047" cy="2148840"/>
          </a:xfrm>
          <a:prstGeom prst="roundRect">
            <a:avLst>
              <a:gd name="adj" fmla="val 6000"/>
            </a:avLst>
          </a:prstGeom>
          <a:solidFill>
            <a:srgbClr val="EAF3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7" name="Oval 6"/>
          <p:cNvSpPr/>
          <p:nvPr/>
        </p:nvSpPr>
        <p:spPr>
          <a:xfrm>
            <a:off x="777240" y="1828800"/>
            <a:ext cx="457200" cy="457200"/>
          </a:xfrm>
          <a:prstGeom prst="ellipse">
            <a:avLst/>
          </a:prstGeom>
          <a:solidFill>
            <a:srgbClr val="4EA1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 tIns="0" bIns="0"/>
          <a:lstStyle/>
          <a:p>
            <a:pPr algn="ctr"/>
            <a:r>
              <a:rPr sz="1500" b="1">
                <a:solidFill>
                  <a:srgbClr val="202122"/>
                </a:solidFill>
                <a:latin typeface="Calibri"/>
              </a:rPr>
              <a:t>1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371600" y="1801368"/>
            <a:ext cx="4404207" cy="512064"/>
          </a:xfrm>
          <a:prstGeom prst="rect">
            <a:avLst/>
          </a:prstGeom>
          <a:noFill/>
        </p:spPr>
        <p:txBody>
          <a:bodyPr wrap="square" anchor="ctr" lIns="0" rIns="0" tIns="0" bIns="0"/>
          <a:lstStyle/>
          <a:p>
            <a:pPr algn="l"/>
            <a:r>
              <a:rPr sz="1900" b="1" i="0">
                <a:solidFill>
                  <a:srgbClr val="03306E"/>
                </a:solidFill>
                <a:latin typeface="Calibri"/>
              </a:rPr>
              <a:t>Individuals and interactions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777240" y="2468880"/>
            <a:ext cx="4952847" cy="1143000"/>
          </a:xfrm>
          <a:prstGeom prst="rect">
            <a:avLst/>
          </a:prstGeom>
          <a:noFill/>
        </p:spPr>
        <p:txBody>
          <a:bodyPr wrap="square" anchor="t" lIns="0" rIns="0" tIns="0" bIns="0"/>
          <a:lstStyle/>
          <a:p>
            <a:pPr algn="l"/>
            <a:r>
              <a:rPr sz="2000" b="0" i="0">
                <a:solidFill>
                  <a:srgbClr val="202122"/>
                </a:solidFill>
                <a:latin typeface="Calibri"/>
              </a:rPr>
              <a:t>over processes and tools.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6233007" y="1600200"/>
            <a:ext cx="5410047" cy="2148840"/>
          </a:xfrm>
          <a:prstGeom prst="roundRect">
            <a:avLst>
              <a:gd name="adj" fmla="val 6000"/>
            </a:avLst>
          </a:prstGeom>
          <a:solidFill>
            <a:srgbClr val="EAF3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1" name="Oval 10"/>
          <p:cNvSpPr/>
          <p:nvPr/>
        </p:nvSpPr>
        <p:spPr>
          <a:xfrm>
            <a:off x="6461607" y="1828800"/>
            <a:ext cx="457200" cy="457200"/>
          </a:xfrm>
          <a:prstGeom prst="ellipse">
            <a:avLst/>
          </a:prstGeom>
          <a:solidFill>
            <a:srgbClr val="4EA1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 tIns="0" bIns="0"/>
          <a:lstStyle/>
          <a:p>
            <a:pPr algn="ctr"/>
            <a:r>
              <a:rPr sz="1500" b="1">
                <a:solidFill>
                  <a:srgbClr val="202122"/>
                </a:solidFill>
                <a:latin typeface="Calibri"/>
              </a:rPr>
              <a:t>2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7055967" y="1801368"/>
            <a:ext cx="4404207" cy="512064"/>
          </a:xfrm>
          <a:prstGeom prst="rect">
            <a:avLst/>
          </a:prstGeom>
          <a:noFill/>
        </p:spPr>
        <p:txBody>
          <a:bodyPr wrap="square" anchor="ctr" lIns="0" rIns="0" tIns="0" bIns="0"/>
          <a:lstStyle/>
          <a:p>
            <a:pPr algn="l"/>
            <a:r>
              <a:rPr sz="1900" b="1" i="0">
                <a:solidFill>
                  <a:srgbClr val="03306E"/>
                </a:solidFill>
                <a:latin typeface="Calibri"/>
              </a:rPr>
              <a:t>Working software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6461607" y="2468880"/>
            <a:ext cx="4952847" cy="1143000"/>
          </a:xfrm>
          <a:prstGeom prst="rect">
            <a:avLst/>
          </a:prstGeom>
          <a:noFill/>
        </p:spPr>
        <p:txBody>
          <a:bodyPr wrap="square" anchor="t" lIns="0" rIns="0" tIns="0" bIns="0"/>
          <a:lstStyle/>
          <a:p>
            <a:pPr algn="l"/>
            <a:r>
              <a:rPr sz="2000" b="0" i="0">
                <a:solidFill>
                  <a:srgbClr val="202122"/>
                </a:solidFill>
                <a:latin typeface="Calibri"/>
              </a:rPr>
              <a:t>over comprehensive documentation.</a:t>
            </a:r>
          </a:p>
        </p:txBody>
      </p:sp>
      <p:sp>
        <p:nvSpPr>
          <p:cNvPr id="14" name="Rounded Rectangle 13"/>
          <p:cNvSpPr/>
          <p:nvPr/>
        </p:nvSpPr>
        <p:spPr>
          <a:xfrm>
            <a:off x="548640" y="4023360"/>
            <a:ext cx="5410047" cy="2148840"/>
          </a:xfrm>
          <a:prstGeom prst="roundRect">
            <a:avLst>
              <a:gd name="adj" fmla="val 6000"/>
            </a:avLst>
          </a:prstGeom>
          <a:solidFill>
            <a:srgbClr val="EAF3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5" name="Oval 14"/>
          <p:cNvSpPr/>
          <p:nvPr/>
        </p:nvSpPr>
        <p:spPr>
          <a:xfrm>
            <a:off x="777240" y="4251960"/>
            <a:ext cx="457200" cy="457200"/>
          </a:xfrm>
          <a:prstGeom prst="ellipse">
            <a:avLst/>
          </a:prstGeom>
          <a:solidFill>
            <a:srgbClr val="4EA1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 tIns="0" bIns="0"/>
          <a:lstStyle/>
          <a:p>
            <a:pPr algn="ctr"/>
            <a:r>
              <a:rPr sz="1500" b="1">
                <a:solidFill>
                  <a:srgbClr val="202122"/>
                </a:solidFill>
                <a:latin typeface="Calibri"/>
              </a:rPr>
              <a:t>3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1371600" y="4224528"/>
            <a:ext cx="4404207" cy="512064"/>
          </a:xfrm>
          <a:prstGeom prst="rect">
            <a:avLst/>
          </a:prstGeom>
          <a:noFill/>
        </p:spPr>
        <p:txBody>
          <a:bodyPr wrap="square" anchor="ctr" lIns="0" rIns="0" tIns="0" bIns="0"/>
          <a:lstStyle/>
          <a:p>
            <a:pPr algn="l"/>
            <a:r>
              <a:rPr sz="1900" b="1" i="0">
                <a:solidFill>
                  <a:srgbClr val="03306E"/>
                </a:solidFill>
                <a:latin typeface="Calibri"/>
              </a:rPr>
              <a:t>Customer collaboration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777240" y="4892040"/>
            <a:ext cx="4952847" cy="1143000"/>
          </a:xfrm>
          <a:prstGeom prst="rect">
            <a:avLst/>
          </a:prstGeom>
          <a:noFill/>
        </p:spPr>
        <p:txBody>
          <a:bodyPr wrap="square" anchor="t" lIns="0" rIns="0" tIns="0" bIns="0"/>
          <a:lstStyle/>
          <a:p>
            <a:pPr algn="l"/>
            <a:r>
              <a:rPr sz="2000" b="0" i="0">
                <a:solidFill>
                  <a:srgbClr val="202122"/>
                </a:solidFill>
                <a:latin typeface="Calibri"/>
              </a:rPr>
              <a:t>over contract negotiation.</a:t>
            </a:r>
          </a:p>
        </p:txBody>
      </p:sp>
      <p:sp>
        <p:nvSpPr>
          <p:cNvPr id="18" name="Rounded Rectangle 17"/>
          <p:cNvSpPr/>
          <p:nvPr/>
        </p:nvSpPr>
        <p:spPr>
          <a:xfrm>
            <a:off x="6233007" y="4023360"/>
            <a:ext cx="5410047" cy="2148840"/>
          </a:xfrm>
          <a:prstGeom prst="roundRect">
            <a:avLst>
              <a:gd name="adj" fmla="val 6000"/>
            </a:avLst>
          </a:prstGeom>
          <a:solidFill>
            <a:srgbClr val="EAF3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9" name="Oval 18"/>
          <p:cNvSpPr/>
          <p:nvPr/>
        </p:nvSpPr>
        <p:spPr>
          <a:xfrm>
            <a:off x="6461607" y="4251960"/>
            <a:ext cx="457200" cy="457200"/>
          </a:xfrm>
          <a:prstGeom prst="ellipse">
            <a:avLst/>
          </a:prstGeom>
          <a:solidFill>
            <a:srgbClr val="4EA1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 tIns="0" bIns="0"/>
          <a:lstStyle/>
          <a:p>
            <a:pPr algn="ctr"/>
            <a:r>
              <a:rPr sz="1500" b="1">
                <a:solidFill>
                  <a:srgbClr val="202122"/>
                </a:solidFill>
                <a:latin typeface="Calibri"/>
              </a:rPr>
              <a:t>4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7055967" y="4224528"/>
            <a:ext cx="4404207" cy="512064"/>
          </a:xfrm>
          <a:prstGeom prst="rect">
            <a:avLst/>
          </a:prstGeom>
          <a:noFill/>
        </p:spPr>
        <p:txBody>
          <a:bodyPr wrap="square" anchor="ctr" lIns="0" rIns="0" tIns="0" bIns="0"/>
          <a:lstStyle/>
          <a:p>
            <a:pPr algn="l"/>
            <a:r>
              <a:rPr sz="1900" b="1" i="0">
                <a:solidFill>
                  <a:srgbClr val="03306E"/>
                </a:solidFill>
                <a:latin typeface="Calibri"/>
              </a:rPr>
              <a:t>Responding to change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6461607" y="4892040"/>
            <a:ext cx="4952847" cy="1143000"/>
          </a:xfrm>
          <a:prstGeom prst="rect">
            <a:avLst/>
          </a:prstGeom>
          <a:noFill/>
        </p:spPr>
        <p:txBody>
          <a:bodyPr wrap="square" anchor="t" lIns="0" rIns="0" tIns="0" bIns="0"/>
          <a:lstStyle/>
          <a:p>
            <a:pPr algn="l"/>
            <a:r>
              <a:rPr sz="2000" b="0" i="0">
                <a:solidFill>
                  <a:srgbClr val="202122"/>
                </a:solidFill>
                <a:latin typeface="Calibri"/>
              </a:rPr>
              <a:t>over following a plan.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48640" y="320040"/>
            <a:ext cx="11094415" cy="274320"/>
          </a:xfrm>
          <a:prstGeom prst="rect">
            <a:avLst/>
          </a:prstGeom>
          <a:noFill/>
        </p:spPr>
        <p:txBody>
          <a:bodyPr wrap="square" anchor="t" lIns="0" rIns="0" tIns="0" bIns="0"/>
          <a:lstStyle/>
          <a:p>
            <a:pPr algn="l"/>
            <a:r>
              <a:rPr sz="1100" b="1" i="0">
                <a:solidFill>
                  <a:srgbClr val="54595D"/>
                </a:solidFill>
                <a:latin typeface="Calibri"/>
              </a:rPr>
              <a:t>DIGITAL SUPPORT  ·  Digital Support Content Area 2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48640" y="566928"/>
            <a:ext cx="11094415" cy="822960"/>
          </a:xfrm>
          <a:prstGeom prst="rect">
            <a:avLst/>
          </a:prstGeom>
          <a:noFill/>
        </p:spPr>
        <p:txBody>
          <a:bodyPr wrap="square" anchor="ctr" lIns="0" rIns="0" tIns="0" bIns="0"/>
          <a:lstStyle/>
          <a:p>
            <a:pPr algn="l"/>
            <a:r>
              <a:rPr sz="3200" b="1" i="0">
                <a:solidFill>
                  <a:srgbClr val="03306E"/>
                </a:solidFill>
                <a:latin typeface="Cambria"/>
              </a:rPr>
              <a:t>Agile methodologies (1)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48640" y="6446520"/>
            <a:ext cx="8229600" cy="274320"/>
          </a:xfrm>
          <a:prstGeom prst="rect">
            <a:avLst/>
          </a:prstGeom>
          <a:noFill/>
        </p:spPr>
        <p:txBody>
          <a:bodyPr wrap="square" anchor="t" lIns="0" rIns="0" tIns="0" bIns="0"/>
          <a:lstStyle/>
          <a:p>
            <a:pPr algn="l"/>
            <a:r>
              <a:rPr sz="1000" b="0" i="0">
                <a:solidFill>
                  <a:srgbClr val="54595D"/>
                </a:solidFill>
                <a:latin typeface="Calibri"/>
              </a:rPr>
              <a:t>Digital Support and Security T Level  ·  Agile Values and Methodologies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0728655" y="6446520"/>
            <a:ext cx="914400" cy="274320"/>
          </a:xfrm>
          <a:prstGeom prst="rect">
            <a:avLst/>
          </a:prstGeom>
          <a:noFill/>
        </p:spPr>
        <p:txBody>
          <a:bodyPr wrap="square" anchor="t" lIns="0" rIns="0" tIns="0" bIns="0"/>
          <a:lstStyle/>
          <a:p>
            <a:pPr algn="r"/>
            <a:r>
              <a:rPr sz="1000" b="0" i="0">
                <a:solidFill>
                  <a:srgbClr val="54595D"/>
                </a:solidFill>
                <a:latin typeface="Calibri"/>
              </a:rPr>
              <a:t>4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548640" y="1600200"/>
            <a:ext cx="3515258" cy="4572000"/>
          </a:xfrm>
          <a:prstGeom prst="roundRect">
            <a:avLst>
              <a:gd name="adj" fmla="val 6000"/>
            </a:avLst>
          </a:prstGeom>
          <a:solidFill>
            <a:srgbClr val="EAF3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7" name="Oval 6"/>
          <p:cNvSpPr/>
          <p:nvPr/>
        </p:nvSpPr>
        <p:spPr>
          <a:xfrm>
            <a:off x="777240" y="1828800"/>
            <a:ext cx="457200" cy="457200"/>
          </a:xfrm>
          <a:prstGeom prst="ellipse">
            <a:avLst/>
          </a:prstGeom>
          <a:solidFill>
            <a:srgbClr val="4EA1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 tIns="0" bIns="0"/>
          <a:lstStyle/>
          <a:p>
            <a:pPr algn="ctr"/>
            <a:r>
              <a:rPr sz="1500" b="1">
                <a:solidFill>
                  <a:srgbClr val="202122"/>
                </a:solidFill>
                <a:latin typeface="Calibri"/>
              </a:rPr>
              <a:t>1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371600" y="1801368"/>
            <a:ext cx="2509418" cy="512064"/>
          </a:xfrm>
          <a:prstGeom prst="rect">
            <a:avLst/>
          </a:prstGeom>
          <a:noFill/>
        </p:spPr>
        <p:txBody>
          <a:bodyPr wrap="square" anchor="ctr" lIns="0" rIns="0" tIns="0" bIns="0"/>
          <a:lstStyle/>
          <a:p>
            <a:pPr algn="l"/>
            <a:r>
              <a:rPr sz="1900" b="1" i="0">
                <a:solidFill>
                  <a:srgbClr val="03306E"/>
                </a:solidFill>
                <a:latin typeface="Calibri"/>
              </a:rPr>
              <a:t>Scrum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777240" y="2468880"/>
            <a:ext cx="3058058" cy="3566160"/>
          </a:xfrm>
          <a:prstGeom prst="rect">
            <a:avLst/>
          </a:prstGeom>
          <a:noFill/>
        </p:spPr>
        <p:txBody>
          <a:bodyPr wrap="square" anchor="t" lIns="0" rIns="0" tIns="0" bIns="0"/>
          <a:lstStyle/>
          <a:p>
            <a:pPr algn="l"/>
            <a:r>
              <a:rPr sz="2000" b="0" i="0">
                <a:solidFill>
                  <a:srgbClr val="202122"/>
                </a:solidFill>
                <a:latin typeface="Calibri"/>
              </a:rPr>
              <a:t>Defined roles, events and artefacts; daily scrums; work in sprints.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4338218" y="1600200"/>
            <a:ext cx="3515258" cy="4572000"/>
          </a:xfrm>
          <a:prstGeom prst="roundRect">
            <a:avLst>
              <a:gd name="adj" fmla="val 6000"/>
            </a:avLst>
          </a:prstGeom>
          <a:solidFill>
            <a:srgbClr val="EAF3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1" name="Oval 10"/>
          <p:cNvSpPr/>
          <p:nvPr/>
        </p:nvSpPr>
        <p:spPr>
          <a:xfrm>
            <a:off x="4566818" y="1828800"/>
            <a:ext cx="457200" cy="457200"/>
          </a:xfrm>
          <a:prstGeom prst="ellipse">
            <a:avLst/>
          </a:prstGeom>
          <a:solidFill>
            <a:srgbClr val="4EA1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 tIns="0" bIns="0"/>
          <a:lstStyle/>
          <a:p>
            <a:pPr algn="ctr"/>
            <a:r>
              <a:rPr sz="1500" b="1">
                <a:solidFill>
                  <a:srgbClr val="202122"/>
                </a:solidFill>
                <a:latin typeface="Calibri"/>
              </a:rPr>
              <a:t>2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5161178" y="1801368"/>
            <a:ext cx="2509418" cy="512064"/>
          </a:xfrm>
          <a:prstGeom prst="rect">
            <a:avLst/>
          </a:prstGeom>
          <a:noFill/>
        </p:spPr>
        <p:txBody>
          <a:bodyPr wrap="square" anchor="ctr" lIns="0" rIns="0" tIns="0" bIns="0"/>
          <a:lstStyle/>
          <a:p>
            <a:pPr algn="l"/>
            <a:r>
              <a:rPr sz="1900" b="1" i="0">
                <a:solidFill>
                  <a:srgbClr val="03306E"/>
                </a:solidFill>
                <a:latin typeface="Calibri"/>
              </a:rPr>
              <a:t>Kanban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4566818" y="2468880"/>
            <a:ext cx="3058058" cy="3566160"/>
          </a:xfrm>
          <a:prstGeom prst="rect">
            <a:avLst/>
          </a:prstGeom>
          <a:noFill/>
        </p:spPr>
        <p:txBody>
          <a:bodyPr wrap="square" anchor="t" lIns="0" rIns="0" tIns="0" bIns="0"/>
          <a:lstStyle/>
          <a:p>
            <a:pPr algn="l"/>
            <a:r>
              <a:rPr sz="2000" b="0" i="0">
                <a:solidFill>
                  <a:srgbClr val="202122"/>
                </a:solidFill>
                <a:latin typeface="Calibri"/>
              </a:rPr>
              <a:t>Board with work-in-progress limits; balances demand and capacity; shows bottlenecks.</a:t>
            </a:r>
          </a:p>
        </p:txBody>
      </p:sp>
      <p:sp>
        <p:nvSpPr>
          <p:cNvPr id="14" name="Rounded Rectangle 13"/>
          <p:cNvSpPr/>
          <p:nvPr/>
        </p:nvSpPr>
        <p:spPr>
          <a:xfrm>
            <a:off x="8127796" y="1600200"/>
            <a:ext cx="3515258" cy="4572000"/>
          </a:xfrm>
          <a:prstGeom prst="roundRect">
            <a:avLst>
              <a:gd name="adj" fmla="val 6000"/>
            </a:avLst>
          </a:prstGeom>
          <a:solidFill>
            <a:srgbClr val="EAF3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5" name="Oval 14"/>
          <p:cNvSpPr/>
          <p:nvPr/>
        </p:nvSpPr>
        <p:spPr>
          <a:xfrm>
            <a:off x="8356396" y="1828800"/>
            <a:ext cx="457200" cy="457200"/>
          </a:xfrm>
          <a:prstGeom prst="ellipse">
            <a:avLst/>
          </a:prstGeom>
          <a:solidFill>
            <a:srgbClr val="4EA1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 tIns="0" bIns="0"/>
          <a:lstStyle/>
          <a:p>
            <a:pPr algn="ctr"/>
            <a:r>
              <a:rPr sz="1500" b="1">
                <a:solidFill>
                  <a:srgbClr val="202122"/>
                </a:solidFill>
                <a:latin typeface="Calibri"/>
              </a:rPr>
              <a:t>3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8950756" y="1801368"/>
            <a:ext cx="2509418" cy="512064"/>
          </a:xfrm>
          <a:prstGeom prst="rect">
            <a:avLst/>
          </a:prstGeom>
          <a:noFill/>
        </p:spPr>
        <p:txBody>
          <a:bodyPr wrap="square" anchor="ctr" lIns="0" rIns="0" tIns="0" bIns="0"/>
          <a:lstStyle/>
          <a:p>
            <a:pPr algn="l"/>
            <a:r>
              <a:rPr sz="1900" b="1" i="0">
                <a:solidFill>
                  <a:srgbClr val="03306E"/>
                </a:solidFill>
                <a:latin typeface="Calibri"/>
              </a:rPr>
              <a:t>DSDM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8356396" y="2468880"/>
            <a:ext cx="3058058" cy="3566160"/>
          </a:xfrm>
          <a:prstGeom prst="rect">
            <a:avLst/>
          </a:prstGeom>
          <a:noFill/>
        </p:spPr>
        <p:txBody>
          <a:bodyPr wrap="square" anchor="t" lIns="0" rIns="0" tIns="0" bIns="0"/>
          <a:lstStyle/>
          <a:p>
            <a:pPr algn="l"/>
            <a:r>
              <a:rPr sz="2000" b="0" i="0">
                <a:solidFill>
                  <a:srgbClr val="202122"/>
                </a:solidFill>
                <a:latin typeface="Calibri"/>
              </a:rPr>
              <a:t>Fixes cost, quality and time; prioritises scope with MoSCoW.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48640" y="320040"/>
            <a:ext cx="11094415" cy="274320"/>
          </a:xfrm>
          <a:prstGeom prst="rect">
            <a:avLst/>
          </a:prstGeom>
          <a:noFill/>
        </p:spPr>
        <p:txBody>
          <a:bodyPr wrap="square" anchor="t" lIns="0" rIns="0" tIns="0" bIns="0"/>
          <a:lstStyle/>
          <a:p>
            <a:pPr algn="l"/>
            <a:r>
              <a:rPr sz="1100" b="1" i="0">
                <a:solidFill>
                  <a:srgbClr val="54595D"/>
                </a:solidFill>
                <a:latin typeface="Calibri"/>
              </a:rPr>
              <a:t>DIGITAL SUPPORT  ·  Digital Support Content Area 2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48640" y="566928"/>
            <a:ext cx="11094415" cy="822960"/>
          </a:xfrm>
          <a:prstGeom prst="rect">
            <a:avLst/>
          </a:prstGeom>
          <a:noFill/>
        </p:spPr>
        <p:txBody>
          <a:bodyPr wrap="square" anchor="ctr" lIns="0" rIns="0" tIns="0" bIns="0"/>
          <a:lstStyle/>
          <a:p>
            <a:pPr algn="l"/>
            <a:r>
              <a:rPr sz="3200" b="1" i="0">
                <a:solidFill>
                  <a:srgbClr val="03306E"/>
                </a:solidFill>
                <a:latin typeface="Cambria"/>
              </a:rPr>
              <a:t>Agile methodologies (2)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48640" y="6446520"/>
            <a:ext cx="8229600" cy="274320"/>
          </a:xfrm>
          <a:prstGeom prst="rect">
            <a:avLst/>
          </a:prstGeom>
          <a:noFill/>
        </p:spPr>
        <p:txBody>
          <a:bodyPr wrap="square" anchor="t" lIns="0" rIns="0" tIns="0" bIns="0"/>
          <a:lstStyle/>
          <a:p>
            <a:pPr algn="l"/>
            <a:r>
              <a:rPr sz="1000" b="0" i="0">
                <a:solidFill>
                  <a:srgbClr val="54595D"/>
                </a:solidFill>
                <a:latin typeface="Calibri"/>
              </a:rPr>
              <a:t>Digital Support and Security T Level  ·  Agile Values and Methodologies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0728655" y="6446520"/>
            <a:ext cx="914400" cy="274320"/>
          </a:xfrm>
          <a:prstGeom prst="rect">
            <a:avLst/>
          </a:prstGeom>
          <a:noFill/>
        </p:spPr>
        <p:txBody>
          <a:bodyPr wrap="square" anchor="t" lIns="0" rIns="0" tIns="0" bIns="0"/>
          <a:lstStyle/>
          <a:p>
            <a:pPr algn="r"/>
            <a:r>
              <a:rPr sz="1000" b="0" i="0">
                <a:solidFill>
                  <a:srgbClr val="54595D"/>
                </a:solidFill>
                <a:latin typeface="Calibri"/>
              </a:rPr>
              <a:t>5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548640" y="1600200"/>
            <a:ext cx="5410047" cy="2148840"/>
          </a:xfrm>
          <a:prstGeom prst="roundRect">
            <a:avLst>
              <a:gd name="adj" fmla="val 6000"/>
            </a:avLst>
          </a:prstGeom>
          <a:solidFill>
            <a:srgbClr val="EAF3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7" name="Oval 6"/>
          <p:cNvSpPr/>
          <p:nvPr/>
        </p:nvSpPr>
        <p:spPr>
          <a:xfrm>
            <a:off x="777240" y="1828800"/>
            <a:ext cx="457200" cy="457200"/>
          </a:xfrm>
          <a:prstGeom prst="ellipse">
            <a:avLst/>
          </a:prstGeom>
          <a:solidFill>
            <a:srgbClr val="4EA1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 tIns="0" bIns="0"/>
          <a:lstStyle/>
          <a:p>
            <a:pPr algn="ctr"/>
            <a:r>
              <a:rPr sz="1500" b="1">
                <a:solidFill>
                  <a:srgbClr val="202122"/>
                </a:solidFill>
                <a:latin typeface="Calibri"/>
              </a:rPr>
              <a:t>1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371600" y="1801368"/>
            <a:ext cx="4404207" cy="512064"/>
          </a:xfrm>
          <a:prstGeom prst="rect">
            <a:avLst/>
          </a:prstGeom>
          <a:noFill/>
        </p:spPr>
        <p:txBody>
          <a:bodyPr wrap="square" anchor="ctr" lIns="0" rIns="0" tIns="0" bIns="0"/>
          <a:lstStyle/>
          <a:p>
            <a:pPr algn="l"/>
            <a:r>
              <a:rPr sz="1900" b="1" i="0">
                <a:solidFill>
                  <a:srgbClr val="03306E"/>
                </a:solidFill>
                <a:latin typeface="Calibri"/>
              </a:rPr>
              <a:t>Feature-driven development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777240" y="2468880"/>
            <a:ext cx="4952847" cy="1143000"/>
          </a:xfrm>
          <a:prstGeom prst="rect">
            <a:avLst/>
          </a:prstGeom>
          <a:noFill/>
        </p:spPr>
        <p:txBody>
          <a:bodyPr wrap="square" anchor="t" lIns="0" rIns="0" tIns="0" bIns="0"/>
          <a:lstStyle/>
          <a:p>
            <a:pPr algn="l"/>
            <a:r>
              <a:rPr sz="2000" b="0" i="0">
                <a:solidFill>
                  <a:srgbClr val="202122"/>
                </a:solidFill>
                <a:latin typeface="Calibri"/>
              </a:rPr>
              <a:t>Plan, design and build one small feature at a time.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6233007" y="1600200"/>
            <a:ext cx="5410047" cy="2148840"/>
          </a:xfrm>
          <a:prstGeom prst="roundRect">
            <a:avLst>
              <a:gd name="adj" fmla="val 6000"/>
            </a:avLst>
          </a:prstGeom>
          <a:solidFill>
            <a:srgbClr val="EAF3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1" name="Oval 10"/>
          <p:cNvSpPr/>
          <p:nvPr/>
        </p:nvSpPr>
        <p:spPr>
          <a:xfrm>
            <a:off x="6461607" y="1828800"/>
            <a:ext cx="457200" cy="457200"/>
          </a:xfrm>
          <a:prstGeom prst="ellipse">
            <a:avLst/>
          </a:prstGeom>
          <a:solidFill>
            <a:srgbClr val="4EA1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 tIns="0" bIns="0"/>
          <a:lstStyle/>
          <a:p>
            <a:pPr algn="ctr"/>
            <a:r>
              <a:rPr sz="1500" b="1">
                <a:solidFill>
                  <a:srgbClr val="202122"/>
                </a:solidFill>
                <a:latin typeface="Calibri"/>
              </a:rPr>
              <a:t>2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7055967" y="1801368"/>
            <a:ext cx="4404207" cy="512064"/>
          </a:xfrm>
          <a:prstGeom prst="rect">
            <a:avLst/>
          </a:prstGeom>
          <a:noFill/>
        </p:spPr>
        <p:txBody>
          <a:bodyPr wrap="square" anchor="ctr" lIns="0" rIns="0" tIns="0" bIns="0"/>
          <a:lstStyle/>
          <a:p>
            <a:pPr algn="l"/>
            <a:r>
              <a:rPr sz="1900" b="1" i="0">
                <a:solidFill>
                  <a:srgbClr val="03306E"/>
                </a:solidFill>
                <a:latin typeface="Calibri"/>
              </a:rPr>
              <a:t>Crystal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6461607" y="2468880"/>
            <a:ext cx="4952847" cy="1143000"/>
          </a:xfrm>
          <a:prstGeom prst="rect">
            <a:avLst/>
          </a:prstGeom>
          <a:noFill/>
        </p:spPr>
        <p:txBody>
          <a:bodyPr wrap="square" anchor="t" lIns="0" rIns="0" tIns="0" bIns="0"/>
          <a:lstStyle/>
          <a:p>
            <a:pPr algn="l"/>
            <a:r>
              <a:rPr sz="2000" b="0" i="0">
                <a:solidFill>
                  <a:srgbClr val="202122"/>
                </a:solidFill>
                <a:latin typeface="Calibri"/>
              </a:rPr>
              <a:t>Puts people and communication ahead of process and tools.</a:t>
            </a:r>
          </a:p>
        </p:txBody>
      </p:sp>
      <p:sp>
        <p:nvSpPr>
          <p:cNvPr id="14" name="Rounded Rectangle 13"/>
          <p:cNvSpPr/>
          <p:nvPr/>
        </p:nvSpPr>
        <p:spPr>
          <a:xfrm>
            <a:off x="548640" y="4023360"/>
            <a:ext cx="5410047" cy="2148840"/>
          </a:xfrm>
          <a:prstGeom prst="roundRect">
            <a:avLst>
              <a:gd name="adj" fmla="val 6000"/>
            </a:avLst>
          </a:prstGeom>
          <a:solidFill>
            <a:srgbClr val="EAF3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5" name="Oval 14"/>
          <p:cNvSpPr/>
          <p:nvPr/>
        </p:nvSpPr>
        <p:spPr>
          <a:xfrm>
            <a:off x="777240" y="4251960"/>
            <a:ext cx="457200" cy="457200"/>
          </a:xfrm>
          <a:prstGeom prst="ellipse">
            <a:avLst/>
          </a:prstGeom>
          <a:solidFill>
            <a:srgbClr val="4EA1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 tIns="0" bIns="0"/>
          <a:lstStyle/>
          <a:p>
            <a:pPr algn="ctr"/>
            <a:r>
              <a:rPr sz="1500" b="1">
                <a:solidFill>
                  <a:srgbClr val="202122"/>
                </a:solidFill>
                <a:latin typeface="Calibri"/>
              </a:rPr>
              <a:t>3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1371600" y="4224528"/>
            <a:ext cx="4404207" cy="512064"/>
          </a:xfrm>
          <a:prstGeom prst="rect">
            <a:avLst/>
          </a:prstGeom>
          <a:noFill/>
        </p:spPr>
        <p:txBody>
          <a:bodyPr wrap="square" anchor="ctr" lIns="0" rIns="0" tIns="0" bIns="0"/>
          <a:lstStyle/>
          <a:p>
            <a:pPr algn="l"/>
            <a:r>
              <a:rPr sz="1900" b="1" i="0">
                <a:solidFill>
                  <a:srgbClr val="03306E"/>
                </a:solidFill>
                <a:latin typeface="Calibri"/>
              </a:rPr>
              <a:t>Lean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777240" y="4892040"/>
            <a:ext cx="4952847" cy="1143000"/>
          </a:xfrm>
          <a:prstGeom prst="rect">
            <a:avLst/>
          </a:prstGeom>
          <a:noFill/>
        </p:spPr>
        <p:txBody>
          <a:bodyPr wrap="square" anchor="t" lIns="0" rIns="0" tIns="0" bIns="0"/>
          <a:lstStyle/>
          <a:p>
            <a:pPr algn="l"/>
            <a:r>
              <a:rPr sz="1900" b="0" i="0">
                <a:solidFill>
                  <a:srgbClr val="202122"/>
                </a:solidFill>
                <a:latin typeface="Calibri"/>
              </a:rPr>
              <a:t>Eliminate waste, build in quality, create knowledge, defer commitment, deliver fast, respect people, optimise the whole.</a:t>
            </a:r>
          </a:p>
        </p:txBody>
      </p:sp>
      <p:sp>
        <p:nvSpPr>
          <p:cNvPr id="18" name="Rounded Rectangle 17"/>
          <p:cNvSpPr/>
          <p:nvPr/>
        </p:nvSpPr>
        <p:spPr>
          <a:xfrm>
            <a:off x="6233007" y="4023360"/>
            <a:ext cx="5410047" cy="2148840"/>
          </a:xfrm>
          <a:prstGeom prst="roundRect">
            <a:avLst>
              <a:gd name="adj" fmla="val 6000"/>
            </a:avLst>
          </a:prstGeom>
          <a:solidFill>
            <a:srgbClr val="EAF3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9" name="Oval 18"/>
          <p:cNvSpPr/>
          <p:nvPr/>
        </p:nvSpPr>
        <p:spPr>
          <a:xfrm>
            <a:off x="6461607" y="4251960"/>
            <a:ext cx="457200" cy="457200"/>
          </a:xfrm>
          <a:prstGeom prst="ellipse">
            <a:avLst/>
          </a:prstGeom>
          <a:solidFill>
            <a:srgbClr val="4EA1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 tIns="0" bIns="0"/>
          <a:lstStyle/>
          <a:p>
            <a:pPr algn="ctr"/>
            <a:r>
              <a:rPr sz="1500" b="1">
                <a:solidFill>
                  <a:srgbClr val="202122"/>
                </a:solidFill>
                <a:latin typeface="Calibri"/>
              </a:rPr>
              <a:t>4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7055967" y="4224528"/>
            <a:ext cx="4404207" cy="512064"/>
          </a:xfrm>
          <a:prstGeom prst="rect">
            <a:avLst/>
          </a:prstGeom>
          <a:noFill/>
        </p:spPr>
        <p:txBody>
          <a:bodyPr wrap="square" anchor="ctr" lIns="0" rIns="0" tIns="0" bIns="0"/>
          <a:lstStyle/>
          <a:p>
            <a:pPr algn="l"/>
            <a:r>
              <a:rPr sz="1900" b="1" i="0">
                <a:solidFill>
                  <a:srgbClr val="03306E"/>
                </a:solidFill>
                <a:latin typeface="Calibri"/>
              </a:rPr>
              <a:t>Extreme Programming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6461607" y="4892040"/>
            <a:ext cx="4952847" cy="1143000"/>
          </a:xfrm>
          <a:prstGeom prst="rect">
            <a:avLst/>
          </a:prstGeom>
          <a:noFill/>
        </p:spPr>
        <p:txBody>
          <a:bodyPr wrap="square" anchor="t" lIns="0" rIns="0" tIns="0" bIns="0"/>
          <a:lstStyle/>
          <a:p>
            <a:pPr algn="l"/>
            <a:r>
              <a:rPr sz="2000" b="0" i="0">
                <a:solidFill>
                  <a:srgbClr val="202122"/>
                </a:solidFill>
                <a:latin typeface="Calibri"/>
              </a:rPr>
              <a:t>Frequent short releases, checkpoints for new requirements, feedback loops.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48640" y="320040"/>
            <a:ext cx="11094415" cy="274320"/>
          </a:xfrm>
          <a:prstGeom prst="rect">
            <a:avLst/>
          </a:prstGeom>
          <a:noFill/>
        </p:spPr>
        <p:txBody>
          <a:bodyPr wrap="square" anchor="t" lIns="0" rIns="0" tIns="0" bIns="0"/>
          <a:lstStyle/>
          <a:p>
            <a:pPr algn="l"/>
            <a:r>
              <a:rPr sz="1100" b="1" i="0">
                <a:solidFill>
                  <a:srgbClr val="54595D"/>
                </a:solidFill>
                <a:latin typeface="Calibri"/>
              </a:rPr>
              <a:t>DIGITAL SUPPORT  ·  Digital Support Content Area 2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48640" y="566928"/>
            <a:ext cx="11094415" cy="822960"/>
          </a:xfrm>
          <a:prstGeom prst="rect">
            <a:avLst/>
          </a:prstGeom>
          <a:noFill/>
        </p:spPr>
        <p:txBody>
          <a:bodyPr wrap="square" anchor="ctr" lIns="0" rIns="0" tIns="0" bIns="0"/>
          <a:lstStyle/>
          <a:p>
            <a:pPr algn="l"/>
            <a:r>
              <a:rPr sz="3200" b="1" i="0">
                <a:solidFill>
                  <a:srgbClr val="03306E"/>
                </a:solidFill>
                <a:latin typeface="Cambria"/>
              </a:rPr>
              <a:t>MoSCoW prioritisation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48640" y="6446520"/>
            <a:ext cx="8229600" cy="274320"/>
          </a:xfrm>
          <a:prstGeom prst="rect">
            <a:avLst/>
          </a:prstGeom>
          <a:noFill/>
        </p:spPr>
        <p:txBody>
          <a:bodyPr wrap="square" anchor="t" lIns="0" rIns="0" tIns="0" bIns="0"/>
          <a:lstStyle/>
          <a:p>
            <a:pPr algn="l"/>
            <a:r>
              <a:rPr sz="1000" b="0" i="0">
                <a:solidFill>
                  <a:srgbClr val="54595D"/>
                </a:solidFill>
                <a:latin typeface="Calibri"/>
              </a:rPr>
              <a:t>Digital Support and Security T Level  ·  Agile Values and Methodologies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0728655" y="6446520"/>
            <a:ext cx="914400" cy="274320"/>
          </a:xfrm>
          <a:prstGeom prst="rect">
            <a:avLst/>
          </a:prstGeom>
          <a:noFill/>
        </p:spPr>
        <p:txBody>
          <a:bodyPr wrap="square" anchor="t" lIns="0" rIns="0" tIns="0" bIns="0"/>
          <a:lstStyle/>
          <a:p>
            <a:pPr algn="r"/>
            <a:r>
              <a:rPr sz="1000" b="0" i="0">
                <a:solidFill>
                  <a:srgbClr val="54595D"/>
                </a:solidFill>
                <a:latin typeface="Calibri"/>
              </a:rPr>
              <a:t>6</a:t>
            </a:r>
          </a:p>
        </p:txBody>
      </p:sp>
      <p:graphicFrame>
        <p:nvGraphicFramePr>
          <p:cNvPr id="6" name="Table 5"/>
          <p:cNvGraphicFramePr>
            <a:graphicFrameLocks noGrp="1"/>
          </p:cNvGraphicFramePr>
          <p:nvPr/>
        </p:nvGraphicFramePr>
        <p:xfrm>
          <a:off x="548640" y="1600200"/>
          <a:ext cx="11094414" cy="452628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2064077"/>
                <a:gridCol w="3870144"/>
                <a:gridCol w="5160193"/>
              </a:tblGrid>
              <a:tr h="905256">
                <a:tc>
                  <a:txBody>
                    <a:bodyPr wrap="square"/>
                    <a:lstStyle/>
                    <a:p>
                      <a:r>
                        <a:rPr sz="1600" b="1">
                          <a:solidFill>
                            <a:srgbClr val="FFFFFF"/>
                          </a:solidFill>
                          <a:latin typeface="Calibri"/>
                        </a:rPr>
                        <a:t>Priority</a:t>
                      </a:r>
                    </a:p>
                  </a:txBody>
                  <a:tcPr marL="91440" marR="91440" anchor="ctr">
                    <a:solidFill>
                      <a:srgbClr val="03306E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600" b="1">
                          <a:solidFill>
                            <a:srgbClr val="FFFFFF"/>
                          </a:solidFill>
                          <a:latin typeface="Calibri"/>
                        </a:rPr>
                        <a:t>Meaning</a:t>
                      </a:r>
                    </a:p>
                  </a:txBody>
                  <a:tcPr marL="91440" marR="91440" anchor="ctr">
                    <a:solidFill>
                      <a:srgbClr val="03306E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600" b="1">
                          <a:solidFill>
                            <a:srgbClr val="FFFFFF"/>
                          </a:solidFill>
                          <a:latin typeface="Calibri"/>
                        </a:rPr>
                        <a:t>Example for a new helpdesk system</a:t>
                      </a:r>
                    </a:p>
                  </a:txBody>
                  <a:tcPr marL="91440" marR="91440" anchor="ctr">
                    <a:solidFill>
                      <a:srgbClr val="03306E"/>
                    </a:solidFill>
                  </a:tcPr>
                </a:tc>
              </a:tr>
              <a:tr h="905256">
                <a:tc>
                  <a:txBody>
                    <a:bodyPr wrap="square"/>
                    <a:lstStyle/>
                    <a:p>
                      <a:r>
                        <a:rPr sz="1600" b="1">
                          <a:solidFill>
                            <a:srgbClr val="03306E"/>
                          </a:solidFill>
                          <a:latin typeface="Calibri"/>
                        </a:rPr>
                        <a:t>Must have</a:t>
                      </a:r>
                    </a:p>
                  </a:txBody>
                  <a:tcPr marL="91440" marR="91440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600" b="0">
                          <a:solidFill>
                            <a:srgbClr val="202122"/>
                          </a:solidFill>
                          <a:latin typeface="Calibri"/>
                        </a:rPr>
                        <a:t>Essential; without it the project fails</a:t>
                      </a:r>
                    </a:p>
                  </a:txBody>
                  <a:tcPr marL="91440" marR="91440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600" b="0">
                          <a:solidFill>
                            <a:srgbClr val="202122"/>
                          </a:solidFill>
                          <a:latin typeface="Calibri"/>
                        </a:rPr>
                        <a:t>Log and track tickets</a:t>
                      </a:r>
                    </a:p>
                  </a:txBody>
                  <a:tcPr marL="91440" marR="91440" anchor="ctr">
                    <a:solidFill>
                      <a:srgbClr val="FFFFFF"/>
                    </a:solidFill>
                  </a:tcPr>
                </a:tc>
              </a:tr>
              <a:tr h="905256">
                <a:tc>
                  <a:txBody>
                    <a:bodyPr wrap="square"/>
                    <a:lstStyle/>
                    <a:p>
                      <a:r>
                        <a:rPr sz="1600" b="1">
                          <a:solidFill>
                            <a:srgbClr val="03306E"/>
                          </a:solidFill>
                          <a:latin typeface="Calibri"/>
                        </a:rPr>
                        <a:t>Should have</a:t>
                      </a:r>
                    </a:p>
                  </a:txBody>
                  <a:tcPr marL="91440" marR="91440" anchor="ctr">
                    <a:solidFill>
                      <a:srgbClr val="EAF3FF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600" b="0">
                          <a:solidFill>
                            <a:srgbClr val="202122"/>
                          </a:solidFill>
                          <a:latin typeface="Calibri"/>
                        </a:rPr>
                        <a:t>Important but not vital</a:t>
                      </a:r>
                    </a:p>
                  </a:txBody>
                  <a:tcPr marL="91440" marR="91440" anchor="ctr">
                    <a:solidFill>
                      <a:srgbClr val="EAF3FF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600" b="0">
                          <a:solidFill>
                            <a:srgbClr val="202122"/>
                          </a:solidFill>
                          <a:latin typeface="Calibri"/>
                        </a:rPr>
                        <a:t>Email notifications</a:t>
                      </a:r>
                    </a:p>
                  </a:txBody>
                  <a:tcPr marL="91440" marR="91440" anchor="ctr">
                    <a:solidFill>
                      <a:srgbClr val="EAF3FF"/>
                    </a:solidFill>
                  </a:tcPr>
                </a:tc>
              </a:tr>
              <a:tr h="905256">
                <a:tc>
                  <a:txBody>
                    <a:bodyPr wrap="square"/>
                    <a:lstStyle/>
                    <a:p>
                      <a:r>
                        <a:rPr sz="1600" b="1">
                          <a:solidFill>
                            <a:srgbClr val="03306E"/>
                          </a:solidFill>
                          <a:latin typeface="Calibri"/>
                        </a:rPr>
                        <a:t>Could have</a:t>
                      </a:r>
                    </a:p>
                  </a:txBody>
                  <a:tcPr marL="91440" marR="91440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600" b="0">
                          <a:solidFill>
                            <a:srgbClr val="202122"/>
                          </a:solidFill>
                          <a:latin typeface="Calibri"/>
                        </a:rPr>
                        <a:t>Nice to have if time allows</a:t>
                      </a:r>
                    </a:p>
                  </a:txBody>
                  <a:tcPr marL="91440" marR="91440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600" b="0">
                          <a:solidFill>
                            <a:srgbClr val="202122"/>
                          </a:solidFill>
                          <a:latin typeface="Calibri"/>
                        </a:rPr>
                        <a:t>Chatbot for common questions</a:t>
                      </a:r>
                    </a:p>
                  </a:txBody>
                  <a:tcPr marL="91440" marR="91440" anchor="ctr">
                    <a:solidFill>
                      <a:srgbClr val="FFFFFF"/>
                    </a:solidFill>
                  </a:tcPr>
                </a:tc>
              </a:tr>
              <a:tr h="905256">
                <a:tc>
                  <a:txBody>
                    <a:bodyPr wrap="square"/>
                    <a:lstStyle/>
                    <a:p>
                      <a:r>
                        <a:rPr sz="1600" b="1">
                          <a:solidFill>
                            <a:srgbClr val="03306E"/>
                          </a:solidFill>
                          <a:latin typeface="Calibri"/>
                        </a:rPr>
                        <a:t>Won't have (this time)</a:t>
                      </a:r>
                    </a:p>
                  </a:txBody>
                  <a:tcPr marL="91440" marR="91440" anchor="ctr">
                    <a:solidFill>
                      <a:srgbClr val="EAF3FF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600" b="0">
                          <a:solidFill>
                            <a:srgbClr val="202122"/>
                          </a:solidFill>
                          <a:latin typeface="Calibri"/>
                        </a:rPr>
                        <a:t>Agreed to leave out for now</a:t>
                      </a:r>
                    </a:p>
                  </a:txBody>
                  <a:tcPr marL="91440" marR="91440" anchor="ctr">
                    <a:solidFill>
                      <a:srgbClr val="EAF3FF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600" b="0">
                          <a:solidFill>
                            <a:srgbClr val="202122"/>
                          </a:solidFill>
                          <a:latin typeface="Calibri"/>
                        </a:rPr>
                        <a:t>Mobile app</a:t>
                      </a:r>
                    </a:p>
                  </a:txBody>
                  <a:tcPr marL="91440" marR="91440" anchor="ctr">
                    <a:solidFill>
                      <a:srgbClr val="EAF3FF"/>
                    </a:solidFill>
                  </a:tcPr>
                </a:tc>
              </a:tr>
            </a:tbl>
          </a:graphicData>
        </a:graphic>
      </p:graphicFrame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48640" y="320040"/>
            <a:ext cx="11094415" cy="274320"/>
          </a:xfrm>
          <a:prstGeom prst="rect">
            <a:avLst/>
          </a:prstGeom>
          <a:noFill/>
        </p:spPr>
        <p:txBody>
          <a:bodyPr wrap="square" anchor="t" lIns="0" rIns="0" tIns="0" bIns="0"/>
          <a:lstStyle/>
          <a:p>
            <a:pPr algn="l"/>
            <a:r>
              <a:rPr sz="1100" b="1" i="0">
                <a:solidFill>
                  <a:srgbClr val="54595D"/>
                </a:solidFill>
                <a:latin typeface="Calibri"/>
              </a:rPr>
              <a:t>DIGITAL SUPPORT  ·  Digital Support Content Area 2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48640" y="566928"/>
            <a:ext cx="11094415" cy="822960"/>
          </a:xfrm>
          <a:prstGeom prst="rect">
            <a:avLst/>
          </a:prstGeom>
          <a:noFill/>
        </p:spPr>
        <p:txBody>
          <a:bodyPr wrap="square" anchor="ctr" lIns="0" rIns="0" tIns="0" bIns="0"/>
          <a:lstStyle/>
          <a:p>
            <a:pPr algn="l"/>
            <a:r>
              <a:rPr sz="3200" b="1" i="0">
                <a:solidFill>
                  <a:srgbClr val="03306E"/>
                </a:solidFill>
                <a:latin typeface="Cambria"/>
              </a:rPr>
              <a:t>Check your understanding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48640" y="6446520"/>
            <a:ext cx="8229600" cy="274320"/>
          </a:xfrm>
          <a:prstGeom prst="rect">
            <a:avLst/>
          </a:prstGeom>
          <a:noFill/>
        </p:spPr>
        <p:txBody>
          <a:bodyPr wrap="square" anchor="t" lIns="0" rIns="0" tIns="0" bIns="0"/>
          <a:lstStyle/>
          <a:p>
            <a:pPr algn="l"/>
            <a:r>
              <a:rPr sz="1000" b="0" i="0">
                <a:solidFill>
                  <a:srgbClr val="54595D"/>
                </a:solidFill>
                <a:latin typeface="Calibri"/>
              </a:rPr>
              <a:t>Digital Support and Security T Level  ·  Agile Values and Methodologies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0728655" y="6446520"/>
            <a:ext cx="914400" cy="274320"/>
          </a:xfrm>
          <a:prstGeom prst="rect">
            <a:avLst/>
          </a:prstGeom>
          <a:noFill/>
        </p:spPr>
        <p:txBody>
          <a:bodyPr wrap="square" anchor="t" lIns="0" rIns="0" tIns="0" bIns="0"/>
          <a:lstStyle/>
          <a:p>
            <a:pPr algn="r"/>
            <a:r>
              <a:rPr sz="1000" b="0" i="0">
                <a:solidFill>
                  <a:srgbClr val="54595D"/>
                </a:solidFill>
                <a:latin typeface="Calibri"/>
              </a:rPr>
              <a:t>7</a:t>
            </a:r>
          </a:p>
        </p:txBody>
      </p:sp>
      <p:sp>
        <p:nvSpPr>
          <p:cNvPr id="6" name="Oval 5"/>
          <p:cNvSpPr/>
          <p:nvPr/>
        </p:nvSpPr>
        <p:spPr>
          <a:xfrm>
            <a:off x="548640" y="1618488"/>
            <a:ext cx="411480" cy="411480"/>
          </a:xfrm>
          <a:prstGeom prst="ellipse">
            <a:avLst/>
          </a:prstGeom>
          <a:solidFill>
            <a:srgbClr val="4EA1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 tIns="0" bIns="0"/>
          <a:lstStyle/>
          <a:p>
            <a:pPr algn="ctr"/>
            <a:r>
              <a:rPr sz="1400" b="1">
                <a:solidFill>
                  <a:srgbClr val="202122"/>
                </a:solidFill>
                <a:latin typeface="Calibri"/>
              </a:rPr>
              <a:t>1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234440" y="1600200"/>
            <a:ext cx="10408615" cy="1030986"/>
          </a:xfrm>
          <a:prstGeom prst="rect">
            <a:avLst/>
          </a:prstGeom>
          <a:noFill/>
        </p:spPr>
        <p:txBody>
          <a:bodyPr wrap="square" anchor="t" lIns="0" rIns="0" tIns="0" bIns="0"/>
          <a:lstStyle/>
          <a:p>
            <a:pPr algn="l"/>
            <a:r>
              <a:rPr sz="2200" b="0" i="0">
                <a:solidFill>
                  <a:srgbClr val="202122"/>
                </a:solidFill>
                <a:latin typeface="Calibri"/>
              </a:rPr>
              <a:t>Complete the value: responding to change over...</a:t>
            </a:r>
          </a:p>
        </p:txBody>
      </p:sp>
      <p:sp>
        <p:nvSpPr>
          <p:cNvPr id="8" name="Oval 7"/>
          <p:cNvSpPr/>
          <p:nvPr/>
        </p:nvSpPr>
        <p:spPr>
          <a:xfrm>
            <a:off x="548640" y="2814066"/>
            <a:ext cx="411480" cy="411480"/>
          </a:xfrm>
          <a:prstGeom prst="ellipse">
            <a:avLst/>
          </a:prstGeom>
          <a:solidFill>
            <a:srgbClr val="4EA1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 tIns="0" bIns="0"/>
          <a:lstStyle/>
          <a:p>
            <a:pPr algn="ctr"/>
            <a:r>
              <a:rPr sz="1400" b="1">
                <a:solidFill>
                  <a:srgbClr val="202122"/>
                </a:solidFill>
                <a:latin typeface="Calibri"/>
              </a:rPr>
              <a:t>2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1234440" y="2795778"/>
            <a:ext cx="10408615" cy="1030986"/>
          </a:xfrm>
          <a:prstGeom prst="rect">
            <a:avLst/>
          </a:prstGeom>
          <a:noFill/>
        </p:spPr>
        <p:txBody>
          <a:bodyPr wrap="square" anchor="t" lIns="0" rIns="0" tIns="0" bIns="0"/>
          <a:lstStyle/>
          <a:p>
            <a:pPr algn="l"/>
            <a:r>
              <a:rPr sz="2200" b="0" i="0">
                <a:solidFill>
                  <a:srgbClr val="202122"/>
                </a:solidFill>
                <a:latin typeface="Calibri"/>
              </a:rPr>
              <a:t>What is a WIP limit in Kanban?</a:t>
            </a:r>
          </a:p>
        </p:txBody>
      </p:sp>
      <p:sp>
        <p:nvSpPr>
          <p:cNvPr id="10" name="Oval 9"/>
          <p:cNvSpPr/>
          <p:nvPr/>
        </p:nvSpPr>
        <p:spPr>
          <a:xfrm>
            <a:off x="548640" y="4009644"/>
            <a:ext cx="411480" cy="411480"/>
          </a:xfrm>
          <a:prstGeom prst="ellipse">
            <a:avLst/>
          </a:prstGeom>
          <a:solidFill>
            <a:srgbClr val="4EA1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 tIns="0" bIns="0"/>
          <a:lstStyle/>
          <a:p>
            <a:pPr algn="ctr"/>
            <a:r>
              <a:rPr sz="1400" b="1">
                <a:solidFill>
                  <a:srgbClr val="202122"/>
                </a:solidFill>
                <a:latin typeface="Calibri"/>
              </a:rPr>
              <a:t>3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1234440" y="3991356"/>
            <a:ext cx="10408615" cy="1030986"/>
          </a:xfrm>
          <a:prstGeom prst="rect">
            <a:avLst/>
          </a:prstGeom>
          <a:noFill/>
        </p:spPr>
        <p:txBody>
          <a:bodyPr wrap="square" anchor="t" lIns="0" rIns="0" tIns="0" bIns="0"/>
          <a:lstStyle/>
          <a:p>
            <a:pPr algn="l"/>
            <a:r>
              <a:rPr sz="2200" b="0" i="0">
                <a:solidFill>
                  <a:srgbClr val="202122"/>
                </a:solidFill>
                <a:latin typeface="Calibri"/>
              </a:rPr>
              <a:t>Which method uses MoSCoW?</a:t>
            </a:r>
          </a:p>
        </p:txBody>
      </p:sp>
      <p:sp>
        <p:nvSpPr>
          <p:cNvPr id="12" name="Oval 11"/>
          <p:cNvSpPr/>
          <p:nvPr/>
        </p:nvSpPr>
        <p:spPr>
          <a:xfrm>
            <a:off x="548640" y="5205221"/>
            <a:ext cx="411480" cy="411480"/>
          </a:xfrm>
          <a:prstGeom prst="ellipse">
            <a:avLst/>
          </a:prstGeom>
          <a:solidFill>
            <a:srgbClr val="4EA1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 tIns="0" bIns="0"/>
          <a:lstStyle/>
          <a:p>
            <a:pPr algn="ctr"/>
            <a:r>
              <a:rPr sz="1400" b="1">
                <a:solidFill>
                  <a:srgbClr val="202122"/>
                </a:solidFill>
                <a:latin typeface="Calibri"/>
              </a:rPr>
              <a:t>4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1234440" y="5186933"/>
            <a:ext cx="10408615" cy="1030986"/>
          </a:xfrm>
          <a:prstGeom prst="rect">
            <a:avLst/>
          </a:prstGeom>
          <a:noFill/>
        </p:spPr>
        <p:txBody>
          <a:bodyPr wrap="square" anchor="t" lIns="0" rIns="0" tIns="0" bIns="0"/>
          <a:lstStyle/>
          <a:p>
            <a:pPr algn="l"/>
            <a:r>
              <a:rPr sz="2200" b="0" i="0">
                <a:solidFill>
                  <a:srgbClr val="202122"/>
                </a:solidFill>
                <a:latin typeface="Calibri"/>
              </a:rPr>
              <a:t>Name three Lean principles.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48640" y="320040"/>
            <a:ext cx="11094415" cy="274320"/>
          </a:xfrm>
          <a:prstGeom prst="rect">
            <a:avLst/>
          </a:prstGeom>
          <a:noFill/>
        </p:spPr>
        <p:txBody>
          <a:bodyPr wrap="square" anchor="t" lIns="0" rIns="0" tIns="0" bIns="0"/>
          <a:lstStyle/>
          <a:p>
            <a:pPr algn="l"/>
            <a:r>
              <a:rPr sz="1100" b="1" i="0">
                <a:solidFill>
                  <a:srgbClr val="54595D"/>
                </a:solidFill>
                <a:latin typeface="Calibri"/>
              </a:rPr>
              <a:t>DIGITAL SUPPORT  ·  Digital Support Content Area 2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48640" y="566928"/>
            <a:ext cx="11094415" cy="822960"/>
          </a:xfrm>
          <a:prstGeom prst="rect">
            <a:avLst/>
          </a:prstGeom>
          <a:noFill/>
        </p:spPr>
        <p:txBody>
          <a:bodyPr wrap="square" anchor="ctr" lIns="0" rIns="0" tIns="0" bIns="0"/>
          <a:lstStyle/>
          <a:p>
            <a:pPr algn="l"/>
            <a:r>
              <a:rPr sz="3200" b="1" i="0">
                <a:solidFill>
                  <a:srgbClr val="03306E"/>
                </a:solidFill>
                <a:latin typeface="Cambria"/>
              </a:rPr>
              <a:t>Answers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48640" y="6446520"/>
            <a:ext cx="8229600" cy="274320"/>
          </a:xfrm>
          <a:prstGeom prst="rect">
            <a:avLst/>
          </a:prstGeom>
          <a:noFill/>
        </p:spPr>
        <p:txBody>
          <a:bodyPr wrap="square" anchor="t" lIns="0" rIns="0" tIns="0" bIns="0"/>
          <a:lstStyle/>
          <a:p>
            <a:pPr algn="l"/>
            <a:r>
              <a:rPr sz="1000" b="0" i="0">
                <a:solidFill>
                  <a:srgbClr val="54595D"/>
                </a:solidFill>
                <a:latin typeface="Calibri"/>
              </a:rPr>
              <a:t>Digital Support and Security T Level  ·  Agile Values and Methodologies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0728655" y="6446520"/>
            <a:ext cx="914400" cy="274320"/>
          </a:xfrm>
          <a:prstGeom prst="rect">
            <a:avLst/>
          </a:prstGeom>
          <a:noFill/>
        </p:spPr>
        <p:txBody>
          <a:bodyPr wrap="square" anchor="t" lIns="0" rIns="0" tIns="0" bIns="0"/>
          <a:lstStyle/>
          <a:p>
            <a:pPr algn="r"/>
            <a:r>
              <a:rPr sz="1000" b="0" i="0">
                <a:solidFill>
                  <a:srgbClr val="54595D"/>
                </a:solidFill>
                <a:latin typeface="Calibri"/>
              </a:rPr>
              <a:t>8</a:t>
            </a:r>
          </a:p>
        </p:txBody>
      </p:sp>
      <p:sp>
        <p:nvSpPr>
          <p:cNvPr id="6" name="Oval 5"/>
          <p:cNvSpPr/>
          <p:nvPr/>
        </p:nvSpPr>
        <p:spPr>
          <a:xfrm>
            <a:off x="548640" y="1618488"/>
            <a:ext cx="411480" cy="411480"/>
          </a:xfrm>
          <a:prstGeom prst="ellipse">
            <a:avLst/>
          </a:prstGeom>
          <a:solidFill>
            <a:srgbClr val="4EA1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 tIns="0" bIns="0"/>
          <a:lstStyle/>
          <a:p>
            <a:pPr algn="ctr"/>
            <a:r>
              <a:rPr sz="1400" b="1">
                <a:solidFill>
                  <a:srgbClr val="202122"/>
                </a:solidFill>
                <a:latin typeface="Calibri"/>
              </a:rPr>
              <a:t>1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234440" y="1600200"/>
            <a:ext cx="10408615" cy="1030986"/>
          </a:xfrm>
          <a:prstGeom prst="rect">
            <a:avLst/>
          </a:prstGeom>
          <a:noFill/>
        </p:spPr>
        <p:txBody>
          <a:bodyPr wrap="square" anchor="t" lIns="0" rIns="0" tIns="0" bIns="0"/>
          <a:lstStyle/>
          <a:p>
            <a:pPr algn="l"/>
            <a:r>
              <a:rPr sz="1800" b="0" i="0">
                <a:solidFill>
                  <a:srgbClr val="54595D"/>
                </a:solidFill>
                <a:latin typeface="Calibri"/>
              </a:rPr>
              <a:t>Complete the value: responding to change over...</a:t>
            </a:r>
          </a:p>
          <a:p>
            <a:r>
              <a:rPr sz="1800" b="1">
                <a:solidFill>
                  <a:srgbClr val="03306E"/>
                </a:solidFill>
                <a:latin typeface="Calibri"/>
              </a:rPr>
              <a:t>Following a plan.</a:t>
            </a:r>
          </a:p>
        </p:txBody>
      </p:sp>
      <p:sp>
        <p:nvSpPr>
          <p:cNvPr id="8" name="Oval 7"/>
          <p:cNvSpPr/>
          <p:nvPr/>
        </p:nvSpPr>
        <p:spPr>
          <a:xfrm>
            <a:off x="548640" y="2814066"/>
            <a:ext cx="411480" cy="411480"/>
          </a:xfrm>
          <a:prstGeom prst="ellipse">
            <a:avLst/>
          </a:prstGeom>
          <a:solidFill>
            <a:srgbClr val="4EA1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 tIns="0" bIns="0"/>
          <a:lstStyle/>
          <a:p>
            <a:pPr algn="ctr"/>
            <a:r>
              <a:rPr sz="1400" b="1">
                <a:solidFill>
                  <a:srgbClr val="202122"/>
                </a:solidFill>
                <a:latin typeface="Calibri"/>
              </a:rPr>
              <a:t>2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1234440" y="2795778"/>
            <a:ext cx="10408615" cy="1030986"/>
          </a:xfrm>
          <a:prstGeom prst="rect">
            <a:avLst/>
          </a:prstGeom>
          <a:noFill/>
        </p:spPr>
        <p:txBody>
          <a:bodyPr wrap="square" anchor="t" lIns="0" rIns="0" tIns="0" bIns="0"/>
          <a:lstStyle/>
          <a:p>
            <a:pPr algn="l"/>
            <a:r>
              <a:rPr sz="1800" b="0" i="0">
                <a:solidFill>
                  <a:srgbClr val="54595D"/>
                </a:solidFill>
                <a:latin typeface="Calibri"/>
              </a:rPr>
              <a:t>What is a WIP limit in Kanban?</a:t>
            </a:r>
          </a:p>
          <a:p>
            <a:r>
              <a:rPr sz="1800" b="1">
                <a:solidFill>
                  <a:srgbClr val="03306E"/>
                </a:solidFill>
                <a:latin typeface="Calibri"/>
              </a:rPr>
              <a:t>A cap on the number of items allowed in a column at once.</a:t>
            </a:r>
          </a:p>
        </p:txBody>
      </p:sp>
      <p:sp>
        <p:nvSpPr>
          <p:cNvPr id="10" name="Oval 9"/>
          <p:cNvSpPr/>
          <p:nvPr/>
        </p:nvSpPr>
        <p:spPr>
          <a:xfrm>
            <a:off x="548640" y="4009644"/>
            <a:ext cx="411480" cy="411480"/>
          </a:xfrm>
          <a:prstGeom prst="ellipse">
            <a:avLst/>
          </a:prstGeom>
          <a:solidFill>
            <a:srgbClr val="4EA1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 tIns="0" bIns="0"/>
          <a:lstStyle/>
          <a:p>
            <a:pPr algn="ctr"/>
            <a:r>
              <a:rPr sz="1400" b="1">
                <a:solidFill>
                  <a:srgbClr val="202122"/>
                </a:solidFill>
                <a:latin typeface="Calibri"/>
              </a:rPr>
              <a:t>3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1234440" y="3991356"/>
            <a:ext cx="10408615" cy="1030986"/>
          </a:xfrm>
          <a:prstGeom prst="rect">
            <a:avLst/>
          </a:prstGeom>
          <a:noFill/>
        </p:spPr>
        <p:txBody>
          <a:bodyPr wrap="square" anchor="t" lIns="0" rIns="0" tIns="0" bIns="0"/>
          <a:lstStyle/>
          <a:p>
            <a:pPr algn="l"/>
            <a:r>
              <a:rPr sz="1800" b="0" i="0">
                <a:solidFill>
                  <a:srgbClr val="54595D"/>
                </a:solidFill>
                <a:latin typeface="Calibri"/>
              </a:rPr>
              <a:t>Which method uses MoSCoW?</a:t>
            </a:r>
          </a:p>
          <a:p>
            <a:r>
              <a:rPr sz="1800" b="1">
                <a:solidFill>
                  <a:srgbClr val="03306E"/>
                </a:solidFill>
                <a:latin typeface="Calibri"/>
              </a:rPr>
              <a:t>DSDM.</a:t>
            </a:r>
          </a:p>
        </p:txBody>
      </p:sp>
      <p:sp>
        <p:nvSpPr>
          <p:cNvPr id="12" name="Oval 11"/>
          <p:cNvSpPr/>
          <p:nvPr/>
        </p:nvSpPr>
        <p:spPr>
          <a:xfrm>
            <a:off x="548640" y="5205221"/>
            <a:ext cx="411480" cy="411480"/>
          </a:xfrm>
          <a:prstGeom prst="ellipse">
            <a:avLst/>
          </a:prstGeom>
          <a:solidFill>
            <a:srgbClr val="4EA1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 tIns="0" bIns="0"/>
          <a:lstStyle/>
          <a:p>
            <a:pPr algn="ctr"/>
            <a:r>
              <a:rPr sz="1400" b="1">
                <a:solidFill>
                  <a:srgbClr val="202122"/>
                </a:solidFill>
                <a:latin typeface="Calibri"/>
              </a:rPr>
              <a:t>4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1234440" y="5186933"/>
            <a:ext cx="10408615" cy="1030986"/>
          </a:xfrm>
          <a:prstGeom prst="rect">
            <a:avLst/>
          </a:prstGeom>
          <a:noFill/>
        </p:spPr>
        <p:txBody>
          <a:bodyPr wrap="square" anchor="t" lIns="0" rIns="0" tIns="0" bIns="0"/>
          <a:lstStyle/>
          <a:p>
            <a:pPr algn="l"/>
            <a:r>
              <a:rPr sz="1800" b="0" i="0">
                <a:solidFill>
                  <a:srgbClr val="54595D"/>
                </a:solidFill>
                <a:latin typeface="Calibri"/>
              </a:rPr>
              <a:t>Name three Lean principles.</a:t>
            </a:r>
          </a:p>
          <a:p>
            <a:r>
              <a:rPr sz="1800" b="1">
                <a:solidFill>
                  <a:srgbClr val="03306E"/>
                </a:solidFill>
                <a:latin typeface="Calibri"/>
              </a:rPr>
              <a:t>Any three of the seven, e.g. eliminate waste, deliver fast, respect people.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48640" y="320040"/>
            <a:ext cx="11094415" cy="274320"/>
          </a:xfrm>
          <a:prstGeom prst="rect">
            <a:avLst/>
          </a:prstGeom>
          <a:noFill/>
        </p:spPr>
        <p:txBody>
          <a:bodyPr wrap="square" anchor="t" lIns="0" rIns="0" tIns="0" bIns="0"/>
          <a:lstStyle/>
          <a:p>
            <a:pPr algn="l"/>
            <a:r>
              <a:rPr sz="1100" b="1" i="0">
                <a:solidFill>
                  <a:srgbClr val="54595D"/>
                </a:solidFill>
                <a:latin typeface="Calibri"/>
              </a:rPr>
              <a:t>DIGITAL SUPPORT  ·  Digital Support Content Area 2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48640" y="566928"/>
            <a:ext cx="11094415" cy="822960"/>
          </a:xfrm>
          <a:prstGeom prst="rect">
            <a:avLst/>
          </a:prstGeom>
          <a:noFill/>
        </p:spPr>
        <p:txBody>
          <a:bodyPr wrap="square" anchor="ctr" lIns="0" rIns="0" tIns="0" bIns="0"/>
          <a:lstStyle/>
          <a:p>
            <a:pPr algn="l"/>
            <a:r>
              <a:rPr sz="3200" b="1" i="0">
                <a:solidFill>
                  <a:srgbClr val="03306E"/>
                </a:solidFill>
                <a:latin typeface="Cambria"/>
              </a:rPr>
              <a:t>Activity: Run a Kanban board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48640" y="6446520"/>
            <a:ext cx="8229600" cy="274320"/>
          </a:xfrm>
          <a:prstGeom prst="rect">
            <a:avLst/>
          </a:prstGeom>
          <a:noFill/>
        </p:spPr>
        <p:txBody>
          <a:bodyPr wrap="square" anchor="t" lIns="0" rIns="0" tIns="0" bIns="0"/>
          <a:lstStyle/>
          <a:p>
            <a:pPr algn="l"/>
            <a:r>
              <a:rPr sz="1000" b="0" i="0">
                <a:solidFill>
                  <a:srgbClr val="54595D"/>
                </a:solidFill>
                <a:latin typeface="Calibri"/>
              </a:rPr>
              <a:t>Digital Support and Security T Level  ·  Agile Values and Methodologies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0728655" y="6446520"/>
            <a:ext cx="914400" cy="274320"/>
          </a:xfrm>
          <a:prstGeom prst="rect">
            <a:avLst/>
          </a:prstGeom>
          <a:noFill/>
        </p:spPr>
        <p:txBody>
          <a:bodyPr wrap="square" anchor="t" lIns="0" rIns="0" tIns="0" bIns="0"/>
          <a:lstStyle/>
          <a:p>
            <a:pPr algn="r"/>
            <a:r>
              <a:rPr sz="1000" b="0" i="0">
                <a:solidFill>
                  <a:srgbClr val="54595D"/>
                </a:solidFill>
                <a:latin typeface="Calibri"/>
              </a:rPr>
              <a:t>9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548640" y="1508760"/>
            <a:ext cx="2011680" cy="457200"/>
          </a:xfrm>
          <a:prstGeom prst="roundRect">
            <a:avLst>
              <a:gd name="adj" fmla="val 50000"/>
            </a:avLst>
          </a:prstGeom>
          <a:solidFill>
            <a:srgbClr val="4EA1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7" name="TextBox 6"/>
          <p:cNvSpPr txBox="1"/>
          <p:nvPr/>
        </p:nvSpPr>
        <p:spPr>
          <a:xfrm>
            <a:off x="548640" y="1508760"/>
            <a:ext cx="2011680" cy="457200"/>
          </a:xfrm>
          <a:prstGeom prst="rect">
            <a:avLst/>
          </a:prstGeom>
          <a:noFill/>
        </p:spPr>
        <p:txBody>
          <a:bodyPr wrap="square" anchor="ctr" lIns="0" rIns="0" tIns="0" bIns="0"/>
          <a:lstStyle/>
          <a:p>
            <a:pPr algn="ctr"/>
            <a:r>
              <a:rPr sz="1400" b="1" i="0">
                <a:solidFill>
                  <a:srgbClr val="202122"/>
                </a:solidFill>
                <a:latin typeface="Calibri"/>
              </a:rPr>
              <a:t>25 minutes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2743200" y="1508760"/>
            <a:ext cx="4754880" cy="457200"/>
          </a:xfrm>
          <a:prstGeom prst="rect">
            <a:avLst/>
          </a:prstGeom>
          <a:noFill/>
        </p:spPr>
        <p:txBody>
          <a:bodyPr wrap="square" anchor="ctr" lIns="0" rIns="0" tIns="0" bIns="0"/>
          <a:lstStyle/>
          <a:p>
            <a:pPr algn="l"/>
            <a:r>
              <a:rPr sz="1400" b="0" i="1">
                <a:solidFill>
                  <a:srgbClr val="54595D"/>
                </a:solidFill>
                <a:latin typeface="Calibri"/>
              </a:rPr>
              <a:t>Small groups</a:t>
            </a:r>
          </a:p>
        </p:txBody>
      </p:sp>
      <p:sp>
        <p:nvSpPr>
          <p:cNvPr id="9" name="Oval 8"/>
          <p:cNvSpPr/>
          <p:nvPr/>
        </p:nvSpPr>
        <p:spPr>
          <a:xfrm>
            <a:off x="548640" y="2482596"/>
            <a:ext cx="384048" cy="384048"/>
          </a:xfrm>
          <a:prstGeom prst="ellipse">
            <a:avLst/>
          </a:prstGeom>
          <a:solidFill>
            <a:srgbClr val="0645A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 tIns="0" bIns="0"/>
          <a:lstStyle/>
          <a:p>
            <a:pPr algn="ctr"/>
            <a:r>
              <a:rPr sz="1300" b="1">
                <a:solidFill>
                  <a:srgbClr val="FFFFFF"/>
                </a:solidFill>
                <a:latin typeface="Calibri"/>
              </a:rPr>
              <a:t>1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1143000" y="2240280"/>
            <a:ext cx="5943600" cy="868680"/>
          </a:xfrm>
          <a:prstGeom prst="rect">
            <a:avLst/>
          </a:prstGeom>
          <a:noFill/>
        </p:spPr>
        <p:txBody>
          <a:bodyPr wrap="square" anchor="ctr" lIns="0" rIns="0" tIns="0" bIns="0"/>
          <a:lstStyle/>
          <a:p>
            <a:pPr algn="l"/>
            <a:r>
              <a:rPr sz="1700" b="0" i="0">
                <a:solidFill>
                  <a:srgbClr val="202122"/>
                </a:solidFill>
                <a:latin typeface="Calibri"/>
              </a:rPr>
              <a:t>Draw a Kanban board with To do, In progress, Waiting on user and Done.</a:t>
            </a:r>
          </a:p>
        </p:txBody>
      </p:sp>
      <p:sp>
        <p:nvSpPr>
          <p:cNvPr id="11" name="Oval 10"/>
          <p:cNvSpPr/>
          <p:nvPr/>
        </p:nvSpPr>
        <p:spPr>
          <a:xfrm>
            <a:off x="548640" y="3461004"/>
            <a:ext cx="384048" cy="384048"/>
          </a:xfrm>
          <a:prstGeom prst="ellipse">
            <a:avLst/>
          </a:prstGeom>
          <a:solidFill>
            <a:srgbClr val="0645A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 tIns="0" bIns="0"/>
          <a:lstStyle/>
          <a:p>
            <a:pPr algn="ctr"/>
            <a:r>
              <a:rPr sz="1300" b="1">
                <a:solidFill>
                  <a:srgbClr val="FFFFFF"/>
                </a:solidFill>
                <a:latin typeface="Calibri"/>
              </a:rPr>
              <a:t>2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1143000" y="3218688"/>
            <a:ext cx="5943600" cy="868680"/>
          </a:xfrm>
          <a:prstGeom prst="rect">
            <a:avLst/>
          </a:prstGeom>
          <a:noFill/>
        </p:spPr>
        <p:txBody>
          <a:bodyPr wrap="square" anchor="ctr" lIns="0" rIns="0" tIns="0" bIns="0"/>
          <a:lstStyle/>
          <a:p>
            <a:pPr algn="l"/>
            <a:r>
              <a:rPr sz="1700" b="0" i="0">
                <a:solidFill>
                  <a:srgbClr val="202122"/>
                </a:solidFill>
                <a:latin typeface="Calibri"/>
              </a:rPr>
              <a:t>Add the 12 ticket cards from your teacher.</a:t>
            </a:r>
          </a:p>
        </p:txBody>
      </p:sp>
      <p:sp>
        <p:nvSpPr>
          <p:cNvPr id="13" name="Oval 12"/>
          <p:cNvSpPr/>
          <p:nvPr/>
        </p:nvSpPr>
        <p:spPr>
          <a:xfrm>
            <a:off x="548640" y="4439412"/>
            <a:ext cx="384048" cy="384048"/>
          </a:xfrm>
          <a:prstGeom prst="ellipse">
            <a:avLst/>
          </a:prstGeom>
          <a:solidFill>
            <a:srgbClr val="0645A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 tIns="0" bIns="0"/>
          <a:lstStyle/>
          <a:p>
            <a:pPr algn="ctr"/>
            <a:r>
              <a:rPr sz="1300" b="1">
                <a:solidFill>
                  <a:srgbClr val="FFFFFF"/>
                </a:solidFill>
                <a:latin typeface="Calibri"/>
              </a:rPr>
              <a:t>3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1143000" y="4197096"/>
            <a:ext cx="5943600" cy="868680"/>
          </a:xfrm>
          <a:prstGeom prst="rect">
            <a:avLst/>
          </a:prstGeom>
          <a:noFill/>
        </p:spPr>
        <p:txBody>
          <a:bodyPr wrap="square" anchor="ctr" lIns="0" rIns="0" tIns="0" bIns="0"/>
          <a:lstStyle/>
          <a:p>
            <a:pPr algn="l"/>
            <a:r>
              <a:rPr sz="1700" b="0" i="0">
                <a:solidFill>
                  <a:srgbClr val="202122"/>
                </a:solidFill>
                <a:latin typeface="Calibri"/>
              </a:rPr>
              <a:t>Set a WIP limit and play three 'rounds' of work, adding new tickets each round.</a:t>
            </a:r>
          </a:p>
        </p:txBody>
      </p:sp>
      <p:sp>
        <p:nvSpPr>
          <p:cNvPr id="15" name="Oval 14"/>
          <p:cNvSpPr/>
          <p:nvPr/>
        </p:nvSpPr>
        <p:spPr>
          <a:xfrm>
            <a:off x="548640" y="5417820"/>
            <a:ext cx="384048" cy="384048"/>
          </a:xfrm>
          <a:prstGeom prst="ellipse">
            <a:avLst/>
          </a:prstGeom>
          <a:solidFill>
            <a:srgbClr val="0645A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 tIns="0" bIns="0"/>
          <a:lstStyle/>
          <a:p>
            <a:pPr algn="ctr"/>
            <a:r>
              <a:rPr sz="1300" b="1">
                <a:solidFill>
                  <a:srgbClr val="FFFFFF"/>
                </a:solidFill>
                <a:latin typeface="Calibri"/>
              </a:rPr>
              <a:t>4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1143000" y="5175504"/>
            <a:ext cx="5943600" cy="868680"/>
          </a:xfrm>
          <a:prstGeom prst="rect">
            <a:avLst/>
          </a:prstGeom>
          <a:noFill/>
        </p:spPr>
        <p:txBody>
          <a:bodyPr wrap="square" anchor="ctr" lIns="0" rIns="0" tIns="0" bIns="0"/>
          <a:lstStyle/>
          <a:p>
            <a:pPr algn="l"/>
            <a:r>
              <a:rPr sz="1700" b="0" i="0">
                <a:solidFill>
                  <a:srgbClr val="202122"/>
                </a:solidFill>
                <a:latin typeface="Calibri"/>
              </a:rPr>
              <a:t>Identify the bottleneck and suggest a fix.</a:t>
            </a:r>
          </a:p>
        </p:txBody>
      </p:sp>
      <p:sp>
        <p:nvSpPr>
          <p:cNvPr id="17" name="Rounded Rectangle 16"/>
          <p:cNvSpPr/>
          <p:nvPr/>
        </p:nvSpPr>
        <p:spPr>
          <a:xfrm>
            <a:off x="7772400" y="1508760"/>
            <a:ext cx="3867912" cy="4572000"/>
          </a:xfrm>
          <a:prstGeom prst="roundRect">
            <a:avLst>
              <a:gd name="adj" fmla="val 8000"/>
            </a:avLst>
          </a:prstGeom>
          <a:solidFill>
            <a:srgbClr val="EAF3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8" name="TextBox 17"/>
          <p:cNvSpPr txBox="1"/>
          <p:nvPr/>
        </p:nvSpPr>
        <p:spPr>
          <a:xfrm>
            <a:off x="8046720" y="1737360"/>
            <a:ext cx="3291840" cy="365760"/>
          </a:xfrm>
          <a:prstGeom prst="rect">
            <a:avLst/>
          </a:prstGeom>
          <a:noFill/>
        </p:spPr>
        <p:txBody>
          <a:bodyPr wrap="square" anchor="t" lIns="0" rIns="0" tIns="0" bIns="0"/>
          <a:lstStyle/>
          <a:p>
            <a:pPr algn="l"/>
            <a:r>
              <a:rPr sz="1300" b="1" i="0">
                <a:solidFill>
                  <a:srgbClr val="0645AD"/>
                </a:solidFill>
                <a:latin typeface="Calibri"/>
              </a:rPr>
              <a:t>SUCCESS CRITERIA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8046720" y="2240280"/>
            <a:ext cx="3337560" cy="365760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marL="274320" indent="-274320">
              <a:spcAft>
                <a:spcPts val="810"/>
              </a:spcAft>
              <a:buClr>
                <a:srgbClr val="0645AD"/>
              </a:buClr>
              <a:buFont typeface="Arial"/>
              <a:buChar char="•"/>
            </a:pPr>
            <a:r>
              <a:rPr sz="1800" b="0">
                <a:solidFill>
                  <a:srgbClr val="202122"/>
                </a:solidFill>
                <a:latin typeface="Calibri"/>
              </a:rPr>
              <a:t>WIP limit respected</a:t>
            </a:r>
          </a:p>
          <a:p>
            <a:pPr marL="274320" indent="-274320">
              <a:spcAft>
                <a:spcPts val="810"/>
              </a:spcAft>
              <a:buClr>
                <a:srgbClr val="0645AD"/>
              </a:buClr>
              <a:buFont typeface="Arial"/>
              <a:buChar char="•"/>
            </a:pPr>
            <a:r>
              <a:rPr sz="1800" b="0">
                <a:solidFill>
                  <a:srgbClr val="202122"/>
                </a:solidFill>
                <a:latin typeface="Calibri"/>
              </a:rPr>
              <a:t>Priorities are sensible</a:t>
            </a:r>
          </a:p>
          <a:p>
            <a:pPr marL="274320" indent="-274320">
              <a:spcAft>
                <a:spcPts val="810"/>
              </a:spcAft>
              <a:buClr>
                <a:srgbClr val="0645AD"/>
              </a:buClr>
              <a:buFont typeface="Arial"/>
              <a:buChar char="•"/>
            </a:pPr>
            <a:r>
              <a:rPr sz="1800" b="0">
                <a:solidFill>
                  <a:srgbClr val="202122"/>
                </a:solidFill>
                <a:latin typeface="Calibri"/>
              </a:rPr>
              <a:t>Bottleneck identified with evidence</a:t>
            </a: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3306E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48640" y="320040"/>
            <a:ext cx="11094415" cy="274320"/>
          </a:xfrm>
          <a:prstGeom prst="rect">
            <a:avLst/>
          </a:prstGeom>
          <a:noFill/>
        </p:spPr>
        <p:txBody>
          <a:bodyPr wrap="square" anchor="t" lIns="0" rIns="0" tIns="0" bIns="0"/>
          <a:lstStyle/>
          <a:p>
            <a:pPr algn="l"/>
            <a:r>
              <a:rPr sz="1100" b="1" i="0">
                <a:solidFill>
                  <a:srgbClr val="A9C8F0"/>
                </a:solidFill>
                <a:latin typeface="Calibri"/>
              </a:rPr>
              <a:t>DIGITAL SUPPORT  ·  Digital Support Content Area 2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48640" y="566928"/>
            <a:ext cx="11094415" cy="822960"/>
          </a:xfrm>
          <a:prstGeom prst="rect">
            <a:avLst/>
          </a:prstGeom>
          <a:noFill/>
        </p:spPr>
        <p:txBody>
          <a:bodyPr wrap="square" anchor="ctr" lIns="0" rIns="0" tIns="0" bIns="0"/>
          <a:lstStyle/>
          <a:p>
            <a:pPr algn="l"/>
            <a:r>
              <a:rPr sz="3200" b="1" i="0">
                <a:solidFill>
                  <a:srgbClr val="FFFFFF"/>
                </a:solidFill>
                <a:latin typeface="Cambria"/>
              </a:rPr>
              <a:t>Exit ticket</a:t>
            </a:r>
          </a:p>
        </p:txBody>
      </p:sp>
      <p:sp>
        <p:nvSpPr>
          <p:cNvPr id="4" name="Oval 3"/>
          <p:cNvSpPr/>
          <p:nvPr/>
        </p:nvSpPr>
        <p:spPr>
          <a:xfrm>
            <a:off x="548640" y="1737360"/>
            <a:ext cx="502920" cy="502920"/>
          </a:xfrm>
          <a:prstGeom prst="ellipse">
            <a:avLst/>
          </a:prstGeom>
          <a:solidFill>
            <a:srgbClr val="4EA1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 tIns="0" bIns="0"/>
          <a:lstStyle/>
          <a:p>
            <a:pPr algn="ctr"/>
            <a:r>
              <a:rPr sz="1700" b="1">
                <a:solidFill>
                  <a:srgbClr val="202122"/>
                </a:solidFill>
                <a:latin typeface="Calibri"/>
              </a:rPr>
              <a:t>1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325880" y="1645920"/>
            <a:ext cx="6583680" cy="822960"/>
          </a:xfrm>
          <a:prstGeom prst="rect">
            <a:avLst/>
          </a:prstGeom>
          <a:noFill/>
        </p:spPr>
        <p:txBody>
          <a:bodyPr wrap="square" anchor="ctr" lIns="0" rIns="0" tIns="0" bIns="0"/>
          <a:lstStyle/>
          <a:p>
            <a:pPr algn="l"/>
            <a:r>
              <a:rPr sz="2000" b="0" i="0">
                <a:solidFill>
                  <a:srgbClr val="FFFFFF"/>
                </a:solidFill>
                <a:latin typeface="Calibri"/>
              </a:rPr>
              <a:t>Which agile method suits a helpdesk best, and why?</a:t>
            </a:r>
          </a:p>
        </p:txBody>
      </p:sp>
      <p:sp>
        <p:nvSpPr>
          <p:cNvPr id="6" name="Oval 5"/>
          <p:cNvSpPr/>
          <p:nvPr/>
        </p:nvSpPr>
        <p:spPr>
          <a:xfrm>
            <a:off x="548640" y="2697480"/>
            <a:ext cx="502920" cy="502920"/>
          </a:xfrm>
          <a:prstGeom prst="ellipse">
            <a:avLst/>
          </a:prstGeom>
          <a:solidFill>
            <a:srgbClr val="4EA1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 tIns="0" bIns="0"/>
          <a:lstStyle/>
          <a:p>
            <a:pPr algn="ctr"/>
            <a:r>
              <a:rPr sz="1700" b="1">
                <a:solidFill>
                  <a:srgbClr val="202122"/>
                </a:solidFill>
                <a:latin typeface="Calibri"/>
              </a:rPr>
              <a:t>2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325880" y="2606040"/>
            <a:ext cx="6583680" cy="822960"/>
          </a:xfrm>
          <a:prstGeom prst="rect">
            <a:avLst/>
          </a:prstGeom>
          <a:noFill/>
        </p:spPr>
        <p:txBody>
          <a:bodyPr wrap="square" anchor="ctr" lIns="0" rIns="0" tIns="0" bIns="0"/>
          <a:lstStyle/>
          <a:p>
            <a:pPr algn="l"/>
            <a:r>
              <a:rPr sz="2000" b="0" i="0">
                <a:solidFill>
                  <a:srgbClr val="FFFFFF"/>
                </a:solidFill>
                <a:latin typeface="Calibri"/>
              </a:rPr>
              <a:t>What is a sprint?</a:t>
            </a:r>
          </a:p>
        </p:txBody>
      </p:sp>
      <p:sp>
        <p:nvSpPr>
          <p:cNvPr id="8" name="Oval 7"/>
          <p:cNvSpPr/>
          <p:nvPr/>
        </p:nvSpPr>
        <p:spPr>
          <a:xfrm>
            <a:off x="548640" y="3657600"/>
            <a:ext cx="502920" cy="502920"/>
          </a:xfrm>
          <a:prstGeom prst="ellipse">
            <a:avLst/>
          </a:prstGeom>
          <a:solidFill>
            <a:srgbClr val="4EA1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 tIns="0" bIns="0"/>
          <a:lstStyle/>
          <a:p>
            <a:pPr algn="ctr"/>
            <a:r>
              <a:rPr sz="1700" b="1">
                <a:solidFill>
                  <a:srgbClr val="202122"/>
                </a:solidFill>
                <a:latin typeface="Calibri"/>
              </a:rPr>
              <a:t>3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1325880" y="3566160"/>
            <a:ext cx="6583680" cy="822960"/>
          </a:xfrm>
          <a:prstGeom prst="rect">
            <a:avLst/>
          </a:prstGeom>
          <a:noFill/>
        </p:spPr>
        <p:txBody>
          <a:bodyPr wrap="square" anchor="ctr" lIns="0" rIns="0" tIns="0" bIns="0"/>
          <a:lstStyle/>
          <a:p>
            <a:pPr algn="l"/>
            <a:r>
              <a:rPr sz="2000" b="0" i="0">
                <a:solidFill>
                  <a:srgbClr val="FFFFFF"/>
                </a:solidFill>
                <a:latin typeface="Calibri"/>
              </a:rPr>
              <a:t>Give one 'Won't have' item for a project you know.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8229600" y="1645920"/>
            <a:ext cx="3410712" cy="2926080"/>
          </a:xfrm>
          <a:prstGeom prst="roundRect">
            <a:avLst>
              <a:gd name="adj" fmla="val 8000"/>
            </a:avLst>
          </a:prstGeom>
          <a:solidFill>
            <a:srgbClr val="0645A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1" name="TextBox 10"/>
          <p:cNvSpPr txBox="1"/>
          <p:nvPr/>
        </p:nvSpPr>
        <p:spPr>
          <a:xfrm>
            <a:off x="8503920" y="1874519"/>
            <a:ext cx="2926080" cy="365760"/>
          </a:xfrm>
          <a:prstGeom prst="rect">
            <a:avLst/>
          </a:prstGeom>
          <a:noFill/>
        </p:spPr>
        <p:txBody>
          <a:bodyPr wrap="square" anchor="t" lIns="0" rIns="0" tIns="0" bIns="0"/>
          <a:lstStyle/>
          <a:p>
            <a:pPr algn="l"/>
            <a:r>
              <a:rPr sz="1300" b="1" i="0">
                <a:solidFill>
                  <a:srgbClr val="A9C8F0"/>
                </a:solidFill>
                <a:latin typeface="Calibri"/>
              </a:rPr>
              <a:t>REVISE THIS TOPIC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8503920" y="2286000"/>
            <a:ext cx="2926080" cy="548640"/>
          </a:xfrm>
          <a:prstGeom prst="rect">
            <a:avLst/>
          </a:prstGeom>
          <a:noFill/>
        </p:spPr>
        <p:txBody>
          <a:bodyPr wrap="square" anchor="t" lIns="0" rIns="0" tIns="0" bIns="0"/>
          <a:lstStyle/>
          <a:p>
            <a:pPr algn="l"/>
            <a:r>
              <a:rPr sz="1400" b="0" i="0">
                <a:solidFill>
                  <a:srgbClr val="FFFFFF"/>
                </a:solidFill>
                <a:latin typeface="Calibri"/>
              </a:rPr>
              <a:t>Revision notes for this lesson are on the study wiki: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8503920" y="2926080"/>
            <a:ext cx="2926080" cy="1463040"/>
          </a:xfrm>
          <a:prstGeom prst="rect">
            <a:avLst/>
          </a:prstGeom>
          <a:noFill/>
        </p:spPr>
        <p:txBody>
          <a:bodyPr wrap="square" anchor="t" lIns="0" rIns="0" tIns="0" bIns="0"/>
          <a:lstStyle/>
          <a:p>
            <a:pPr algn="l"/>
            <a:r>
              <a:rPr sz="1900" b="1" i="0">
                <a:solidFill>
                  <a:srgbClr val="FFFFFF"/>
                </a:solidFill>
                <a:latin typeface="Cambria"/>
              </a:rPr>
              <a:t>Digital Support - Installing, Configuring and Supporting Software and Operating Systems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548640" y="5669280"/>
            <a:ext cx="11094415" cy="548640"/>
          </a:xfrm>
          <a:prstGeom prst="rect">
            <a:avLst/>
          </a:prstGeom>
          <a:noFill/>
        </p:spPr>
        <p:txBody>
          <a:bodyPr wrap="square" anchor="t" lIns="0" rIns="0" tIns="0" bIns="0"/>
          <a:lstStyle/>
          <a:p>
            <a:pPr algn="l"/>
            <a:r>
              <a:rPr sz="1200" b="0" i="0">
                <a:solidFill>
                  <a:srgbClr val="A9C8F0"/>
                </a:solidFill>
                <a:latin typeface="Calibri"/>
              </a:rPr>
              <a:t>https://lana6478.github.io/Digital-Suport-and-security-T-levle/#/02-occupational-specialisms/digital-support/02-software-and-os-support.md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Agile Values and Methodologies</dc:title>
  <dc:subject>Digital Support and Security T Level: Digital Support Content Area 2</dc:subject>
  <dc:creator>Samuel O'Connell</dc:creator>
  <cp:keywords>T Level; Digital Support and Security; lesson slides; 2.1, 2.2</cp:keywords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