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Answers:</a:t>
            </a:r>
          </a:p>
          <a:p>
            <a:r>
              <a:t>1. To undo an update that causes problems.</a:t>
            </a:r>
          </a:p>
          <a:p>
            <a:r>
              <a:t>2. Any two: OS, drivers, firmware, anti-malware, applications.</a:t>
            </a:r>
          </a:p>
          <a:p>
            <a:r>
              <a:t>3. To catch problems before they affect everyone.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Answers:</a:t>
            </a:r>
          </a:p>
          <a:p>
            <a:r>
              <a:t>1. Identify and plan, acquire and implement, operate and maintain, decommission and redeploy.</a:t>
            </a:r>
          </a:p>
          <a:p>
            <a:r>
              <a:t>2. To stay legal and avoid paying for unused ones.</a:t>
            </a:r>
          </a:p>
          <a:p>
            <a:r>
              <a:t>3. Old assets are retired, reused or disposed 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Answers:</a:t>
            </a:r>
          </a:p>
          <a:p>
            <a:r>
              <a:t>1. Locate it and remotely wipe it.</a:t>
            </a:r>
          </a:p>
          <a:p>
            <a:r>
              <a:t>2. To keep company data apart and protected.</a:t>
            </a:r>
          </a:p>
          <a:p>
            <a:r>
              <a:t>3. Any two: screen lock, encryption, password rules, login limits, MFA.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a few minutes to answer on mini whiteboards or paper, then reveal the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through any answers the class found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answer on a sticky note or in the chat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1005840"/>
            <a:ext cx="3291840" cy="3291840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966960" y="3200400"/>
            <a:ext cx="2377440" cy="237744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138160" y="4023360"/>
            <a:ext cx="1371600" cy="1371600"/>
          </a:xfrm>
          <a:prstGeom prst="ellipse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4EA1FF"/>
                </a:solidFill>
                <a:latin typeface="Calibri"/>
              </a:rPr>
              <a:t>DIGITAL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22860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Asset, Version and Mobile Device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A9C8F0"/>
                </a:solidFill>
                <a:latin typeface="Calibri"/>
              </a:rPr>
              <a:t>Digital Support Content Area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A9C8F0"/>
                </a:solidFill>
                <a:latin typeface="Calibri"/>
              </a:rPr>
              <a:t>Specification reference: 2.24 to 2.26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Digital Support and Security T Level  ·  Lesson slides</a:t>
            </a:r>
          </a:p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Unofficial teaching resource. Check the official Pearson specification for assessment detail.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SUPPORT  ·  Digital Support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Asset, Version and Mobile Device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34565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Describe version control management, including patching and rollback.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74695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5181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Describe the stages of the asset management process.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14825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09193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Explain the purpose and features of mobile device management.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354954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513206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Configure MDM settings for a device.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0876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STARTER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19456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03306E"/>
                </a:solidFill>
                <a:latin typeface="Cambria"/>
              </a:rPr>
              <a:t>A member of staff leaves a work phone on the bus. What would you want to be able to do from your desk?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SUPPORT  ·  Digital Support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Version control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Asset, Version and Mobile Device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6720840" cy="4617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320"/>
              </a:spcAft>
            </a:pPr>
            <a:r>
              <a:rPr sz="2200" b="0">
                <a:solidFill>
                  <a:srgbClr val="202122"/>
                </a:solidFill>
                <a:latin typeface="Calibri"/>
              </a:rPr>
              <a:t>Keeping software versions under control stops chaos.</a:t>
            </a:r>
          </a:p>
          <a:p>
            <a:pPr>
              <a:spcAft>
                <a:spcPts val="1320"/>
              </a:spcAft>
            </a:pPr>
            <a:r>
              <a:rPr sz="2200" b="0">
                <a:solidFill>
                  <a:srgbClr val="202122"/>
                </a:solidFill>
                <a:latin typeface="Calibri"/>
              </a:rPr>
              <a:t>Fresh installations cover the OS, applications, utilities and licensing. Patching and updating covers system updates, drivers and firmware, anti-malware definitions and applications.</a:t>
            </a:r>
          </a:p>
          <a:p>
            <a:pPr>
              <a:spcAft>
                <a:spcPts val="1320"/>
              </a:spcAft>
            </a:pPr>
            <a:r>
              <a:rPr sz="2200" b="0">
                <a:solidFill>
                  <a:srgbClr val="202122"/>
                </a:solidFill>
                <a:latin typeface="Calibri"/>
              </a:rPr>
              <a:t>Every update needs a rollback procedure, such as rolling back a device driver or uninstalling a failed OS update, in case it causes problems.</a:t>
            </a:r>
          </a:p>
          <a:p>
            <a:pPr>
              <a:spcAft>
                <a:spcPts val="1320"/>
              </a:spcAft>
            </a:pPr>
            <a:r>
              <a:rPr sz="2200" b="0">
                <a:solidFill>
                  <a:srgbClr val="202122"/>
                </a:solidFill>
                <a:latin typeface="Calibri"/>
              </a:rPr>
              <a:t>Updates are deployed with network tools such as Group Policy, tested first, and released in a controlled way rather than all at once.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55448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28800"/>
            <a:ext cx="548640" cy="54864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02122"/>
                </a:solidFill>
                <a:latin typeface="Calibri"/>
              </a:rPr>
              <a:t>e.g.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5603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971800"/>
            <a:ext cx="3291840" cy="2971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900" b="0" i="0">
                <a:solidFill>
                  <a:srgbClr val="FFFFFF"/>
                </a:solidFill>
                <a:latin typeface="Cambria"/>
              </a:rPr>
              <a:t>A graphics driver update makes screens flicker on 30 PCs. The technician rolls back the driver through Group Policy and pauses the update.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SUPPORT  ·  Digital Support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Version control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Asset, Version and Mobile Device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Installing and updating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59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Fresh installs:</a:t>
            </a:r>
            <a:r>
              <a:rPr sz="2200" b="0">
                <a:solidFill>
                  <a:srgbClr val="202122"/>
                </a:solidFill>
                <a:latin typeface="Calibri"/>
              </a:rPr>
              <a:t> OS, applications, utilities, licensing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Patches:</a:t>
            </a:r>
            <a:r>
              <a:rPr sz="2200" b="0">
                <a:solidFill>
                  <a:srgbClr val="202122"/>
                </a:solidFill>
                <a:latin typeface="Calibri"/>
              </a:rPr>
              <a:t> system, driver, firmware, anti-malware, application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Deployed with network tools such as Group Policy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07327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Controlling change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Rollback procedures, e.g. a device driver or failed OS update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Testing before release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Release control across local and network installs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SUPPORT  ·  Digital Support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Quick check: Version control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Asset, Version and Mobile Device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5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4592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Why have a rollback procedure?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06324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Name two things that get patched.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526280"/>
            <a:ext cx="502920" cy="50292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48056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Why test updates before releasing them?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1">
                <a:solidFill>
                  <a:srgbClr val="54595D"/>
                </a:solidFill>
                <a:latin typeface="Calibri"/>
              </a:rPr>
              <a:t>Answer on mini whiteboards or in your book. Answers are in the speaker notes.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SUPPORT  ·  Digital Support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The asset management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Asset, Version and Mobile Device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6720840" cy="4617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320"/>
              </a:spcAft>
            </a:pPr>
            <a:r>
              <a:rPr sz="2200" b="0">
                <a:solidFill>
                  <a:srgbClr val="202122"/>
                </a:solidFill>
                <a:latin typeface="Calibri"/>
              </a:rPr>
              <a:t>Asset management tracks every piece of hardware and software through its life.</a:t>
            </a:r>
          </a:p>
          <a:p>
            <a:pPr>
              <a:spcAft>
                <a:spcPts val="1320"/>
              </a:spcAft>
            </a:pPr>
            <a:r>
              <a:rPr sz="2200" b="1">
                <a:solidFill>
                  <a:srgbClr val="202122"/>
                </a:solidFill>
                <a:latin typeface="Calibri"/>
              </a:rPr>
              <a:t>Identification and planning:</a:t>
            </a:r>
            <a:r>
              <a:rPr sz="2200" b="0">
                <a:solidFill>
                  <a:srgbClr val="202122"/>
                </a:solidFill>
                <a:latin typeface="Calibri"/>
              </a:rPr>
              <a:t> what do users and the organisation need, within what constraints, and how will it be deployed? Acquisition and implementation: source it and integrate it into current systems. Operation and maintenance: track licences and respond to requests. Decommissioning and redeployment: retire old systems, reuse what's still good, and manage the profiles of people joining and leaving.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55448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28800"/>
            <a:ext cx="548640" cy="54864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02122"/>
                </a:solidFill>
                <a:latin typeface="Calibri"/>
              </a:rPr>
              <a:t>e.g.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5603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971800"/>
            <a:ext cx="3291840" cy="2971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900" b="0" i="0">
                <a:solidFill>
                  <a:srgbClr val="FFFFFF"/>
                </a:solidFill>
                <a:latin typeface="Cambria"/>
              </a:rPr>
              <a:t>An asset register shows 20 unused software licences. They're reassigned to new starters instead of buying more, saving money.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SUPPORT  ·  Digital Support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The asset management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Asset, Version and Mobile Device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1884006" y="2656332"/>
            <a:ext cx="8423681" cy="36576"/>
          </a:xfrm>
          <a:prstGeom prst="rect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1563966" y="2354580"/>
            <a:ext cx="640080" cy="6400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31820"/>
            <a:ext cx="2670733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Identify and plan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909060"/>
            <a:ext cx="2670733" cy="150876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5800" y="4046220"/>
            <a:ext cx="2396413" cy="123443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User and organisational needs, constraints, deployment strategy.</a:t>
            </a:r>
          </a:p>
        </p:txBody>
      </p:sp>
      <p:sp>
        <p:nvSpPr>
          <p:cNvPr id="11" name="Oval 10"/>
          <p:cNvSpPr/>
          <p:nvPr/>
        </p:nvSpPr>
        <p:spPr>
          <a:xfrm>
            <a:off x="4371860" y="2354580"/>
            <a:ext cx="640080" cy="6400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56533" y="3131820"/>
            <a:ext cx="2670733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Acquire and implement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56533" y="3909060"/>
            <a:ext cx="2670733" cy="150876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493693" y="4046220"/>
            <a:ext cx="2396413" cy="123443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Source hardware and software, integrate it.</a:t>
            </a:r>
          </a:p>
        </p:txBody>
      </p:sp>
      <p:sp>
        <p:nvSpPr>
          <p:cNvPr id="15" name="Oval 14"/>
          <p:cNvSpPr/>
          <p:nvPr/>
        </p:nvSpPr>
        <p:spPr>
          <a:xfrm>
            <a:off x="7179754" y="2354580"/>
            <a:ext cx="640080" cy="6400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64427" y="3131820"/>
            <a:ext cx="2670733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Operate and maintain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4427" y="3909060"/>
            <a:ext cx="2670733" cy="150876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301587" y="4046220"/>
            <a:ext cx="2396413" cy="123443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Track licences, respond to requests.</a:t>
            </a:r>
          </a:p>
        </p:txBody>
      </p:sp>
      <p:sp>
        <p:nvSpPr>
          <p:cNvPr id="19" name="Oval 18"/>
          <p:cNvSpPr/>
          <p:nvPr/>
        </p:nvSpPr>
        <p:spPr>
          <a:xfrm>
            <a:off x="9987648" y="2354580"/>
            <a:ext cx="640080" cy="6400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72321" y="3131820"/>
            <a:ext cx="2670733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Decommission and redeploy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72321" y="3909060"/>
            <a:ext cx="2670733" cy="150876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109481" y="4046220"/>
            <a:ext cx="2396413" cy="123443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Retire old kit, manage joiners and leavers.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SUPPORT  ·  Digital Support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Quick check: The asset management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Asset, Version and Mobile Device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8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4592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Name the four stages.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06324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Why track licences?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526280"/>
            <a:ext cx="502920" cy="50292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48056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What happens at decommissioning?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1">
                <a:solidFill>
                  <a:srgbClr val="54595D"/>
                </a:solidFill>
                <a:latin typeface="Calibri"/>
              </a:rPr>
              <a:t>Answer on mini whiteboards or in your book. Answers are in the speaker notes.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SUPPORT  ·  Digital Support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Mobile Device Management (MDM)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Asset, Version and Mobile Device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6720840" cy="4617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320"/>
              </a:spcAft>
            </a:pPr>
            <a:r>
              <a:rPr sz="2200" b="0">
                <a:solidFill>
                  <a:srgbClr val="202122"/>
                </a:solidFill>
                <a:latin typeface="Calibri"/>
              </a:rPr>
              <a:t>MDM software lets IT manage phones and tablets centrally.</a:t>
            </a:r>
          </a:p>
          <a:p>
            <a:pPr>
              <a:spcAft>
                <a:spcPts val="1320"/>
              </a:spcAft>
            </a:pPr>
            <a:r>
              <a:rPr sz="2200" b="0">
                <a:solidFill>
                  <a:srgbClr val="202122"/>
                </a:solidFill>
                <a:latin typeface="Calibri"/>
              </a:rPr>
              <a:t>It can track and locate devices, secure them and configure Wi-Fi, mobile data, hotspots, Bluetooth and email. It can separate work and personal profiles, so company data stays in the work area, and enforce policies such as a screen lock, encryption, password rules, login attempt limits and MFA.</a:t>
            </a:r>
          </a:p>
          <a:p>
            <a:pPr>
              <a:spcAft>
                <a:spcPts val="1320"/>
              </a:spcAft>
            </a:pPr>
            <a:r>
              <a:rPr sz="2200" b="0">
                <a:solidFill>
                  <a:srgbClr val="202122"/>
                </a:solidFill>
                <a:latin typeface="Calibri"/>
              </a:rPr>
              <a:t>Remotely, it can wipe a lost device, disable features, restrict app stores and control backup and sync.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55448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28800"/>
            <a:ext cx="548640" cy="54864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02122"/>
                </a:solidFill>
                <a:latin typeface="Calibri"/>
              </a:rPr>
              <a:t>e.g.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5603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971800"/>
            <a:ext cx="3291840" cy="2971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900" b="0" i="0">
                <a:solidFill>
                  <a:srgbClr val="FFFFFF"/>
                </a:solidFill>
                <a:latin typeface="Cambria"/>
              </a:rPr>
              <a:t>A manager leaves their phone on a train. IT locates it, then remotely wipes the work profile before anyone can access company email.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SUPPORT  ·  Digital Support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Mobile Device Management (MDM)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Asset, Version and Mobile Device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Purpose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Track, locate, secure and configure mobile devices: Wi-Fi, data, hotspot, Bluetooth, email.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6461607" y="1828800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5967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Applications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1607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Separate personal and work profiles; enforce policy.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Remote management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Remote wipe, disable features, restrict app stores and data, control backup.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461607" y="4251960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5967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Security features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1607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Screen lock, encryption, password rules, login limits, MFA, authenticator apps.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SUPPORT  ·  Digital Support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Quick check: Mobile Device Management (MDM)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Asset, Version and Mobile Device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11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4592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What can MDM do if a phone is lost?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06324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Why separate work and personal profiles?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526280"/>
            <a:ext cx="502920" cy="50292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48056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Name two security features MDM can enforce.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1">
                <a:solidFill>
                  <a:srgbClr val="54595D"/>
                </a:solidFill>
                <a:latin typeface="Calibri"/>
              </a:rPr>
              <a:t>Answer on mini whiteboards or in your book. Answers are in the speaker notes.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SUPPORT  ·  Digital Support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Asset, Version and Mobile Device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12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is a rollback procedure?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happens at the decommissioning stage of asset management?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does a remote wipe do?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Give two MDM security features.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SUPPORT  ·  Digital Support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Asset, Version and Mobile Device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13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is a rollback procedure?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 way to return to the previous version if an update fails.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happens at the decommissioning stage of asset management?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Old assets are removed or retired and leaver profiles managed.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does a remote wipe do?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Erases a lost or stolen device remotely.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Give two MDM security features.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Any two of: screen lock, encryption, password enforcement, login limits, MFA, authenticator apps.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SUPPORT  ·  Digital Support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Activity: Write an MDM 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Asset, Version and Mobile Device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202122"/>
                </a:solidFill>
                <a:latin typeface="Calibri"/>
              </a:rPr>
              <a:t>25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1">
                <a:solidFill>
                  <a:srgbClr val="54595D"/>
                </a:solidFill>
                <a:latin typeface="Calibri"/>
              </a:rPr>
              <a:t>Pairs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A charity is giving 25 staff smartphones for fieldwork.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61004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18688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Choose the MDM settings you would enforce and explain each.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9412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97096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Decide which features to disable and why.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17820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75504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Write the steps to follow when a phone is reported lost.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508760"/>
            <a:ext cx="3867912" cy="4572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SUCCESS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4028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Security and usability balanced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Lost-device steps include remote wipe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Personal data considered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A9C8F0"/>
                </a:solidFill>
                <a:latin typeface="Calibri"/>
              </a:rPr>
              <a:t>DIGITAL SUPPORT  ·  Digital Support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Exit ticket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4592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Why track software licences?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What is the benefit of separating work and personal profiles?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6616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Name one thing to do when a staff member leaves.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10712" cy="2926080"/>
          </a:xfrm>
          <a:prstGeom prst="roundRect">
            <a:avLst>
              <a:gd name="adj" fmla="val 8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REVISE THIS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Revision notes for this lesson are on the study wiki: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900" b="1" i="0">
                <a:solidFill>
                  <a:srgbClr val="FFFFFF"/>
                </a:solidFill>
                <a:latin typeface="Cambria"/>
              </a:rPr>
              <a:t>Digital Support - Installing, Configuring and Supporting Software and Operating Systems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A9C8F0"/>
                </a:solidFill>
                <a:latin typeface="Calibri"/>
              </a:rPr>
              <a:t>https://lana6478.github.io/Digital-Suport-and-security-T-levle/#/02-occupational-specialisms/digital-support/02-software-and-os-support.md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Asset, Version and Mobile Device Management</dc:title>
  <dc:subject>Digital Support and Security T Level: Digital Support Content Area 2</dc:subject>
  <dc:creator>Samuel O'Connell</dc:creator>
  <cp:keywords>T Level; Digital Support and Security; lesson slides; 2.24 to 2.26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