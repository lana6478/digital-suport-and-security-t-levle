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Any two: incident/request, knowledge, change, configuration/asset management.</a:t>
            </a:r>
          </a:p>
          <a:p>
            <a:r>
              <a:t>2. To see trends, share fixes and prove service levels.</a:t>
            </a:r>
          </a:p>
          <a:p>
            <a:r>
              <a:t>3. Licences, hardware, software requests and decommissioning.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Gather information.</a:t>
            </a:r>
          </a:p>
          <a:p>
            <a:r>
              <a:t>2. So you know which change fixed it.</a:t>
            </a:r>
          </a:p>
          <a:p>
            <a:r>
              <a:t>3. So the team can solve it faster next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Common, routine issues.</a:t>
            </a:r>
          </a:p>
          <a:p>
            <a:r>
              <a:t>2. When it's beyond the current line's skills or access.</a:t>
            </a:r>
          </a:p>
          <a:p>
            <a:r>
              <a:t>3. To stop former staff accessing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Fault card ideas: caps lock on, disconnected network cable, full mailbox, expired password, printer offline.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4EA1FF"/>
                </a:solidFill>
                <a:latin typeface="Calibri"/>
              </a:rPr>
              <a:t>DIGITAL SUPPORT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End-User Support and Troubleshooting</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Digital Support Content Area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2.5, 2.21 to 2.23, 2.28</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Describe the functions of a service management system (CMS).</a:t>
            </a:r>
          </a:p>
        </p:txBody>
      </p:sp>
      <p:sp>
        <p:nvSpPr>
          <p:cNvPr id="9" name="Oval 8"/>
          <p:cNvSpPr/>
          <p:nvPr/>
        </p:nvSpPr>
        <p:spPr>
          <a:xfrm>
            <a:off x="548640" y="3274695"/>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Apply a structured troubleshooting method and document it.</a:t>
            </a:r>
          </a:p>
        </p:txBody>
      </p:sp>
      <p:sp>
        <p:nvSpPr>
          <p:cNvPr id="11" name="Oval 10"/>
          <p:cNvSpPr/>
          <p:nvPr/>
        </p:nvSpPr>
        <p:spPr>
          <a:xfrm>
            <a:off x="548640" y="4314825"/>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Describe support processes for end users.</a:t>
            </a:r>
          </a:p>
        </p:txBody>
      </p:sp>
      <p:sp>
        <p:nvSpPr>
          <p:cNvPr id="13" name="Oval 12"/>
          <p:cNvSpPr/>
          <p:nvPr/>
        </p:nvSpPr>
        <p:spPr>
          <a:xfrm>
            <a:off x="548640" y="5354954"/>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Monitor and operate information systems and maintain service delivery.</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A user rings: 'The internet is broken.' Write down the first three questions you would ask.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What the CMS does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A service or content management system (CMS) is the support team's central tool.</a:t>
            </a:r>
          </a:p>
          <a:p>
            <a:pPr>
              <a:spcAft>
                <a:spcPts val="1320"/>
              </a:spcAft>
            </a:pPr>
            <a:r>
              <a:rPr sz="2200" b="0">
                <a:solidFill>
                  <a:srgbClr val="202122"/>
                </a:solidFill>
                <a:latin typeface="Calibri"/>
              </a:rPr>
              <a:t>Incident and request management logs, tracks, opens and closes tickets. Knowledge management collects fixes and spots training needs. Change management supports the rollout of new systems. Configuration and asset management tracks licences, hardware and software requests, and decommissioning.</a:t>
            </a:r>
          </a:p>
          <a:p>
            <a:pPr>
              <a:spcAft>
                <a:spcPts val="1320"/>
              </a:spcAft>
            </a:pPr>
            <a:r>
              <a:rPr sz="2200" b="0">
                <a:solidFill>
                  <a:srgbClr val="202122"/>
                </a:solidFill>
                <a:latin typeface="Calibri"/>
              </a:rPr>
              <a:t>Because everything is recorded, the team can see trends, share fixes and prove they met their service levels.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The CMS shows 40 tickets about the same VPN error this week: the team writes one knowledge article and fixes the root cause.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What the CMS does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Incidents and requests</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Log, track, open and close tickets.</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Knowledge</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Collate support knowledge and spot training needs.</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Change</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Support the rollout of new systems.</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Configuration and assets</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Licences, hardware and software requests, decommissioning.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What the CMS does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Name two CMS functions.</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record every ticket?</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asset management track?</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troubleshooting method</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A structured method stops you guessing.</a:t>
            </a:r>
          </a:p>
          <a:p>
            <a:pPr>
              <a:spcAft>
                <a:spcPts val="1320"/>
              </a:spcAft>
            </a:pPr>
            <a:r>
              <a:rPr sz="2200" b="1">
                <a:solidFill>
                  <a:srgbClr val="202122"/>
                </a:solidFill>
                <a:latin typeface="Calibri"/>
              </a:rPr>
              <a:t>Gather information:</a:t>
            </a:r>
            <a:r>
              <a:rPr sz="2200" b="0">
                <a:solidFill>
                  <a:srgbClr val="202122"/>
                </a:solidFill>
                <a:latin typeface="Calibri"/>
              </a:rPr>
              <a:t> what exactly happened, when, and what changed? Analyse the problem: rule out known fixes and common causes. Test the remaining possibilities one at a time. Resolve it: back up data, apply the fix, test it and repeat until it's solved. Document the cause and fix in the CMS. Prevent it recurring with a lasting control.</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'The internet is broken' turns out, after questions, to be one website failing on one PC. Clearing the DNS cache fixes it; the cause is documented.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troubleshooting method</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ectangle 5"/>
          <p:cNvSpPr/>
          <p:nvPr/>
        </p:nvSpPr>
        <p:spPr>
          <a:xfrm>
            <a:off x="1416024" y="2884932"/>
            <a:ext cx="9359646"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95984" y="258318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360420"/>
            <a:ext cx="1734769" cy="731520"/>
          </a:xfrm>
          <a:prstGeom prst="rect">
            <a:avLst/>
          </a:prstGeom>
          <a:noFill/>
        </p:spPr>
        <p:txBody>
          <a:bodyPr wrap="square" anchor="t" lIns="0" rIns="0" tIns="0" bIns="0"/>
          <a:lstStyle/>
          <a:p>
            <a:pPr algn="ctr"/>
            <a:r>
              <a:rPr sz="1700" b="1" i="0">
                <a:solidFill>
                  <a:srgbClr val="03306E"/>
                </a:solidFill>
                <a:latin typeface="Calibri"/>
              </a:rPr>
              <a:t>Gather</a:t>
            </a:r>
          </a:p>
        </p:txBody>
      </p:sp>
      <p:sp>
        <p:nvSpPr>
          <p:cNvPr id="9" name="Rounded Rectangle 8"/>
          <p:cNvSpPr/>
          <p:nvPr/>
        </p:nvSpPr>
        <p:spPr>
          <a:xfrm>
            <a:off x="548640" y="4137660"/>
            <a:ext cx="1734769" cy="10515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274820"/>
            <a:ext cx="1460449" cy="777239"/>
          </a:xfrm>
          <a:prstGeom prst="rect">
            <a:avLst/>
          </a:prstGeom>
          <a:noFill/>
        </p:spPr>
        <p:txBody>
          <a:bodyPr wrap="square" anchor="t" lIns="0" rIns="0" tIns="0" bIns="0"/>
          <a:lstStyle/>
          <a:p>
            <a:pPr algn="l"/>
            <a:r>
              <a:rPr sz="1400" b="0" i="0">
                <a:solidFill>
                  <a:srgbClr val="202122"/>
                </a:solidFill>
                <a:latin typeface="Calibri"/>
              </a:rPr>
              <a:t>Investigate the request and likely causes.</a:t>
            </a:r>
          </a:p>
        </p:txBody>
      </p:sp>
      <p:sp>
        <p:nvSpPr>
          <p:cNvPr id="11" name="Oval 10"/>
          <p:cNvSpPr/>
          <p:nvPr/>
        </p:nvSpPr>
        <p:spPr>
          <a:xfrm>
            <a:off x="2967913" y="258318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420569" y="3360420"/>
            <a:ext cx="1734769" cy="731520"/>
          </a:xfrm>
          <a:prstGeom prst="rect">
            <a:avLst/>
          </a:prstGeom>
          <a:noFill/>
        </p:spPr>
        <p:txBody>
          <a:bodyPr wrap="square" anchor="t" lIns="0" rIns="0" tIns="0" bIns="0"/>
          <a:lstStyle/>
          <a:p>
            <a:pPr algn="ctr"/>
            <a:r>
              <a:rPr sz="1700" b="1" i="0">
                <a:solidFill>
                  <a:srgbClr val="03306E"/>
                </a:solidFill>
                <a:latin typeface="Calibri"/>
              </a:rPr>
              <a:t>Analyse</a:t>
            </a:r>
          </a:p>
        </p:txBody>
      </p:sp>
      <p:sp>
        <p:nvSpPr>
          <p:cNvPr id="13" name="Rounded Rectangle 12"/>
          <p:cNvSpPr/>
          <p:nvPr/>
        </p:nvSpPr>
        <p:spPr>
          <a:xfrm>
            <a:off x="2420569" y="4137660"/>
            <a:ext cx="1734769" cy="10515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57729" y="4274820"/>
            <a:ext cx="1460449" cy="777239"/>
          </a:xfrm>
          <a:prstGeom prst="rect">
            <a:avLst/>
          </a:prstGeom>
          <a:noFill/>
        </p:spPr>
        <p:txBody>
          <a:bodyPr wrap="square" anchor="t" lIns="0" rIns="0" tIns="0" bIns="0"/>
          <a:lstStyle/>
          <a:p>
            <a:pPr algn="l"/>
            <a:r>
              <a:rPr sz="1400" b="0" i="0">
                <a:solidFill>
                  <a:srgbClr val="202122"/>
                </a:solidFill>
                <a:latin typeface="Calibri"/>
              </a:rPr>
              <a:t>Rule out known fixes and causes.</a:t>
            </a:r>
          </a:p>
        </p:txBody>
      </p:sp>
      <p:sp>
        <p:nvSpPr>
          <p:cNvPr id="15" name="Oval 14"/>
          <p:cNvSpPr/>
          <p:nvPr/>
        </p:nvSpPr>
        <p:spPr>
          <a:xfrm>
            <a:off x="4839843" y="258318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4292498" y="3360420"/>
            <a:ext cx="1734769" cy="731520"/>
          </a:xfrm>
          <a:prstGeom prst="rect">
            <a:avLst/>
          </a:prstGeom>
          <a:noFill/>
        </p:spPr>
        <p:txBody>
          <a:bodyPr wrap="square" anchor="t" lIns="0" rIns="0" tIns="0" bIns="0"/>
          <a:lstStyle/>
          <a:p>
            <a:pPr algn="ctr"/>
            <a:r>
              <a:rPr sz="1700" b="1" i="0">
                <a:solidFill>
                  <a:srgbClr val="03306E"/>
                </a:solidFill>
                <a:latin typeface="Calibri"/>
              </a:rPr>
              <a:t>Test</a:t>
            </a:r>
          </a:p>
        </p:txBody>
      </p:sp>
      <p:sp>
        <p:nvSpPr>
          <p:cNvPr id="17" name="Rounded Rectangle 16"/>
          <p:cNvSpPr/>
          <p:nvPr/>
        </p:nvSpPr>
        <p:spPr>
          <a:xfrm>
            <a:off x="4292498" y="4137660"/>
            <a:ext cx="1734769" cy="10515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29658" y="4274820"/>
            <a:ext cx="1460449" cy="777239"/>
          </a:xfrm>
          <a:prstGeom prst="rect">
            <a:avLst/>
          </a:prstGeom>
          <a:noFill/>
        </p:spPr>
        <p:txBody>
          <a:bodyPr wrap="square" anchor="t" lIns="0" rIns="0" tIns="0" bIns="0"/>
          <a:lstStyle/>
          <a:p>
            <a:pPr algn="l"/>
            <a:r>
              <a:rPr sz="1400" b="0" i="0">
                <a:solidFill>
                  <a:srgbClr val="202122"/>
                </a:solidFill>
                <a:latin typeface="Calibri"/>
              </a:rPr>
              <a:t>Test the remaining possibilities.</a:t>
            </a:r>
          </a:p>
        </p:txBody>
      </p:sp>
      <p:sp>
        <p:nvSpPr>
          <p:cNvPr id="19" name="Oval 18"/>
          <p:cNvSpPr/>
          <p:nvPr/>
        </p:nvSpPr>
        <p:spPr>
          <a:xfrm>
            <a:off x="6711772" y="258318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6164427" y="3360420"/>
            <a:ext cx="1734769" cy="731520"/>
          </a:xfrm>
          <a:prstGeom prst="rect">
            <a:avLst/>
          </a:prstGeom>
          <a:noFill/>
        </p:spPr>
        <p:txBody>
          <a:bodyPr wrap="square" anchor="t" lIns="0" rIns="0" tIns="0" bIns="0"/>
          <a:lstStyle/>
          <a:p>
            <a:pPr algn="ctr"/>
            <a:r>
              <a:rPr sz="1700" b="1" i="0">
                <a:solidFill>
                  <a:srgbClr val="03306E"/>
                </a:solidFill>
                <a:latin typeface="Calibri"/>
              </a:rPr>
              <a:t>Resolve</a:t>
            </a:r>
          </a:p>
        </p:txBody>
      </p:sp>
      <p:sp>
        <p:nvSpPr>
          <p:cNvPr id="21" name="Rounded Rectangle 20"/>
          <p:cNvSpPr/>
          <p:nvPr/>
        </p:nvSpPr>
        <p:spPr>
          <a:xfrm>
            <a:off x="6164427" y="4137660"/>
            <a:ext cx="1734769" cy="10515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01587" y="4274820"/>
            <a:ext cx="1460449" cy="777239"/>
          </a:xfrm>
          <a:prstGeom prst="rect">
            <a:avLst/>
          </a:prstGeom>
          <a:noFill/>
        </p:spPr>
        <p:txBody>
          <a:bodyPr wrap="square" anchor="t" lIns="0" rIns="0" tIns="0" bIns="0"/>
          <a:lstStyle/>
          <a:p>
            <a:pPr algn="l"/>
            <a:r>
              <a:rPr sz="1400" b="0" i="0">
                <a:solidFill>
                  <a:srgbClr val="202122"/>
                </a:solidFill>
                <a:latin typeface="Calibri"/>
              </a:rPr>
              <a:t>Back up, fix, test, repeat until solved.</a:t>
            </a:r>
          </a:p>
        </p:txBody>
      </p:sp>
      <p:sp>
        <p:nvSpPr>
          <p:cNvPr id="23" name="Oval 22"/>
          <p:cNvSpPr/>
          <p:nvPr/>
        </p:nvSpPr>
        <p:spPr>
          <a:xfrm>
            <a:off x="8583701" y="258318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8036356" y="3360420"/>
            <a:ext cx="1734769" cy="731520"/>
          </a:xfrm>
          <a:prstGeom prst="rect">
            <a:avLst/>
          </a:prstGeom>
          <a:noFill/>
        </p:spPr>
        <p:txBody>
          <a:bodyPr wrap="square" anchor="t" lIns="0" rIns="0" tIns="0" bIns="0"/>
          <a:lstStyle/>
          <a:p>
            <a:pPr algn="ctr"/>
            <a:r>
              <a:rPr sz="1700" b="1" i="0">
                <a:solidFill>
                  <a:srgbClr val="03306E"/>
                </a:solidFill>
                <a:latin typeface="Calibri"/>
              </a:rPr>
              <a:t>Document</a:t>
            </a:r>
          </a:p>
        </p:txBody>
      </p:sp>
      <p:sp>
        <p:nvSpPr>
          <p:cNvPr id="25" name="Rounded Rectangle 24"/>
          <p:cNvSpPr/>
          <p:nvPr/>
        </p:nvSpPr>
        <p:spPr>
          <a:xfrm>
            <a:off x="8036356" y="4137660"/>
            <a:ext cx="1734769" cy="10515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73516" y="4274820"/>
            <a:ext cx="1460449" cy="777239"/>
          </a:xfrm>
          <a:prstGeom prst="rect">
            <a:avLst/>
          </a:prstGeom>
          <a:noFill/>
        </p:spPr>
        <p:txBody>
          <a:bodyPr wrap="square" anchor="t" lIns="0" rIns="0" tIns="0" bIns="0"/>
          <a:lstStyle/>
          <a:p>
            <a:pPr algn="l"/>
            <a:r>
              <a:rPr sz="1400" b="0" i="0">
                <a:solidFill>
                  <a:srgbClr val="202122"/>
                </a:solidFill>
                <a:latin typeface="Calibri"/>
              </a:rPr>
              <a:t>Record cause and solution in the CMS.</a:t>
            </a:r>
          </a:p>
        </p:txBody>
      </p:sp>
      <p:sp>
        <p:nvSpPr>
          <p:cNvPr id="27" name="Oval 26"/>
          <p:cNvSpPr/>
          <p:nvPr/>
        </p:nvSpPr>
        <p:spPr>
          <a:xfrm>
            <a:off x="10455630" y="2583180"/>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6</a:t>
            </a:r>
          </a:p>
        </p:txBody>
      </p:sp>
      <p:sp>
        <p:nvSpPr>
          <p:cNvPr id="28" name="TextBox 27"/>
          <p:cNvSpPr txBox="1"/>
          <p:nvPr/>
        </p:nvSpPr>
        <p:spPr>
          <a:xfrm>
            <a:off x="9908286" y="3360420"/>
            <a:ext cx="1734769" cy="731520"/>
          </a:xfrm>
          <a:prstGeom prst="rect">
            <a:avLst/>
          </a:prstGeom>
          <a:noFill/>
        </p:spPr>
        <p:txBody>
          <a:bodyPr wrap="square" anchor="t" lIns="0" rIns="0" tIns="0" bIns="0"/>
          <a:lstStyle/>
          <a:p>
            <a:pPr algn="ctr"/>
            <a:r>
              <a:rPr sz="1700" b="1" i="0">
                <a:solidFill>
                  <a:srgbClr val="03306E"/>
                </a:solidFill>
                <a:latin typeface="Calibri"/>
              </a:rPr>
              <a:t>Prevent</a:t>
            </a:r>
          </a:p>
        </p:txBody>
      </p:sp>
      <p:sp>
        <p:nvSpPr>
          <p:cNvPr id="29" name="Rounded Rectangle 28"/>
          <p:cNvSpPr/>
          <p:nvPr/>
        </p:nvSpPr>
        <p:spPr>
          <a:xfrm>
            <a:off x="9908286" y="4137660"/>
            <a:ext cx="1734769" cy="10515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45446" y="4274820"/>
            <a:ext cx="1460449" cy="777239"/>
          </a:xfrm>
          <a:prstGeom prst="rect">
            <a:avLst/>
          </a:prstGeom>
          <a:noFill/>
        </p:spPr>
        <p:txBody>
          <a:bodyPr wrap="square" anchor="t" lIns="0" rIns="0" tIns="0" bIns="0"/>
          <a:lstStyle/>
          <a:p>
            <a:pPr algn="l"/>
            <a:r>
              <a:rPr sz="1400" b="0" i="0">
                <a:solidFill>
                  <a:srgbClr val="202122"/>
                </a:solidFill>
                <a:latin typeface="Calibri"/>
              </a:rPr>
              <a:t>Apply controls so it does not recur.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The troubleshooting method</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first step?</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test one possibility at a time?</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document the fix?</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Support processes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Day-to-day support covers a lot of routine work.</a:t>
            </a:r>
          </a:p>
          <a:p>
            <a:pPr>
              <a:spcAft>
                <a:spcPts val="1260"/>
              </a:spcAft>
            </a:pPr>
            <a:r>
              <a:rPr sz="2100" b="1">
                <a:solidFill>
                  <a:srgbClr val="202122"/>
                </a:solidFill>
                <a:latin typeface="Calibri"/>
              </a:rPr>
              <a:t>User management:</a:t>
            </a:r>
            <a:r>
              <a:rPr sz="2100" b="0">
                <a:solidFill>
                  <a:srgbClr val="202122"/>
                </a:solidFill>
                <a:latin typeface="Calibri"/>
              </a:rPr>
              <a:t> adding and removing accounts and setting access hours. Password management: complexity, expiry and forced resets. Permissions: access to resources, Group Policy and shared folders. Software installation and connecting users to remote resources.</a:t>
            </a:r>
          </a:p>
          <a:p>
            <a:pPr>
              <a:spcAft>
                <a:spcPts val="1260"/>
              </a:spcAft>
            </a:pPr>
            <a:r>
              <a:rPr sz="2100" b="1">
                <a:solidFill>
                  <a:srgbClr val="202122"/>
                </a:solidFill>
                <a:latin typeface="Calibri"/>
              </a:rPr>
              <a:t>Fault identification and escalation:</a:t>
            </a:r>
            <a:r>
              <a:rPr sz="2100" b="0">
                <a:solidFill>
                  <a:srgbClr val="202122"/>
                </a:solidFill>
                <a:latin typeface="Calibri"/>
              </a:rPr>
              <a:t> first line handles common issues, second line deeper technical problems, third line specialists and suppliers.</a:t>
            </a:r>
          </a:p>
          <a:p>
            <a:pPr>
              <a:spcAft>
                <a:spcPts val="1260"/>
              </a:spcAft>
            </a:pPr>
            <a:r>
              <a:rPr sz="2100" b="0">
                <a:solidFill>
                  <a:srgbClr val="202122"/>
                </a:solidFill>
                <a:latin typeface="Calibri"/>
              </a:rPr>
              <a:t>Plus documentation, known fixes, standard operating procedures, and asset management and auditing.</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first-line technician resets a password (routine). A corrupted database goes to second line, and a suspected hardware fault under warranty to the supplier (third 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Support processes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Accounts</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Add and remove users, set access hours.</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Passwords</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Complexity, expiry, forced resets.</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Permissions</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Resource access, group policy, shared resources.</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Software</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Installation and deployment, connecting to remote resources.</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Faults</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Identify, escalate from first to third line, use known fixes.</a:t>
            </a:r>
          </a:p>
        </p:txBody>
      </p:sp>
      <p:sp>
        <p:nvSpPr>
          <p:cNvPr id="26" name="Rounded Rectangle 25"/>
          <p:cNvSpPr/>
          <p:nvPr/>
        </p:nvSpPr>
        <p:spPr>
          <a:xfrm>
            <a:off x="8127796"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56396"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6</a:t>
            </a:r>
          </a:p>
        </p:txBody>
      </p:sp>
      <p:sp>
        <p:nvSpPr>
          <p:cNvPr id="28" name="TextBox 27"/>
          <p:cNvSpPr txBox="1"/>
          <p:nvPr/>
        </p:nvSpPr>
        <p:spPr>
          <a:xfrm>
            <a:off x="8950756" y="4224528"/>
            <a:ext cx="2509418" cy="512064"/>
          </a:xfrm>
          <a:prstGeom prst="rect">
            <a:avLst/>
          </a:prstGeom>
          <a:noFill/>
        </p:spPr>
        <p:txBody>
          <a:bodyPr wrap="square" anchor="ctr" lIns="0" rIns="0" tIns="0" bIns="0"/>
          <a:lstStyle/>
          <a:p>
            <a:pPr algn="l"/>
            <a:r>
              <a:rPr sz="1900" b="1" i="0">
                <a:solidFill>
                  <a:srgbClr val="03306E"/>
                </a:solidFill>
                <a:latin typeface="Calibri"/>
              </a:rPr>
              <a:t>Knowledge</a:t>
            </a:r>
          </a:p>
        </p:txBody>
      </p:sp>
      <p:sp>
        <p:nvSpPr>
          <p:cNvPr id="29" name="TextBox 28"/>
          <p:cNvSpPr txBox="1"/>
          <p:nvPr/>
        </p:nvSpPr>
        <p:spPr>
          <a:xfrm>
            <a:off x="8356396" y="4892040"/>
            <a:ext cx="3058058" cy="1143000"/>
          </a:xfrm>
          <a:prstGeom prst="rect">
            <a:avLst/>
          </a:prstGeom>
          <a:noFill/>
        </p:spPr>
        <p:txBody>
          <a:bodyPr wrap="square" anchor="t" lIns="0" rIns="0" tIns="0" bIns="0"/>
          <a:lstStyle/>
          <a:p>
            <a:pPr algn="l"/>
            <a:r>
              <a:rPr sz="2000" b="0" i="0">
                <a:solidFill>
                  <a:srgbClr val="202122"/>
                </a:solidFill>
                <a:latin typeface="Calibri"/>
              </a:rPr>
              <a:t>Documentation, SOPs, asset management and auditing.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Support processes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first-line support handle?</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When should a ticket be escalated?</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remove accounts promptly when staff leave?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Monitoring and operating systems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0">
                <a:solidFill>
                  <a:srgbClr val="202122"/>
                </a:solidFill>
                <a:latin typeface="Calibri"/>
              </a:rPr>
              <a:t>Analyse performance of hardware, software, databases, networks and people.</a:t>
            </a:r>
          </a:p>
          <a:p>
            <a:pPr marL="274320" indent="-274320">
              <a:spcAft>
                <a:spcPts val="1080"/>
              </a:spcAft>
              <a:buClr>
                <a:srgbClr val="0645AD"/>
              </a:buClr>
              <a:buFont typeface="Arial"/>
              <a:buChar char="•"/>
            </a:pPr>
            <a:r>
              <a:rPr sz="2400" b="0">
                <a:solidFill>
                  <a:srgbClr val="202122"/>
                </a:solidFill>
                <a:latin typeface="Calibri"/>
              </a:rPr>
              <a:t>Monitor security controls (firewalls, anti-virus) and network traffic.</a:t>
            </a:r>
          </a:p>
          <a:p>
            <a:pPr marL="274320" indent="-274320">
              <a:spcAft>
                <a:spcPts val="1080"/>
              </a:spcAft>
              <a:buClr>
                <a:srgbClr val="0645AD"/>
              </a:buClr>
              <a:buFont typeface="Arial"/>
              <a:buChar char="•"/>
            </a:pPr>
            <a:r>
              <a:rPr sz="2400" b="0">
                <a:solidFill>
                  <a:srgbClr val="202122"/>
                </a:solidFill>
                <a:latin typeface="Calibri"/>
              </a:rPr>
              <a:t>Track licences and log and tag assets.</a:t>
            </a:r>
          </a:p>
          <a:p>
            <a:pPr marL="274320" indent="-274320">
              <a:spcAft>
                <a:spcPts val="1080"/>
              </a:spcAft>
              <a:buClr>
                <a:srgbClr val="0645AD"/>
              </a:buClr>
              <a:buFont typeface="Arial"/>
              <a:buChar char="•"/>
            </a:pPr>
            <a:r>
              <a:rPr sz="2400" b="0">
                <a:solidFill>
                  <a:srgbClr val="202122"/>
                </a:solidFill>
                <a:latin typeface="Calibri"/>
              </a:rPr>
              <a:t>Create, update and communicate tickets; support users remotely.</a:t>
            </a:r>
          </a:p>
          <a:p>
            <a:pPr marL="274320" indent="-274320">
              <a:spcAft>
                <a:spcPts val="1080"/>
              </a:spcAft>
              <a:buClr>
                <a:srgbClr val="0645AD"/>
              </a:buClr>
              <a:buFont typeface="Arial"/>
              <a:buChar char="•"/>
            </a:pPr>
            <a:r>
              <a:rPr sz="2400" b="0">
                <a:solidFill>
                  <a:srgbClr val="202122"/>
                </a:solidFill>
                <a:latin typeface="Calibri"/>
              </a:rPr>
              <a:t>Review user feedback critically.</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Record and summarise findings clearly using correct technical terms, so they can shape future policy.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What is the first step of the troubleshooting method?</a:t>
            </a:r>
          </a:p>
        </p:txBody>
      </p:sp>
      <p:sp>
        <p:nvSpPr>
          <p:cNvPr id="8" name="Oval 7"/>
          <p:cNvSpPr/>
          <p:nvPr/>
        </p:nvSpPr>
        <p:spPr>
          <a:xfrm>
            <a:off x="548640" y="2814066"/>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Why back up before implementing a fix?</a:t>
            </a:r>
          </a:p>
        </p:txBody>
      </p:sp>
      <p:sp>
        <p:nvSpPr>
          <p:cNvPr id="10" name="Oval 9"/>
          <p:cNvSpPr/>
          <p:nvPr/>
        </p:nvSpPr>
        <p:spPr>
          <a:xfrm>
            <a:off x="548640" y="4009644"/>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What is escalation?</a:t>
            </a:r>
          </a:p>
        </p:txBody>
      </p:sp>
      <p:sp>
        <p:nvSpPr>
          <p:cNvPr id="12" name="Oval 11"/>
          <p:cNvSpPr/>
          <p:nvPr/>
        </p:nvSpPr>
        <p:spPr>
          <a:xfrm>
            <a:off x="548640" y="5205221"/>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Name two CMS functions.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What is the first step of the troubleshooting method?</a:t>
            </a:r>
          </a:p>
          <a:p>
            <a:r>
              <a:rPr sz="1800" b="1">
                <a:solidFill>
                  <a:srgbClr val="03306E"/>
                </a:solidFill>
                <a:latin typeface="Calibri"/>
              </a:rPr>
              <a:t>Gather information.</a:t>
            </a:r>
          </a:p>
        </p:txBody>
      </p:sp>
      <p:sp>
        <p:nvSpPr>
          <p:cNvPr id="8" name="Oval 7"/>
          <p:cNvSpPr/>
          <p:nvPr/>
        </p:nvSpPr>
        <p:spPr>
          <a:xfrm>
            <a:off x="548640" y="2814066"/>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Why back up before implementing a fix?</a:t>
            </a:r>
          </a:p>
          <a:p>
            <a:r>
              <a:rPr sz="1800" b="1">
                <a:solidFill>
                  <a:srgbClr val="03306E"/>
                </a:solidFill>
                <a:latin typeface="Calibri"/>
              </a:rPr>
              <a:t>So data can be restored if the fix causes problems.</a:t>
            </a:r>
          </a:p>
        </p:txBody>
      </p:sp>
      <p:sp>
        <p:nvSpPr>
          <p:cNvPr id="10" name="Oval 9"/>
          <p:cNvSpPr/>
          <p:nvPr/>
        </p:nvSpPr>
        <p:spPr>
          <a:xfrm>
            <a:off x="548640" y="4009644"/>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What is escalation?</a:t>
            </a:r>
          </a:p>
          <a:p>
            <a:r>
              <a:rPr sz="1800" b="1">
                <a:solidFill>
                  <a:srgbClr val="03306E"/>
                </a:solidFill>
                <a:latin typeface="Calibri"/>
              </a:rPr>
              <a:t>Passing an issue to a higher support line or specialist.</a:t>
            </a:r>
          </a:p>
        </p:txBody>
      </p:sp>
      <p:sp>
        <p:nvSpPr>
          <p:cNvPr id="12" name="Oval 11"/>
          <p:cNvSpPr/>
          <p:nvPr/>
        </p:nvSpPr>
        <p:spPr>
          <a:xfrm>
            <a:off x="548640" y="5205221"/>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Name two CMS functions.</a:t>
            </a:r>
          </a:p>
          <a:p>
            <a:r>
              <a:rPr sz="1800" b="1">
                <a:solidFill>
                  <a:srgbClr val="03306E"/>
                </a:solidFill>
                <a:latin typeface="Calibri"/>
              </a:rPr>
              <a:t>Any two of: incident and request, knowledge, change, configuration and asset management.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Helpdesk simulation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End-User Support and Troubleshooting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35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 user and technician, then swap</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The user takes a fault card and describes only the symptoms.</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The technician follows the troubleshooting method, asking questions.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The technician logs a full ticket: user, issue, steps, resolution, time taken.</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Swap roles with a new fault card.</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Method followed in order</a:t>
            </a:r>
          </a:p>
          <a:p>
            <a:pPr marL="274320" indent="-274320">
              <a:spcAft>
                <a:spcPts val="810"/>
              </a:spcAft>
              <a:buClr>
                <a:srgbClr val="0645AD"/>
              </a:buClr>
              <a:buFont typeface="Arial"/>
              <a:buChar char="•"/>
            </a:pPr>
            <a:r>
              <a:rPr sz="1800" b="0">
                <a:solidFill>
                  <a:srgbClr val="202122"/>
                </a:solidFill>
                <a:latin typeface="Calibri"/>
              </a:rPr>
              <a:t>Ticket is complete and clear</a:t>
            </a:r>
          </a:p>
          <a:p>
            <a:pPr marL="274320" indent="-274320">
              <a:spcAft>
                <a:spcPts val="810"/>
              </a:spcAft>
              <a:buClr>
                <a:srgbClr val="0645AD"/>
              </a:buClr>
              <a:buFont typeface="Arial"/>
              <a:buChar char="•"/>
            </a:pPr>
            <a:r>
              <a:rPr sz="1800" b="0">
                <a:solidFill>
                  <a:srgbClr val="202122"/>
                </a:solidFill>
                <a:latin typeface="Calibri"/>
              </a:rPr>
              <a:t>Preventive action suggested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document every fix in the CMS?</a:t>
            </a:r>
          </a:p>
        </p:txBody>
      </p:sp>
      <p:sp>
        <p:nvSpPr>
          <p:cNvPr id="6" name="Oval 5"/>
          <p:cNvSpPr/>
          <p:nvPr/>
        </p:nvSpPr>
        <p:spPr>
          <a:xfrm>
            <a:off x="548640" y="26974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When should a first-line technician escalate?</a:t>
            </a:r>
          </a:p>
        </p:txBody>
      </p:sp>
      <p:sp>
        <p:nvSpPr>
          <p:cNvPr id="8" name="Oval 7"/>
          <p:cNvSpPr/>
          <p:nvPr/>
        </p:nvSpPr>
        <p:spPr>
          <a:xfrm>
            <a:off x="548640" y="365760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What would you monitor to spot a failing network switch?</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1900" b="1" i="0">
                <a:solidFill>
                  <a:srgbClr val="FFFFFF"/>
                </a:solidFill>
                <a:latin typeface="Cambria"/>
              </a:rPr>
              <a:t>Digital Support - Installing, Configuring and Supporting Software and Operating Systems</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https://lana6478.github.io/Digital-Suport-and-security-T-levle/#/02-occupational-specialisms/digital-support/02-software-and-os-support.md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End-User Support and Troubleshooting</dc:title>
  <dc:subject>Digital Support and Security T Level: Digital Support Content Area 2</dc:subject>
  <dc:creator>Samuel O'Connell</dc:creator>
  <cp:keywords>T Level; Digital Support and Security; lesson slides; 2.5, 2.21 to 2.23, 2.28</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