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device that relies on a server for processing.</a:t>
            </a:r>
          </a:p>
          <a:p>
            <a:r>
              <a:t>2. E.g. smart alarms, meters, lighting.</a:t>
            </a:r>
          </a:p>
          <a:p>
            <a:r>
              <a:t>3. A desktop provided over the internet.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check RAM, processor, OS compatibility and network card. Consider permissions (least privilege) and the security impact on the device, network and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Any three: storage, RAM, processor, OS compatibility.</a:t>
            </a:r>
          </a:p>
          <a:p>
            <a:r>
              <a:t>2. E.g. faster, no moving parts, compact.</a:t>
            </a:r>
          </a:p>
          <a:p>
            <a:r>
              <a:t>3. Giving users only the access they need.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Back up and migrate their data.</a:t>
            </a:r>
          </a:p>
          <a:p>
            <a:r>
              <a:t>2. So the hardware works properly.</a:t>
            </a:r>
          </a:p>
          <a:p>
            <a:r>
              <a:t>3. So it's managed centrally.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4EA1FF"/>
                </a:solidFill>
                <a:latin typeface="Calibri"/>
              </a:rPr>
              <a:t>DIGITAL SUPPORT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Devices, Operating Systems and Applications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Digital Support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2.6 to 2.9</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Describe the end-user devices and systems a support technician looks after.</a:t>
            </a:r>
          </a:p>
        </p:txBody>
      </p:sp>
      <p:sp>
        <p:nvSpPr>
          <p:cNvPr id="9" name="Oval 8"/>
          <p:cNvSpPr/>
          <p:nvPr/>
        </p:nvSpPr>
        <p:spPr>
          <a:xfrm>
            <a:off x="548640" y="329184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Describe OS types and application types.</a:t>
            </a:r>
          </a:p>
        </p:txBody>
      </p:sp>
      <p:sp>
        <p:nvSpPr>
          <p:cNvPr id="11" name="Oval 10"/>
          <p:cNvSpPr/>
          <p:nvPr/>
        </p:nvSpPr>
        <p:spPr>
          <a:xfrm>
            <a:off x="548640" y="43434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Check system requirements and install and configure applications and operating systems.</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user says their new software 'will not install'. What would you check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End-user devices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Support technicians look after a wide range of devices.</a:t>
            </a:r>
          </a:p>
          <a:p>
            <a:pPr>
              <a:spcAft>
                <a:spcPts val="1260"/>
              </a:spcAft>
            </a:pPr>
            <a:r>
              <a:rPr sz="2100" b="0">
                <a:solidFill>
                  <a:srgbClr val="202122"/>
                </a:solidFill>
                <a:latin typeface="Calibri"/>
              </a:rPr>
              <a:t>Desktops can be thick clients, which process locally, or thin clients, which rely on a server. Cloud workspaces provide a whole desktop over the internet. Mobile devices include laptops, tablets, phones, wearables and e-readers. Peripherals include keyboards, monitors, printers, scanners, projectors, drives and card readers.</a:t>
            </a:r>
          </a:p>
          <a:p>
            <a:pPr>
              <a:spcAft>
                <a:spcPts val="1260"/>
              </a:spcAft>
            </a:pPr>
            <a:r>
              <a:rPr sz="2100" b="1">
                <a:solidFill>
                  <a:srgbClr val="202122"/>
                </a:solidFill>
                <a:latin typeface="Calibri"/>
              </a:rPr>
              <a:t>IoT devices are growing fast:</a:t>
            </a:r>
            <a:r>
              <a:rPr sz="2100" b="0">
                <a:solidFill>
                  <a:srgbClr val="202122"/>
                </a:solidFill>
                <a:latin typeface="Calibri"/>
              </a:rPr>
              <a:t> smart building systems such as alarms, meters and lighting, and smart devices such as smart TVs. Each needs setting up, securing and supporting.</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call centre uses thin clients: cheap, easy to replace, and all the software runs centrally, so one update fixes every desk.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End-user devices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Desktops</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1900" b="0" i="0">
                <a:solidFill>
                  <a:srgbClr val="202122"/>
                </a:solidFill>
                <a:latin typeface="Calibri"/>
              </a:rPr>
              <a:t>Thick clients that process locally, or thin clients that rely on a server.</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Cloud workspaces</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Free or licensed online desktops.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Mobile devices</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Tablets, smartphones, wearables, e-readers.</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Peripherals</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Keyboards, monitors, printers, projectors, card readers, drives.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IoT</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1900" b="0" i="0">
                <a:solidFill>
                  <a:srgbClr val="202122"/>
                </a:solidFill>
                <a:latin typeface="Calibri"/>
              </a:rPr>
              <a:t>Smart building alarms, meters and lighting; smart TVs; autonomous vehicles.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End-user devices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thin client?</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two examples of IoT devices in a building.</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 cloud workspace?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Operating systems and applications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OS types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End-user:</a:t>
            </a:r>
            <a:r>
              <a:rPr sz="2200" b="0">
                <a:solidFill>
                  <a:srgbClr val="202122"/>
                </a:solidFill>
                <a:latin typeface="Calibri"/>
              </a:rPr>
              <a:t> Windows, macOS, Linux</a:t>
            </a:r>
          </a:p>
          <a:p>
            <a:pPr marL="274320" indent="-274320">
              <a:spcAft>
                <a:spcPts val="990"/>
              </a:spcAft>
              <a:buClr>
                <a:srgbClr val="0645AD"/>
              </a:buClr>
              <a:buFont typeface="Arial"/>
              <a:buChar char="•"/>
            </a:pPr>
            <a:r>
              <a:rPr sz="2200" b="1">
                <a:solidFill>
                  <a:srgbClr val="202122"/>
                </a:solidFill>
                <a:latin typeface="Calibri"/>
              </a:rPr>
              <a:t>Mobile:</a:t>
            </a:r>
            <a:r>
              <a:rPr sz="2200" b="0">
                <a:solidFill>
                  <a:srgbClr val="202122"/>
                </a:solidFill>
                <a:latin typeface="Calibri"/>
              </a:rPr>
              <a:t> iOS, Android</a:t>
            </a:r>
          </a:p>
          <a:p>
            <a:pPr marL="274320" indent="-274320">
              <a:spcAft>
                <a:spcPts val="990"/>
              </a:spcAft>
              <a:buClr>
                <a:srgbClr val="0645AD"/>
              </a:buClr>
              <a:buFont typeface="Arial"/>
              <a:buChar char="•"/>
            </a:pPr>
            <a:r>
              <a:rPr sz="2200" b="1">
                <a:solidFill>
                  <a:srgbClr val="202122"/>
                </a:solidFill>
                <a:latin typeface="Calibri"/>
              </a:rPr>
              <a:t>Server:</a:t>
            </a:r>
            <a:r>
              <a:rPr sz="2200" b="0">
                <a:solidFill>
                  <a:srgbClr val="202122"/>
                </a:solidFill>
                <a:latin typeface="Calibri"/>
              </a:rPr>
              <a:t> Windows Server, Linux</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Application types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1">
                <a:solidFill>
                  <a:srgbClr val="202122"/>
                </a:solidFill>
                <a:latin typeface="Calibri"/>
              </a:rPr>
              <a:t>Productivity:</a:t>
            </a:r>
            <a:r>
              <a:rPr sz="2100" b="0">
                <a:solidFill>
                  <a:srgbClr val="202122"/>
                </a:solidFill>
                <a:latin typeface="Calibri"/>
              </a:rPr>
              <a:t> word processing, spreadsheets, diagrams</a:t>
            </a:r>
          </a:p>
          <a:p>
            <a:pPr marL="274320" indent="-274320">
              <a:spcAft>
                <a:spcPts val="945"/>
              </a:spcAft>
              <a:buClr>
                <a:srgbClr val="0645AD"/>
              </a:buClr>
              <a:buFont typeface="Arial"/>
              <a:buChar char="•"/>
            </a:pPr>
            <a:r>
              <a:rPr sz="2100" b="0">
                <a:solidFill>
                  <a:srgbClr val="202122"/>
                </a:solidFill>
                <a:latin typeface="Calibri"/>
              </a:rPr>
              <a:t>Web browsers</a:t>
            </a:r>
          </a:p>
          <a:p>
            <a:pPr marL="274320" indent="-274320">
              <a:spcAft>
                <a:spcPts val="945"/>
              </a:spcAft>
              <a:buClr>
                <a:srgbClr val="0645AD"/>
              </a:buClr>
              <a:buFont typeface="Arial"/>
              <a:buChar char="•"/>
            </a:pPr>
            <a:r>
              <a:rPr sz="2100" b="1">
                <a:solidFill>
                  <a:srgbClr val="202122"/>
                </a:solidFill>
                <a:latin typeface="Calibri"/>
              </a:rPr>
              <a:t>Collaboration:</a:t>
            </a:r>
            <a:r>
              <a:rPr sz="2100" b="0">
                <a:solidFill>
                  <a:srgbClr val="202122"/>
                </a:solidFill>
                <a:latin typeface="Calibri"/>
              </a:rPr>
              <a:t> email, conferencing, VoIP, chat</a:t>
            </a:r>
          </a:p>
          <a:p>
            <a:pPr marL="274320" indent="-274320">
              <a:spcAft>
                <a:spcPts val="945"/>
              </a:spcAft>
              <a:buClr>
                <a:srgbClr val="0645AD"/>
              </a:buClr>
              <a:buFont typeface="Arial"/>
              <a:buChar char="•"/>
            </a:pPr>
            <a:r>
              <a:rPr sz="2100" b="1">
                <a:solidFill>
                  <a:srgbClr val="202122"/>
                </a:solidFill>
                <a:latin typeface="Calibri"/>
              </a:rPr>
              <a:t>Business:</a:t>
            </a:r>
            <a:r>
              <a:rPr sz="2100" b="0">
                <a:solidFill>
                  <a:srgbClr val="202122"/>
                </a:solidFill>
                <a:latin typeface="Calibri"/>
              </a:rPr>
              <a:t> databases, CRM, ticketing, accounting</a:t>
            </a:r>
          </a:p>
          <a:p>
            <a:pPr marL="274320" indent="-274320">
              <a:spcAft>
                <a:spcPts val="945"/>
              </a:spcAft>
              <a:buClr>
                <a:srgbClr val="0645AD"/>
              </a:buClr>
              <a:buFont typeface="Arial"/>
              <a:buChar char="•"/>
            </a:pPr>
            <a:r>
              <a:rPr sz="2100" b="1">
                <a:solidFill>
                  <a:srgbClr val="202122"/>
                </a:solidFill>
                <a:latin typeface="Calibri"/>
              </a:rPr>
              <a:t>Development:</a:t>
            </a:r>
            <a:r>
              <a:rPr sz="2100" b="0">
                <a:solidFill>
                  <a:srgbClr val="202122"/>
                </a:solidFill>
                <a:latin typeface="Calibri"/>
              </a:rPr>
              <a:t> CAD, 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Checking requirements: storage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Before installing software or an OS, check the device meets the system requirements: storage, RAM, processor and OS compatibility.</a:t>
            </a:r>
          </a:p>
          <a:p>
            <a:pPr>
              <a:spcAft>
                <a:spcPts val="1320"/>
              </a:spcAft>
            </a:pPr>
            <a:r>
              <a:rPr sz="2200" b="0">
                <a:solidFill>
                  <a:srgbClr val="202122"/>
                </a:solidFill>
                <a:latin typeface="Calibri"/>
              </a:rPr>
              <a:t>Storage choice matters. Hard disk drives are cheaper and hold more, but have moving parts that can fail and generate heat. Solid state drives are much faster, have no moving parts and suit small devices, but cost more per gigabyte.</a:t>
            </a:r>
          </a:p>
          <a:p>
            <a:pPr>
              <a:spcAft>
                <a:spcPts val="1320"/>
              </a:spcAft>
            </a:pPr>
            <a:r>
              <a:rPr sz="2200" b="1">
                <a:solidFill>
                  <a:srgbClr val="202122"/>
                </a:solidFill>
                <a:latin typeface="Calibri"/>
              </a:rPr>
              <a:t>Also consider permissions:</a:t>
            </a:r>
            <a:r>
              <a:rPr sz="2200" b="0">
                <a:solidFill>
                  <a:srgbClr val="202122"/>
                </a:solidFill>
                <a:latin typeface="Calibri"/>
              </a:rPr>
              <a:t> give users only the access they need (least privilege), and think about the security impact of what you install on the device, the network and the data.</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new design app needs 16 GB of RAM and 50 GB free. The laptop has 8 GB, so it needs an upgrade before installation.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Checking requirements: storage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HDD</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Cheap per gigabyte</a:t>
            </a:r>
          </a:p>
          <a:p>
            <a:pPr marL="274320" indent="-274320">
              <a:spcAft>
                <a:spcPts val="990"/>
              </a:spcAft>
              <a:buClr>
                <a:srgbClr val="0645AD"/>
              </a:buClr>
              <a:buFont typeface="Arial"/>
              <a:buChar char="•"/>
            </a:pPr>
            <a:r>
              <a:rPr sz="2200" b="0">
                <a:solidFill>
                  <a:srgbClr val="202122"/>
                </a:solidFill>
                <a:latin typeface="Calibri"/>
              </a:rPr>
              <a:t>Large capacity</a:t>
            </a:r>
          </a:p>
          <a:p>
            <a:pPr marL="274320" indent="-274320">
              <a:spcAft>
                <a:spcPts val="990"/>
              </a:spcAft>
              <a:buClr>
                <a:srgbClr val="0645AD"/>
              </a:buClr>
              <a:buFont typeface="Arial"/>
              <a:buChar char="•"/>
            </a:pPr>
            <a:r>
              <a:rPr sz="2200" b="0">
                <a:solidFill>
                  <a:srgbClr val="202122"/>
                </a:solidFill>
                <a:latin typeface="Calibri"/>
              </a:rPr>
              <a:t>Moving parts can break</a:t>
            </a:r>
          </a:p>
          <a:p>
            <a:pPr marL="274320" indent="-274320">
              <a:spcAft>
                <a:spcPts val="990"/>
              </a:spcAft>
              <a:buClr>
                <a:srgbClr val="0645AD"/>
              </a:buClr>
              <a:buFont typeface="Arial"/>
              <a:buChar char="•"/>
            </a:pPr>
            <a:r>
              <a:rPr sz="2200" b="0">
                <a:solidFill>
                  <a:srgbClr val="202122"/>
                </a:solidFill>
                <a:latin typeface="Calibri"/>
              </a:rPr>
              <a:t>Can overheat</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SSD</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Much faster</a:t>
            </a:r>
          </a:p>
          <a:p>
            <a:pPr marL="274320" indent="-274320">
              <a:spcAft>
                <a:spcPts val="990"/>
              </a:spcAft>
              <a:buClr>
                <a:srgbClr val="0645AD"/>
              </a:buClr>
              <a:buFont typeface="Arial"/>
              <a:buChar char="•"/>
            </a:pPr>
            <a:r>
              <a:rPr sz="2200" b="0">
                <a:solidFill>
                  <a:srgbClr val="202122"/>
                </a:solidFill>
                <a:latin typeface="Calibri"/>
              </a:rPr>
              <a:t>No moving parts</a:t>
            </a:r>
          </a:p>
          <a:p>
            <a:pPr marL="274320" indent="-274320">
              <a:spcAft>
                <a:spcPts val="990"/>
              </a:spcAft>
              <a:buClr>
                <a:srgbClr val="0645AD"/>
              </a:buClr>
              <a:buFont typeface="Arial"/>
              <a:buChar char="•"/>
            </a:pPr>
            <a:r>
              <a:rPr sz="2200" b="0">
                <a:solidFill>
                  <a:srgbClr val="202122"/>
                </a:solidFill>
                <a:latin typeface="Calibri"/>
              </a:rPr>
              <a:t>Costs more per gigabyte</a:t>
            </a:r>
          </a:p>
          <a:p>
            <a:pPr marL="274320" indent="-274320">
              <a:spcAft>
                <a:spcPts val="990"/>
              </a:spcAft>
              <a:buClr>
                <a:srgbClr val="0645AD"/>
              </a:buClr>
              <a:buFont typeface="Arial"/>
              <a:buChar char="•"/>
            </a:pPr>
            <a:r>
              <a:rPr sz="2200" b="0">
                <a:solidFill>
                  <a:srgbClr val="202122"/>
                </a:solidFill>
                <a:latin typeface="Calibri"/>
              </a:rPr>
              <a:t>Smaller, suits compact devices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Checking requirements: storage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three system requirements to check.</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one advantage of an SSD.</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least privilege?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Installing an operating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Installing an OS follows a clear sequence.</a:t>
            </a:r>
          </a:p>
          <a:p>
            <a:pPr>
              <a:spcAft>
                <a:spcPts val="1320"/>
              </a:spcAft>
            </a:pPr>
            <a:r>
              <a:rPr sz="2200" b="0">
                <a:solidFill>
                  <a:srgbClr val="202122"/>
                </a:solidFill>
                <a:latin typeface="Calibri"/>
              </a:rPr>
              <a:t>Choose the boot drive, then partition and format it. Join the device to the domain so it's managed centrally. Set the time, date, region and language. Install drivers so the hardware works properly. Apply updates, including over the network. Finally, install the applications the user needs.</a:t>
            </a:r>
          </a:p>
          <a:p>
            <a:pPr>
              <a:spcAft>
                <a:spcPts val="1320"/>
              </a:spcAft>
            </a:pPr>
            <a:r>
              <a:rPr sz="2200" b="0">
                <a:solidFill>
                  <a:srgbClr val="202122"/>
                </a:solidFill>
                <a:latin typeface="Calibri"/>
              </a:rPr>
              <a:t>When upgrading an existing OS, back up and migrate the user's data first so nothing is lost.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After a fresh install, the Wi-Fi doesn't work: the network driver hasn't been installed yet. Installing it from the manufacturer's site fixes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Installing an operating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Rectangle 5"/>
          <p:cNvSpPr/>
          <p:nvPr/>
        </p:nvSpPr>
        <p:spPr>
          <a:xfrm>
            <a:off x="1416024" y="2557272"/>
            <a:ext cx="9359646"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95984"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032760"/>
            <a:ext cx="1734769" cy="731520"/>
          </a:xfrm>
          <a:prstGeom prst="rect">
            <a:avLst/>
          </a:prstGeom>
          <a:noFill/>
        </p:spPr>
        <p:txBody>
          <a:bodyPr wrap="square" anchor="t" lIns="0" rIns="0" tIns="0" bIns="0"/>
          <a:lstStyle/>
          <a:p>
            <a:pPr algn="ctr"/>
            <a:r>
              <a:rPr sz="1700" b="1" i="0">
                <a:solidFill>
                  <a:srgbClr val="03306E"/>
                </a:solidFill>
                <a:latin typeface="Calibri"/>
              </a:rPr>
              <a:t>Boot and partition</a:t>
            </a:r>
          </a:p>
        </p:txBody>
      </p:sp>
      <p:sp>
        <p:nvSpPr>
          <p:cNvPr id="9" name="Rounded Rectangle 8"/>
          <p:cNvSpPr/>
          <p:nvPr/>
        </p:nvSpPr>
        <p:spPr>
          <a:xfrm>
            <a:off x="548640"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947160"/>
            <a:ext cx="1460449" cy="1432560"/>
          </a:xfrm>
          <a:prstGeom prst="rect">
            <a:avLst/>
          </a:prstGeom>
          <a:noFill/>
        </p:spPr>
        <p:txBody>
          <a:bodyPr wrap="square" anchor="t" lIns="0" rIns="0" tIns="0" bIns="0"/>
          <a:lstStyle/>
          <a:p>
            <a:pPr algn="l"/>
            <a:r>
              <a:rPr sz="1700" b="0" i="0">
                <a:solidFill>
                  <a:srgbClr val="202122"/>
                </a:solidFill>
                <a:latin typeface="Calibri"/>
              </a:rPr>
              <a:t>Choose the boot drive; partition and format.</a:t>
            </a:r>
          </a:p>
        </p:txBody>
      </p:sp>
      <p:sp>
        <p:nvSpPr>
          <p:cNvPr id="11" name="Oval 10"/>
          <p:cNvSpPr/>
          <p:nvPr/>
        </p:nvSpPr>
        <p:spPr>
          <a:xfrm>
            <a:off x="2967913"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420569" y="3032760"/>
            <a:ext cx="1734769" cy="731520"/>
          </a:xfrm>
          <a:prstGeom prst="rect">
            <a:avLst/>
          </a:prstGeom>
          <a:noFill/>
        </p:spPr>
        <p:txBody>
          <a:bodyPr wrap="square" anchor="t" lIns="0" rIns="0" tIns="0" bIns="0"/>
          <a:lstStyle/>
          <a:p>
            <a:pPr algn="ctr"/>
            <a:r>
              <a:rPr sz="1700" b="1" i="0">
                <a:solidFill>
                  <a:srgbClr val="03306E"/>
                </a:solidFill>
                <a:latin typeface="Calibri"/>
              </a:rPr>
              <a:t>Domain</a:t>
            </a:r>
          </a:p>
        </p:txBody>
      </p:sp>
      <p:sp>
        <p:nvSpPr>
          <p:cNvPr id="13" name="Rounded Rectangle 12"/>
          <p:cNvSpPr/>
          <p:nvPr/>
        </p:nvSpPr>
        <p:spPr>
          <a:xfrm>
            <a:off x="2420569"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57729" y="3947160"/>
            <a:ext cx="1460449" cy="1432560"/>
          </a:xfrm>
          <a:prstGeom prst="rect">
            <a:avLst/>
          </a:prstGeom>
          <a:noFill/>
        </p:spPr>
        <p:txBody>
          <a:bodyPr wrap="square" anchor="t" lIns="0" rIns="0" tIns="0" bIns="0"/>
          <a:lstStyle/>
          <a:p>
            <a:pPr algn="l"/>
            <a:r>
              <a:rPr sz="1700" b="0" i="0">
                <a:solidFill>
                  <a:srgbClr val="202122"/>
                </a:solidFill>
                <a:latin typeface="Calibri"/>
              </a:rPr>
              <a:t>Join the domain.</a:t>
            </a:r>
          </a:p>
        </p:txBody>
      </p:sp>
      <p:sp>
        <p:nvSpPr>
          <p:cNvPr id="15" name="Oval 14"/>
          <p:cNvSpPr/>
          <p:nvPr/>
        </p:nvSpPr>
        <p:spPr>
          <a:xfrm>
            <a:off x="4839843"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4292498" y="3032760"/>
            <a:ext cx="1734769" cy="731520"/>
          </a:xfrm>
          <a:prstGeom prst="rect">
            <a:avLst/>
          </a:prstGeom>
          <a:noFill/>
        </p:spPr>
        <p:txBody>
          <a:bodyPr wrap="square" anchor="t" lIns="0" rIns="0" tIns="0" bIns="0"/>
          <a:lstStyle/>
          <a:p>
            <a:pPr algn="ctr"/>
            <a:r>
              <a:rPr sz="1700" b="1" i="0">
                <a:solidFill>
                  <a:srgbClr val="03306E"/>
                </a:solidFill>
                <a:latin typeface="Calibri"/>
              </a:rPr>
              <a:t>Region</a:t>
            </a:r>
          </a:p>
        </p:txBody>
      </p:sp>
      <p:sp>
        <p:nvSpPr>
          <p:cNvPr id="17" name="Rounded Rectangle 16"/>
          <p:cNvSpPr/>
          <p:nvPr/>
        </p:nvSpPr>
        <p:spPr>
          <a:xfrm>
            <a:off x="4292498"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29658" y="3947160"/>
            <a:ext cx="1460449" cy="1432560"/>
          </a:xfrm>
          <a:prstGeom prst="rect">
            <a:avLst/>
          </a:prstGeom>
          <a:noFill/>
        </p:spPr>
        <p:txBody>
          <a:bodyPr wrap="square" anchor="t" lIns="0" rIns="0" tIns="0" bIns="0"/>
          <a:lstStyle/>
          <a:p>
            <a:pPr algn="l"/>
            <a:r>
              <a:rPr sz="1700" b="0" i="0">
                <a:solidFill>
                  <a:srgbClr val="202122"/>
                </a:solidFill>
                <a:latin typeface="Calibri"/>
              </a:rPr>
              <a:t>Set time, date, region and language.</a:t>
            </a:r>
          </a:p>
        </p:txBody>
      </p:sp>
      <p:sp>
        <p:nvSpPr>
          <p:cNvPr id="19" name="Oval 18"/>
          <p:cNvSpPr/>
          <p:nvPr/>
        </p:nvSpPr>
        <p:spPr>
          <a:xfrm>
            <a:off x="6711772"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6164427" y="3032760"/>
            <a:ext cx="1734769" cy="731520"/>
          </a:xfrm>
          <a:prstGeom prst="rect">
            <a:avLst/>
          </a:prstGeom>
          <a:noFill/>
        </p:spPr>
        <p:txBody>
          <a:bodyPr wrap="square" anchor="t" lIns="0" rIns="0" tIns="0" bIns="0"/>
          <a:lstStyle/>
          <a:p>
            <a:pPr algn="ctr"/>
            <a:r>
              <a:rPr sz="1700" b="1" i="0">
                <a:solidFill>
                  <a:srgbClr val="03306E"/>
                </a:solidFill>
                <a:latin typeface="Calibri"/>
              </a:rPr>
              <a:t>Drivers</a:t>
            </a:r>
          </a:p>
        </p:txBody>
      </p:sp>
      <p:sp>
        <p:nvSpPr>
          <p:cNvPr id="21" name="Rounded Rectangle 20"/>
          <p:cNvSpPr/>
          <p:nvPr/>
        </p:nvSpPr>
        <p:spPr>
          <a:xfrm>
            <a:off x="6164427"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1587" y="3947160"/>
            <a:ext cx="1460449" cy="1432560"/>
          </a:xfrm>
          <a:prstGeom prst="rect">
            <a:avLst/>
          </a:prstGeom>
          <a:noFill/>
        </p:spPr>
        <p:txBody>
          <a:bodyPr wrap="square" anchor="t" lIns="0" rIns="0" tIns="0" bIns="0"/>
          <a:lstStyle/>
          <a:p>
            <a:pPr algn="l"/>
            <a:r>
              <a:rPr sz="1700" b="0" i="0">
                <a:solidFill>
                  <a:srgbClr val="202122"/>
                </a:solidFill>
                <a:latin typeface="Calibri"/>
              </a:rPr>
              <a:t>Install drivers.</a:t>
            </a:r>
          </a:p>
        </p:txBody>
      </p:sp>
      <p:sp>
        <p:nvSpPr>
          <p:cNvPr id="23" name="Oval 22"/>
          <p:cNvSpPr/>
          <p:nvPr/>
        </p:nvSpPr>
        <p:spPr>
          <a:xfrm>
            <a:off x="8583701"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8036356" y="3032760"/>
            <a:ext cx="1734769" cy="731520"/>
          </a:xfrm>
          <a:prstGeom prst="rect">
            <a:avLst/>
          </a:prstGeom>
          <a:noFill/>
        </p:spPr>
        <p:txBody>
          <a:bodyPr wrap="square" anchor="t" lIns="0" rIns="0" tIns="0" bIns="0"/>
          <a:lstStyle/>
          <a:p>
            <a:pPr algn="ctr"/>
            <a:r>
              <a:rPr sz="1700" b="1" i="0">
                <a:solidFill>
                  <a:srgbClr val="03306E"/>
                </a:solidFill>
                <a:latin typeface="Calibri"/>
              </a:rPr>
              <a:t>Update</a:t>
            </a:r>
          </a:p>
        </p:txBody>
      </p:sp>
      <p:sp>
        <p:nvSpPr>
          <p:cNvPr id="25" name="Rounded Rectangle 24"/>
          <p:cNvSpPr/>
          <p:nvPr/>
        </p:nvSpPr>
        <p:spPr>
          <a:xfrm>
            <a:off x="8036356"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73516" y="3947160"/>
            <a:ext cx="1460449" cy="1432560"/>
          </a:xfrm>
          <a:prstGeom prst="rect">
            <a:avLst/>
          </a:prstGeom>
          <a:noFill/>
        </p:spPr>
        <p:txBody>
          <a:bodyPr wrap="square" anchor="t" lIns="0" rIns="0" tIns="0" bIns="0"/>
          <a:lstStyle/>
          <a:p>
            <a:pPr algn="l"/>
            <a:r>
              <a:rPr sz="1700" b="0" i="0">
                <a:solidFill>
                  <a:srgbClr val="202122"/>
                </a:solidFill>
                <a:latin typeface="Calibri"/>
              </a:rPr>
              <a:t>Apply updates, including over the network.</a:t>
            </a:r>
          </a:p>
        </p:txBody>
      </p:sp>
      <p:sp>
        <p:nvSpPr>
          <p:cNvPr id="27" name="Oval 26"/>
          <p:cNvSpPr/>
          <p:nvPr/>
        </p:nvSpPr>
        <p:spPr>
          <a:xfrm>
            <a:off x="10455630" y="225552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6</a:t>
            </a:r>
          </a:p>
        </p:txBody>
      </p:sp>
      <p:sp>
        <p:nvSpPr>
          <p:cNvPr id="28" name="TextBox 27"/>
          <p:cNvSpPr txBox="1"/>
          <p:nvPr/>
        </p:nvSpPr>
        <p:spPr>
          <a:xfrm>
            <a:off x="9908286" y="3032760"/>
            <a:ext cx="1734769" cy="731520"/>
          </a:xfrm>
          <a:prstGeom prst="rect">
            <a:avLst/>
          </a:prstGeom>
          <a:noFill/>
        </p:spPr>
        <p:txBody>
          <a:bodyPr wrap="square" anchor="t" lIns="0" rIns="0" tIns="0" bIns="0"/>
          <a:lstStyle/>
          <a:p>
            <a:pPr algn="ctr"/>
            <a:r>
              <a:rPr sz="1700" b="1" i="0">
                <a:solidFill>
                  <a:srgbClr val="03306E"/>
                </a:solidFill>
                <a:latin typeface="Calibri"/>
              </a:rPr>
              <a:t>Apps</a:t>
            </a:r>
          </a:p>
        </p:txBody>
      </p:sp>
      <p:sp>
        <p:nvSpPr>
          <p:cNvPr id="29" name="Rounded Rectangle 28"/>
          <p:cNvSpPr/>
          <p:nvPr/>
        </p:nvSpPr>
        <p:spPr>
          <a:xfrm>
            <a:off x="9908286" y="3810000"/>
            <a:ext cx="1734769" cy="17068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45446" y="3947160"/>
            <a:ext cx="1460449" cy="1432560"/>
          </a:xfrm>
          <a:prstGeom prst="rect">
            <a:avLst/>
          </a:prstGeom>
          <a:noFill/>
        </p:spPr>
        <p:txBody>
          <a:bodyPr wrap="square" anchor="t" lIns="0" rIns="0" tIns="0" bIns="0"/>
          <a:lstStyle/>
          <a:p>
            <a:pPr algn="l"/>
            <a:r>
              <a:rPr sz="1700" b="0" i="0">
                <a:solidFill>
                  <a:srgbClr val="202122"/>
                </a:solidFill>
                <a:latin typeface="Calibri"/>
              </a:rPr>
              <a:t>Install productivity software; migrate user data if upgrading.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Installing an operating system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must you do before upgrading a user's OS?</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install drivers?</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join the device to the domain?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is the difference between a thick and a thin client?</a:t>
            </a:r>
          </a:p>
        </p:txBody>
      </p:sp>
      <p:sp>
        <p:nvSpPr>
          <p:cNvPr id="8" name="Oval 7"/>
          <p:cNvSpPr/>
          <p:nvPr/>
        </p:nvSpPr>
        <p:spPr>
          <a:xfrm>
            <a:off x="548640" y="2814066"/>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Give two advantages of an SSD over an HDD.</a:t>
            </a:r>
          </a:p>
        </p:txBody>
      </p:sp>
      <p:sp>
        <p:nvSpPr>
          <p:cNvPr id="10" name="Oval 9"/>
          <p:cNvSpPr/>
          <p:nvPr/>
        </p:nvSpPr>
        <p:spPr>
          <a:xfrm>
            <a:off x="548640" y="4009644"/>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Name two collaboration applications.</a:t>
            </a:r>
          </a:p>
        </p:txBody>
      </p:sp>
      <p:sp>
        <p:nvSpPr>
          <p:cNvPr id="12" name="Oval 11"/>
          <p:cNvSpPr/>
          <p:nvPr/>
        </p:nvSpPr>
        <p:spPr>
          <a:xfrm>
            <a:off x="548640" y="5205221"/>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What should you check before installing software?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is the difference between a thick and a thin client?</a:t>
            </a:r>
          </a:p>
          <a:p>
            <a:r>
              <a:rPr sz="1800" b="1">
                <a:solidFill>
                  <a:srgbClr val="03306E"/>
                </a:solidFill>
                <a:latin typeface="Calibri"/>
              </a:rPr>
              <a:t>A thick client processes locally; a thin client relies on a server.</a:t>
            </a:r>
          </a:p>
        </p:txBody>
      </p:sp>
      <p:sp>
        <p:nvSpPr>
          <p:cNvPr id="8" name="Oval 7"/>
          <p:cNvSpPr/>
          <p:nvPr/>
        </p:nvSpPr>
        <p:spPr>
          <a:xfrm>
            <a:off x="548640" y="2814066"/>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Give two advantages of an SSD over an HDD.</a:t>
            </a:r>
          </a:p>
          <a:p>
            <a:r>
              <a:rPr sz="1800" b="1">
                <a:solidFill>
                  <a:srgbClr val="03306E"/>
                </a:solidFill>
                <a:latin typeface="Calibri"/>
              </a:rPr>
              <a:t>Faster; no moving parts.</a:t>
            </a:r>
          </a:p>
        </p:txBody>
      </p:sp>
      <p:sp>
        <p:nvSpPr>
          <p:cNvPr id="10" name="Oval 9"/>
          <p:cNvSpPr/>
          <p:nvPr/>
        </p:nvSpPr>
        <p:spPr>
          <a:xfrm>
            <a:off x="548640" y="4009644"/>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Name two collaboration applications.</a:t>
            </a:r>
          </a:p>
          <a:p>
            <a:r>
              <a:rPr sz="1800" b="1">
                <a:solidFill>
                  <a:srgbClr val="03306E"/>
                </a:solidFill>
                <a:latin typeface="Calibri"/>
              </a:rPr>
              <a:t>Any two of: email client, video conferencing, VoIP, instant messaging, document sharing.</a:t>
            </a:r>
          </a:p>
        </p:txBody>
      </p:sp>
      <p:sp>
        <p:nvSpPr>
          <p:cNvPr id="12" name="Oval 11"/>
          <p:cNvSpPr/>
          <p:nvPr/>
        </p:nvSpPr>
        <p:spPr>
          <a:xfrm>
            <a:off x="548640" y="5205221"/>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What should you check before installing software?</a:t>
            </a:r>
          </a:p>
          <a:p>
            <a:r>
              <a:rPr sz="1800" b="1">
                <a:solidFill>
                  <a:srgbClr val="03306E"/>
                </a:solidFill>
                <a:latin typeface="Calibri"/>
              </a:rPr>
              <a:t>System requirements: storage, RAM, processor, OS compatibility.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Install and configure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Devices, Operating Systems and Applications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45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Individual, on a VM</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Check the VM meets the system requirements for the given OS.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Install the OS with a sensible partition layout.</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Set region, language and time, then apply updates.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Install a productivity suite and record every setting you chose.</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Requirements checked and recorded</a:t>
            </a:r>
          </a:p>
          <a:p>
            <a:pPr marL="274320" indent="-274320">
              <a:spcAft>
                <a:spcPts val="810"/>
              </a:spcAft>
              <a:buClr>
                <a:srgbClr val="0645AD"/>
              </a:buClr>
              <a:buFont typeface="Arial"/>
              <a:buChar char="•"/>
            </a:pPr>
            <a:r>
              <a:rPr sz="1800" b="0">
                <a:solidFill>
                  <a:srgbClr val="202122"/>
                </a:solidFill>
                <a:latin typeface="Calibri"/>
              </a:rPr>
              <a:t>OS fully updated</a:t>
            </a:r>
          </a:p>
          <a:p>
            <a:pPr marL="274320" indent="-274320">
              <a:spcAft>
                <a:spcPts val="810"/>
              </a:spcAft>
              <a:buClr>
                <a:srgbClr val="0645AD"/>
              </a:buClr>
              <a:buFont typeface="Arial"/>
              <a:buChar char="•"/>
            </a:pPr>
            <a:r>
              <a:rPr sz="1800" b="0">
                <a:solidFill>
                  <a:srgbClr val="202122"/>
                </a:solidFill>
                <a:latin typeface="Calibri"/>
              </a:rPr>
              <a:t>Clear installation log for a colleague to follow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Which device type would you give a hot-desking call centre?</a:t>
            </a:r>
          </a:p>
        </p:txBody>
      </p:sp>
      <p:sp>
        <p:nvSpPr>
          <p:cNvPr id="6" name="Oval 5"/>
          <p:cNvSpPr/>
          <p:nvPr/>
        </p:nvSpPr>
        <p:spPr>
          <a:xfrm>
            <a:off x="548640" y="26974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Why use least privilege when installing software?</a:t>
            </a:r>
          </a:p>
        </p:txBody>
      </p:sp>
      <p:sp>
        <p:nvSpPr>
          <p:cNvPr id="8" name="Oval 7"/>
          <p:cNvSpPr/>
          <p:nvPr/>
        </p:nvSpPr>
        <p:spPr>
          <a:xfrm>
            <a:off x="548640" y="365760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should you do before an in-place OS upgrade?</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1900" b="1" i="0">
                <a:solidFill>
                  <a:srgbClr val="FFFFFF"/>
                </a:solidFill>
                <a:latin typeface="Cambria"/>
              </a:rPr>
              <a:t>Digital Support - Installing, Configuring and Supporting Software and Operating Systems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https://lana6478.github.io/Digital-Suport-and-security-T-levle/#/02-occupational-specialisms/digital-support/02-software-and-os-support.md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Devices, Operating Systems and Applications</dc:title>
  <dc:subject>Digital Support and Security T Level: Digital Support Content Area 2</dc:subject>
  <dc:creator>Samuel O'Connell</dc:creator>
  <cp:keywords>T Level; Digital Support and Security; lesson slides; 2.6 to 2.9</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