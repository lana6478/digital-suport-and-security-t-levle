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Pushes settings to users and computers in OUs.</a:t>
            </a:r>
          </a:p>
          <a:p>
            <a:r>
              <a:t>2. Digital certificates.</a:t>
            </a:r>
          </a:p>
          <a:p>
            <a:r>
              <a:t>3. To manage users and computers centrally.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SMTP.</a:t>
            </a:r>
          </a:p>
          <a:p>
            <a:r>
              <a:t>2. It keeps mail on the server and syncs it.</a:t>
            </a:r>
          </a:p>
          <a:p>
            <a:r>
              <a:t>3. A DNS record saying which server receives a domain's email.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All traffic between the device and the organisation's network.</a:t>
            </a:r>
          </a:p>
          <a:p>
            <a:r>
              <a:t>2. Staff can keep working when they can't reach the office.</a:t>
            </a:r>
          </a:p>
          <a:p>
            <a:r>
              <a:t>3. E.g. protocol, port, encryption, certificates, authentication.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4EA1FF"/>
                </a:solidFill>
                <a:latin typeface="Calibri"/>
              </a:rPr>
              <a:t>DIGITAL SUPPORT</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Domains, Email and Remote Access</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Digital Support Content Area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2.4, 2.16 to 2.20</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the service functions that create a domain environment.</a:t>
            </a:r>
          </a:p>
        </p:txBody>
      </p:sp>
      <p:sp>
        <p:nvSpPr>
          <p:cNvPr id="9" name="Oval 8"/>
          <p:cNvSpPr/>
          <p:nvPr/>
        </p:nvSpPr>
        <p:spPr>
          <a:xfrm>
            <a:off x="548640" y="3274695"/>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Explain email protocols and configure on-premises and cloud email.</a:t>
            </a:r>
          </a:p>
        </p:txBody>
      </p:sp>
      <p:sp>
        <p:nvSpPr>
          <p:cNvPr id="11" name="Oval 10"/>
          <p:cNvSpPr/>
          <p:nvPr/>
        </p:nvSpPr>
        <p:spPr>
          <a:xfrm>
            <a:off x="548640" y="4314825"/>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Explain the purpose of remote access and VPNs.</a:t>
            </a:r>
          </a:p>
        </p:txBody>
      </p:sp>
      <p:sp>
        <p:nvSpPr>
          <p:cNvPr id="13" name="Oval 12"/>
          <p:cNvSpPr/>
          <p:nvPr/>
        </p:nvSpPr>
        <p:spPr>
          <a:xfrm>
            <a:off x="548640" y="5354954"/>
            <a:ext cx="457200" cy="45720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Configure a simple VPN.</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Your email arrives on your phone, laptop and the web, and they all stay in sync. How?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Service functions in a domain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A domain lets an organisation manage all its users and computers centrally.</a:t>
            </a:r>
          </a:p>
          <a:p>
            <a:pPr>
              <a:spcAft>
                <a:spcPts val="1260"/>
              </a:spcAft>
            </a:pPr>
            <a:r>
              <a:rPr sz="2100" b="0">
                <a:solidFill>
                  <a:srgbClr val="202122"/>
                </a:solidFill>
                <a:latin typeface="Calibri"/>
              </a:rPr>
              <a:t>Active Directory Domain Services (AD DS) stores accounts and groups in organisational units (OUs); Group Policy pushes settings to them. DHCP assigns IP addresses; DNS resolves names to addresses. File servers and DFS share storage with permissions; print servers share printers; mail servers handle email. A certificate authority issues digital certificates that prove identity.</a:t>
            </a:r>
          </a:p>
          <a:p>
            <a:pPr>
              <a:spcAft>
                <a:spcPts val="1260"/>
              </a:spcAft>
            </a:pPr>
            <a:r>
              <a:rPr sz="2100" b="0">
                <a:solidFill>
                  <a:srgbClr val="202122"/>
                </a:solidFill>
                <a:latin typeface="Calibri"/>
              </a:rPr>
              <a:t>Together they mean a user can log in on any domain PC and get the same files, printers and settings.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teacher logs in on a classroom PC: AD DS checks their password, Group Policy maps their drive and printer, and DNS finds the servers.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Service functions in a domain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3354125"/>
                <a:gridCol w="7740289"/>
              </a:tblGrid>
              <a:tr h="565785">
                <a:tc>
                  <a:txBody>
                    <a:bodyPr wrap="square"/>
                    <a:lstStyle/>
                    <a:p>
                      <a:r>
                        <a:rPr sz="1600" b="1">
                          <a:solidFill>
                            <a:srgbClr val="FFFFFF"/>
                          </a:solidFill>
                          <a:latin typeface="Calibri"/>
                        </a:rPr>
                        <a:t>Service</a:t>
                      </a:r>
                    </a:p>
                  </a:txBody>
                  <a:tcPr marL="91440" marR="91440" anchor="ctr">
                    <a:solidFill>
                      <a:srgbClr val="03306E"/>
                    </a:solidFill>
                  </a:tcPr>
                </a:tc>
                <a:tc>
                  <a:txBody>
                    <a:bodyPr wrap="square"/>
                    <a:lstStyle/>
                    <a:p>
                      <a:r>
                        <a:rPr sz="1600" b="1">
                          <a:solidFill>
                            <a:srgbClr val="FFFFFF"/>
                          </a:solidFill>
                          <a:latin typeface="Calibri"/>
                        </a:rPr>
                        <a:t>Purpose</a:t>
                      </a:r>
                    </a:p>
                  </a:txBody>
                  <a:tcPr marL="91440" marR="91440" anchor="ctr">
                    <a:solidFill>
                      <a:srgbClr val="03306E"/>
                    </a:solidFill>
                  </a:tcPr>
                </a:tc>
              </a:tr>
              <a:tr h="565785">
                <a:tc>
                  <a:txBody>
                    <a:bodyPr wrap="square"/>
                    <a:lstStyle/>
                    <a:p>
                      <a:r>
                        <a:rPr sz="1600" b="1">
                          <a:solidFill>
                            <a:srgbClr val="03306E"/>
                          </a:solidFill>
                          <a:latin typeface="Calibri"/>
                        </a:rPr>
                        <a:t>AD DS and Group Policy</a:t>
                      </a:r>
                    </a:p>
                  </a:txBody>
                  <a:tcPr marL="91440" marR="91440" anchor="ctr">
                    <a:solidFill>
                      <a:srgbClr val="FFFFFF"/>
                    </a:solidFill>
                  </a:tcPr>
                </a:tc>
                <a:tc>
                  <a:txBody>
                    <a:bodyPr wrap="square"/>
                    <a:lstStyle/>
                    <a:p>
                      <a:r>
                        <a:rPr sz="1600" b="0">
                          <a:solidFill>
                            <a:srgbClr val="202122"/>
                          </a:solidFill>
                          <a:latin typeface="Calibri"/>
                        </a:rPr>
                        <a:t>Manage users, devices and groups in OUs; GPOs push settings</a:t>
                      </a:r>
                    </a:p>
                  </a:txBody>
                  <a:tcPr marL="91440" marR="91440" anchor="ctr">
                    <a:solidFill>
                      <a:srgbClr val="FFFFFF"/>
                    </a:solidFill>
                  </a:tcPr>
                </a:tc>
              </a:tr>
              <a:tr h="565785">
                <a:tc>
                  <a:txBody>
                    <a:bodyPr wrap="square"/>
                    <a:lstStyle/>
                    <a:p>
                      <a:r>
                        <a:rPr sz="1600" b="1">
                          <a:solidFill>
                            <a:srgbClr val="03306E"/>
                          </a:solidFill>
                          <a:latin typeface="Calibri"/>
                        </a:rPr>
                        <a:t>DHCP</a:t>
                      </a:r>
                    </a:p>
                  </a:txBody>
                  <a:tcPr marL="91440" marR="91440" anchor="ctr">
                    <a:solidFill>
                      <a:srgbClr val="EAF3FF"/>
                    </a:solidFill>
                  </a:tcPr>
                </a:tc>
                <a:tc>
                  <a:txBody>
                    <a:bodyPr wrap="square"/>
                    <a:lstStyle/>
                    <a:p>
                      <a:r>
                        <a:rPr sz="1600" b="0">
                          <a:solidFill>
                            <a:srgbClr val="202122"/>
                          </a:solidFill>
                          <a:latin typeface="Calibri"/>
                        </a:rPr>
                        <a:t>Assigns IP addresses and network settings</a:t>
                      </a:r>
                    </a:p>
                  </a:txBody>
                  <a:tcPr marL="91440" marR="91440" anchor="ctr">
                    <a:solidFill>
                      <a:srgbClr val="EAF3FF"/>
                    </a:solidFill>
                  </a:tcPr>
                </a:tc>
              </a:tr>
              <a:tr h="565785">
                <a:tc>
                  <a:txBody>
                    <a:bodyPr wrap="square"/>
                    <a:lstStyle/>
                    <a:p>
                      <a:r>
                        <a:rPr sz="1600" b="1">
                          <a:solidFill>
                            <a:srgbClr val="03306E"/>
                          </a:solidFill>
                          <a:latin typeface="Calibri"/>
                        </a:rPr>
                        <a:t>DNS</a:t>
                      </a:r>
                    </a:p>
                  </a:txBody>
                  <a:tcPr marL="91440" marR="91440" anchor="ctr">
                    <a:solidFill>
                      <a:srgbClr val="FFFFFF"/>
                    </a:solidFill>
                  </a:tcPr>
                </a:tc>
                <a:tc>
                  <a:txBody>
                    <a:bodyPr wrap="square"/>
                    <a:lstStyle/>
                    <a:p>
                      <a:r>
                        <a:rPr sz="1600" b="0">
                          <a:solidFill>
                            <a:srgbClr val="202122"/>
                          </a:solidFill>
                          <a:latin typeface="Calibri"/>
                        </a:rPr>
                        <a:t>Resolves hostnames to IP addresses</a:t>
                      </a:r>
                    </a:p>
                  </a:txBody>
                  <a:tcPr marL="91440" marR="91440" anchor="ctr">
                    <a:solidFill>
                      <a:srgbClr val="FFFFFF"/>
                    </a:solidFill>
                  </a:tcPr>
                </a:tc>
              </a:tr>
              <a:tr h="565785">
                <a:tc>
                  <a:txBody>
                    <a:bodyPr wrap="square"/>
                    <a:lstStyle/>
                    <a:p>
                      <a:r>
                        <a:rPr sz="1600" b="1">
                          <a:solidFill>
                            <a:srgbClr val="03306E"/>
                          </a:solidFill>
                          <a:latin typeface="Calibri"/>
                        </a:rPr>
                        <a:t>File server / DFS</a:t>
                      </a:r>
                    </a:p>
                  </a:txBody>
                  <a:tcPr marL="91440" marR="91440" anchor="ctr">
                    <a:solidFill>
                      <a:srgbClr val="EAF3FF"/>
                    </a:solidFill>
                  </a:tcPr>
                </a:tc>
                <a:tc>
                  <a:txBody>
                    <a:bodyPr wrap="square"/>
                    <a:lstStyle/>
                    <a:p>
                      <a:r>
                        <a:rPr sz="1600" b="0">
                          <a:solidFill>
                            <a:srgbClr val="202122"/>
                          </a:solidFill>
                          <a:latin typeface="Calibri"/>
                        </a:rPr>
                        <a:t>Shared storage and permissions</a:t>
                      </a:r>
                    </a:p>
                  </a:txBody>
                  <a:tcPr marL="91440" marR="91440" anchor="ctr">
                    <a:solidFill>
                      <a:srgbClr val="EAF3FF"/>
                    </a:solidFill>
                  </a:tcPr>
                </a:tc>
              </a:tr>
              <a:tr h="565785">
                <a:tc>
                  <a:txBody>
                    <a:bodyPr wrap="square"/>
                    <a:lstStyle/>
                    <a:p>
                      <a:r>
                        <a:rPr sz="1600" b="1">
                          <a:solidFill>
                            <a:srgbClr val="03306E"/>
                          </a:solidFill>
                          <a:latin typeface="Calibri"/>
                        </a:rPr>
                        <a:t>Print server</a:t>
                      </a:r>
                    </a:p>
                  </a:txBody>
                  <a:tcPr marL="91440" marR="91440" anchor="ctr">
                    <a:solidFill>
                      <a:srgbClr val="FFFFFF"/>
                    </a:solidFill>
                  </a:tcPr>
                </a:tc>
                <a:tc>
                  <a:txBody>
                    <a:bodyPr wrap="square"/>
                    <a:lstStyle/>
                    <a:p>
                      <a:r>
                        <a:rPr sz="1600" b="0">
                          <a:solidFill>
                            <a:srgbClr val="202122"/>
                          </a:solidFill>
                          <a:latin typeface="Calibri"/>
                        </a:rPr>
                        <a:t>Shared printers</a:t>
                      </a:r>
                    </a:p>
                  </a:txBody>
                  <a:tcPr marL="91440" marR="91440" anchor="ctr">
                    <a:solidFill>
                      <a:srgbClr val="FFFFFF"/>
                    </a:solidFill>
                  </a:tcPr>
                </a:tc>
              </a:tr>
              <a:tr h="565785">
                <a:tc>
                  <a:txBody>
                    <a:bodyPr wrap="square"/>
                    <a:lstStyle/>
                    <a:p>
                      <a:r>
                        <a:rPr sz="1600" b="1">
                          <a:solidFill>
                            <a:srgbClr val="03306E"/>
                          </a:solidFill>
                          <a:latin typeface="Calibri"/>
                        </a:rPr>
                        <a:t>Mail server</a:t>
                      </a:r>
                    </a:p>
                  </a:txBody>
                  <a:tcPr marL="91440" marR="91440" anchor="ctr">
                    <a:solidFill>
                      <a:srgbClr val="EAF3FF"/>
                    </a:solidFill>
                  </a:tcPr>
                </a:tc>
                <a:tc>
                  <a:txBody>
                    <a:bodyPr wrap="square"/>
                    <a:lstStyle/>
                    <a:p>
                      <a:r>
                        <a:rPr sz="1600" b="0">
                          <a:solidFill>
                            <a:srgbClr val="202122"/>
                          </a:solidFill>
                          <a:latin typeface="Calibri"/>
                        </a:rPr>
                        <a:t>Inbound and outbound mail</a:t>
                      </a:r>
                    </a:p>
                  </a:txBody>
                  <a:tcPr marL="91440" marR="91440" anchor="ctr">
                    <a:solidFill>
                      <a:srgbClr val="EAF3FF"/>
                    </a:solidFill>
                  </a:tcPr>
                </a:tc>
              </a:tr>
              <a:tr h="565785">
                <a:tc>
                  <a:txBody>
                    <a:bodyPr wrap="square"/>
                    <a:lstStyle/>
                    <a:p>
                      <a:r>
                        <a:rPr sz="1600" b="1">
                          <a:solidFill>
                            <a:srgbClr val="03306E"/>
                          </a:solidFill>
                          <a:latin typeface="Calibri"/>
                        </a:rPr>
                        <a:t>Certificate authority</a:t>
                      </a:r>
                    </a:p>
                  </a:txBody>
                  <a:tcPr marL="91440" marR="91440" anchor="ctr">
                    <a:solidFill>
                      <a:srgbClr val="FFFFFF"/>
                    </a:solidFill>
                  </a:tcPr>
                </a:tc>
                <a:tc>
                  <a:txBody>
                    <a:bodyPr wrap="square"/>
                    <a:lstStyle/>
                    <a:p>
                      <a:r>
                        <a:rPr sz="1600" b="0">
                          <a:solidFill>
                            <a:srgbClr val="202122"/>
                          </a:solidFill>
                          <a:latin typeface="Calibri"/>
                        </a:rPr>
                        <a:t>Issues digital certificates</a:t>
                      </a:r>
                    </a:p>
                  </a:txBody>
                  <a:tcPr marL="91440" marR="9144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Service functions in a domain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Group Policy do?</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a certificate authority issue?</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Why use a domain?</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Email protocols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080"/>
              </a:spcAft>
            </a:pPr>
            <a:r>
              <a:rPr sz="1800" b="0">
                <a:solidFill>
                  <a:srgbClr val="202122"/>
                </a:solidFill>
                <a:latin typeface="Calibri"/>
              </a:rPr>
              <a:t>Email uses different protocols for sending and receiving.</a:t>
            </a:r>
          </a:p>
          <a:p>
            <a:pPr>
              <a:spcAft>
                <a:spcPts val="1080"/>
              </a:spcAft>
            </a:pPr>
            <a:r>
              <a:rPr sz="1800" b="0">
                <a:solidFill>
                  <a:srgbClr val="202122"/>
                </a:solidFill>
                <a:latin typeface="Calibri"/>
              </a:rPr>
              <a:t>SMTP sends mail between servers and from your client to your server.</a:t>
            </a:r>
          </a:p>
          <a:p>
            <a:pPr>
              <a:spcAft>
                <a:spcPts val="1080"/>
              </a:spcAft>
            </a:pPr>
            <a:r>
              <a:rPr sz="1800" b="0">
                <a:solidFill>
                  <a:srgbClr val="202122"/>
                </a:solidFill>
                <a:latin typeface="Calibri"/>
              </a:rPr>
              <a:t>POP3 downloads mail to one device and usually removes it from the server: fine for one computer, poor for several.</a:t>
            </a:r>
          </a:p>
          <a:p>
            <a:pPr>
              <a:spcAft>
                <a:spcPts val="1080"/>
              </a:spcAft>
            </a:pPr>
            <a:r>
              <a:rPr sz="1800" b="0">
                <a:solidFill>
                  <a:srgbClr val="202122"/>
                </a:solidFill>
                <a:latin typeface="Calibri"/>
              </a:rPr>
              <a:t>IMAP keeps mail on the server and syncs it, so your phone, laptop and webmail all match.</a:t>
            </a:r>
          </a:p>
          <a:p>
            <a:pPr>
              <a:spcAft>
                <a:spcPts val="1080"/>
              </a:spcAft>
            </a:pPr>
            <a:r>
              <a:rPr sz="1800" b="0">
                <a:solidFill>
                  <a:srgbClr val="202122"/>
                </a:solidFill>
                <a:latin typeface="Calibri"/>
              </a:rPr>
              <a:t>S/MIME encrypts and signs individual messages. TLS (the successor to SSL) encrypts the connection between client and server. Configuration also needs the provider, the right ports and the domain's MX record, which tells the internet which server receives its mail.</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user complains emails read on their phone don't show as read on their laptop: they're set up with POP3 and need IMAP.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Email protocols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graphicFrame>
        <p:nvGraphicFramePr>
          <p:cNvPr id="6" name="Table 5"/>
          <p:cNvGraphicFramePr>
            <a:graphicFrameLocks noGrp="1"/>
          </p:cNvGraphicFramePr>
          <p:nvPr/>
        </p:nvGraphicFramePr>
        <p:xfrm>
          <a:off x="548640" y="1600200"/>
          <a:ext cx="11094414" cy="3977640"/>
        </p:xfrm>
        <a:graphic>
          <a:graphicData uri="http://schemas.openxmlformats.org/drawingml/2006/table">
            <a:tbl>
              <a:tblPr firstRow="1" bandRow="1">
                <a:tableStyleId>{5C22544A-7EE6-4342-B048-85BDC9FD1C3A}</a:tableStyleId>
              </a:tblPr>
              <a:tblGrid>
                <a:gridCol w="2580096"/>
                <a:gridCol w="8514318"/>
              </a:tblGrid>
              <a:tr h="662940">
                <a:tc>
                  <a:txBody>
                    <a:bodyPr wrap="square"/>
                    <a:lstStyle/>
                    <a:p>
                      <a:r>
                        <a:rPr sz="1600" b="1">
                          <a:solidFill>
                            <a:srgbClr val="FFFFFF"/>
                          </a:solidFill>
                          <a:latin typeface="Calibri"/>
                        </a:rPr>
                        <a:t>Protocol</a:t>
                      </a:r>
                    </a:p>
                  </a:txBody>
                  <a:tcPr marL="91440" marR="91440" anchor="ctr">
                    <a:solidFill>
                      <a:srgbClr val="03306E"/>
                    </a:solidFill>
                  </a:tcPr>
                </a:tc>
                <a:tc>
                  <a:txBody>
                    <a:bodyPr wrap="square"/>
                    <a:lstStyle/>
                    <a:p>
                      <a:r>
                        <a:rPr sz="1600" b="1">
                          <a:solidFill>
                            <a:srgbClr val="FFFFFF"/>
                          </a:solidFill>
                          <a:latin typeface="Calibri"/>
                        </a:rPr>
                        <a:t>What it does</a:t>
                      </a:r>
                    </a:p>
                  </a:txBody>
                  <a:tcPr marL="91440" marR="91440" anchor="ctr">
                    <a:solidFill>
                      <a:srgbClr val="03306E"/>
                    </a:solidFill>
                  </a:tcPr>
                </a:tc>
              </a:tr>
              <a:tr h="662940">
                <a:tc>
                  <a:txBody>
                    <a:bodyPr wrap="square"/>
                    <a:lstStyle/>
                    <a:p>
                      <a:r>
                        <a:rPr sz="1600" b="1">
                          <a:solidFill>
                            <a:srgbClr val="03306E"/>
                          </a:solidFill>
                          <a:latin typeface="Calibri"/>
                        </a:rPr>
                        <a:t>POP3</a:t>
                      </a:r>
                    </a:p>
                  </a:txBody>
                  <a:tcPr marL="91440" marR="91440" anchor="ctr">
                    <a:solidFill>
                      <a:srgbClr val="FFFFFF"/>
                    </a:solidFill>
                  </a:tcPr>
                </a:tc>
                <a:tc>
                  <a:txBody>
                    <a:bodyPr wrap="square"/>
                    <a:lstStyle/>
                    <a:p>
                      <a:r>
                        <a:rPr sz="1600" b="0">
                          <a:solidFill>
                            <a:srgbClr val="202122"/>
                          </a:solidFill>
                          <a:latin typeface="Calibri"/>
                        </a:rPr>
                        <a:t>Downloads mail to local software</a:t>
                      </a:r>
                    </a:p>
                  </a:txBody>
                  <a:tcPr marL="91440" marR="91440" anchor="ctr">
                    <a:solidFill>
                      <a:srgbClr val="FFFFFF"/>
                    </a:solidFill>
                  </a:tcPr>
                </a:tc>
              </a:tr>
              <a:tr h="662940">
                <a:tc>
                  <a:txBody>
                    <a:bodyPr wrap="square"/>
                    <a:lstStyle/>
                    <a:p>
                      <a:r>
                        <a:rPr sz="1600" b="1">
                          <a:solidFill>
                            <a:srgbClr val="03306E"/>
                          </a:solidFill>
                          <a:latin typeface="Calibri"/>
                        </a:rPr>
                        <a:t>IMAP</a:t>
                      </a:r>
                    </a:p>
                  </a:txBody>
                  <a:tcPr marL="91440" marR="91440" anchor="ctr">
                    <a:solidFill>
                      <a:srgbClr val="EAF3FF"/>
                    </a:solidFill>
                  </a:tcPr>
                </a:tc>
                <a:tc>
                  <a:txBody>
                    <a:bodyPr wrap="square"/>
                    <a:lstStyle/>
                    <a:p>
                      <a:r>
                        <a:rPr sz="1600" b="0">
                          <a:solidFill>
                            <a:srgbClr val="202122"/>
                          </a:solidFill>
                          <a:latin typeface="Calibri"/>
                        </a:rPr>
                        <a:t>Keeps mail on the server, synced across devices</a:t>
                      </a:r>
                    </a:p>
                  </a:txBody>
                  <a:tcPr marL="91440" marR="91440" anchor="ctr">
                    <a:solidFill>
                      <a:srgbClr val="EAF3FF"/>
                    </a:solidFill>
                  </a:tcPr>
                </a:tc>
              </a:tr>
              <a:tr h="662940">
                <a:tc>
                  <a:txBody>
                    <a:bodyPr wrap="square"/>
                    <a:lstStyle/>
                    <a:p>
                      <a:r>
                        <a:rPr sz="1600" b="1">
                          <a:solidFill>
                            <a:srgbClr val="03306E"/>
                          </a:solidFill>
                          <a:latin typeface="Calibri"/>
                        </a:rPr>
                        <a:t>SMTP</a:t>
                      </a:r>
                    </a:p>
                  </a:txBody>
                  <a:tcPr marL="91440" marR="91440" anchor="ctr">
                    <a:solidFill>
                      <a:srgbClr val="FFFFFF"/>
                    </a:solidFill>
                  </a:tcPr>
                </a:tc>
                <a:tc>
                  <a:txBody>
                    <a:bodyPr wrap="square"/>
                    <a:lstStyle/>
                    <a:p>
                      <a:r>
                        <a:rPr sz="1600" b="0">
                          <a:solidFill>
                            <a:srgbClr val="202122"/>
                          </a:solidFill>
                          <a:latin typeface="Calibri"/>
                        </a:rPr>
                        <a:t>Sends mail across the internet</a:t>
                      </a:r>
                    </a:p>
                  </a:txBody>
                  <a:tcPr marL="91440" marR="91440" anchor="ctr">
                    <a:solidFill>
                      <a:srgbClr val="FFFFFF"/>
                    </a:solidFill>
                  </a:tcPr>
                </a:tc>
              </a:tr>
              <a:tr h="662940">
                <a:tc>
                  <a:txBody>
                    <a:bodyPr wrap="square"/>
                    <a:lstStyle/>
                    <a:p>
                      <a:r>
                        <a:rPr sz="1600" b="1">
                          <a:solidFill>
                            <a:srgbClr val="03306E"/>
                          </a:solidFill>
                          <a:latin typeface="Calibri"/>
                        </a:rPr>
                        <a:t>S/MIME</a:t>
                      </a:r>
                    </a:p>
                  </a:txBody>
                  <a:tcPr marL="91440" marR="91440" anchor="ctr">
                    <a:solidFill>
                      <a:srgbClr val="EAF3FF"/>
                    </a:solidFill>
                  </a:tcPr>
                </a:tc>
                <a:tc>
                  <a:txBody>
                    <a:bodyPr wrap="square"/>
                    <a:lstStyle/>
                    <a:p>
                      <a:r>
                        <a:rPr sz="1600" b="0">
                          <a:solidFill>
                            <a:srgbClr val="202122"/>
                          </a:solidFill>
                          <a:latin typeface="Calibri"/>
                        </a:rPr>
                        <a:t>Encrypts and signs email</a:t>
                      </a:r>
                    </a:p>
                  </a:txBody>
                  <a:tcPr marL="91440" marR="91440" anchor="ctr">
                    <a:solidFill>
                      <a:srgbClr val="EAF3FF"/>
                    </a:solidFill>
                  </a:tcPr>
                </a:tc>
              </a:tr>
              <a:tr h="662940">
                <a:tc>
                  <a:txBody>
                    <a:bodyPr wrap="square"/>
                    <a:lstStyle/>
                    <a:p>
                      <a:r>
                        <a:rPr sz="1600" b="1">
                          <a:solidFill>
                            <a:srgbClr val="03306E"/>
                          </a:solidFill>
                          <a:latin typeface="Calibri"/>
                        </a:rPr>
                        <a:t>SSL / TLS</a:t>
                      </a:r>
                    </a:p>
                  </a:txBody>
                  <a:tcPr marL="91440" marR="91440" anchor="ctr">
                    <a:solidFill>
                      <a:srgbClr val="FFFFFF"/>
                    </a:solidFill>
                  </a:tcPr>
                </a:tc>
                <a:tc>
                  <a:txBody>
                    <a:bodyPr wrap="square"/>
                    <a:lstStyle/>
                    <a:p>
                      <a:r>
                        <a:rPr sz="1600" b="0">
                          <a:solidFill>
                            <a:srgbClr val="202122"/>
                          </a:solidFill>
                          <a:latin typeface="Calibri"/>
                        </a:rPr>
                        <a:t>Encrypt the connection between mail server and client</a:t>
                      </a:r>
                    </a:p>
                  </a:txBody>
                  <a:tcPr marL="91440" marR="91440" anchor="ctr">
                    <a:solidFill>
                      <a:srgbClr val="FFFFFF"/>
                    </a:solidFill>
                  </a:tcPr>
                </a:tc>
              </a:tr>
            </a:tbl>
          </a:graphicData>
        </a:graphic>
      </p:graphicFrame>
      <p:sp>
        <p:nvSpPr>
          <p:cNvPr id="7" name="TextBox 6"/>
          <p:cNvSpPr txBox="1"/>
          <p:nvPr/>
        </p:nvSpPr>
        <p:spPr>
          <a:xfrm>
            <a:off x="548640" y="5715000"/>
            <a:ext cx="11094415" cy="457200"/>
          </a:xfrm>
          <a:prstGeom prst="rect">
            <a:avLst/>
          </a:prstGeom>
          <a:noFill/>
        </p:spPr>
        <p:txBody>
          <a:bodyPr wrap="square" anchor="t" lIns="0" rIns="0" tIns="0" bIns="0"/>
          <a:lstStyle/>
          <a:p>
            <a:pPr algn="l"/>
            <a:r>
              <a:rPr sz="1300" b="0" i="1">
                <a:solidFill>
                  <a:srgbClr val="54595D"/>
                </a:solidFill>
                <a:latin typeface="Calibri"/>
              </a:rPr>
              <a:t>Configuring email: follow corporate policy, set up profiles and signatures, choose a provider, protocol, MX record and mail domains.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Email protocols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protocol sends email?</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use IMAP for several devices?</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an MX record?</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Remote access and VPNs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Remote access lets someone work away from the office as if they were connected to it: desktop sharing, remote support and off-site working. It's a key part of business continuity plans.</a:t>
            </a:r>
          </a:p>
          <a:p>
            <a:pPr>
              <a:spcAft>
                <a:spcPts val="1320"/>
              </a:spcAft>
            </a:pPr>
            <a:r>
              <a:rPr sz="2200" b="0">
                <a:solidFill>
                  <a:srgbClr val="202122"/>
                </a:solidFill>
                <a:latin typeface="Calibri"/>
              </a:rPr>
              <a:t>A VPN protects remote access by encrypting all traffic between the device and the organisation's network and hiding the device's own IP address.</a:t>
            </a:r>
          </a:p>
          <a:p>
            <a:pPr>
              <a:spcAft>
                <a:spcPts val="1320"/>
              </a:spcAft>
            </a:pPr>
            <a:r>
              <a:rPr sz="2200" b="0">
                <a:solidFill>
                  <a:srgbClr val="202122"/>
                </a:solidFill>
                <a:latin typeface="Calibri"/>
              </a:rPr>
              <a:t>Setting one up means choosing the security protocol and port, encryption settings and certificates, and how users authenticate, on both the server and the client.</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When snow closes the office, staff connect through the VPN from home and carry on working securely, as planned in the BCP.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Remote access and VPNs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Remote access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Work remotely as if on the network</a:t>
            </a:r>
          </a:p>
          <a:p>
            <a:pPr marL="274320" indent="-274320">
              <a:spcAft>
                <a:spcPts val="990"/>
              </a:spcAft>
              <a:buClr>
                <a:srgbClr val="0645AD"/>
              </a:buClr>
              <a:buFont typeface="Arial"/>
              <a:buChar char="•"/>
            </a:pPr>
            <a:r>
              <a:rPr sz="2200" b="0">
                <a:solidFill>
                  <a:srgbClr val="202122"/>
                </a:solidFill>
                <a:latin typeface="Calibri"/>
              </a:rPr>
              <a:t>Supports home working in a BCP</a:t>
            </a:r>
          </a:p>
          <a:p>
            <a:pPr marL="274320" indent="-274320">
              <a:spcAft>
                <a:spcPts val="990"/>
              </a:spcAft>
              <a:buClr>
                <a:srgbClr val="0645AD"/>
              </a:buClr>
              <a:buFont typeface="Arial"/>
              <a:buChar char="•"/>
            </a:pPr>
            <a:r>
              <a:rPr sz="2200" b="0">
                <a:solidFill>
                  <a:srgbClr val="202122"/>
                </a:solidFill>
                <a:latin typeface="Calibri"/>
              </a:rPr>
              <a:t>Desktop sharing</a:t>
            </a:r>
          </a:p>
          <a:p>
            <a:pPr marL="274320" indent="-274320">
              <a:spcAft>
                <a:spcPts val="990"/>
              </a:spcAft>
              <a:buClr>
                <a:srgbClr val="0645AD"/>
              </a:buClr>
              <a:buFont typeface="Arial"/>
              <a:buChar char="•"/>
            </a:pPr>
            <a:r>
              <a:rPr sz="2200" b="0">
                <a:solidFill>
                  <a:srgbClr val="202122"/>
                </a:solidFill>
                <a:latin typeface="Calibri"/>
              </a:rPr>
              <a:t>Remote support and fault diagnosis</a:t>
            </a:r>
          </a:p>
          <a:p>
            <a:pPr marL="274320" indent="-274320">
              <a:spcAft>
                <a:spcPts val="990"/>
              </a:spcAft>
              <a:buClr>
                <a:srgbClr val="0645AD"/>
              </a:buClr>
              <a:buFont typeface="Arial"/>
              <a:buChar char="•"/>
            </a:pPr>
            <a:r>
              <a:rPr sz="2200" b="0">
                <a:solidFill>
                  <a:srgbClr val="202122"/>
                </a:solidFill>
                <a:latin typeface="Calibri"/>
              </a:rPr>
              <a:t>Off-site working</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VPNs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Encrypt traffic and mask the client's IP</a:t>
            </a:r>
          </a:p>
          <a:p>
            <a:pPr marL="274320" indent="-274320">
              <a:spcAft>
                <a:spcPts val="990"/>
              </a:spcAft>
              <a:buClr>
                <a:srgbClr val="0645AD"/>
              </a:buClr>
              <a:buFont typeface="Arial"/>
              <a:buChar char="•"/>
            </a:pPr>
            <a:r>
              <a:rPr sz="2200" b="0">
                <a:solidFill>
                  <a:srgbClr val="202122"/>
                </a:solidFill>
                <a:latin typeface="Calibri"/>
              </a:rPr>
              <a:t>Choose port and security protocol</a:t>
            </a:r>
          </a:p>
          <a:p>
            <a:pPr marL="274320" indent="-274320">
              <a:spcAft>
                <a:spcPts val="990"/>
              </a:spcAft>
              <a:buClr>
                <a:srgbClr val="0645AD"/>
              </a:buClr>
              <a:buFont typeface="Arial"/>
              <a:buChar char="•"/>
            </a:pPr>
            <a:r>
              <a:rPr sz="2200" b="0">
                <a:solidFill>
                  <a:srgbClr val="202122"/>
                </a:solidFill>
                <a:latin typeface="Calibri"/>
              </a:rPr>
              <a:t>Set encryption and certificates</a:t>
            </a:r>
          </a:p>
          <a:p>
            <a:pPr marL="274320" indent="-274320">
              <a:spcAft>
                <a:spcPts val="990"/>
              </a:spcAft>
              <a:buClr>
                <a:srgbClr val="0645AD"/>
              </a:buClr>
              <a:buFont typeface="Arial"/>
              <a:buChar char="•"/>
            </a:pPr>
            <a:r>
              <a:rPr sz="2200" b="0">
                <a:solidFill>
                  <a:srgbClr val="202122"/>
                </a:solidFill>
                <a:latin typeface="Calibri"/>
              </a:rPr>
              <a:t>Configure authentication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Remote access and VPNs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a VPN encrypt?</a:t>
            </a:r>
          </a:p>
        </p:txBody>
      </p:sp>
      <p:sp>
        <p:nvSpPr>
          <p:cNvPr id="8" name="Oval 7"/>
          <p:cNvSpPr/>
          <p:nvPr/>
        </p:nvSpPr>
        <p:spPr>
          <a:xfrm>
            <a:off x="548640" y="31089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How does remote access support business continuity?</a:t>
            </a:r>
          </a:p>
        </p:txBody>
      </p:sp>
      <p:sp>
        <p:nvSpPr>
          <p:cNvPr id="10" name="Oval 9"/>
          <p:cNvSpPr/>
          <p:nvPr/>
        </p:nvSpPr>
        <p:spPr>
          <a:xfrm>
            <a:off x="548640" y="45262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Name one thing to configure for a VPN.</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Configuring a simple VPN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ectangle 5"/>
          <p:cNvSpPr/>
          <p:nvPr/>
        </p:nvSpPr>
        <p:spPr>
          <a:xfrm>
            <a:off x="1603217" y="2656332"/>
            <a:ext cx="8985260"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283177" y="235458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3131820"/>
            <a:ext cx="2109155" cy="731520"/>
          </a:xfrm>
          <a:prstGeom prst="rect">
            <a:avLst/>
          </a:prstGeom>
          <a:noFill/>
        </p:spPr>
        <p:txBody>
          <a:bodyPr wrap="square" anchor="t" lIns="0" rIns="0" tIns="0" bIns="0"/>
          <a:lstStyle/>
          <a:p>
            <a:pPr algn="ctr"/>
            <a:r>
              <a:rPr sz="1700" b="1" i="0">
                <a:solidFill>
                  <a:srgbClr val="03306E"/>
                </a:solidFill>
                <a:latin typeface="Calibri"/>
              </a:rPr>
              <a:t>Enable</a:t>
            </a:r>
          </a:p>
        </p:txBody>
      </p:sp>
      <p:sp>
        <p:nvSpPr>
          <p:cNvPr id="9" name="Rounded Rectangle 8"/>
          <p:cNvSpPr/>
          <p:nvPr/>
        </p:nvSpPr>
        <p:spPr>
          <a:xfrm>
            <a:off x="548640"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046220"/>
            <a:ext cx="1834835" cy="1234439"/>
          </a:xfrm>
          <a:prstGeom prst="rect">
            <a:avLst/>
          </a:prstGeom>
          <a:noFill/>
        </p:spPr>
        <p:txBody>
          <a:bodyPr wrap="square" anchor="t" lIns="0" rIns="0" tIns="0" bIns="0"/>
          <a:lstStyle/>
          <a:p>
            <a:pPr algn="l"/>
            <a:r>
              <a:rPr sz="1800" b="0" i="0">
                <a:solidFill>
                  <a:srgbClr val="202122"/>
                </a:solidFill>
                <a:latin typeface="Calibri"/>
              </a:rPr>
              <a:t>Turn on the VPN service on the server.</a:t>
            </a:r>
          </a:p>
        </p:txBody>
      </p:sp>
      <p:sp>
        <p:nvSpPr>
          <p:cNvPr id="11" name="Oval 10"/>
          <p:cNvSpPr/>
          <p:nvPr/>
        </p:nvSpPr>
        <p:spPr>
          <a:xfrm>
            <a:off x="3529492" y="235458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794955" y="3131820"/>
            <a:ext cx="2109155" cy="731520"/>
          </a:xfrm>
          <a:prstGeom prst="rect">
            <a:avLst/>
          </a:prstGeom>
          <a:noFill/>
        </p:spPr>
        <p:txBody>
          <a:bodyPr wrap="square" anchor="t" lIns="0" rIns="0" tIns="0" bIns="0"/>
          <a:lstStyle/>
          <a:p>
            <a:pPr algn="ctr"/>
            <a:r>
              <a:rPr sz="1700" b="1" i="0">
                <a:solidFill>
                  <a:srgbClr val="03306E"/>
                </a:solidFill>
                <a:latin typeface="Calibri"/>
              </a:rPr>
              <a:t>Address</a:t>
            </a:r>
          </a:p>
        </p:txBody>
      </p:sp>
      <p:sp>
        <p:nvSpPr>
          <p:cNvPr id="13" name="Rounded Rectangle 12"/>
          <p:cNvSpPr/>
          <p:nvPr/>
        </p:nvSpPr>
        <p:spPr>
          <a:xfrm>
            <a:off x="2794955"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32115" y="4046220"/>
            <a:ext cx="1834835" cy="1234439"/>
          </a:xfrm>
          <a:prstGeom prst="rect">
            <a:avLst/>
          </a:prstGeom>
          <a:noFill/>
        </p:spPr>
        <p:txBody>
          <a:bodyPr wrap="square" anchor="t" lIns="0" rIns="0" tIns="0" bIns="0"/>
          <a:lstStyle/>
          <a:p>
            <a:pPr algn="l"/>
            <a:r>
              <a:rPr sz="1800" b="0" i="0">
                <a:solidFill>
                  <a:srgbClr val="202122"/>
                </a:solidFill>
                <a:latin typeface="Calibri"/>
              </a:rPr>
              <a:t>Set IP and DNS for the VPN interface.</a:t>
            </a:r>
          </a:p>
        </p:txBody>
      </p:sp>
      <p:sp>
        <p:nvSpPr>
          <p:cNvPr id="15" name="Oval 14"/>
          <p:cNvSpPr/>
          <p:nvPr/>
        </p:nvSpPr>
        <p:spPr>
          <a:xfrm>
            <a:off x="5775807" y="235458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5041270" y="3131820"/>
            <a:ext cx="2109155" cy="731520"/>
          </a:xfrm>
          <a:prstGeom prst="rect">
            <a:avLst/>
          </a:prstGeom>
          <a:noFill/>
        </p:spPr>
        <p:txBody>
          <a:bodyPr wrap="square" anchor="t" lIns="0" rIns="0" tIns="0" bIns="0"/>
          <a:lstStyle/>
          <a:p>
            <a:pPr algn="ctr"/>
            <a:r>
              <a:rPr sz="1700" b="1" i="0">
                <a:solidFill>
                  <a:srgbClr val="03306E"/>
                </a:solidFill>
                <a:latin typeface="Calibri"/>
              </a:rPr>
              <a:t>Access</a:t>
            </a:r>
          </a:p>
        </p:txBody>
      </p:sp>
      <p:sp>
        <p:nvSpPr>
          <p:cNvPr id="17" name="Rounded Rectangle 16"/>
          <p:cNvSpPr/>
          <p:nvPr/>
        </p:nvSpPr>
        <p:spPr>
          <a:xfrm>
            <a:off x="5041270"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78430" y="4046220"/>
            <a:ext cx="1834835" cy="1234439"/>
          </a:xfrm>
          <a:prstGeom prst="rect">
            <a:avLst/>
          </a:prstGeom>
          <a:noFill/>
        </p:spPr>
        <p:txBody>
          <a:bodyPr wrap="square" anchor="t" lIns="0" rIns="0" tIns="0" bIns="0"/>
          <a:lstStyle/>
          <a:p>
            <a:pPr algn="l"/>
            <a:r>
              <a:rPr sz="1800" b="0" i="0">
                <a:solidFill>
                  <a:srgbClr val="202122"/>
                </a:solidFill>
                <a:latin typeface="Calibri"/>
              </a:rPr>
              <a:t>Manage authentication and permissions.</a:t>
            </a:r>
          </a:p>
        </p:txBody>
      </p:sp>
      <p:sp>
        <p:nvSpPr>
          <p:cNvPr id="19" name="Oval 18"/>
          <p:cNvSpPr/>
          <p:nvPr/>
        </p:nvSpPr>
        <p:spPr>
          <a:xfrm>
            <a:off x="8022122" y="235458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7287585" y="3131820"/>
            <a:ext cx="2109155" cy="731520"/>
          </a:xfrm>
          <a:prstGeom prst="rect">
            <a:avLst/>
          </a:prstGeom>
          <a:noFill/>
        </p:spPr>
        <p:txBody>
          <a:bodyPr wrap="square" anchor="t" lIns="0" rIns="0" tIns="0" bIns="0"/>
          <a:lstStyle/>
          <a:p>
            <a:pPr algn="ctr"/>
            <a:r>
              <a:rPr sz="1700" b="1" i="0">
                <a:solidFill>
                  <a:srgbClr val="03306E"/>
                </a:solidFill>
                <a:latin typeface="Calibri"/>
              </a:rPr>
              <a:t>Client</a:t>
            </a:r>
          </a:p>
        </p:txBody>
      </p:sp>
      <p:sp>
        <p:nvSpPr>
          <p:cNvPr id="21" name="Rounded Rectangle 20"/>
          <p:cNvSpPr/>
          <p:nvPr/>
        </p:nvSpPr>
        <p:spPr>
          <a:xfrm>
            <a:off x="7287585"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24745" y="4046220"/>
            <a:ext cx="1834835" cy="1234439"/>
          </a:xfrm>
          <a:prstGeom prst="rect">
            <a:avLst/>
          </a:prstGeom>
          <a:noFill/>
        </p:spPr>
        <p:txBody>
          <a:bodyPr wrap="square" anchor="t" lIns="0" rIns="0" tIns="0" bIns="0"/>
          <a:lstStyle/>
          <a:p>
            <a:pPr algn="l"/>
            <a:r>
              <a:rPr sz="1800" b="0" i="0">
                <a:solidFill>
                  <a:srgbClr val="202122"/>
                </a:solidFill>
                <a:latin typeface="Calibri"/>
              </a:rPr>
              <a:t>Create the connection to the server's IP or FQDN.</a:t>
            </a:r>
          </a:p>
        </p:txBody>
      </p:sp>
      <p:sp>
        <p:nvSpPr>
          <p:cNvPr id="23" name="Oval 22"/>
          <p:cNvSpPr/>
          <p:nvPr/>
        </p:nvSpPr>
        <p:spPr>
          <a:xfrm>
            <a:off x="10268437" y="2354580"/>
            <a:ext cx="640080" cy="6400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9533900" y="3131820"/>
            <a:ext cx="2109155" cy="731520"/>
          </a:xfrm>
          <a:prstGeom prst="rect">
            <a:avLst/>
          </a:prstGeom>
          <a:noFill/>
        </p:spPr>
        <p:txBody>
          <a:bodyPr wrap="square" anchor="t" lIns="0" rIns="0" tIns="0" bIns="0"/>
          <a:lstStyle/>
          <a:p>
            <a:pPr algn="ctr"/>
            <a:r>
              <a:rPr sz="1700" b="1" i="0">
                <a:solidFill>
                  <a:srgbClr val="03306E"/>
                </a:solidFill>
                <a:latin typeface="Calibri"/>
              </a:rPr>
              <a:t>Test</a:t>
            </a:r>
          </a:p>
        </p:txBody>
      </p:sp>
      <p:sp>
        <p:nvSpPr>
          <p:cNvPr id="25" name="Rounded Rectangle 24"/>
          <p:cNvSpPr/>
          <p:nvPr/>
        </p:nvSpPr>
        <p:spPr>
          <a:xfrm>
            <a:off x="9533900" y="3909060"/>
            <a:ext cx="2109155" cy="150876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71060" y="4046220"/>
            <a:ext cx="1834835" cy="1234439"/>
          </a:xfrm>
          <a:prstGeom prst="rect">
            <a:avLst/>
          </a:prstGeom>
          <a:noFill/>
        </p:spPr>
        <p:txBody>
          <a:bodyPr wrap="square" anchor="t" lIns="0" rIns="0" tIns="0" bIns="0"/>
          <a:lstStyle/>
          <a:p>
            <a:pPr algn="l"/>
            <a:r>
              <a:rPr sz="1800" b="0" i="0">
                <a:solidFill>
                  <a:srgbClr val="202122"/>
                </a:solidFill>
                <a:latin typeface="Calibri"/>
              </a:rPr>
              <a:t>Connect and check access to resources.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Which protocol keeps mail on the server?</a:t>
            </a:r>
          </a:p>
        </p:txBody>
      </p:sp>
      <p:sp>
        <p:nvSpPr>
          <p:cNvPr id="8" name="Oval 7"/>
          <p:cNvSpPr/>
          <p:nvPr/>
        </p:nvSpPr>
        <p:spPr>
          <a:xfrm>
            <a:off x="548640" y="2574950"/>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Which protocol sends email?</a:t>
            </a:r>
          </a:p>
        </p:txBody>
      </p:sp>
      <p:sp>
        <p:nvSpPr>
          <p:cNvPr id="10" name="Oval 9"/>
          <p:cNvSpPr/>
          <p:nvPr/>
        </p:nvSpPr>
        <p:spPr>
          <a:xfrm>
            <a:off x="548640" y="3531412"/>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What is an MX record?</a:t>
            </a:r>
          </a:p>
        </p:txBody>
      </p:sp>
      <p:sp>
        <p:nvSpPr>
          <p:cNvPr id="12" name="Oval 11"/>
          <p:cNvSpPr/>
          <p:nvPr/>
        </p:nvSpPr>
        <p:spPr>
          <a:xfrm>
            <a:off x="548640" y="4487875"/>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What two things does a VPN do for privacy?</a:t>
            </a:r>
          </a:p>
        </p:txBody>
      </p:sp>
      <p:sp>
        <p:nvSpPr>
          <p:cNvPr id="14" name="Oval 13"/>
          <p:cNvSpPr/>
          <p:nvPr/>
        </p:nvSpPr>
        <p:spPr>
          <a:xfrm>
            <a:off x="548640" y="5444337"/>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What does a certificate authority issue?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Which protocol keeps mail on the server?</a:t>
            </a:r>
          </a:p>
          <a:p>
            <a:r>
              <a:rPr sz="1800" b="1">
                <a:solidFill>
                  <a:srgbClr val="03306E"/>
                </a:solidFill>
                <a:latin typeface="Calibri"/>
              </a:rPr>
              <a:t>IMAP.</a:t>
            </a:r>
          </a:p>
        </p:txBody>
      </p:sp>
      <p:sp>
        <p:nvSpPr>
          <p:cNvPr id="8" name="Oval 7"/>
          <p:cNvSpPr/>
          <p:nvPr/>
        </p:nvSpPr>
        <p:spPr>
          <a:xfrm>
            <a:off x="548640" y="2574950"/>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Which protocol sends email?</a:t>
            </a:r>
          </a:p>
          <a:p>
            <a:r>
              <a:rPr sz="1800" b="1">
                <a:solidFill>
                  <a:srgbClr val="03306E"/>
                </a:solidFill>
                <a:latin typeface="Calibri"/>
              </a:rPr>
              <a:t>SMTP.</a:t>
            </a:r>
          </a:p>
        </p:txBody>
      </p:sp>
      <p:sp>
        <p:nvSpPr>
          <p:cNvPr id="10" name="Oval 9"/>
          <p:cNvSpPr/>
          <p:nvPr/>
        </p:nvSpPr>
        <p:spPr>
          <a:xfrm>
            <a:off x="548640" y="3531412"/>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What is an MX record?</a:t>
            </a:r>
          </a:p>
          <a:p>
            <a:r>
              <a:rPr sz="1800" b="1">
                <a:solidFill>
                  <a:srgbClr val="03306E"/>
                </a:solidFill>
                <a:latin typeface="Calibri"/>
              </a:rPr>
              <a:t>A DNS record that says which server receives mail for a domain.</a:t>
            </a:r>
          </a:p>
        </p:txBody>
      </p:sp>
      <p:sp>
        <p:nvSpPr>
          <p:cNvPr id="12" name="Oval 11"/>
          <p:cNvSpPr/>
          <p:nvPr/>
        </p:nvSpPr>
        <p:spPr>
          <a:xfrm>
            <a:off x="548640" y="4487875"/>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What two things does a VPN do for privacy?</a:t>
            </a:r>
          </a:p>
          <a:p>
            <a:r>
              <a:rPr sz="1800" b="1">
                <a:solidFill>
                  <a:srgbClr val="03306E"/>
                </a:solidFill>
                <a:latin typeface="Calibri"/>
              </a:rPr>
              <a:t>Encrypts traffic and masks the client's IP address.</a:t>
            </a:r>
          </a:p>
        </p:txBody>
      </p:sp>
      <p:sp>
        <p:nvSpPr>
          <p:cNvPr id="14" name="Oval 13"/>
          <p:cNvSpPr/>
          <p:nvPr/>
        </p:nvSpPr>
        <p:spPr>
          <a:xfrm>
            <a:off x="548640" y="5444337"/>
            <a:ext cx="411480" cy="41148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What does a certificate authority issue?</a:t>
            </a:r>
          </a:p>
          <a:p>
            <a:r>
              <a:rPr sz="1800" b="1">
                <a:solidFill>
                  <a:srgbClr val="03306E"/>
                </a:solidFill>
                <a:latin typeface="Calibri"/>
              </a:rPr>
              <a:t>Digital certificates.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Set up a mail client</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Domains, Email and Remote Access</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20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Set up a test account in a desktop mail client using IMAP and SMTP with TLS.</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Record the server names and ports used.</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Explain why you chose IMAP over POP3 for a user with three devices.</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Add a corporate signature that follows a given policy.</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Mail sends and receives</a:t>
            </a:r>
          </a:p>
          <a:p>
            <a:pPr marL="274320" indent="-274320">
              <a:spcAft>
                <a:spcPts val="810"/>
              </a:spcAft>
              <a:buClr>
                <a:srgbClr val="0645AD"/>
              </a:buClr>
              <a:buFont typeface="Arial"/>
              <a:buChar char="•"/>
            </a:pPr>
            <a:r>
              <a:rPr sz="1800" b="0">
                <a:solidFill>
                  <a:srgbClr val="202122"/>
                </a:solidFill>
                <a:latin typeface="Calibri"/>
              </a:rPr>
              <a:t>Encrypted ports used</a:t>
            </a:r>
          </a:p>
          <a:p>
            <a:pPr marL="274320" indent="-274320">
              <a:spcAft>
                <a:spcPts val="810"/>
              </a:spcAft>
              <a:buClr>
                <a:srgbClr val="0645AD"/>
              </a:buClr>
              <a:buFont typeface="Arial"/>
              <a:buChar char="•"/>
            </a:pPr>
            <a:r>
              <a:rPr sz="1800" b="0">
                <a:solidFill>
                  <a:srgbClr val="202122"/>
                </a:solidFill>
                <a:latin typeface="Calibri"/>
              </a:rPr>
              <a:t>Choice of protocol justified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DIGITAL SUPPORT  ·  Digital Support Content Area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might a remote worker need a VPN?</a:t>
            </a:r>
          </a:p>
        </p:txBody>
      </p:sp>
      <p:sp>
        <p:nvSpPr>
          <p:cNvPr id="6" name="Oval 5"/>
          <p:cNvSpPr/>
          <p:nvPr/>
        </p:nvSpPr>
        <p:spPr>
          <a:xfrm>
            <a:off x="548640" y="269748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What does S/MIME add to email?</a:t>
            </a:r>
          </a:p>
        </p:txBody>
      </p:sp>
      <p:sp>
        <p:nvSpPr>
          <p:cNvPr id="8" name="Oval 7"/>
          <p:cNvSpPr/>
          <p:nvPr/>
        </p:nvSpPr>
        <p:spPr>
          <a:xfrm>
            <a:off x="548640" y="3657600"/>
            <a:ext cx="502920" cy="502920"/>
          </a:xfrm>
          <a:prstGeom prst="ellipse">
            <a:avLst/>
          </a:prstGeom>
          <a:solidFill>
            <a:srgbClr val="4EA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Name the DNS record used for mail.</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1900" b="1" i="0">
                <a:solidFill>
                  <a:srgbClr val="FFFFFF"/>
                </a:solidFill>
                <a:latin typeface="Cambria"/>
              </a:rPr>
              <a:t>Digital Support - Installing, Configuring and Supporting Software and Operating Systems</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https://lana6478.github.io/Digital-Suport-and-security-T-levle/#/02-occupational-specialisms/digital-support/02-software-and-os-support.md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Domains, Email and Remote Access</dc:title>
  <dc:subject>Digital Support and Security T Level: Digital Support Content Area 2</dc:subject>
  <dc:creator>Samuel O'Connell</dc:creator>
  <cp:keywords>T Level; Digital Support and Security; lesson slides; 2.4, 2.16 to 2.20</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