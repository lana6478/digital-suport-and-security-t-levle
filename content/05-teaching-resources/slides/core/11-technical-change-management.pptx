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Political, Economic, Social, Technological, Legal, Environmental.</a:t>
            </a:r>
          </a:p>
          <a:p>
            <a:r>
              <a:t>2. E.g. expansion, restructuring, a cyber attack.</a:t>
            </a:r>
          </a:p>
          <a:p>
            <a:r>
              <a:t>3. Legal.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SMARTER: specific, measurable, achievable, realistic, time-bound, evaluated, reviewed.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Reviews, prioritises and approves change requests and monitors progress.</a:t>
            </a:r>
          </a:p>
          <a:p>
            <a:r>
              <a:t>2. Specific, measurable, achievable, realistic, time-bound, evaluated, reviewed.</a:t>
            </a:r>
          </a:p>
          <a:p>
            <a:r>
              <a:t>3. To gain acceptance and make sure people comply.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A plan, with backups, to undo a change that fails.</a:t>
            </a:r>
          </a:p>
          <a:p>
            <a:r>
              <a:t>2. To find problems without affecting the live system.</a:t>
            </a:r>
          </a:p>
          <a:p>
            <a:r>
              <a:t>3. Checking after go-live whether the change met its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Parallel.</a:t>
            </a:r>
          </a:p>
          <a:p>
            <a:r>
              <a:t>2. Direct.</a:t>
            </a:r>
          </a:p>
          <a:p>
            <a:r>
              <a:t>3. One team or site uses the new system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Budget, time, human and technological resources.</a:t>
            </a:r>
          </a:p>
          <a:p>
            <a:r>
              <a:t>2. E.g. resistance to change, misuse, disruption.</a:t>
            </a:r>
          </a:p>
          <a:p>
            <a:r>
              <a:t>3. Deciding whether a project is worth doing and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Technical Change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5.4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internal and external triggers for change.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how organisations respond to change.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stages of the change management process, including the role of the CAB.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Assess the feasibility of a digital project.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Your college is moving all its files to the cloud next month. Who needs to know? What could go wrong?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Triggers for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Organisations change their systems when something pushes them to.</a:t>
            </a:r>
          </a:p>
          <a:p>
            <a:pPr>
              <a:spcAft>
                <a:spcPts val="1260"/>
              </a:spcAft>
            </a:pPr>
            <a:r>
              <a:rPr sz="2100" b="1">
                <a:solidFill>
                  <a:srgbClr val="202122"/>
                </a:solidFill>
                <a:latin typeface="Calibri"/>
              </a:rPr>
              <a:t>Internal triggers come from inside:</a:t>
            </a:r>
            <a:r>
              <a:rPr sz="2100" b="0">
                <a:solidFill>
                  <a:srgbClr val="202122"/>
                </a:solidFill>
                <a:latin typeface="Calibri"/>
              </a:rPr>
              <a:t> restructuring, expanding or downsizing, new strategic goals such as rebranding or new services, or crises like a cyber attack or system failure.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External triggers come from outside, and PESTLE is a handy checklist: Political (a new government), Economic (recession, new competitors), Social (trends like remote working), Technological (new technology, obsolete systems, zero-day vulnerabilities), Legal (new laws) and Environmental (sustainability targets, pandemics).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The pandemic (environmental and social) forced firms to roll out laptops, VPNs and video calls in weeks so staff could work from home.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Triggers for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Internal triggers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00"/>
              </a:spcAft>
              <a:buClr>
                <a:srgbClr val="0645AD"/>
              </a:buClr>
              <a:buFont typeface="Arial"/>
              <a:buChar char="•"/>
            </a:pPr>
            <a:r>
              <a:rPr sz="2000" b="0">
                <a:solidFill>
                  <a:srgbClr val="202122"/>
                </a:solidFill>
                <a:latin typeface="Calibri"/>
              </a:rPr>
              <a:t>Restructuring, expansion or downsizing</a:t>
            </a:r>
          </a:p>
          <a:p>
            <a:pPr marL="274320" indent="-274320">
              <a:spcAft>
                <a:spcPts val="900"/>
              </a:spcAft>
              <a:buClr>
                <a:srgbClr val="0645AD"/>
              </a:buClr>
              <a:buFont typeface="Arial"/>
              <a:buChar char="•"/>
            </a:pPr>
            <a:r>
              <a:rPr sz="2000" b="1">
                <a:solidFill>
                  <a:srgbClr val="202122"/>
                </a:solidFill>
                <a:latin typeface="Calibri"/>
              </a:rPr>
              <a:t>New strategic objectives:</a:t>
            </a:r>
            <a:r>
              <a:rPr sz="2000" b="0">
                <a:solidFill>
                  <a:srgbClr val="202122"/>
                </a:solidFill>
                <a:latin typeface="Calibri"/>
              </a:rPr>
              <a:t> diversification, rebranding, new features</a:t>
            </a:r>
          </a:p>
          <a:p>
            <a:pPr marL="274320" indent="-274320">
              <a:spcAft>
                <a:spcPts val="900"/>
              </a:spcAft>
              <a:buClr>
                <a:srgbClr val="0645AD"/>
              </a:buClr>
              <a:buFont typeface="Arial"/>
              <a:buChar char="•"/>
            </a:pPr>
            <a:r>
              <a:rPr sz="2000" b="1">
                <a:solidFill>
                  <a:srgbClr val="202122"/>
                </a:solidFill>
                <a:latin typeface="Calibri"/>
              </a:rPr>
              <a:t>Crises:</a:t>
            </a:r>
            <a:r>
              <a:rPr sz="2000" b="0">
                <a:solidFill>
                  <a:srgbClr val="202122"/>
                </a:solidFill>
                <a:latin typeface="Calibri"/>
              </a:rPr>
              <a:t> natural disasters, terrorism, cyber attacks</a:t>
            </a:r>
          </a:p>
          <a:p>
            <a:pPr marL="274320" indent="-274320">
              <a:spcAft>
                <a:spcPts val="900"/>
              </a:spcAft>
              <a:buClr>
                <a:srgbClr val="0645AD"/>
              </a:buClr>
              <a:buFont typeface="Arial"/>
              <a:buChar char="•"/>
            </a:pPr>
            <a:r>
              <a:rPr sz="2000" b="0">
                <a:solidFill>
                  <a:srgbClr val="202122"/>
                </a:solidFill>
                <a:latin typeface="Calibri"/>
              </a:rPr>
              <a:t>System failure or data corruption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External triggers (PESTLE)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1">
                <a:solidFill>
                  <a:srgbClr val="202122"/>
                </a:solidFill>
                <a:latin typeface="Calibri"/>
              </a:rPr>
              <a:t>Political:</a:t>
            </a:r>
            <a:r>
              <a:rPr sz="1800" b="0">
                <a:solidFill>
                  <a:srgbClr val="202122"/>
                </a:solidFill>
                <a:latin typeface="Calibri"/>
              </a:rPr>
              <a:t> new government, conflict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1">
                <a:solidFill>
                  <a:srgbClr val="202122"/>
                </a:solidFill>
                <a:latin typeface="Calibri"/>
              </a:rPr>
              <a:t>Economic:</a:t>
            </a:r>
            <a:r>
              <a:rPr sz="1800" b="0">
                <a:solidFill>
                  <a:srgbClr val="202122"/>
                </a:solidFill>
                <a:latin typeface="Calibri"/>
              </a:rPr>
              <a:t> recession, inflation, competitors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1">
                <a:solidFill>
                  <a:srgbClr val="202122"/>
                </a:solidFill>
                <a:latin typeface="Calibri"/>
              </a:rPr>
              <a:t>Social:</a:t>
            </a:r>
            <a:r>
              <a:rPr sz="1800" b="0">
                <a:solidFill>
                  <a:srgbClr val="202122"/>
                </a:solidFill>
                <a:latin typeface="Calibri"/>
              </a:rPr>
              <a:t> demographics, remote working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1">
                <a:solidFill>
                  <a:srgbClr val="202122"/>
                </a:solidFill>
                <a:latin typeface="Calibri"/>
              </a:rPr>
              <a:t>Technological:</a:t>
            </a:r>
            <a:r>
              <a:rPr sz="1800" b="0">
                <a:solidFill>
                  <a:srgbClr val="202122"/>
                </a:solidFill>
                <a:latin typeface="Calibri"/>
              </a:rPr>
              <a:t> new tech, obsolescence, zero-days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1">
                <a:solidFill>
                  <a:srgbClr val="202122"/>
                </a:solidFill>
                <a:latin typeface="Calibri"/>
              </a:rPr>
              <a:t>Legal:</a:t>
            </a:r>
            <a:r>
              <a:rPr sz="1800" b="0">
                <a:solidFill>
                  <a:srgbClr val="202122"/>
                </a:solidFill>
                <a:latin typeface="Calibri"/>
              </a:rPr>
              <a:t> new legislation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1">
                <a:solidFill>
                  <a:srgbClr val="202122"/>
                </a:solidFill>
                <a:latin typeface="Calibri"/>
              </a:rPr>
              <a:t>Environmental:</a:t>
            </a:r>
            <a:r>
              <a:rPr sz="1800" b="0">
                <a:solidFill>
                  <a:srgbClr val="202122"/>
                </a:solidFill>
                <a:latin typeface="Calibri"/>
              </a:rPr>
              <a:t> sustainability, pandemics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Triggers for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PESTLE stand for?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an internal trigger for change.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PESTLE factor is a new data protection law?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How organisations respond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New or amended policies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Changed business processes:</a:t>
            </a:r>
            <a:r>
              <a:rPr sz="2400" b="0">
                <a:solidFill>
                  <a:srgbClr val="202122"/>
                </a:solidFill>
                <a:latin typeface="Calibri"/>
              </a:rPr>
              <a:t> staffing, delivery schedules, opening hours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New, next-generation or updated products and services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Back-end or customer-facing digital systems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Improved training, or restructuring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The Change Advisory Board (CAB) prioritises, reviews and approves change requests, monitors progress and gives feedback.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change management process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Changing a live system without a process causes outages, so organisations follow a change management process.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First, identify the type of change: a new system or an amendment. The Change Advisory Board (CAB) then reviews, prioritises and approves requests and monitors progress.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Next, set SMARTER objectives (specific, measurable, achievable, realistic, time-bound, evaluated, reviewed), forecast the impact, and allocate resources: budget, time, staff, hardware and software.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Finally, communicate the risks and impact to stakeholders so they accept the change and comply with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Moving email to the cloud: the CAB approves it; the objective is 'all 200 mailboxes migrated by 30 June with under one hour of downtime each'; staff are told what will change and when.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change management process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024" y="2717292"/>
            <a:ext cx="935964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5984" y="241554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Identify type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New system or an amendment?</a:t>
            </a:r>
          </a:p>
        </p:txBody>
      </p:sp>
      <p:sp>
        <p:nvSpPr>
          <p:cNvPr id="11" name="Oval 10"/>
          <p:cNvSpPr/>
          <p:nvPr/>
        </p:nvSpPr>
        <p:spPr>
          <a:xfrm>
            <a:off x="2967913" y="241554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0569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CAB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0569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57729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Prioritise, review and approve the request.</a:t>
            </a:r>
          </a:p>
        </p:txBody>
      </p:sp>
      <p:sp>
        <p:nvSpPr>
          <p:cNvPr id="15" name="Oval 14"/>
          <p:cNvSpPr/>
          <p:nvPr/>
        </p:nvSpPr>
        <p:spPr>
          <a:xfrm>
            <a:off x="4839843" y="241554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2498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Set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2498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9658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Use SMARTER objectives.</a:t>
            </a:r>
          </a:p>
        </p:txBody>
      </p:sp>
      <p:sp>
        <p:nvSpPr>
          <p:cNvPr id="19" name="Oval 18"/>
          <p:cNvSpPr/>
          <p:nvPr/>
        </p:nvSpPr>
        <p:spPr>
          <a:xfrm>
            <a:off x="6711772" y="241554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4427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Forecast impact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7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1587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Identify what the change will affect.</a:t>
            </a:r>
          </a:p>
        </p:txBody>
      </p:sp>
      <p:sp>
        <p:nvSpPr>
          <p:cNvPr id="23" name="Oval 22"/>
          <p:cNvSpPr/>
          <p:nvPr/>
        </p:nvSpPr>
        <p:spPr>
          <a:xfrm>
            <a:off x="8583701" y="241554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6356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Allocate resources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6356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73516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Budget, time, staff, hardware and software.</a:t>
            </a:r>
          </a:p>
        </p:txBody>
      </p:sp>
      <p:sp>
        <p:nvSpPr>
          <p:cNvPr id="27" name="Oval 26"/>
          <p:cNvSpPr/>
          <p:nvPr/>
        </p:nvSpPr>
        <p:spPr>
          <a:xfrm>
            <a:off x="10455630" y="241554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286" y="319278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Communicate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08286" y="397002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45446" y="410718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Share risks and impact with stakeholders.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The change management process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the CAB do?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SMARTER stand for?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communicate with stakeholders before a change?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change management process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Once planned, the change is configured, integrating with legacy systems while keeping services running, then fully tested in a proper test environment so results are reproducible.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An implementation method is chosen:</a:t>
            </a:r>
            <a:r>
              <a:rPr sz="2000" b="0">
                <a:solidFill>
                  <a:srgbClr val="202122"/>
                </a:solidFill>
                <a:latin typeface="Calibri"/>
              </a:rPr>
              <a:t> direct, parallel, phased or pilot.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202122"/>
                </a:solidFill>
                <a:latin typeface="Calibri"/>
              </a:rPr>
              <a:t>Everything is documented:</a:t>
            </a:r>
            <a:r>
              <a:rPr sz="2000" b="0">
                <a:solidFill>
                  <a:srgbClr val="202122"/>
                </a:solidFill>
                <a:latin typeface="Calibri"/>
              </a:rPr>
              <a:t> decisions, requirements and updated manuals. A rollback plan, with backups and a recovery plan, means you can undo a failed change.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Training needs are identified, progress is monitored with a post-implementation review, and version control keeps track of every change.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new firewall rule set is tested in a lab copy of the network, deployed on Saturday night, with the old configuration saved so it can be restored in minutes if anything breaks.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change management process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024" y="2778252"/>
            <a:ext cx="935964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5984" y="247650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5374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Configure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30980"/>
            <a:ext cx="1734769" cy="12649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68140"/>
            <a:ext cx="1460449" cy="9905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202122"/>
                </a:solidFill>
                <a:latin typeface="Calibri"/>
              </a:rPr>
              <a:t>Integrate with legacy systems, keep service running.</a:t>
            </a:r>
          </a:p>
        </p:txBody>
      </p:sp>
      <p:sp>
        <p:nvSpPr>
          <p:cNvPr id="11" name="Oval 10"/>
          <p:cNvSpPr/>
          <p:nvPr/>
        </p:nvSpPr>
        <p:spPr>
          <a:xfrm>
            <a:off x="2967913" y="247650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0569" y="325374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Test fully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0569" y="4030980"/>
            <a:ext cx="1734769" cy="12649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57729" y="4168140"/>
            <a:ext cx="1460449" cy="9905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202122"/>
                </a:solidFill>
                <a:latin typeface="Calibri"/>
              </a:rPr>
              <a:t>Reproducible results in a proper test environment.</a:t>
            </a:r>
          </a:p>
        </p:txBody>
      </p:sp>
      <p:sp>
        <p:nvSpPr>
          <p:cNvPr id="15" name="Oval 14"/>
          <p:cNvSpPr/>
          <p:nvPr/>
        </p:nvSpPr>
        <p:spPr>
          <a:xfrm>
            <a:off x="4839843" y="247650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2498" y="325374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Implement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2498" y="4030980"/>
            <a:ext cx="1734769" cy="12649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9658" y="4168140"/>
            <a:ext cx="1460449" cy="9905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202122"/>
                </a:solidFill>
                <a:latin typeface="Calibri"/>
              </a:rPr>
              <a:t>Parallel, phased, direct or pilot.</a:t>
            </a:r>
          </a:p>
        </p:txBody>
      </p:sp>
      <p:sp>
        <p:nvSpPr>
          <p:cNvPr id="19" name="Oval 18"/>
          <p:cNvSpPr/>
          <p:nvPr/>
        </p:nvSpPr>
        <p:spPr>
          <a:xfrm>
            <a:off x="6711772" y="247650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4427" y="325374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Document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7" y="4030980"/>
            <a:ext cx="1734769" cy="12649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1587" y="4168140"/>
            <a:ext cx="1460449" cy="9905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202122"/>
                </a:solidFill>
                <a:latin typeface="Calibri"/>
              </a:rPr>
              <a:t>Traceability, decisions logged, manuals kept.</a:t>
            </a:r>
          </a:p>
        </p:txBody>
      </p:sp>
      <p:sp>
        <p:nvSpPr>
          <p:cNvPr id="23" name="Oval 22"/>
          <p:cNvSpPr/>
          <p:nvPr/>
        </p:nvSpPr>
        <p:spPr>
          <a:xfrm>
            <a:off x="8583701" y="247650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6356" y="325374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Plan rollback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6356" y="4030980"/>
            <a:ext cx="1734769" cy="12649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73516" y="4168140"/>
            <a:ext cx="1460449" cy="9905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202122"/>
                </a:solidFill>
                <a:latin typeface="Calibri"/>
              </a:rPr>
              <a:t>Backups and a recovery plan.</a:t>
            </a:r>
          </a:p>
        </p:txBody>
      </p:sp>
      <p:sp>
        <p:nvSpPr>
          <p:cNvPr id="27" name="Oval 26"/>
          <p:cNvSpPr/>
          <p:nvPr/>
        </p:nvSpPr>
        <p:spPr>
          <a:xfrm>
            <a:off x="10455630" y="247650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286" y="325374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Train and monitor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08286" y="4030980"/>
            <a:ext cx="1734769" cy="126492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45446" y="4168140"/>
            <a:ext cx="1460449" cy="9905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202122"/>
                </a:solidFill>
                <a:latin typeface="Calibri"/>
              </a:rPr>
              <a:t>Training needs, post-implementation review, version control.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The change management process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a rollback plan?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test in a separate test environment?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a post-implementation review?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Implementation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There are four ways to switch from an old system to a new one.</a:t>
            </a:r>
          </a:p>
          <a:p>
            <a:pPr>
              <a:spcAft>
                <a:spcPts val="1260"/>
              </a:spcAft>
            </a:pPr>
            <a:r>
              <a:rPr sz="2100" b="1">
                <a:solidFill>
                  <a:srgbClr val="202122"/>
                </a:solidFill>
                <a:latin typeface="Calibri"/>
              </a:rPr>
              <a:t>Direct:</a:t>
            </a:r>
            <a:r>
              <a:rPr sz="2100" b="0">
                <a:solidFill>
                  <a:srgbClr val="202122"/>
                </a:solidFill>
                <a:latin typeface="Calibri"/>
              </a:rPr>
              <a:t> switch the old one off and the new one on at once. Quick and cheap, but if the new system fails there's nothing to fall back on.</a:t>
            </a:r>
          </a:p>
          <a:p>
            <a:pPr>
              <a:spcAft>
                <a:spcPts val="1260"/>
              </a:spcAft>
            </a:pPr>
            <a:r>
              <a:rPr sz="2100" b="1">
                <a:solidFill>
                  <a:srgbClr val="202122"/>
                </a:solidFill>
                <a:latin typeface="Calibri"/>
              </a:rPr>
              <a:t>Parallel:</a:t>
            </a:r>
            <a:r>
              <a:rPr sz="2100" b="0">
                <a:solidFill>
                  <a:srgbClr val="202122"/>
                </a:solidFill>
                <a:latin typeface="Calibri"/>
              </a:rPr>
              <a:t> run both systems side by side for a while. Safe, but staff do the work twice.</a:t>
            </a:r>
          </a:p>
          <a:p>
            <a:pPr>
              <a:spcAft>
                <a:spcPts val="1260"/>
              </a:spcAft>
            </a:pPr>
            <a:r>
              <a:rPr sz="2100" b="1">
                <a:solidFill>
                  <a:srgbClr val="202122"/>
                </a:solidFill>
                <a:latin typeface="Calibri"/>
              </a:rPr>
              <a:t>Phased:</a:t>
            </a:r>
            <a:r>
              <a:rPr sz="2100" b="0">
                <a:solidFill>
                  <a:srgbClr val="202122"/>
                </a:solidFill>
                <a:latin typeface="Calibri"/>
              </a:rPr>
              <a:t> introduce the new system one part at a time. Lower risk, but slower.</a:t>
            </a:r>
          </a:p>
          <a:p>
            <a:pPr>
              <a:spcAft>
                <a:spcPts val="1260"/>
              </a:spcAft>
            </a:pPr>
            <a:r>
              <a:rPr sz="2100" b="1">
                <a:solidFill>
                  <a:srgbClr val="202122"/>
                </a:solidFill>
                <a:latin typeface="Calibri"/>
              </a:rPr>
              <a:t>Pilot:</a:t>
            </a:r>
            <a:r>
              <a:rPr sz="2100" b="0">
                <a:solidFill>
                  <a:srgbClr val="202122"/>
                </a:solidFill>
                <a:latin typeface="Calibri"/>
              </a:rPr>
              <a:t> one team or site uses it first, then everyone else follows. Problems are found early on a small scale, but the full rollout takes longer.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hospital moving to new patient records would never go direct. A pilot on one ward, followed by a phased rollout, keeps patients safe.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Implementation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093"/>
                <a:gridCol w="4790770"/>
                <a:gridCol w="4412551"/>
              </a:tblGrid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Trade-off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Old system switched off, new one 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Fast and cheap, but high risk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Both systems run side by side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Safe fallback, but double the work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Phased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Introduced one part at a time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Lower risk, but takes longer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Pilot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One site or team tries it first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Problems found early, but slow to roll out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Implementation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method runs old and new systems together?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method is riskiest?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a pilot implementation?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Is the project feasible?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Before committing, organisations check whether a change is feasible: worth doing and possible.</a:t>
            </a:r>
          </a:p>
          <a:p>
            <a:pPr>
              <a:spcAft>
                <a:spcPts val="1260"/>
              </a:spcAft>
            </a:pPr>
            <a:r>
              <a:rPr sz="2100" b="1">
                <a:solidFill>
                  <a:srgbClr val="202122"/>
                </a:solidFill>
                <a:latin typeface="Calibri"/>
              </a:rPr>
              <a:t>Benefits and drawbacks:</a:t>
            </a:r>
            <a:r>
              <a:rPr sz="2100" b="0">
                <a:solidFill>
                  <a:srgbClr val="202122"/>
                </a:solidFill>
                <a:latin typeface="Calibri"/>
              </a:rPr>
              <a:t> will it save money or earn more than it costs? How will it affect productivity, communication, security and reputation?</a:t>
            </a:r>
          </a:p>
          <a:p>
            <a:pPr>
              <a:spcAft>
                <a:spcPts val="1260"/>
              </a:spcAft>
            </a:pPr>
            <a:r>
              <a:rPr sz="2100" b="1">
                <a:solidFill>
                  <a:srgbClr val="202122"/>
                </a:solidFill>
                <a:latin typeface="Calibri"/>
              </a:rPr>
              <a:t>Risks:</a:t>
            </a:r>
            <a:r>
              <a:rPr sz="2100" b="0">
                <a:solidFill>
                  <a:srgbClr val="202122"/>
                </a:solidFill>
                <a:latin typeface="Calibri"/>
              </a:rPr>
              <a:t> staff may resist the change, misuse the new system or lack the knowledge to support it, and the rollout could disrupt the business.</a:t>
            </a:r>
          </a:p>
          <a:p>
            <a:pPr>
              <a:spcAft>
                <a:spcPts val="1260"/>
              </a:spcAft>
            </a:pPr>
            <a:r>
              <a:rPr sz="2100" b="1">
                <a:solidFill>
                  <a:srgbClr val="202122"/>
                </a:solidFill>
                <a:latin typeface="Calibri"/>
              </a:rPr>
              <a:t>Constraints:</a:t>
            </a:r>
            <a:r>
              <a:rPr sz="2100" b="0">
                <a:solidFill>
                  <a:srgbClr val="202122"/>
                </a:solidFill>
                <a:latin typeface="Calibri"/>
              </a:rPr>
              <a:t> the budget, the time available, and the people and technology on hand.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If the risks and costs outweigh the benefits, the project may be changed or dropped.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small charity wants a new CRM. It would save 10 hours a week, but costs 8,000 pounds and no one can support it. The constraints make a cheaper hosted option more feasible.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Is the project feasible?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Benefits and drawbacks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Savings against the cost of change; impact on productivity, communication, security and reputation.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Risks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Resistance to change, misuse of new systems, not enough support or knowledge, disruption during rollout.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Budget, time, and human and technological resources.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Is the project feasible?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Name three constraints on a project.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one risk of introducing a new system.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a feasibility study for?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internal and one external trigger for change.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the CAB do?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the second R in SMARTER stand for?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implementation method runs old and new systems together?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plan for rollback?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internal and one external trigger for change.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E.g. internal: expansion; external: new legislation.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the CAB do?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Prioritises, reviews and approves change requests, monitors the process and gives feedback.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the second R in SMARTER stand for?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Reviewed.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implementation method runs old and new systems together?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Parallel.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plan for rollback?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So the system can be restored if the change fails.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Write a change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Technical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Scenario: a dental practice is replacing paper records with a cloud booking system.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SMARTER objectives for the change.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an implementation method and justify it.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rollback plan and a communication plan for staff and patients.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All seven SMARTER elements present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Method choice considers risk to patients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Rollback plan names what is backed up and where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implementation method is riskiest, and why?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the purpose of a post-implementation review?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one constraint on a digital project.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2: Legislation, Business, Emerging Issues, Environments and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https://lana6478.github.io/Digital-Suport-and-security-T-levle/#/01-core-component/02-core-paper-2.md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Technical Change Management</dc:title>
  <dc:subject>Digital Support and Security T Level: Core Paper 2</dc:subject>
  <dc:creator>Samuel O'Connell</dc:creator>
  <cp:keywords>T Level; Digital Support and Security; lesson slides; 5.4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