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which approach a technician would use to build a new office network (top-down) versus fixing up an old one from spare kit (bottom-up).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strategy is the backbone of Task 2 in every Employer Set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the five whys: the website is down. Why? The server crashed. Why? It ran out of disk space. Why? Logs were never cleared. Why? No maintenance task was set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often mix these up. An incident is the symptom, a problem is the cause.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Both are used after a support issue to improve future practice. Gibbs is more structured and includes feelings, which helps with difficult customer situations.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Concept map symbols are listed on the Diagram notation page of the wiki.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Possible root causes: interference from a microwave used at lunch, DHCP lease pool too small, access point overheating in afternoon sun.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F2B705"/>
                </a:solidFill>
                <a:latin typeface="Calibri"/>
              </a:rPr>
              <a:t>CORE COMPONENT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Problem-Solving Strategies and Reflective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Core Paper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1.3, 2.10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Digital Support and Security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Pearson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Problem-Solving Strategies and Reflective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3456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Compare top-down, bottom-up and modular problem-solving approaches.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7469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5181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Use root cause analysis techniques such as the five whys.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1482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9193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Explain the incident management process and the difference between an incident and a problem.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354954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13206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0" i="0">
                <a:solidFill>
                  <a:srgbClr val="202122"/>
                </a:solidFill>
                <a:latin typeface="Calibri"/>
              </a:rPr>
              <a:t>Apply Kolb's and Gibbs' reflective cycles, concept mapping and design thinking to support issues.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Your phone will not charge. List every possible cause you can think of. How would you find out which one it really is?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Three problem-solving approaches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Problem-Solving Strategies and Reflective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15258" cy="4572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Top-down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058058" cy="3566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Start with the whole problem and break it into smaller and smaller parts. Good for planning a new system from a clear brief.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600200"/>
            <a:ext cx="3515258" cy="4572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566818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1178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Bottom-up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468880"/>
            <a:ext cx="3058058" cy="3566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Start with small, known components and combine them into a bigger solution. Good when reliable parts already exist.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1600200"/>
            <a:ext cx="3515258" cy="4572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56396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0756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Modularisation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2468880"/>
            <a:ext cx="3058058" cy="3566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Split the solution into self-contained modules that can be built, tested and reused separately.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The high-level problem-solving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Problem-Solving Strategies and Reflective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1416024" y="2686812"/>
            <a:ext cx="9359646" cy="36576"/>
          </a:xfrm>
          <a:prstGeom prst="rect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095984" y="238506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62300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Define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939540"/>
            <a:ext cx="1734769" cy="14478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4076700"/>
            <a:ext cx="1460449" cy="1173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State exactly what the problem is.</a:t>
            </a:r>
          </a:p>
        </p:txBody>
      </p:sp>
      <p:sp>
        <p:nvSpPr>
          <p:cNvPr id="11" name="Oval 10"/>
          <p:cNvSpPr/>
          <p:nvPr/>
        </p:nvSpPr>
        <p:spPr>
          <a:xfrm>
            <a:off x="2967913" y="238506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0569" y="3162300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Gather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20569" y="3939540"/>
            <a:ext cx="1734769" cy="14478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557729" y="4076700"/>
            <a:ext cx="1460449" cy="1173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Collect information from users, logs and systems.</a:t>
            </a:r>
          </a:p>
        </p:txBody>
      </p:sp>
      <p:sp>
        <p:nvSpPr>
          <p:cNvPr id="15" name="Oval 14"/>
          <p:cNvSpPr/>
          <p:nvPr/>
        </p:nvSpPr>
        <p:spPr>
          <a:xfrm>
            <a:off x="4839843" y="238506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2498" y="3162300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Analyse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2498" y="3939540"/>
            <a:ext cx="1734769" cy="14478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429658" y="4076700"/>
            <a:ext cx="1460449" cy="1173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Look for causes and patterns in the information.</a:t>
            </a:r>
          </a:p>
        </p:txBody>
      </p:sp>
      <p:sp>
        <p:nvSpPr>
          <p:cNvPr id="19" name="Oval 18"/>
          <p:cNvSpPr/>
          <p:nvPr/>
        </p:nvSpPr>
        <p:spPr>
          <a:xfrm>
            <a:off x="6711772" y="238506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64427" y="3162300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Plan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4427" y="3939540"/>
            <a:ext cx="1734769" cy="14478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301587" y="4076700"/>
            <a:ext cx="1460449" cy="1173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Decide on a plan of action.</a:t>
            </a:r>
          </a:p>
        </p:txBody>
      </p:sp>
      <p:sp>
        <p:nvSpPr>
          <p:cNvPr id="23" name="Oval 22"/>
          <p:cNvSpPr/>
          <p:nvPr/>
        </p:nvSpPr>
        <p:spPr>
          <a:xfrm>
            <a:off x="8583701" y="238506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36356" y="3162300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Implement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36356" y="3939540"/>
            <a:ext cx="1734769" cy="14478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173516" y="4076700"/>
            <a:ext cx="1460449" cy="1173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Carry out the solution.</a:t>
            </a:r>
          </a:p>
        </p:txBody>
      </p:sp>
      <p:sp>
        <p:nvSpPr>
          <p:cNvPr id="27" name="Oval 26"/>
          <p:cNvSpPr/>
          <p:nvPr/>
        </p:nvSpPr>
        <p:spPr>
          <a:xfrm>
            <a:off x="10455630" y="238506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08286" y="3162300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Review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908286" y="3939540"/>
            <a:ext cx="1734769" cy="14478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0045446" y="4076700"/>
            <a:ext cx="1460449" cy="1173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Check the fix worked and nothing else broke.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Root cause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Problem-Solving Strategies and Reflective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Five whys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Keep asking 'why?' about each answer until you reach the underlying cause, usually about five times.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6461607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5967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FMEA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607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Failure Mode and Effects Analysis lists every way a component could fail and the effect of each failure.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Event Tree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Starts from one initiating event and maps the possible outcomes that could follow from it.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461607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5967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Then 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607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Once the root cause is found: log it, close it, or escalate it to a manager, specialist or third party.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Incidents and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Problem-Solving Strategies and Reflective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Digital incident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A single unplanned event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Disrupts service operations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Reduces service quality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Example:</a:t>
            </a:r>
            <a:r>
              <a:rPr sz="2200" b="0">
                <a:solidFill>
                  <a:srgbClr val="202122"/>
                </a:solidFill>
                <a:latin typeface="Calibri"/>
              </a:rPr>
              <a:t> users cannot log in this morning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Digital problem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The underlying cause of one or more incidents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Found through root cause analysis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Fixing it stops incidents recurring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Example:</a:t>
            </a:r>
            <a:r>
              <a:rPr sz="2200" b="0">
                <a:solidFill>
                  <a:srgbClr val="202122"/>
                </a:solidFill>
                <a:latin typeface="Calibri"/>
              </a:rPr>
              <a:t> an expired certificate on the login server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The incident management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Problem-Solving Strategies and Reflective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2351989" y="2382012"/>
            <a:ext cx="7487716" cy="36576"/>
          </a:xfrm>
          <a:prstGeom prst="rect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2031949" y="208026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57500"/>
            <a:ext cx="3606698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Detection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634740"/>
            <a:ext cx="3606698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3771900"/>
            <a:ext cx="3332378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Report, record and prioritise the incident.</a:t>
            </a:r>
          </a:p>
        </p:txBody>
      </p:sp>
      <p:sp>
        <p:nvSpPr>
          <p:cNvPr id="11" name="Oval 10"/>
          <p:cNvSpPr/>
          <p:nvPr/>
        </p:nvSpPr>
        <p:spPr>
          <a:xfrm>
            <a:off x="5775807" y="208026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2498" y="2857500"/>
            <a:ext cx="3606698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Response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2498" y="3634740"/>
            <a:ext cx="3606698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429658" y="3771900"/>
            <a:ext cx="3332378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Identify the owner, resolve and restore service, record the resolution.</a:t>
            </a:r>
          </a:p>
        </p:txBody>
      </p:sp>
      <p:sp>
        <p:nvSpPr>
          <p:cNvPr id="15" name="Oval 14"/>
          <p:cNvSpPr/>
          <p:nvPr/>
        </p:nvSpPr>
        <p:spPr>
          <a:xfrm>
            <a:off x="9519666" y="208026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36356" y="2857500"/>
            <a:ext cx="3606698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Intelligence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36356" y="3634740"/>
            <a:ext cx="3606698" cy="12344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173516" y="3771900"/>
            <a:ext cx="3332378" cy="9601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Record lessons, identify the cause and share what was learned.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14350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Intelligence is the stage most often skipped, and the one that stops the same incident happening again.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Two reflective practice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Problem-Solving Strategies and Reflective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Kolb's Experiential Learning Cycle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Concrete experience:</a:t>
            </a:r>
            <a:r>
              <a:rPr sz="2200" b="0">
                <a:solidFill>
                  <a:srgbClr val="202122"/>
                </a:solidFill>
                <a:latin typeface="Calibri"/>
              </a:rPr>
              <a:t> something happens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Reflective observation:</a:t>
            </a:r>
            <a:r>
              <a:rPr sz="2200" b="0">
                <a:solidFill>
                  <a:srgbClr val="202122"/>
                </a:solidFill>
                <a:latin typeface="Calibri"/>
              </a:rPr>
              <a:t> think about what happened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Abstract conceptualisation:</a:t>
            </a:r>
            <a:r>
              <a:rPr sz="2200" b="0">
                <a:solidFill>
                  <a:srgbClr val="202122"/>
                </a:solidFill>
                <a:latin typeface="Calibri"/>
              </a:rPr>
              <a:t> draw conclusions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Active experimentation:</a:t>
            </a:r>
            <a:r>
              <a:rPr sz="2200" b="0">
                <a:solidFill>
                  <a:srgbClr val="202122"/>
                </a:solidFill>
                <a:latin typeface="Calibri"/>
              </a:rPr>
              <a:t> try the new idea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Gibbs' Reflective Cycle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1">
                <a:solidFill>
                  <a:srgbClr val="202122"/>
                </a:solidFill>
                <a:latin typeface="Calibri"/>
              </a:rPr>
              <a:t>Description:</a:t>
            </a:r>
            <a:r>
              <a:rPr sz="1800" b="0">
                <a:solidFill>
                  <a:srgbClr val="202122"/>
                </a:solidFill>
                <a:latin typeface="Calibri"/>
              </a:rPr>
              <a:t> what happened?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1">
                <a:solidFill>
                  <a:srgbClr val="202122"/>
                </a:solidFill>
                <a:latin typeface="Calibri"/>
              </a:rPr>
              <a:t>Feelings:</a:t>
            </a:r>
            <a:r>
              <a:rPr sz="1800" b="0">
                <a:solidFill>
                  <a:srgbClr val="202122"/>
                </a:solidFill>
                <a:latin typeface="Calibri"/>
              </a:rPr>
              <a:t> what were you thinking?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1">
                <a:solidFill>
                  <a:srgbClr val="202122"/>
                </a:solidFill>
                <a:latin typeface="Calibri"/>
              </a:rPr>
              <a:t>Evaluation:</a:t>
            </a:r>
            <a:r>
              <a:rPr sz="1800" b="0">
                <a:solidFill>
                  <a:srgbClr val="202122"/>
                </a:solidFill>
                <a:latin typeface="Calibri"/>
              </a:rPr>
              <a:t> what was good and bad?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1">
                <a:solidFill>
                  <a:srgbClr val="202122"/>
                </a:solidFill>
                <a:latin typeface="Calibri"/>
              </a:rPr>
              <a:t>Analysis:</a:t>
            </a:r>
            <a:r>
              <a:rPr sz="1800" b="0">
                <a:solidFill>
                  <a:srgbClr val="202122"/>
                </a:solidFill>
                <a:latin typeface="Calibri"/>
              </a:rPr>
              <a:t> what sense can you make of it?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1">
                <a:solidFill>
                  <a:srgbClr val="202122"/>
                </a:solidFill>
                <a:latin typeface="Calibri"/>
              </a:rPr>
              <a:t>Conclusion:</a:t>
            </a:r>
            <a:r>
              <a:rPr sz="1800" b="0">
                <a:solidFill>
                  <a:srgbClr val="202122"/>
                </a:solidFill>
                <a:latin typeface="Calibri"/>
              </a:rPr>
              <a:t> what else could you have done?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1">
                <a:solidFill>
                  <a:srgbClr val="202122"/>
                </a:solidFill>
                <a:latin typeface="Calibri"/>
              </a:rPr>
              <a:t>Action plan:</a:t>
            </a:r>
            <a:r>
              <a:rPr sz="1800" b="0">
                <a:solidFill>
                  <a:srgbClr val="202122"/>
                </a:solidFill>
                <a:latin typeface="Calibri"/>
              </a:rPr>
              <a:t> what will you do next time?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Concept mapping and design thinking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Problem-Solving Strategies and Reflective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410047" cy="4572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Concept mapping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4952847" cy="3566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Put the main idea in the centre, then link concepts (hardware, software, people, information, processes) using verb labels such as 'stores' or 'uses'.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600200"/>
            <a:ext cx="5410047" cy="4572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6461607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5967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Design thinking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607" y="2468880"/>
            <a:ext cx="4952847" cy="3566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Empathise, define, ideate, prototype, get user feedback, then repeat. It keeps the user at the centre of the solution.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Problem-Solving Strategies and Reflective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10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Which approach starts with the whole problem and breaks it down?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74950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56662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the difference between an incident and a problem?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31412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13124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Name the three stages of incident management.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7875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469587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does FMEA stand for?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444337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426049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the final stage of Gibbs' Reflective Cycle?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Problem-Solving Strategies and Reflective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11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Which approach starts with the whole problem and breaks it down?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Top-down.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74950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56662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the difference between an incident and a problem?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An incident is a single unplanned disruption; a problem is its underlying cause.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31412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13124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Name the three stages of incident management.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Detection, response, intelligence.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7875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469587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does FMEA stand for?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Failure Mode and Effects Analysis.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444337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426049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the final stage of Gibbs' Reflective Cycle?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Action plan.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Five whys on a real fault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Problem-Solving Strategies and Reflective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202122"/>
                </a:solidFill>
                <a:latin typeface="Calibri"/>
              </a:rPr>
              <a:t>20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Small groups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Scenario: staff in one office keep losing their Wi-Fi connection every afternoon.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Use the five whys to reach a believable root cause.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Decide whether to log, close or escalate it, and to whom.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Write a short Gibbs reflection as the technician who fixed 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Each 'why' follows logically from the last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Root cause is a cause, not a symptom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Escalation decision is justified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All six Gibbs stages are covered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Give one example of a digital incident and its possible underlying problem.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When would modularisation be a good approach?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Which reflective model would you choose after a stressful call, and why?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Core Paper 1: Problem Solving, Digital Support and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https://lana6478.github.io/Digital-Suport-and-security-T-levle/#/01-core-component/01-core-paper-1.md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Problem-Solving Strategies and Reflective Practice</dc:title>
  <dc:subject>Digital Support and Security T Level: Core Paper 1</dc:subject>
  <dc:creator>Samuel O'Connell</dc:creator>
  <cp:keywords>T Level; Digital Support and Security; lesson slides; 1.3, 2.10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