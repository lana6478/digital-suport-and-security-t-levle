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Validation checks data is sensible, not that it is correct. 01/01/2000 passes validation even if it is the wrong birthday.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Quality assurance methods: validation, verification, reliability, consistency, integrity and redundancy. Maintenance also depends on time, skills and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must be able to draw each: blocks, arrows and labels for hierarchical and network; tables, rows, columns and labels for relational. Choice depends on access efficiency, storage efficiency and implementation complexity.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Business intelligence feeds financial planning and analysis and CRM.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students a few minutes to answer on mini whiteboards or paper, then reveal the answers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through any answers the class found difficult.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no CSV is available, students can generate one quickly; the skills are what matter.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answer on a sticky note or in the chat before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1005840"/>
            <a:ext cx="3291840" cy="3291840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966960" y="3200400"/>
            <a:ext cx="2377440" cy="23774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138160" y="4023360"/>
            <a:ext cx="1371600" cy="1371600"/>
          </a:xfrm>
          <a:prstGeom prst="ellipse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F2B705"/>
                </a:solidFill>
                <a:latin typeface="Calibri"/>
              </a:rPr>
              <a:t>CORE COMPONENT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315200" cy="228600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Data Quality, Systems and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A9C8F0"/>
                </a:solidFill>
                <a:latin typeface="Calibri"/>
              </a:rPr>
              <a:t>Core Paper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A9C8F0"/>
                </a:solidFill>
                <a:latin typeface="Calibri"/>
              </a:rPr>
              <a:t>Specification reference: 2.6, 3.7 to 3.12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Digital Support and Security T Level  ·  Lesson slides</a:t>
            </a:r>
          </a:p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Unofficial teaching resource. Check the official Pearson specification for assessment detail.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Data Quality, Systems and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234565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1168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Apply validation checks and spreadsheet functions to interrogate data.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74695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05181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Explain the 6 Vs of Big Data and methods of data quality assurance.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14825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09193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Describe data wrangling, data entry errors and how to reduce them.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354954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13206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Compare data models, access mechanisms and data analysis tools.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150876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STARTER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194560"/>
            <a:ext cx="3291840" cy="3657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03306E"/>
                </a:solidFill>
                <a:latin typeface="Cambria"/>
              </a:rPr>
              <a:t>A customer typed their date of birth as 31/02/2008. How could the system have stopped this?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Validation checks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Data Quality, Systems and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Presence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A value has been entered.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566818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1178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Length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6818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The right number of characters, e.g. a postcode.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56396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0756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Range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Between allowed limits, e.g. 1 to 8 guests.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Type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The right data type, e.g. a number.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38218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566818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61178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Format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6818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Matches a pattern, e.g. an email address.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Interrogating data in a spreadsheet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Data Quality, Systems and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94414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60405"/>
                <a:gridCol w="6934009"/>
              </a:tblGrid>
              <a:tr h="75438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Technique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</a:tr>
              <a:tr h="75438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Sort, order and filter by field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Show only tickets with priority High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SUM, MIN, MAX, AVERAGE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=AVERAGE(D2:D100) for average fix time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75438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IF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=IF(D2&gt;48,"Breach","OK") to flag SLA breaches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COUNTIF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=COUNTIF(C2:C100,"Printer") to count printer faults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75438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Import from text files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Load a CSV log into a worksheet for analysis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The 6 Vs of Big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Data Quality, Systems and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Volume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The sheer amount of data.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566818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1178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Variety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6818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Many types: text, images, sensor readings.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56396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0756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Variability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Meaning and flow change over time.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Velocity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How fast data arrives and must be processed.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38218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566818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61178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Veracity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6818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How accurate and trustworthy it is.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27796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8356396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50756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Value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6396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What useful insight it gives.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Data wrangling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Data Quality, Systems and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6</a:t>
            </a:r>
          </a:p>
        </p:txBody>
      </p:sp>
      <p:sp>
        <p:nvSpPr>
          <p:cNvPr id="6" name="Rectangle 5"/>
          <p:cNvSpPr/>
          <p:nvPr/>
        </p:nvSpPr>
        <p:spPr>
          <a:xfrm>
            <a:off x="1603217" y="2382012"/>
            <a:ext cx="8985260" cy="36576"/>
          </a:xfrm>
          <a:prstGeom prst="rect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1283177" y="2080260"/>
            <a:ext cx="640080" cy="6400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857500"/>
            <a:ext cx="2109155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Structure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634740"/>
            <a:ext cx="2109155" cy="1234439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85800" y="3771900"/>
            <a:ext cx="1834835" cy="9601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Put raw data into a usable shape.</a:t>
            </a:r>
          </a:p>
        </p:txBody>
      </p:sp>
      <p:sp>
        <p:nvSpPr>
          <p:cNvPr id="11" name="Oval 10"/>
          <p:cNvSpPr/>
          <p:nvPr/>
        </p:nvSpPr>
        <p:spPr>
          <a:xfrm>
            <a:off x="3529492" y="2080260"/>
            <a:ext cx="640080" cy="6400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94955" y="2857500"/>
            <a:ext cx="2109155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Clean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94955" y="3634740"/>
            <a:ext cx="2109155" cy="1234439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932115" y="3771900"/>
            <a:ext cx="1834835" cy="9601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Remove errors and duplicates.</a:t>
            </a:r>
          </a:p>
        </p:txBody>
      </p:sp>
      <p:sp>
        <p:nvSpPr>
          <p:cNvPr id="15" name="Oval 14"/>
          <p:cNvSpPr/>
          <p:nvPr/>
        </p:nvSpPr>
        <p:spPr>
          <a:xfrm>
            <a:off x="5775807" y="2080260"/>
            <a:ext cx="640080" cy="6400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1270" y="2857500"/>
            <a:ext cx="2109155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Validate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41270" y="3634740"/>
            <a:ext cx="2109155" cy="1234439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178430" y="3771900"/>
            <a:ext cx="1834835" cy="9601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Check the data meets rules.</a:t>
            </a:r>
          </a:p>
        </p:txBody>
      </p:sp>
      <p:sp>
        <p:nvSpPr>
          <p:cNvPr id="19" name="Oval 18"/>
          <p:cNvSpPr/>
          <p:nvPr/>
        </p:nvSpPr>
        <p:spPr>
          <a:xfrm>
            <a:off x="8022122" y="2080260"/>
            <a:ext cx="640080" cy="6400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87585" y="2857500"/>
            <a:ext cx="2109155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Enrich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87585" y="3634740"/>
            <a:ext cx="2109155" cy="1234439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424745" y="3771900"/>
            <a:ext cx="1834835" cy="9601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Add useful extra data.</a:t>
            </a:r>
          </a:p>
        </p:txBody>
      </p:sp>
      <p:sp>
        <p:nvSpPr>
          <p:cNvPr id="23" name="Oval 22"/>
          <p:cNvSpPr/>
          <p:nvPr/>
        </p:nvSpPr>
        <p:spPr>
          <a:xfrm>
            <a:off x="10268437" y="2080260"/>
            <a:ext cx="640080" cy="6400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33900" y="2857500"/>
            <a:ext cx="2109155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Output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33900" y="3634740"/>
            <a:ext cx="2109155" cy="1234439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671060" y="3771900"/>
            <a:ext cx="1834835" cy="9601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Deliver it for analysis.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14350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Core functions of a data system: input, search, save, integrate, organise (index), output and a feedback loop.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Data entry errors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Data Quality, Systems and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Types of error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59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Transcription:</a:t>
            </a:r>
            <a:r>
              <a:rPr sz="2200" b="0">
                <a:solidFill>
                  <a:srgbClr val="202122"/>
                </a:solidFill>
                <a:latin typeface="Calibri"/>
              </a:rPr>
              <a:t> copying wrongly, e.g. typing 'Smtih'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Transposition:</a:t>
            </a:r>
            <a:r>
              <a:rPr sz="2200" b="0">
                <a:solidFill>
                  <a:srgbClr val="202122"/>
                </a:solidFill>
                <a:latin typeface="Calibri"/>
              </a:rPr>
              <a:t> swapping characters, e.g. 1234 becomes 1243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07327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Ways to reduce them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Input validation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Double-entry verification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Drop-down menus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Pre-filled fields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Data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Data Quality, Systems and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15258" cy="45720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Hierarchical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3058058" cy="3566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Parent and child tree. Fast for one path, poor for many-to-many links.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1600200"/>
            <a:ext cx="3515258" cy="45720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566818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1178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Network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6818" y="2468880"/>
            <a:ext cx="3058058" cy="3566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Records can have many parents. Flexible but complex to build.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1600200"/>
            <a:ext cx="3515258" cy="45720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56396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0756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Relational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2468880"/>
            <a:ext cx="3058058" cy="3566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Tables of rows and columns linked by keys. The most common today.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Access and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Data Quality, Systems and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Access across platforms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59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Permissions:</a:t>
            </a:r>
            <a:r>
              <a:rPr sz="2200" b="0">
                <a:solidFill>
                  <a:srgbClr val="202122"/>
                </a:solidFill>
                <a:latin typeface="Calibri"/>
              </a:rPr>
              <a:t> authorisation, privileges, access rights, rules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RBAC:</a:t>
            </a:r>
            <a:r>
              <a:rPr sz="2200" b="0">
                <a:solidFill>
                  <a:srgbClr val="202122"/>
                </a:solidFill>
                <a:latin typeface="Calibri"/>
              </a:rPr>
              <a:t> access by job role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RuBAC:</a:t>
            </a:r>
            <a:r>
              <a:rPr sz="2200" b="0">
                <a:solidFill>
                  <a:srgbClr val="202122"/>
                </a:solidFill>
                <a:latin typeface="Calibri"/>
              </a:rPr>
              <a:t> access by rules, e.g. time of day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APIs:</a:t>
            </a:r>
            <a:r>
              <a:rPr sz="2200" b="0">
                <a:solidFill>
                  <a:srgbClr val="202122"/>
                </a:solidFill>
                <a:latin typeface="Calibri"/>
              </a:rPr>
              <a:t> controlled access for other software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07327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Big Data analysis tools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Data warehouse:</a:t>
            </a:r>
            <a:r>
              <a:rPr sz="2200" b="0">
                <a:solidFill>
                  <a:srgbClr val="202122"/>
                </a:solidFill>
                <a:latin typeface="Calibri"/>
              </a:rPr>
              <a:t> structured, cleaned data from many sources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Data lake:</a:t>
            </a:r>
            <a:r>
              <a:rPr sz="2200" b="0">
                <a:solidFill>
                  <a:srgbClr val="202122"/>
                </a:solidFill>
                <a:latin typeface="Calibri"/>
              </a:rPr>
              <a:t> raw data in any format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Data mart:</a:t>
            </a:r>
            <a:r>
              <a:rPr sz="2200" b="0">
                <a:solidFill>
                  <a:srgbClr val="202122"/>
                </a:solidFill>
                <a:latin typeface="Calibri"/>
              </a:rPr>
              <a:t> a subset for one department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Data mining and reporting turn it into business intelligence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Data Quality, Systems and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10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Which validation check makes sure a field is not left empty?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574950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56662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Typing 1243 instead of 1234 is what kind of error?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31412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513124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Which of the 6 Vs is about trustworthiness?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487875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69587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Which data model uses linked tables?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444337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5426049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is the difference between a data warehouse and a data lake?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Data Quality, Systems and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11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Which validation check makes sure a field is not left empty?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Presence check.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574950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56662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Typing 1243 instead of 1234 is what kind of error?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Transposition error.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31412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513124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Which of the 6 Vs is about trustworthiness?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Veracity.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487875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69587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Which data model uses linked tables?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Relational.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444337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5426049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is the difference between a data warehouse and a data lake?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A warehouse holds structured, cleaned data; a lake holds raw data in any format.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Activity: Analyse a ticket log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Data Quality, Systems and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400" b="1" i="0">
                <a:solidFill>
                  <a:srgbClr val="202122"/>
                </a:solidFill>
                <a:latin typeface="Calibri"/>
              </a:rPr>
              <a:t>30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50876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400" b="0" i="1">
                <a:solidFill>
                  <a:srgbClr val="54595D"/>
                </a:solidFill>
                <a:latin typeface="Calibri"/>
              </a:rPr>
              <a:t>Individual, in a spreadsheet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392984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40280"/>
            <a:ext cx="5943600" cy="689457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Import the ticket log CSV provided by your teacher (or make 20 rows of your own).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192170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039465"/>
            <a:ext cx="5943600" cy="689457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Add validation to the priority and category columns.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3991356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838651"/>
            <a:ext cx="5943600" cy="689457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Use COUNTIF to count tickets by category, and AVERAGE for time to fix.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4790541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637836"/>
            <a:ext cx="5943600" cy="689457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Use IF to flag any ticket that took longer than 48 hours.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5589727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5437022"/>
            <a:ext cx="5943600" cy="689457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Present your findings as one chart suited to a manager.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0" y="1508760"/>
            <a:ext cx="3867912" cy="45720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SUCCESS CRITERIA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240280"/>
            <a:ext cx="3337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Validation stops bad entries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Formulas are correct and reusable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Breaches flagged automatically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Chart suits the audience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A9C8F0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Exit ticket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4592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Why does validation not guarantee data is correct?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60604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Name two ways to reduce data entry errors.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56616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Which access mechanism would suit a hospital, and why?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645920"/>
            <a:ext cx="3410712" cy="2926080"/>
          </a:xfrm>
          <a:prstGeom prst="roundRect">
            <a:avLst>
              <a:gd name="adj" fmla="val 8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03920" y="1874519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REVISE THIS TOPIC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2860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Revision notes for this lesson are on the study wiki: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926080"/>
            <a:ext cx="292608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Core Paper 1: Problem Solving, Digital Support and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>
                <a:solidFill>
                  <a:srgbClr val="A9C8F0"/>
                </a:solidFill>
                <a:latin typeface="Calibri"/>
              </a:rPr>
              <a:t>https://lana6478.github.io/Digital-Suport-and-security-T-levle/#/01-core-component/01-core-paper-1.md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Quality, Systems and Analysis</dc:title>
  <dc:subject>Digital Support and Security T Level: Core Paper 1</dc:subject>
  <dc:creator>Samuel O'Connell</dc:creator>
  <cp:keywords>T Level; Digital Support and Security; lesson slides; 2.6, 3.7 to 3.12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