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 server.</a:t>
            </a:r>
          </a:p>
          <a:p>
            <a:r>
              <a:t>2. A computer built into another product to do a dedicated job.</a:t>
            </a:r>
          </a:p>
          <a:p>
            <a:r>
              <a:t>3. Battery life and portability.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Its contents are lost when the power is off.</a:t>
            </a:r>
          </a:p>
          <a:p>
            <a:r>
              <a:t>2. Small, very fast memory close to the processor.</a:t>
            </a:r>
          </a:p>
          <a:p>
            <a:r>
              <a:t>3. Handles graphics and parallel processing.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Mirrors data onto two disks.</a:t>
            </a:r>
          </a:p>
          <a:p>
            <a:r>
              <a:t>2. One.</a:t>
            </a:r>
          </a:p>
          <a:p>
            <a:r>
              <a:t>3. NAS is a file server box on the network; a SAN is a dedicated high-speed storage network.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Batch.</a:t>
            </a:r>
          </a:p>
          <a:p>
            <a:r>
              <a:t>2. Rapidly switching the CPU between tasks so they appear to run at once.</a:t>
            </a:r>
          </a:p>
          <a:p>
            <a:r>
              <a:t>3. Real-time.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Utilities maintain the computer; applications let users do their 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 utility.</a:t>
            </a:r>
          </a:p>
          <a:p>
            <a:r>
              <a:t>2. Installs and updates software.</a:t>
            </a:r>
          </a:p>
          <a:p>
            <a:r>
              <a:t>3. They have no moving parts, so file layout doesn't slow access.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CORE COMPONENT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Hardware and Software</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Paper 2</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7.1, 7.2</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Identify types of computer and their hardware components.</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Compare storage types, including RAID, NAS and SAN.</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Describe the five operating system types.</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Describe common utility and application software.</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A smartwatch, a gaming PC and a server all contain a processor. How do you think their processors differ?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Types of computer</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Computers come in four broad types, each designed for different jobs.</a:t>
            </a:r>
          </a:p>
          <a:p>
            <a:pPr>
              <a:spcAft>
                <a:spcPts val="1200"/>
              </a:spcAft>
            </a:pPr>
            <a:r>
              <a:rPr sz="2000" b="0">
                <a:solidFill>
                  <a:srgbClr val="202122"/>
                </a:solidFill>
                <a:latin typeface="Calibri"/>
              </a:rPr>
              <a:t>Personal computers (desktops and laptops) are general purpose machines for one user at a time.</a:t>
            </a:r>
          </a:p>
          <a:p>
            <a:pPr>
              <a:spcAft>
                <a:spcPts val="1200"/>
              </a:spcAft>
            </a:pPr>
            <a:r>
              <a:rPr sz="2000" b="0">
                <a:solidFill>
                  <a:srgbClr val="202122"/>
                </a:solidFill>
                <a:latin typeface="Calibri"/>
              </a:rPr>
              <a:t>Mobile devices (phones and tablets) prioritise battery life, portability and touch input.</a:t>
            </a:r>
          </a:p>
          <a:p>
            <a:pPr>
              <a:spcAft>
                <a:spcPts val="1200"/>
              </a:spcAft>
            </a:pPr>
            <a:r>
              <a:rPr sz="2000" b="0">
                <a:solidFill>
                  <a:srgbClr val="202122"/>
                </a:solidFill>
                <a:latin typeface="Calibri"/>
              </a:rPr>
              <a:t>Servers provide services, such as files, email or websites, to many users at once. They're built for reliability, often with redundant power supplies and drives, and run all the time.</a:t>
            </a:r>
          </a:p>
          <a:p>
            <a:pPr>
              <a:spcAft>
                <a:spcPts val="1200"/>
              </a:spcAft>
            </a:pPr>
            <a:r>
              <a:rPr sz="2000" b="0">
                <a:solidFill>
                  <a:srgbClr val="202122"/>
                </a:solidFill>
                <a:latin typeface="Calibri"/>
              </a:rPr>
              <a:t>Embedded devices are computers built into other products, such as washing machines, cars and routers, and do one dedicated job.</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smart thermostat is an embedded device; it sends data to a server in a data centre; you control it from a mobile app.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Types of computer</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Personal computers</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Desktops and laptops for individual users.</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Mobile devices</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Phones and tablets: low power, long battery life.</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Servers</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Provide services to many users; built for reliability.</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Embedded devices</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Computers inside other products, e.g. a washing machine.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Types of computer</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type of computer serves many users at once?</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an embedded device?</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do mobile devices prioritise?</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Hardware components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The processor (CPU) runs instructions. More cores let it do several things at once; a higher clock speed does each faster; cache is small, very fast memory that keeps data close to hand.</a:t>
            </a:r>
          </a:p>
          <a:p>
            <a:pPr>
              <a:spcAft>
                <a:spcPts val="1200"/>
              </a:spcAft>
            </a:pPr>
            <a:r>
              <a:rPr sz="2000" b="1">
                <a:solidFill>
                  <a:srgbClr val="202122"/>
                </a:solidFill>
                <a:latin typeface="Calibri"/>
              </a:rPr>
              <a:t>RAM is main memory:</a:t>
            </a:r>
            <a:r>
              <a:rPr sz="2000" b="0">
                <a:solidFill>
                  <a:srgbClr val="202122"/>
                </a:solidFill>
                <a:latin typeface="Calibri"/>
              </a:rPr>
              <a:t> fast, holding programs and data in use, but volatile, so it's lost when power is off. ROM holds the start-up instructions and isn't lost.</a:t>
            </a:r>
          </a:p>
          <a:p>
            <a:pPr>
              <a:spcAft>
                <a:spcPts val="1200"/>
              </a:spcAft>
            </a:pPr>
            <a:r>
              <a:rPr sz="2000" b="0">
                <a:solidFill>
                  <a:srgbClr val="202122"/>
                </a:solidFill>
                <a:latin typeface="Calibri"/>
              </a:rPr>
              <a:t>The motherboard connects everything. A GPU handles graphics and parallel work. Network interfaces connect via PCI slots or USB. Cooling, by air or liquid, stops components overheating. Input and output devices and sensors connect the computer to the world.</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PC that slows down when many browser tabs are open is usually short of RAM; one that struggles rendering video needs a faster CPU or GPU.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Hardware components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graphicFrame>
        <p:nvGraphicFramePr>
          <p:cNvPr id="6" name="Table 5"/>
          <p:cNvGraphicFramePr>
            <a:graphicFrameLocks noGrp="1"/>
          </p:cNvGraphicFramePr>
          <p:nvPr/>
        </p:nvGraphicFramePr>
        <p:xfrm>
          <a:off x="548640" y="1600200"/>
          <a:ext cx="11094414" cy="4526277"/>
        </p:xfrm>
        <a:graphic>
          <a:graphicData uri="http://schemas.openxmlformats.org/drawingml/2006/table">
            <a:tbl>
              <a:tblPr firstRow="1" bandRow="1">
                <a:tableStyleId>{5C22544A-7EE6-4342-B048-85BDC9FD1C3A}</a:tableStyleId>
              </a:tblPr>
              <a:tblGrid>
                <a:gridCol w="2976550"/>
                <a:gridCol w="8117864"/>
              </a:tblGrid>
              <a:tr h="646611">
                <a:tc>
                  <a:txBody>
                    <a:bodyPr wrap="square"/>
                    <a:lstStyle/>
                    <a:p>
                      <a:r>
                        <a:rPr sz="1600" b="1">
                          <a:solidFill>
                            <a:srgbClr val="FFFFFF"/>
                          </a:solidFill>
                          <a:latin typeface="Calibri"/>
                        </a:rPr>
                        <a:t>Component</a:t>
                      </a:r>
                    </a:p>
                  </a:txBody>
                  <a:tcPr marL="91440" marR="91440" anchor="ctr">
                    <a:solidFill>
                      <a:srgbClr val="03306E"/>
                    </a:solidFill>
                  </a:tcPr>
                </a:tc>
                <a:tc>
                  <a:txBody>
                    <a:bodyPr wrap="square"/>
                    <a:lstStyle/>
                    <a:p>
                      <a:r>
                        <a:rPr sz="1600" b="1">
                          <a:solidFill>
                            <a:srgbClr val="FFFFFF"/>
                          </a:solidFill>
                          <a:latin typeface="Calibri"/>
                        </a:rPr>
                        <a:t>Key points</a:t>
                      </a:r>
                    </a:p>
                  </a:txBody>
                  <a:tcPr marL="91440" marR="91440" anchor="ctr">
                    <a:solidFill>
                      <a:srgbClr val="03306E"/>
                    </a:solidFill>
                  </a:tcPr>
                </a:tc>
              </a:tr>
              <a:tr h="646611">
                <a:tc>
                  <a:txBody>
                    <a:bodyPr wrap="square"/>
                    <a:lstStyle/>
                    <a:p>
                      <a:r>
                        <a:rPr sz="1600" b="1">
                          <a:solidFill>
                            <a:srgbClr val="03306E"/>
                          </a:solidFill>
                          <a:latin typeface="Calibri"/>
                        </a:rPr>
                        <a:t>Processor</a:t>
                      </a:r>
                    </a:p>
                  </a:txBody>
                  <a:tcPr marL="91440" marR="91440" anchor="ctr">
                    <a:solidFill>
                      <a:srgbClr val="FFFFFF"/>
                    </a:solidFill>
                  </a:tcPr>
                </a:tc>
                <a:tc>
                  <a:txBody>
                    <a:bodyPr wrap="square"/>
                    <a:lstStyle/>
                    <a:p>
                      <a:r>
                        <a:rPr sz="1600" b="0">
                          <a:solidFill>
                            <a:srgbClr val="202122"/>
                          </a:solidFill>
                          <a:latin typeface="Calibri"/>
                        </a:rPr>
                        <a:t>Cores, clock speed, cache; mobile processors trade speed for battery life</a:t>
                      </a:r>
                    </a:p>
                  </a:txBody>
                  <a:tcPr marL="91440" marR="91440" anchor="ctr">
                    <a:solidFill>
                      <a:srgbClr val="FFFFFF"/>
                    </a:solidFill>
                  </a:tcPr>
                </a:tc>
              </a:tr>
              <a:tr h="646611">
                <a:tc>
                  <a:txBody>
                    <a:bodyPr wrap="square"/>
                    <a:lstStyle/>
                    <a:p>
                      <a:r>
                        <a:rPr sz="1600" b="1">
                          <a:solidFill>
                            <a:srgbClr val="03306E"/>
                          </a:solidFill>
                          <a:latin typeface="Calibri"/>
                        </a:rPr>
                        <a:t>Main memory</a:t>
                      </a:r>
                    </a:p>
                  </a:txBody>
                  <a:tcPr marL="91440" marR="91440" anchor="ctr">
                    <a:solidFill>
                      <a:srgbClr val="EAF3FF"/>
                    </a:solidFill>
                  </a:tcPr>
                </a:tc>
                <a:tc>
                  <a:txBody>
                    <a:bodyPr wrap="square"/>
                    <a:lstStyle/>
                    <a:p>
                      <a:r>
                        <a:rPr sz="1600" b="0">
                          <a:solidFill>
                            <a:srgbClr val="202122"/>
                          </a:solidFill>
                          <a:latin typeface="Calibri"/>
                        </a:rPr>
                        <a:t>RAM is volatile working memory; ROM holds start-up instructions</a:t>
                      </a:r>
                    </a:p>
                  </a:txBody>
                  <a:tcPr marL="91440" marR="91440" anchor="ctr">
                    <a:solidFill>
                      <a:srgbClr val="EAF3FF"/>
                    </a:solidFill>
                  </a:tcPr>
                </a:tc>
              </a:tr>
              <a:tr h="646611">
                <a:tc>
                  <a:txBody>
                    <a:bodyPr wrap="square"/>
                    <a:lstStyle/>
                    <a:p>
                      <a:r>
                        <a:rPr sz="1600" b="1">
                          <a:solidFill>
                            <a:srgbClr val="03306E"/>
                          </a:solidFill>
                          <a:latin typeface="Calibri"/>
                        </a:rPr>
                        <a:t>Motherboard and GPU</a:t>
                      </a:r>
                    </a:p>
                  </a:txBody>
                  <a:tcPr marL="91440" marR="91440" anchor="ctr">
                    <a:solidFill>
                      <a:srgbClr val="FFFFFF"/>
                    </a:solidFill>
                  </a:tcPr>
                </a:tc>
                <a:tc>
                  <a:txBody>
                    <a:bodyPr wrap="square"/>
                    <a:lstStyle/>
                    <a:p>
                      <a:r>
                        <a:rPr sz="1600" b="0">
                          <a:solidFill>
                            <a:srgbClr val="202122"/>
                          </a:solidFill>
                          <a:latin typeface="Calibri"/>
                        </a:rPr>
                        <a:t>Connects everything; GPU handles graphics and parallel work</a:t>
                      </a:r>
                    </a:p>
                  </a:txBody>
                  <a:tcPr marL="91440" marR="91440" anchor="ctr">
                    <a:solidFill>
                      <a:srgbClr val="FFFFFF"/>
                    </a:solidFill>
                  </a:tcPr>
                </a:tc>
              </a:tr>
              <a:tr h="646611">
                <a:tc>
                  <a:txBody>
                    <a:bodyPr wrap="square"/>
                    <a:lstStyle/>
                    <a:p>
                      <a:r>
                        <a:rPr sz="1600" b="1">
                          <a:solidFill>
                            <a:srgbClr val="03306E"/>
                          </a:solidFill>
                          <a:latin typeface="Calibri"/>
                        </a:rPr>
                        <a:t>Network interfaces</a:t>
                      </a:r>
                    </a:p>
                  </a:txBody>
                  <a:tcPr marL="91440" marR="91440" anchor="ctr">
                    <a:solidFill>
                      <a:srgbClr val="EAF3FF"/>
                    </a:solidFill>
                  </a:tcPr>
                </a:tc>
                <a:tc>
                  <a:txBody>
                    <a:bodyPr wrap="square"/>
                    <a:lstStyle/>
                    <a:p>
                      <a:r>
                        <a:rPr sz="1600" b="0">
                          <a:solidFill>
                            <a:srgbClr val="202122"/>
                          </a:solidFill>
                          <a:latin typeface="Calibri"/>
                        </a:rPr>
                        <a:t>Connected via PCI or USB</a:t>
                      </a:r>
                    </a:p>
                  </a:txBody>
                  <a:tcPr marL="91440" marR="91440" anchor="ctr">
                    <a:solidFill>
                      <a:srgbClr val="EAF3FF"/>
                    </a:solidFill>
                  </a:tcPr>
                </a:tc>
              </a:tr>
              <a:tr h="646611">
                <a:tc>
                  <a:txBody>
                    <a:bodyPr wrap="square"/>
                    <a:lstStyle/>
                    <a:p>
                      <a:r>
                        <a:rPr sz="1600" b="1">
                          <a:solidFill>
                            <a:srgbClr val="03306E"/>
                          </a:solidFill>
                          <a:latin typeface="Calibri"/>
                        </a:rPr>
                        <a:t>Cooling</a:t>
                      </a:r>
                    </a:p>
                  </a:txBody>
                  <a:tcPr marL="91440" marR="91440" anchor="ctr">
                    <a:solidFill>
                      <a:srgbClr val="FFFFFF"/>
                    </a:solidFill>
                  </a:tcPr>
                </a:tc>
                <a:tc>
                  <a:txBody>
                    <a:bodyPr wrap="square"/>
                    <a:lstStyle/>
                    <a:p>
                      <a:r>
                        <a:rPr sz="1600" b="0">
                          <a:solidFill>
                            <a:srgbClr val="202122"/>
                          </a:solidFill>
                          <a:latin typeface="Calibri"/>
                        </a:rPr>
                        <a:t>Air or liquid</a:t>
                      </a:r>
                    </a:p>
                  </a:txBody>
                  <a:tcPr marL="91440" marR="91440" anchor="ctr">
                    <a:solidFill>
                      <a:srgbClr val="FFFFFF"/>
                    </a:solidFill>
                  </a:tcPr>
                </a:tc>
              </a:tr>
              <a:tr h="646611">
                <a:tc>
                  <a:txBody>
                    <a:bodyPr wrap="square"/>
                    <a:lstStyle/>
                    <a:p>
                      <a:r>
                        <a:rPr sz="1600" b="1">
                          <a:solidFill>
                            <a:srgbClr val="03306E"/>
                          </a:solidFill>
                          <a:latin typeface="Calibri"/>
                        </a:rPr>
                        <a:t>Input, output and sensors</a:t>
                      </a:r>
                    </a:p>
                  </a:txBody>
                  <a:tcPr marL="91440" marR="91440" anchor="ctr">
                    <a:solidFill>
                      <a:srgbClr val="EAF3FF"/>
                    </a:solidFill>
                  </a:tcPr>
                </a:tc>
                <a:tc>
                  <a:txBody>
                    <a:bodyPr wrap="square"/>
                    <a:lstStyle/>
                    <a:p>
                      <a:r>
                        <a:rPr sz="1600" b="0">
                          <a:solidFill>
                            <a:srgbClr val="202122"/>
                          </a:solidFill>
                          <a:latin typeface="Calibri"/>
                        </a:rPr>
                        <a:t>Keyboards, displays, temperature and motion sensors</a:t>
                      </a:r>
                    </a:p>
                  </a:txBody>
                  <a:tcPr marL="91440" marR="91440" anchor="ctr">
                    <a:solidFill>
                      <a:srgbClr val="EAF3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Hardware components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does volatile mean for RAM?</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cache?</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does a GPU do?</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Secondary storage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Secondary storage keeps data when the power is off.</a:t>
            </a:r>
          </a:p>
          <a:p>
            <a:pPr>
              <a:spcAft>
                <a:spcPts val="1200"/>
              </a:spcAft>
            </a:pPr>
            <a:r>
              <a:rPr sz="2000" b="0">
                <a:solidFill>
                  <a:srgbClr val="202122"/>
                </a:solidFill>
                <a:latin typeface="Calibri"/>
              </a:rPr>
              <a:t>Magnetic hard disks are cheap per gigabyte but slow and fragile. Solid state drives are fast and robust but cost more. Optical discs are cheap and portable but hold little.</a:t>
            </a:r>
          </a:p>
          <a:p>
            <a:pPr>
              <a:spcAft>
                <a:spcPts val="1200"/>
              </a:spcAft>
            </a:pPr>
            <a:r>
              <a:rPr sz="2000" b="0">
                <a:solidFill>
                  <a:srgbClr val="202122"/>
                </a:solidFill>
                <a:latin typeface="Calibri"/>
              </a:rPr>
              <a:t>RAID combines disks for speed or safety. RAID 1 mirrors data onto two disks. RAID 5 stripes data with parity across three or more disks, surviving one failure. RAID 10 mirrors and stripes, giving speed and resilience with four or more disks.</a:t>
            </a:r>
          </a:p>
          <a:p>
            <a:pPr>
              <a:spcAft>
                <a:spcPts val="1200"/>
              </a:spcAft>
            </a:pPr>
            <a:r>
              <a:rPr sz="2000" b="0">
                <a:solidFill>
                  <a:srgbClr val="202122"/>
                </a:solidFill>
                <a:latin typeface="Calibri"/>
              </a:rPr>
              <a:t>NAS is a storage box on the network serving files. A SAN is a dedicated high-speed network of block storage for servers.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small office puts a NAS with two mirrored drives (RAID 1) on the network: if one drive fails, nobody loses their files.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Secondary storage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Rounded Rectangle 5"/>
          <p:cNvSpPr/>
          <p:nvPr/>
        </p:nvSpPr>
        <p:spPr>
          <a:xfrm>
            <a:off x="548640"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600" b="1" i="0">
                <a:solidFill>
                  <a:srgbClr val="03306E"/>
                </a:solidFill>
                <a:latin typeface="Calibri"/>
              </a:rPr>
              <a:t>Magnetic, solid state, optical</a:t>
            </a:r>
          </a:p>
        </p:txBody>
      </p:sp>
      <p:sp>
        <p:nvSpPr>
          <p:cNvPr id="9" name="TextBox 8"/>
          <p:cNvSpPr txBox="1"/>
          <p:nvPr/>
        </p:nvSpPr>
        <p:spPr>
          <a:xfrm>
            <a:off x="777240" y="2468880"/>
            <a:ext cx="3058058" cy="1143000"/>
          </a:xfrm>
          <a:prstGeom prst="rect">
            <a:avLst/>
          </a:prstGeom>
          <a:noFill/>
        </p:spPr>
        <p:txBody>
          <a:bodyPr wrap="square" anchor="t" lIns="0" rIns="0" tIns="0" bIns="0"/>
          <a:lstStyle/>
          <a:p>
            <a:pPr algn="l"/>
            <a:r>
              <a:rPr sz="1800" b="0" i="0">
                <a:solidFill>
                  <a:srgbClr val="202122"/>
                </a:solidFill>
                <a:latin typeface="Calibri"/>
              </a:rPr>
              <a:t>Hard disks are cheap per GB; SSDs are fast; optical discs are portable and cheap.</a:t>
            </a:r>
          </a:p>
        </p:txBody>
      </p:sp>
      <p:sp>
        <p:nvSpPr>
          <p:cNvPr id="10" name="Rounded Rectangle 9"/>
          <p:cNvSpPr/>
          <p:nvPr/>
        </p:nvSpPr>
        <p:spPr>
          <a:xfrm>
            <a:off x="4338218"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RAID 1</a:t>
            </a:r>
          </a:p>
        </p:txBody>
      </p:sp>
      <p:sp>
        <p:nvSpPr>
          <p:cNvPr id="13" name="TextBox 12"/>
          <p:cNvSpPr txBox="1"/>
          <p:nvPr/>
        </p:nvSpPr>
        <p:spPr>
          <a:xfrm>
            <a:off x="4566818" y="2468880"/>
            <a:ext cx="3058058" cy="1143000"/>
          </a:xfrm>
          <a:prstGeom prst="rect">
            <a:avLst/>
          </a:prstGeom>
          <a:noFill/>
        </p:spPr>
        <p:txBody>
          <a:bodyPr wrap="square" anchor="t" lIns="0" rIns="0" tIns="0" bIns="0"/>
          <a:lstStyle/>
          <a:p>
            <a:pPr algn="l"/>
            <a:r>
              <a:rPr sz="2000" b="0" i="0">
                <a:solidFill>
                  <a:srgbClr val="202122"/>
                </a:solidFill>
                <a:latin typeface="Calibri"/>
              </a:rPr>
              <a:t>Mirroring: two identical copies. Survives one disk failure.</a:t>
            </a:r>
          </a:p>
        </p:txBody>
      </p:sp>
      <p:sp>
        <p:nvSpPr>
          <p:cNvPr id="14" name="Rounded Rectangle 13"/>
          <p:cNvSpPr/>
          <p:nvPr/>
        </p:nvSpPr>
        <p:spPr>
          <a:xfrm>
            <a:off x="8127796" y="160020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RAID 5</a:t>
            </a:r>
          </a:p>
        </p:txBody>
      </p:sp>
      <p:sp>
        <p:nvSpPr>
          <p:cNvPr id="17" name="TextBox 16"/>
          <p:cNvSpPr txBox="1"/>
          <p:nvPr/>
        </p:nvSpPr>
        <p:spPr>
          <a:xfrm>
            <a:off x="8356396" y="2468880"/>
            <a:ext cx="3058058" cy="1143000"/>
          </a:xfrm>
          <a:prstGeom prst="rect">
            <a:avLst/>
          </a:prstGeom>
          <a:noFill/>
        </p:spPr>
        <p:txBody>
          <a:bodyPr wrap="square" anchor="t" lIns="0" rIns="0" tIns="0" bIns="0"/>
          <a:lstStyle/>
          <a:p>
            <a:pPr algn="l"/>
            <a:r>
              <a:rPr sz="1900" b="0" i="0">
                <a:solidFill>
                  <a:srgbClr val="202122"/>
                </a:solidFill>
                <a:latin typeface="Calibri"/>
              </a:rPr>
              <a:t>Striping with parity across three or more disks. Survives one disk failure.</a:t>
            </a:r>
          </a:p>
        </p:txBody>
      </p:sp>
      <p:sp>
        <p:nvSpPr>
          <p:cNvPr id="18" name="Rounded Rectangle 17"/>
          <p:cNvSpPr/>
          <p:nvPr/>
        </p:nvSpPr>
        <p:spPr>
          <a:xfrm>
            <a:off x="548640"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1371600" y="4224528"/>
            <a:ext cx="2509418" cy="512064"/>
          </a:xfrm>
          <a:prstGeom prst="rect">
            <a:avLst/>
          </a:prstGeom>
          <a:noFill/>
        </p:spPr>
        <p:txBody>
          <a:bodyPr wrap="square" anchor="ctr" lIns="0" rIns="0" tIns="0" bIns="0"/>
          <a:lstStyle/>
          <a:p>
            <a:pPr algn="l"/>
            <a:r>
              <a:rPr sz="1900" b="1" i="0">
                <a:solidFill>
                  <a:srgbClr val="03306E"/>
                </a:solidFill>
                <a:latin typeface="Calibri"/>
              </a:rPr>
              <a:t>RAID 10</a:t>
            </a:r>
          </a:p>
        </p:txBody>
      </p:sp>
      <p:sp>
        <p:nvSpPr>
          <p:cNvPr id="21" name="TextBox 20"/>
          <p:cNvSpPr txBox="1"/>
          <p:nvPr/>
        </p:nvSpPr>
        <p:spPr>
          <a:xfrm>
            <a:off x="777240" y="4892040"/>
            <a:ext cx="3058058" cy="1143000"/>
          </a:xfrm>
          <a:prstGeom prst="rect">
            <a:avLst/>
          </a:prstGeom>
          <a:noFill/>
        </p:spPr>
        <p:txBody>
          <a:bodyPr wrap="square" anchor="t" lIns="0" rIns="0" tIns="0" bIns="0"/>
          <a:lstStyle/>
          <a:p>
            <a:pPr algn="l"/>
            <a:r>
              <a:rPr sz="1900" b="0" i="0">
                <a:solidFill>
                  <a:srgbClr val="202122"/>
                </a:solidFill>
                <a:latin typeface="Calibri"/>
              </a:rPr>
              <a:t>Mirrors that are striped. Fast and resilient, but needs four or more disks.</a:t>
            </a:r>
          </a:p>
        </p:txBody>
      </p:sp>
      <p:sp>
        <p:nvSpPr>
          <p:cNvPr id="22" name="Rounded Rectangle 21"/>
          <p:cNvSpPr/>
          <p:nvPr/>
        </p:nvSpPr>
        <p:spPr>
          <a:xfrm>
            <a:off x="4338218"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4566818"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5</a:t>
            </a:r>
          </a:p>
        </p:txBody>
      </p:sp>
      <p:sp>
        <p:nvSpPr>
          <p:cNvPr id="24" name="TextBox 23"/>
          <p:cNvSpPr txBox="1"/>
          <p:nvPr/>
        </p:nvSpPr>
        <p:spPr>
          <a:xfrm>
            <a:off x="5161178" y="4224528"/>
            <a:ext cx="2509418" cy="512064"/>
          </a:xfrm>
          <a:prstGeom prst="rect">
            <a:avLst/>
          </a:prstGeom>
          <a:noFill/>
        </p:spPr>
        <p:txBody>
          <a:bodyPr wrap="square" anchor="ctr" lIns="0" rIns="0" tIns="0" bIns="0"/>
          <a:lstStyle/>
          <a:p>
            <a:pPr algn="l"/>
            <a:r>
              <a:rPr sz="1900" b="1" i="0">
                <a:solidFill>
                  <a:srgbClr val="03306E"/>
                </a:solidFill>
                <a:latin typeface="Calibri"/>
              </a:rPr>
              <a:t>NAS</a:t>
            </a:r>
          </a:p>
        </p:txBody>
      </p:sp>
      <p:sp>
        <p:nvSpPr>
          <p:cNvPr id="25" name="TextBox 24"/>
          <p:cNvSpPr txBox="1"/>
          <p:nvPr/>
        </p:nvSpPr>
        <p:spPr>
          <a:xfrm>
            <a:off x="4566818" y="4892040"/>
            <a:ext cx="3058058" cy="1143000"/>
          </a:xfrm>
          <a:prstGeom prst="rect">
            <a:avLst/>
          </a:prstGeom>
          <a:noFill/>
        </p:spPr>
        <p:txBody>
          <a:bodyPr wrap="square" anchor="t" lIns="0" rIns="0" tIns="0" bIns="0"/>
          <a:lstStyle/>
          <a:p>
            <a:pPr algn="l"/>
            <a:r>
              <a:rPr sz="2000" b="0" i="0">
                <a:solidFill>
                  <a:srgbClr val="202122"/>
                </a:solidFill>
                <a:latin typeface="Calibri"/>
              </a:rPr>
              <a:t>Network attached storage: a file server box on the network.</a:t>
            </a:r>
          </a:p>
        </p:txBody>
      </p:sp>
      <p:sp>
        <p:nvSpPr>
          <p:cNvPr id="26" name="Rounded Rectangle 25"/>
          <p:cNvSpPr/>
          <p:nvPr/>
        </p:nvSpPr>
        <p:spPr>
          <a:xfrm>
            <a:off x="8127796" y="4023360"/>
            <a:ext cx="3515258"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356396"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6</a:t>
            </a:r>
          </a:p>
        </p:txBody>
      </p:sp>
      <p:sp>
        <p:nvSpPr>
          <p:cNvPr id="28" name="TextBox 27"/>
          <p:cNvSpPr txBox="1"/>
          <p:nvPr/>
        </p:nvSpPr>
        <p:spPr>
          <a:xfrm>
            <a:off x="8950756" y="4224528"/>
            <a:ext cx="2509418" cy="512064"/>
          </a:xfrm>
          <a:prstGeom prst="rect">
            <a:avLst/>
          </a:prstGeom>
          <a:noFill/>
        </p:spPr>
        <p:txBody>
          <a:bodyPr wrap="square" anchor="ctr" lIns="0" rIns="0" tIns="0" bIns="0"/>
          <a:lstStyle/>
          <a:p>
            <a:pPr algn="l"/>
            <a:r>
              <a:rPr sz="1900" b="1" i="0">
                <a:solidFill>
                  <a:srgbClr val="03306E"/>
                </a:solidFill>
                <a:latin typeface="Calibri"/>
              </a:rPr>
              <a:t>SAN</a:t>
            </a:r>
          </a:p>
        </p:txBody>
      </p:sp>
      <p:sp>
        <p:nvSpPr>
          <p:cNvPr id="29" name="TextBox 28"/>
          <p:cNvSpPr txBox="1"/>
          <p:nvPr/>
        </p:nvSpPr>
        <p:spPr>
          <a:xfrm>
            <a:off x="8356396" y="4892040"/>
            <a:ext cx="3058058" cy="1143000"/>
          </a:xfrm>
          <a:prstGeom prst="rect">
            <a:avLst/>
          </a:prstGeom>
          <a:noFill/>
        </p:spPr>
        <p:txBody>
          <a:bodyPr wrap="square" anchor="t" lIns="0" rIns="0" tIns="0" bIns="0"/>
          <a:lstStyle/>
          <a:p>
            <a:pPr algn="l"/>
            <a:r>
              <a:rPr sz="2000" b="0" i="0">
                <a:solidFill>
                  <a:srgbClr val="202122"/>
                </a:solidFill>
                <a:latin typeface="Calibri"/>
              </a:rPr>
              <a:t>Storage area network: a dedicated high-speed network of block storage.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Secondary storage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does RAID 1 do?</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How many disk failures can RAID 5 survive?</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the difference between NAS and SAN?</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Operating system types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140"/>
              </a:spcAft>
            </a:pPr>
            <a:r>
              <a:rPr sz="1900" b="0">
                <a:solidFill>
                  <a:srgbClr val="202122"/>
                </a:solidFill>
                <a:latin typeface="Calibri"/>
              </a:rPr>
              <a:t>The operating system manages the hardware and runs programs. Different types suit different jobs.</a:t>
            </a:r>
          </a:p>
          <a:p>
            <a:pPr>
              <a:spcAft>
                <a:spcPts val="1140"/>
              </a:spcAft>
            </a:pPr>
            <a:r>
              <a:rPr sz="1900" b="0">
                <a:solidFill>
                  <a:srgbClr val="202122"/>
                </a:solidFill>
                <a:latin typeface="Calibri"/>
              </a:rPr>
              <a:t>Batch systems run large jobs without user interaction, often overnight, such as payroll.</a:t>
            </a:r>
          </a:p>
          <a:p>
            <a:pPr>
              <a:spcAft>
                <a:spcPts val="1140"/>
              </a:spcAft>
            </a:pPr>
            <a:r>
              <a:rPr sz="1900" b="0">
                <a:solidFill>
                  <a:srgbClr val="202122"/>
                </a:solidFill>
                <a:latin typeface="Calibri"/>
              </a:rPr>
              <a:t>Multitasking systems appear to run many programs at once by rapidly switching between them (time-slicing) and responding to interrupts. Desktop OSs work this way.</a:t>
            </a:r>
          </a:p>
          <a:p>
            <a:pPr>
              <a:spcAft>
                <a:spcPts val="1140"/>
              </a:spcAft>
            </a:pPr>
            <a:r>
              <a:rPr sz="1900" b="0">
                <a:solidFill>
                  <a:srgbClr val="202122"/>
                </a:solidFill>
                <a:latin typeface="Calibri"/>
              </a:rPr>
              <a:t>Real-time systems respond instantly and predictably, for control and transactions such as traffic lights and card payments.</a:t>
            </a:r>
          </a:p>
          <a:p>
            <a:pPr>
              <a:spcAft>
                <a:spcPts val="1140"/>
              </a:spcAft>
            </a:pPr>
            <a:r>
              <a:rPr sz="1900" b="0">
                <a:solidFill>
                  <a:srgbClr val="202122"/>
                </a:solidFill>
                <a:latin typeface="Calibri"/>
              </a:rPr>
              <a:t>Network OSs share resources and manage users across a network. Mobile OSs are designed for low power use and long battery life.</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An airbag controller must react within milliseconds, so it uses a real-time OS. A bank's overnight interest calculation is a batch job.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Operating system types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2064077"/>
                <a:gridCol w="5160193"/>
                <a:gridCol w="3870144"/>
              </a:tblGrid>
              <a:tr h="754380">
                <a:tc>
                  <a:txBody>
                    <a:bodyPr wrap="square"/>
                    <a:lstStyle/>
                    <a:p>
                      <a:r>
                        <a:rPr sz="1600" b="1">
                          <a:solidFill>
                            <a:srgbClr val="FFFFFF"/>
                          </a:solidFill>
                          <a:latin typeface="Calibri"/>
                        </a:rPr>
                        <a:t>Type</a:t>
                      </a:r>
                    </a:p>
                  </a:txBody>
                  <a:tcPr marL="91440" marR="91440" anchor="ctr">
                    <a:solidFill>
                      <a:srgbClr val="03306E"/>
                    </a:solidFill>
                  </a:tcPr>
                </a:tc>
                <a:tc>
                  <a:txBody>
                    <a:bodyPr wrap="square"/>
                    <a:lstStyle/>
                    <a:p>
                      <a:r>
                        <a:rPr sz="1600" b="1">
                          <a:solidFill>
                            <a:srgbClr val="FFFFFF"/>
                          </a:solidFill>
                          <a:latin typeface="Calibri"/>
                        </a:rPr>
                        <a:t>Features</a:t>
                      </a:r>
                    </a:p>
                  </a:txBody>
                  <a:tcPr marL="91440" marR="91440" anchor="ctr">
                    <a:solidFill>
                      <a:srgbClr val="03306E"/>
                    </a:solidFill>
                  </a:tcPr>
                </a:tc>
                <a:tc>
                  <a:txBody>
                    <a:bodyPr wrap="square"/>
                    <a:lstStyle/>
                    <a:p>
                      <a:r>
                        <a:rPr sz="1600" b="1">
                          <a:solidFill>
                            <a:srgbClr val="FFFFFF"/>
                          </a:solidFill>
                          <a:latin typeface="Calibri"/>
                        </a:rPr>
                        <a:t>Example use</a:t>
                      </a:r>
                    </a:p>
                  </a:txBody>
                  <a:tcPr marL="91440" marR="91440" anchor="ctr">
                    <a:solidFill>
                      <a:srgbClr val="03306E"/>
                    </a:solidFill>
                  </a:tcPr>
                </a:tc>
              </a:tr>
              <a:tr h="754380">
                <a:tc>
                  <a:txBody>
                    <a:bodyPr wrap="square"/>
                    <a:lstStyle/>
                    <a:p>
                      <a:r>
                        <a:rPr sz="1600" b="1">
                          <a:solidFill>
                            <a:srgbClr val="03306E"/>
                          </a:solidFill>
                          <a:latin typeface="Calibri"/>
                        </a:rPr>
                        <a:t>Batch</a:t>
                      </a:r>
                    </a:p>
                  </a:txBody>
                  <a:tcPr marL="91440" marR="91440" anchor="ctr">
                    <a:solidFill>
                      <a:srgbClr val="FFFFFF"/>
                    </a:solidFill>
                  </a:tcPr>
                </a:tc>
                <a:tc>
                  <a:txBody>
                    <a:bodyPr wrap="square"/>
                    <a:lstStyle/>
                    <a:p>
                      <a:r>
                        <a:rPr sz="1600" b="0">
                          <a:solidFill>
                            <a:srgbClr val="202122"/>
                          </a:solidFill>
                          <a:latin typeface="Calibri"/>
                        </a:rPr>
                        <a:t>Non-interactive, high volume, scheduled</a:t>
                      </a:r>
                    </a:p>
                  </a:txBody>
                  <a:tcPr marL="91440" marR="91440" anchor="ctr">
                    <a:solidFill>
                      <a:srgbClr val="FFFFFF"/>
                    </a:solidFill>
                  </a:tcPr>
                </a:tc>
                <a:tc>
                  <a:txBody>
                    <a:bodyPr wrap="square"/>
                    <a:lstStyle/>
                    <a:p>
                      <a:r>
                        <a:rPr sz="1600" b="0">
                          <a:solidFill>
                            <a:srgbClr val="202122"/>
                          </a:solidFill>
                          <a:latin typeface="Calibri"/>
                        </a:rPr>
                        <a:t>Overnight payroll</a:t>
                      </a:r>
                    </a:p>
                  </a:txBody>
                  <a:tcPr marL="91440" marR="91440" anchor="ctr">
                    <a:solidFill>
                      <a:srgbClr val="FFFFFF"/>
                    </a:solidFill>
                  </a:tcPr>
                </a:tc>
              </a:tr>
              <a:tr h="754380">
                <a:tc>
                  <a:txBody>
                    <a:bodyPr wrap="square"/>
                    <a:lstStyle/>
                    <a:p>
                      <a:r>
                        <a:rPr sz="1600" b="1">
                          <a:solidFill>
                            <a:srgbClr val="03306E"/>
                          </a:solidFill>
                          <a:latin typeface="Calibri"/>
                        </a:rPr>
                        <a:t>Multitasking</a:t>
                      </a:r>
                    </a:p>
                  </a:txBody>
                  <a:tcPr marL="91440" marR="91440" anchor="ctr">
                    <a:solidFill>
                      <a:srgbClr val="EAF3FF"/>
                    </a:solidFill>
                  </a:tcPr>
                </a:tc>
                <a:tc>
                  <a:txBody>
                    <a:bodyPr wrap="square"/>
                    <a:lstStyle/>
                    <a:p>
                      <a:r>
                        <a:rPr sz="1600" b="0">
                          <a:solidFill>
                            <a:srgbClr val="202122"/>
                          </a:solidFill>
                          <a:latin typeface="Calibri"/>
                        </a:rPr>
                        <a:t>Concurrent running, time-slicing, interrupts</a:t>
                      </a:r>
                    </a:p>
                  </a:txBody>
                  <a:tcPr marL="91440" marR="91440" anchor="ctr">
                    <a:solidFill>
                      <a:srgbClr val="EAF3FF"/>
                    </a:solidFill>
                  </a:tcPr>
                </a:tc>
                <a:tc>
                  <a:txBody>
                    <a:bodyPr wrap="square"/>
                    <a:lstStyle/>
                    <a:p>
                      <a:r>
                        <a:rPr sz="1600" b="0">
                          <a:solidFill>
                            <a:srgbClr val="202122"/>
                          </a:solidFill>
                          <a:latin typeface="Calibri"/>
                        </a:rPr>
                        <a:t>Desktop PCs</a:t>
                      </a:r>
                    </a:p>
                  </a:txBody>
                  <a:tcPr marL="91440" marR="91440" anchor="ctr">
                    <a:solidFill>
                      <a:srgbClr val="EAF3FF"/>
                    </a:solidFill>
                  </a:tcPr>
                </a:tc>
              </a:tr>
              <a:tr h="754380">
                <a:tc>
                  <a:txBody>
                    <a:bodyPr wrap="square"/>
                    <a:lstStyle/>
                    <a:p>
                      <a:r>
                        <a:rPr sz="1600" b="1">
                          <a:solidFill>
                            <a:srgbClr val="03306E"/>
                          </a:solidFill>
                          <a:latin typeface="Calibri"/>
                        </a:rPr>
                        <a:t>Real-time</a:t>
                      </a:r>
                    </a:p>
                  </a:txBody>
                  <a:tcPr marL="91440" marR="91440" anchor="ctr">
                    <a:solidFill>
                      <a:srgbClr val="FFFFFF"/>
                    </a:solidFill>
                  </a:tcPr>
                </a:tc>
                <a:tc>
                  <a:txBody>
                    <a:bodyPr wrap="square"/>
                    <a:lstStyle/>
                    <a:p>
                      <a:r>
                        <a:rPr sz="1600" b="0">
                          <a:solidFill>
                            <a:srgbClr val="202122"/>
                          </a:solidFill>
                          <a:latin typeface="Calibri"/>
                        </a:rPr>
                        <a:t>Instant response for monitoring and control</a:t>
                      </a:r>
                    </a:p>
                  </a:txBody>
                  <a:tcPr marL="91440" marR="91440" anchor="ctr">
                    <a:solidFill>
                      <a:srgbClr val="FFFFFF"/>
                    </a:solidFill>
                  </a:tcPr>
                </a:tc>
                <a:tc>
                  <a:txBody>
                    <a:bodyPr wrap="square"/>
                    <a:lstStyle/>
                    <a:p>
                      <a:r>
                        <a:rPr sz="1600" b="0">
                          <a:solidFill>
                            <a:srgbClr val="202122"/>
                          </a:solidFill>
                          <a:latin typeface="Calibri"/>
                        </a:rPr>
                        <a:t>Traffic lights, card payments</a:t>
                      </a:r>
                    </a:p>
                  </a:txBody>
                  <a:tcPr marL="91440" marR="91440" anchor="ctr">
                    <a:solidFill>
                      <a:srgbClr val="FFFFFF"/>
                    </a:solidFill>
                  </a:tcPr>
                </a:tc>
              </a:tr>
              <a:tr h="754380">
                <a:tc>
                  <a:txBody>
                    <a:bodyPr wrap="square"/>
                    <a:lstStyle/>
                    <a:p>
                      <a:r>
                        <a:rPr sz="1600" b="1">
                          <a:solidFill>
                            <a:srgbClr val="03306E"/>
                          </a:solidFill>
                          <a:latin typeface="Calibri"/>
                        </a:rPr>
                        <a:t>Network</a:t>
                      </a:r>
                    </a:p>
                  </a:txBody>
                  <a:tcPr marL="91440" marR="91440" anchor="ctr">
                    <a:solidFill>
                      <a:srgbClr val="EAF3FF"/>
                    </a:solidFill>
                  </a:tcPr>
                </a:tc>
                <a:tc>
                  <a:txBody>
                    <a:bodyPr wrap="square"/>
                    <a:lstStyle/>
                    <a:p>
                      <a:r>
                        <a:rPr sz="1600" b="0">
                          <a:solidFill>
                            <a:srgbClr val="202122"/>
                          </a:solidFill>
                          <a:latin typeface="Calibri"/>
                        </a:rPr>
                        <a:t>Resource sharing, user management</a:t>
                      </a:r>
                    </a:p>
                  </a:txBody>
                  <a:tcPr marL="91440" marR="91440" anchor="ctr">
                    <a:solidFill>
                      <a:srgbClr val="EAF3FF"/>
                    </a:solidFill>
                  </a:tcPr>
                </a:tc>
                <a:tc>
                  <a:txBody>
                    <a:bodyPr wrap="square"/>
                    <a:lstStyle/>
                    <a:p>
                      <a:r>
                        <a:rPr sz="1600" b="0">
                          <a:solidFill>
                            <a:srgbClr val="202122"/>
                          </a:solidFill>
                          <a:latin typeface="Calibri"/>
                        </a:rPr>
                        <a:t>Windows Server</a:t>
                      </a:r>
                    </a:p>
                  </a:txBody>
                  <a:tcPr marL="91440" marR="91440" anchor="ctr">
                    <a:solidFill>
                      <a:srgbClr val="EAF3FF"/>
                    </a:solidFill>
                  </a:tcPr>
                </a:tc>
              </a:tr>
              <a:tr h="754380">
                <a:tc>
                  <a:txBody>
                    <a:bodyPr wrap="square"/>
                    <a:lstStyle/>
                    <a:p>
                      <a:r>
                        <a:rPr sz="1600" b="1">
                          <a:solidFill>
                            <a:srgbClr val="03306E"/>
                          </a:solidFill>
                          <a:latin typeface="Calibri"/>
                        </a:rPr>
                        <a:t>Mobile</a:t>
                      </a:r>
                    </a:p>
                  </a:txBody>
                  <a:tcPr marL="91440" marR="91440" anchor="ctr">
                    <a:solidFill>
                      <a:srgbClr val="FFFFFF"/>
                    </a:solidFill>
                  </a:tcPr>
                </a:tc>
                <a:tc>
                  <a:txBody>
                    <a:bodyPr wrap="square"/>
                    <a:lstStyle/>
                    <a:p>
                      <a:r>
                        <a:rPr sz="1600" b="0">
                          <a:solidFill>
                            <a:srgbClr val="202122"/>
                          </a:solidFill>
                          <a:latin typeface="Calibri"/>
                        </a:rPr>
                        <a:t>Low processing needs, long battery life</a:t>
                      </a:r>
                    </a:p>
                  </a:txBody>
                  <a:tcPr marL="91440" marR="91440" anchor="ctr">
                    <a:solidFill>
                      <a:srgbClr val="FFFFFF"/>
                    </a:solidFill>
                  </a:tcPr>
                </a:tc>
                <a:tc>
                  <a:txBody>
                    <a:bodyPr wrap="square"/>
                    <a:lstStyle/>
                    <a:p>
                      <a:r>
                        <a:rPr sz="1600" b="0">
                          <a:solidFill>
                            <a:srgbClr val="202122"/>
                          </a:solidFill>
                          <a:latin typeface="Calibri"/>
                        </a:rPr>
                        <a:t>Android, iOS</a:t>
                      </a:r>
                    </a:p>
                  </a:txBody>
                  <a:tcPr marL="91440" marR="91440"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Operating system types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OS type runs large jobs without user interaction?</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time-slicing?</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Which OS type would control traffic lights?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Utility and application software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Utility software looks after the computer itself. File managers organise files; defragmenters reorganise magnetic disks so files load faster; compression tools shrink files; package managers install and update software; protection software defends against malware; backup software copies data so it can be recovered.</a:t>
            </a:r>
          </a:p>
          <a:p>
            <a:pPr>
              <a:spcAft>
                <a:spcPts val="1320"/>
              </a:spcAft>
            </a:pPr>
            <a:r>
              <a:rPr sz="2200" b="0">
                <a:solidFill>
                  <a:srgbClr val="202122"/>
                </a:solidFill>
                <a:latin typeface="Calibri"/>
              </a:rPr>
              <a:t>Application software lets users do their jobs: word processors, spreadsheets, databases, email and project management tools.</a:t>
            </a:r>
          </a:p>
          <a:p>
            <a:pPr>
              <a:spcAft>
                <a:spcPts val="1320"/>
              </a:spcAft>
            </a:pPr>
            <a:r>
              <a:rPr sz="2200" b="0">
                <a:solidFill>
                  <a:srgbClr val="202122"/>
                </a:solidFill>
                <a:latin typeface="Calibri"/>
              </a:rPr>
              <a:t>Support technicians install, configure and troubleshoot both kinds.</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On Linux, a technician uses the apt package manager (a utility) to install LibreOffice (an application suite) on 30 PCs.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Utility and application software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16</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Utilities</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File management</a:t>
            </a:r>
          </a:p>
          <a:p>
            <a:pPr marL="274320" indent="-274320">
              <a:spcAft>
                <a:spcPts val="990"/>
              </a:spcAft>
              <a:buClr>
                <a:srgbClr val="0645AD"/>
              </a:buClr>
              <a:buFont typeface="Arial"/>
              <a:buChar char="•"/>
            </a:pPr>
            <a:r>
              <a:rPr sz="2200" b="0">
                <a:solidFill>
                  <a:srgbClr val="202122"/>
                </a:solidFill>
                <a:latin typeface="Calibri"/>
              </a:rPr>
              <a:t>Defragmenters</a:t>
            </a:r>
          </a:p>
          <a:p>
            <a:pPr marL="274320" indent="-274320">
              <a:spcAft>
                <a:spcPts val="990"/>
              </a:spcAft>
              <a:buClr>
                <a:srgbClr val="0645AD"/>
              </a:buClr>
              <a:buFont typeface="Arial"/>
              <a:buChar char="•"/>
            </a:pPr>
            <a:r>
              <a:rPr sz="2200" b="0">
                <a:solidFill>
                  <a:srgbClr val="202122"/>
                </a:solidFill>
                <a:latin typeface="Calibri"/>
              </a:rPr>
              <a:t>File compression</a:t>
            </a:r>
          </a:p>
          <a:p>
            <a:pPr marL="274320" indent="-274320">
              <a:spcAft>
                <a:spcPts val="990"/>
              </a:spcAft>
              <a:buClr>
                <a:srgbClr val="0645AD"/>
              </a:buClr>
              <a:buFont typeface="Arial"/>
              <a:buChar char="•"/>
            </a:pPr>
            <a:r>
              <a:rPr sz="2200" b="0">
                <a:solidFill>
                  <a:srgbClr val="202122"/>
                </a:solidFill>
                <a:latin typeface="Calibri"/>
              </a:rPr>
              <a:t>Package managers</a:t>
            </a:r>
          </a:p>
          <a:p>
            <a:pPr marL="274320" indent="-274320">
              <a:spcAft>
                <a:spcPts val="990"/>
              </a:spcAft>
              <a:buClr>
                <a:srgbClr val="0645AD"/>
              </a:buClr>
              <a:buFont typeface="Arial"/>
              <a:buChar char="•"/>
            </a:pPr>
            <a:r>
              <a:rPr sz="2200" b="0">
                <a:solidFill>
                  <a:srgbClr val="202122"/>
                </a:solidFill>
                <a:latin typeface="Calibri"/>
              </a:rPr>
              <a:t>Protection software</a:t>
            </a:r>
          </a:p>
          <a:p>
            <a:pPr marL="274320" indent="-274320">
              <a:spcAft>
                <a:spcPts val="990"/>
              </a:spcAft>
              <a:buClr>
                <a:srgbClr val="0645AD"/>
              </a:buClr>
              <a:buFont typeface="Arial"/>
              <a:buChar char="•"/>
            </a:pPr>
            <a:r>
              <a:rPr sz="2200" b="0">
                <a:solidFill>
                  <a:srgbClr val="202122"/>
                </a:solidFill>
                <a:latin typeface="Calibri"/>
              </a:rPr>
              <a:t>Backup software</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Applications</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Word processors</a:t>
            </a:r>
          </a:p>
          <a:p>
            <a:pPr marL="274320" indent="-274320">
              <a:spcAft>
                <a:spcPts val="990"/>
              </a:spcAft>
              <a:buClr>
                <a:srgbClr val="0645AD"/>
              </a:buClr>
              <a:buFont typeface="Arial"/>
              <a:buChar char="•"/>
            </a:pPr>
            <a:r>
              <a:rPr sz="2200" b="0">
                <a:solidFill>
                  <a:srgbClr val="202122"/>
                </a:solidFill>
                <a:latin typeface="Calibri"/>
              </a:rPr>
              <a:t>Spreadsheets</a:t>
            </a:r>
          </a:p>
          <a:p>
            <a:pPr marL="274320" indent="-274320">
              <a:spcAft>
                <a:spcPts val="990"/>
              </a:spcAft>
              <a:buClr>
                <a:srgbClr val="0645AD"/>
              </a:buClr>
              <a:buFont typeface="Arial"/>
              <a:buChar char="•"/>
            </a:pPr>
            <a:r>
              <a:rPr sz="2200" b="0">
                <a:solidFill>
                  <a:srgbClr val="202122"/>
                </a:solidFill>
                <a:latin typeface="Calibri"/>
              </a:rPr>
              <a:t>Databases</a:t>
            </a:r>
          </a:p>
          <a:p>
            <a:pPr marL="274320" indent="-274320">
              <a:spcAft>
                <a:spcPts val="990"/>
              </a:spcAft>
              <a:buClr>
                <a:srgbClr val="0645AD"/>
              </a:buClr>
              <a:buFont typeface="Arial"/>
              <a:buChar char="•"/>
            </a:pPr>
            <a:r>
              <a:rPr sz="2200" b="0">
                <a:solidFill>
                  <a:srgbClr val="202122"/>
                </a:solidFill>
                <a:latin typeface="Calibri"/>
              </a:rPr>
              <a:t>Email</a:t>
            </a:r>
          </a:p>
          <a:p>
            <a:pPr marL="274320" indent="-274320">
              <a:spcAft>
                <a:spcPts val="990"/>
              </a:spcAft>
              <a:buClr>
                <a:srgbClr val="0645AD"/>
              </a:buClr>
              <a:buFont typeface="Arial"/>
              <a:buChar char="•"/>
            </a:pPr>
            <a:r>
              <a:rPr sz="2200" b="0">
                <a:solidFill>
                  <a:srgbClr val="202122"/>
                </a:solidFill>
                <a:latin typeface="Calibri"/>
              </a:rPr>
              <a:t>Project management software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Utility and application software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17</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Is backup software a utility or an application?</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a package manager do?</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don't SSDs need defragmenting?</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18</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2200" b="0" i="0">
                <a:solidFill>
                  <a:srgbClr val="202122"/>
                </a:solidFill>
                <a:latin typeface="Calibri"/>
              </a:rPr>
              <a:t>Which type of memory is volatile?</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2200" b="0" i="0">
                <a:solidFill>
                  <a:srgbClr val="202122"/>
                </a:solidFill>
                <a:latin typeface="Calibri"/>
              </a:rPr>
              <a:t>What does RAID 1 do?</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2200" b="0" i="0">
                <a:solidFill>
                  <a:srgbClr val="202122"/>
                </a:solidFill>
                <a:latin typeface="Calibri"/>
              </a:rPr>
              <a:t>What is the difference between NAS and SAN?</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2200" b="0" i="0">
                <a:solidFill>
                  <a:srgbClr val="202122"/>
                </a:solidFill>
                <a:latin typeface="Calibri"/>
              </a:rPr>
              <a:t>Which OS type would control an aircraft's systems?</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2200" b="0" i="0">
                <a:solidFill>
                  <a:srgbClr val="202122"/>
                </a:solidFill>
                <a:latin typeface="Calibri"/>
              </a:rPr>
              <a:t>Is a defragmenter a utility or an application?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19</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1800" b="0" i="0">
                <a:solidFill>
                  <a:srgbClr val="54595D"/>
                </a:solidFill>
                <a:latin typeface="Calibri"/>
              </a:rPr>
              <a:t>Which type of memory is volatile?</a:t>
            </a:r>
          </a:p>
          <a:p>
            <a:r>
              <a:rPr sz="1800" b="1">
                <a:solidFill>
                  <a:srgbClr val="03306E"/>
                </a:solidFill>
                <a:latin typeface="Calibri"/>
              </a:rPr>
              <a:t>RAM.</a:t>
            </a:r>
          </a:p>
        </p:txBody>
      </p:sp>
      <p:sp>
        <p:nvSpPr>
          <p:cNvPr id="8" name="Oval 7"/>
          <p:cNvSpPr/>
          <p:nvPr/>
        </p:nvSpPr>
        <p:spPr>
          <a:xfrm>
            <a:off x="548640" y="2574950"/>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1800" b="0" i="0">
                <a:solidFill>
                  <a:srgbClr val="54595D"/>
                </a:solidFill>
                <a:latin typeface="Calibri"/>
              </a:rPr>
              <a:t>What does RAID 1 do?</a:t>
            </a:r>
          </a:p>
          <a:p>
            <a:r>
              <a:rPr sz="1800" b="1">
                <a:solidFill>
                  <a:srgbClr val="03306E"/>
                </a:solidFill>
                <a:latin typeface="Calibri"/>
              </a:rPr>
              <a:t>Mirrors data onto two disks.</a:t>
            </a:r>
          </a:p>
        </p:txBody>
      </p:sp>
      <p:sp>
        <p:nvSpPr>
          <p:cNvPr id="10" name="Oval 9"/>
          <p:cNvSpPr/>
          <p:nvPr/>
        </p:nvSpPr>
        <p:spPr>
          <a:xfrm>
            <a:off x="548640" y="3531412"/>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1600" b="0" i="0">
                <a:solidFill>
                  <a:srgbClr val="54595D"/>
                </a:solidFill>
                <a:latin typeface="Calibri"/>
              </a:rPr>
              <a:t>What is the difference between NAS and SAN?</a:t>
            </a:r>
          </a:p>
          <a:p>
            <a:r>
              <a:rPr sz="1600" b="1">
                <a:solidFill>
                  <a:srgbClr val="03306E"/>
                </a:solidFill>
                <a:latin typeface="Calibri"/>
              </a:rPr>
              <a:t>NAS is a file storage device on the network; SAN is a dedicated high-speed network of block storage.</a:t>
            </a:r>
          </a:p>
        </p:txBody>
      </p:sp>
      <p:sp>
        <p:nvSpPr>
          <p:cNvPr id="12" name="Oval 11"/>
          <p:cNvSpPr/>
          <p:nvPr/>
        </p:nvSpPr>
        <p:spPr>
          <a:xfrm>
            <a:off x="548640" y="4487875"/>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1800" b="0" i="0">
                <a:solidFill>
                  <a:srgbClr val="54595D"/>
                </a:solidFill>
                <a:latin typeface="Calibri"/>
              </a:rPr>
              <a:t>Which OS type would control an aircraft's systems?</a:t>
            </a:r>
          </a:p>
          <a:p>
            <a:r>
              <a:rPr sz="1800" b="1">
                <a:solidFill>
                  <a:srgbClr val="03306E"/>
                </a:solidFill>
                <a:latin typeface="Calibri"/>
              </a:rPr>
              <a:t>Real-time.</a:t>
            </a:r>
          </a:p>
        </p:txBody>
      </p:sp>
      <p:sp>
        <p:nvSpPr>
          <p:cNvPr id="14" name="Oval 13"/>
          <p:cNvSpPr/>
          <p:nvPr/>
        </p:nvSpPr>
        <p:spPr>
          <a:xfrm>
            <a:off x="548640" y="5444337"/>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1800" b="0" i="0">
                <a:solidFill>
                  <a:srgbClr val="54595D"/>
                </a:solidFill>
                <a:latin typeface="Calibri"/>
              </a:rPr>
              <a:t>Is a defragmenter a utility or an application?</a:t>
            </a:r>
          </a:p>
          <a:p>
            <a:r>
              <a:rPr sz="1800" b="1">
                <a:solidFill>
                  <a:srgbClr val="03306E"/>
                </a:solidFill>
                <a:latin typeface="Calibri"/>
              </a:rPr>
              <a:t>A utility.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Spec a machine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Hardware and Software</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20</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Your teacher assigns a user: a video editor, a small office file server, or a warehouse scanner.</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Choose the computer type, processor, memory and storage.</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Choose an operating system type and three pieces of software.</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Justify each choice against the user's needs.</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Hardware matches the workload</a:t>
            </a:r>
          </a:p>
          <a:p>
            <a:pPr marL="274320" indent="-274320">
              <a:spcAft>
                <a:spcPts val="810"/>
              </a:spcAft>
              <a:buClr>
                <a:srgbClr val="0645AD"/>
              </a:buClr>
              <a:buFont typeface="Arial"/>
              <a:buChar char="•"/>
            </a:pPr>
            <a:r>
              <a:rPr sz="1800" b="0">
                <a:solidFill>
                  <a:srgbClr val="202122"/>
                </a:solidFill>
                <a:latin typeface="Calibri"/>
              </a:rPr>
              <a:t>RAID level justified for the server</a:t>
            </a:r>
          </a:p>
          <a:p>
            <a:pPr marL="274320" indent="-274320">
              <a:spcAft>
                <a:spcPts val="810"/>
              </a:spcAft>
              <a:buClr>
                <a:srgbClr val="0645AD"/>
              </a:buClr>
              <a:buFont typeface="Arial"/>
              <a:buChar char="•"/>
            </a:pPr>
            <a:r>
              <a:rPr sz="1800" b="0">
                <a:solidFill>
                  <a:srgbClr val="202122"/>
                </a:solidFill>
                <a:latin typeface="Calibri"/>
              </a:rPr>
              <a:t>OS type is appropriate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CORE COMPONENT  ·  Core Paper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Why might a server use RAID 5?</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What makes a mobile OS different from a desktop OS?</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Name two utility programs.</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Core Paper 2: Legislation, Business, Emerging Issues, Environments and Security</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https://lana6478.github.io/Digital-Suport-and-security-T-levle/#/01-core-component/02-core-paper-2.md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Hardware and Software</dc:title>
  <dc:subject>Digital Support and Security T Level: Core Paper 2</dc:subject>
  <dc:creator>Samuel O'Connell</dc:creator>
  <cp:keywords>T Level; Digital Support and Security; lesson slides; 7.1, 7.2</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