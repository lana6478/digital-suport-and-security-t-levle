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Organisations exist to provide a service or a product.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public sector.</a:t>
            </a:r>
          </a:p>
          <a:p>
            <a:r>
              <a:t>2. Business to business.</a:t>
            </a:r>
          </a:p>
          <a:p>
            <a:r>
              <a:t>3. Internal.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Staff records, performance management and training records.</a:t>
            </a:r>
          </a:p>
          <a:p>
            <a:r>
              <a:t>2. Something that frustrates users, e.g. slow response or complex tasks.</a:t>
            </a:r>
          </a:p>
          <a:p>
            <a:r>
              <a:t>3. See performance as it happens and act quickly.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Any two: security breach, privacy breach, non-compliance, exclusion, rival tech, technical failure.</a:t>
            </a:r>
          </a:p>
          <a:p>
            <a:r>
              <a:t>2. Any two: legal action, fines, reputational damage, loss of licence, loss of business.</a:t>
            </a:r>
          </a:p>
          <a:p>
            <a:r>
              <a:t>3. Through bias or poor, inaccessible design.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CORE COMPONENT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The Business Context</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Paper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5.1, 5.2, 5.3</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business sectors, business models and stakeholders.</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how digital systems add value to each part of a business.</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Describe the user needs and quality expectations digital systems must meet.</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Explain the risks and impacts of using digital systems.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Think of a business you use every week. What digital systems does it rely on? What would happen if they all stopped for a 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business environment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Every organisation exists to provide a product or a service, but they differ in why and how.</a:t>
            </a:r>
          </a:p>
          <a:p>
            <a:pPr>
              <a:spcAft>
                <a:spcPts val="1140"/>
              </a:spcAft>
            </a:pPr>
            <a:r>
              <a:rPr sz="1900" b="0">
                <a:solidFill>
                  <a:srgbClr val="202122"/>
                </a:solidFill>
                <a:latin typeface="Calibri"/>
              </a:rPr>
              <a:t>Private sector organisations are owned privately and usually aim to make a profit. They range from small and medium enterprises (SMEs) to large enterprises, plus NGOs. The public sector is run by government, such as the NHS and councils. The voluntary or charity sector is not for profit.</a:t>
            </a:r>
          </a:p>
          <a:p>
            <a:pPr>
              <a:spcAft>
                <a:spcPts val="1140"/>
              </a:spcAft>
            </a:pPr>
            <a:r>
              <a:rPr sz="1900" b="0">
                <a:solidFill>
                  <a:srgbClr val="202122"/>
                </a:solidFill>
                <a:latin typeface="Calibri"/>
              </a:rPr>
              <a:t>Business models describe who they sell to: B2C to consumers, B2B to other businesses, B2M to a mass market.</a:t>
            </a:r>
          </a:p>
          <a:p>
            <a:pPr>
              <a:spcAft>
                <a:spcPts val="1140"/>
              </a:spcAft>
            </a:pPr>
            <a:r>
              <a:rPr sz="1900" b="1">
                <a:solidFill>
                  <a:srgbClr val="202122"/>
                </a:solidFill>
                <a:latin typeface="Calibri"/>
              </a:rPr>
              <a:t>Stakeholders are anyone affected:</a:t>
            </a:r>
            <a:r>
              <a:rPr sz="1900" b="0">
                <a:solidFill>
                  <a:srgbClr val="202122"/>
                </a:solidFill>
                <a:latin typeface="Calibri"/>
              </a:rPr>
              <a:t> internal (owners, directors, employees) and external (customers, suppliers, shareholders, investors, government).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company selling laptops to schools is private sector and B2B. The schools, their pupils and the laptop manufacturer are all external stakeholders.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business environment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Sectors</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Private (SME, large enterprise, NGO), public, and voluntary or charity (not for profit).</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Business models</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B2C sells to consumers, B2B to other businesses, B2M to a broad mass market.</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Internal stakeholders</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Owners, directors and employees.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External stakeholders</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Customers, suppliers, shareholders, outsourced services, investors and government.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business environment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sector is the NHS in?</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B2B mean?</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Is an employee an internal or external stakeholder?</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Digital value across the business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Digital systems add value to almost every part of an organisation.</a:t>
            </a:r>
          </a:p>
          <a:p>
            <a:pPr>
              <a:spcAft>
                <a:spcPts val="1200"/>
              </a:spcAft>
            </a:pPr>
            <a:r>
              <a:rPr sz="2000" b="0">
                <a:solidFill>
                  <a:srgbClr val="202122"/>
                </a:solidFill>
                <a:latin typeface="Calibri"/>
              </a:rPr>
              <a:t>Sales and marketing use them for market research, social media, online selling, personalised offers and analytics. HR keeps staff records and training data. Operations use them to communicate, automate processes and support remote working. Managers watch key performance indicators (KPIs) in real time. Logistics automates stock control, and finance cuts costs and reports faster.</a:t>
            </a:r>
          </a:p>
          <a:p>
            <a:pPr>
              <a:spcAft>
                <a:spcPts val="1200"/>
              </a:spcAft>
            </a:pPr>
            <a:r>
              <a:rPr sz="2000" b="0">
                <a:solidFill>
                  <a:srgbClr val="202122"/>
                </a:solidFill>
                <a:latin typeface="Calibri"/>
              </a:rPr>
              <a:t>To add value, systems must meet user needs: work well, remove pain points such as slow response, be accessible, compatible with other systems, available when needed and properly supported.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café's online ordering system increases sales, its stock system reorders milk automatically, and its dashboard shows the manager today's takings in real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Digital value across the business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graphicFrame>
        <p:nvGraphicFramePr>
          <p:cNvPr id="6" name="Table 5"/>
          <p:cNvGraphicFramePr>
            <a:graphicFrameLocks noGrp="1"/>
          </p:cNvGraphicFramePr>
          <p:nvPr/>
        </p:nvGraphicFramePr>
        <p:xfrm>
          <a:off x="548640" y="1600200"/>
          <a:ext cx="11094414" cy="4526277"/>
        </p:xfrm>
        <a:graphic>
          <a:graphicData uri="http://schemas.openxmlformats.org/drawingml/2006/table">
            <a:tbl>
              <a:tblPr firstRow="1" bandRow="1">
                <a:tableStyleId>{5C22544A-7EE6-4342-B048-85BDC9FD1C3A}</a:tableStyleId>
              </a:tblPr>
              <a:tblGrid>
                <a:gridCol w="2773603"/>
                <a:gridCol w="8320811"/>
              </a:tblGrid>
              <a:tr h="646611">
                <a:tc>
                  <a:txBody>
                    <a:bodyPr wrap="square"/>
                    <a:lstStyle/>
                    <a:p>
                      <a:r>
                        <a:rPr sz="1600" b="1">
                          <a:solidFill>
                            <a:srgbClr val="FFFFFF"/>
                          </a:solidFill>
                          <a:latin typeface="Calibri"/>
                        </a:rPr>
                        <a:t>Area</a:t>
                      </a:r>
                    </a:p>
                  </a:txBody>
                  <a:tcPr marL="91440" marR="91440" anchor="ctr">
                    <a:solidFill>
                      <a:srgbClr val="03306E"/>
                    </a:solidFill>
                  </a:tcPr>
                </a:tc>
                <a:tc>
                  <a:txBody>
                    <a:bodyPr wrap="square"/>
                    <a:lstStyle/>
                    <a:p>
                      <a:r>
                        <a:rPr sz="1600" b="1">
                          <a:solidFill>
                            <a:srgbClr val="FFFFFF"/>
                          </a:solidFill>
                          <a:latin typeface="Calibri"/>
                        </a:rPr>
                        <a:t>How digital systems help</a:t>
                      </a:r>
                    </a:p>
                  </a:txBody>
                  <a:tcPr marL="91440" marR="91440" anchor="ctr">
                    <a:solidFill>
                      <a:srgbClr val="03306E"/>
                    </a:solidFill>
                  </a:tcPr>
                </a:tc>
              </a:tr>
              <a:tr h="646611">
                <a:tc>
                  <a:txBody>
                    <a:bodyPr wrap="square"/>
                    <a:lstStyle/>
                    <a:p>
                      <a:r>
                        <a:rPr sz="1600" b="1">
                          <a:solidFill>
                            <a:srgbClr val="03306E"/>
                          </a:solidFill>
                          <a:latin typeface="Calibri"/>
                        </a:rPr>
                        <a:t>Sales and marketing</a:t>
                      </a:r>
                    </a:p>
                  </a:txBody>
                  <a:tcPr marL="91440" marR="91440" anchor="ctr">
                    <a:solidFill>
                      <a:srgbClr val="FFFFFF"/>
                    </a:solidFill>
                  </a:tcPr>
                </a:tc>
                <a:tc>
                  <a:txBody>
                    <a:bodyPr wrap="square"/>
                    <a:lstStyle/>
                    <a:p>
                      <a:r>
                        <a:rPr sz="1600" b="0">
                          <a:solidFill>
                            <a:srgbClr val="202122"/>
                          </a:solidFill>
                          <a:latin typeface="Calibri"/>
                        </a:rPr>
                        <a:t>Market research, social media, online selling, personalisation, analytics</a:t>
                      </a:r>
                    </a:p>
                  </a:txBody>
                  <a:tcPr marL="91440" marR="91440" anchor="ctr">
                    <a:solidFill>
                      <a:srgbClr val="FFFFFF"/>
                    </a:solidFill>
                  </a:tcPr>
                </a:tc>
              </a:tr>
              <a:tr h="646611">
                <a:tc>
                  <a:txBody>
                    <a:bodyPr wrap="square"/>
                    <a:lstStyle/>
                    <a:p>
                      <a:r>
                        <a:rPr sz="1600" b="1">
                          <a:solidFill>
                            <a:srgbClr val="03306E"/>
                          </a:solidFill>
                          <a:latin typeface="Calibri"/>
                        </a:rPr>
                        <a:t>Research and development</a:t>
                      </a:r>
                    </a:p>
                  </a:txBody>
                  <a:tcPr marL="91440" marR="91440" anchor="ctr">
                    <a:solidFill>
                      <a:srgbClr val="EAF3FF"/>
                    </a:solidFill>
                  </a:tcPr>
                </a:tc>
                <a:tc>
                  <a:txBody>
                    <a:bodyPr wrap="square"/>
                    <a:lstStyle/>
                    <a:p>
                      <a:r>
                        <a:rPr sz="1600" b="0">
                          <a:solidFill>
                            <a:srgbClr val="202122"/>
                          </a:solidFill>
                          <a:latin typeface="Calibri"/>
                        </a:rPr>
                        <a:t>Enables unique products and services</a:t>
                      </a:r>
                    </a:p>
                  </a:txBody>
                  <a:tcPr marL="91440" marR="91440" anchor="ctr">
                    <a:solidFill>
                      <a:srgbClr val="EAF3FF"/>
                    </a:solidFill>
                  </a:tcPr>
                </a:tc>
              </a:tr>
              <a:tr h="646611">
                <a:tc>
                  <a:txBody>
                    <a:bodyPr wrap="square"/>
                    <a:lstStyle/>
                    <a:p>
                      <a:r>
                        <a:rPr sz="1600" b="1">
                          <a:solidFill>
                            <a:srgbClr val="03306E"/>
                          </a:solidFill>
                          <a:latin typeface="Calibri"/>
                        </a:rPr>
                        <a:t>HR</a:t>
                      </a:r>
                    </a:p>
                  </a:txBody>
                  <a:tcPr marL="91440" marR="91440" anchor="ctr">
                    <a:solidFill>
                      <a:srgbClr val="FFFFFF"/>
                    </a:solidFill>
                  </a:tcPr>
                </a:tc>
                <a:tc>
                  <a:txBody>
                    <a:bodyPr wrap="square"/>
                    <a:lstStyle/>
                    <a:p>
                      <a:r>
                        <a:rPr sz="1600" b="0">
                          <a:solidFill>
                            <a:srgbClr val="202122"/>
                          </a:solidFill>
                          <a:latin typeface="Calibri"/>
                        </a:rPr>
                        <a:t>Staff records, performance management, training records</a:t>
                      </a:r>
                    </a:p>
                  </a:txBody>
                  <a:tcPr marL="91440" marR="91440" anchor="ctr">
                    <a:solidFill>
                      <a:srgbClr val="FFFFFF"/>
                    </a:solidFill>
                  </a:tcPr>
                </a:tc>
              </a:tr>
              <a:tr h="646611">
                <a:tc>
                  <a:txBody>
                    <a:bodyPr wrap="square"/>
                    <a:lstStyle/>
                    <a:p>
                      <a:r>
                        <a:rPr sz="1600" b="1">
                          <a:solidFill>
                            <a:srgbClr val="03306E"/>
                          </a:solidFill>
                          <a:latin typeface="Calibri"/>
                        </a:rPr>
                        <a:t>Operations</a:t>
                      </a:r>
                    </a:p>
                  </a:txBody>
                  <a:tcPr marL="91440" marR="91440" anchor="ctr">
                    <a:solidFill>
                      <a:srgbClr val="EAF3FF"/>
                    </a:solidFill>
                  </a:tcPr>
                </a:tc>
                <a:tc>
                  <a:txBody>
                    <a:bodyPr wrap="square"/>
                    <a:lstStyle/>
                    <a:p>
                      <a:r>
                        <a:rPr sz="1600" b="0">
                          <a:solidFill>
                            <a:srgbClr val="202122"/>
                          </a:solidFill>
                          <a:latin typeface="Calibri"/>
                        </a:rPr>
                        <a:t>Communication, automation, remote working, intranets, document sharing</a:t>
                      </a:r>
                    </a:p>
                  </a:txBody>
                  <a:tcPr marL="91440" marR="91440" anchor="ctr">
                    <a:solidFill>
                      <a:srgbClr val="EAF3FF"/>
                    </a:solidFill>
                  </a:tcPr>
                </a:tc>
              </a:tr>
              <a:tr h="646611">
                <a:tc>
                  <a:txBody>
                    <a:bodyPr wrap="square"/>
                    <a:lstStyle/>
                    <a:p>
                      <a:r>
                        <a:rPr sz="1600" b="1">
                          <a:solidFill>
                            <a:srgbClr val="03306E"/>
                          </a:solidFill>
                          <a:latin typeface="Calibri"/>
                        </a:rPr>
                        <a:t>Management</a:t>
                      </a:r>
                    </a:p>
                  </a:txBody>
                  <a:tcPr marL="91440" marR="91440" anchor="ctr">
                    <a:solidFill>
                      <a:srgbClr val="FFFFFF"/>
                    </a:solidFill>
                  </a:tcPr>
                </a:tc>
                <a:tc>
                  <a:txBody>
                    <a:bodyPr wrap="square"/>
                    <a:lstStyle/>
                    <a:p>
                      <a:r>
                        <a:rPr sz="1600" b="0">
                          <a:solidFill>
                            <a:srgbClr val="202122"/>
                          </a:solidFill>
                          <a:latin typeface="Calibri"/>
                        </a:rPr>
                        <a:t>Real-time KPI monitoring</a:t>
                      </a:r>
                    </a:p>
                  </a:txBody>
                  <a:tcPr marL="91440" marR="91440" anchor="ctr">
                    <a:solidFill>
                      <a:srgbClr val="FFFFFF"/>
                    </a:solidFill>
                  </a:tcPr>
                </a:tc>
              </a:tr>
              <a:tr h="646611">
                <a:tc>
                  <a:txBody>
                    <a:bodyPr wrap="square"/>
                    <a:lstStyle/>
                    <a:p>
                      <a:r>
                        <a:rPr sz="1600" b="1">
                          <a:solidFill>
                            <a:srgbClr val="03306E"/>
                          </a:solidFill>
                          <a:latin typeface="Calibri"/>
                        </a:rPr>
                        <a:t>Logistics and finance</a:t>
                      </a:r>
                    </a:p>
                  </a:txBody>
                  <a:tcPr marL="91440" marR="91440" anchor="ctr">
                    <a:solidFill>
                      <a:srgbClr val="EAF3FF"/>
                    </a:solidFill>
                  </a:tcPr>
                </a:tc>
                <a:tc>
                  <a:txBody>
                    <a:bodyPr wrap="square"/>
                    <a:lstStyle/>
                    <a:p>
                      <a:r>
                        <a:rPr sz="1600" b="0">
                          <a:solidFill>
                            <a:srgbClr val="202122"/>
                          </a:solidFill>
                          <a:latin typeface="Calibri"/>
                        </a:rPr>
                        <a:t>Automated stock control; lower costs, more revenue, up-to-date reporting</a:t>
                      </a:r>
                    </a:p>
                  </a:txBody>
                  <a:tcPr marL="91440" marR="91440" anchor="ctr">
                    <a:solidFill>
                      <a:srgbClr val="EAF3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Digital value across the business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How do digital systems help HR?</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a pain point?</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real-time KPI monitoring let managers do?</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User needs and quality expectations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Functionality</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Does what users need, effectively.</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Fewer pain points</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Fast response times, simple tasks.</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Accessibility</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Usable by everyone.</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Compatibility</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Works with legacy, future and external systems.</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Availability</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Minimal downtime and future-proofed.</a:t>
            </a:r>
          </a:p>
        </p:txBody>
      </p:sp>
      <p:sp>
        <p:nvSpPr>
          <p:cNvPr id="26" name="Rounded Rectangle 25"/>
          <p:cNvSpPr/>
          <p:nvPr/>
        </p:nvSpPr>
        <p:spPr>
          <a:xfrm>
            <a:off x="8127796"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56396"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6</a:t>
            </a:r>
          </a:p>
        </p:txBody>
      </p:sp>
      <p:sp>
        <p:nvSpPr>
          <p:cNvPr id="28" name="TextBox 27"/>
          <p:cNvSpPr txBox="1"/>
          <p:nvPr/>
        </p:nvSpPr>
        <p:spPr>
          <a:xfrm>
            <a:off x="8950756" y="4224528"/>
            <a:ext cx="2509418" cy="512064"/>
          </a:xfrm>
          <a:prstGeom prst="rect">
            <a:avLst/>
          </a:prstGeom>
          <a:noFill/>
        </p:spPr>
        <p:txBody>
          <a:bodyPr wrap="square" anchor="ctr" lIns="0" rIns="0" tIns="0" bIns="0"/>
          <a:lstStyle/>
          <a:p>
            <a:pPr algn="l"/>
            <a:r>
              <a:rPr sz="1900" b="1" i="0">
                <a:solidFill>
                  <a:srgbClr val="03306E"/>
                </a:solidFill>
                <a:latin typeface="Calibri"/>
              </a:rPr>
              <a:t>Support</a:t>
            </a:r>
          </a:p>
        </p:txBody>
      </p:sp>
      <p:sp>
        <p:nvSpPr>
          <p:cNvPr id="29" name="TextBox 28"/>
          <p:cNvSpPr txBox="1"/>
          <p:nvPr/>
        </p:nvSpPr>
        <p:spPr>
          <a:xfrm>
            <a:off x="8356396" y="4892040"/>
            <a:ext cx="3058058" cy="1143000"/>
          </a:xfrm>
          <a:prstGeom prst="rect">
            <a:avLst/>
          </a:prstGeom>
          <a:noFill/>
        </p:spPr>
        <p:txBody>
          <a:bodyPr wrap="square" anchor="t" lIns="0" rIns="0" tIns="0" bIns="0"/>
          <a:lstStyle/>
          <a:p>
            <a:pPr algn="l"/>
            <a:r>
              <a:rPr sz="2000" b="0" i="0">
                <a:solidFill>
                  <a:srgbClr val="202122"/>
                </a:solidFill>
                <a:latin typeface="Calibri"/>
              </a:rPr>
              <a:t>Effective end-user support and easy installation.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Risks and impacts of digital systems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Relying on digital systems brings risks as well as benefits.</a:t>
            </a:r>
          </a:p>
          <a:p>
            <a:pPr>
              <a:spcAft>
                <a:spcPts val="1260"/>
              </a:spcAft>
            </a:pPr>
            <a:r>
              <a:rPr sz="2100" b="0">
                <a:solidFill>
                  <a:srgbClr val="202122"/>
                </a:solidFill>
                <a:latin typeface="Calibri"/>
              </a:rPr>
              <a:t>Security breaches can break confidentiality, integrity or availability. Privacy breaches expose personal or business information. Organisations can fall foul of the law or regulators. Poor design or biased systems can exclude some users. Rival technologies can make a system outdated, and systems can fail or turn out not fit for purpose.</a:t>
            </a:r>
          </a:p>
          <a:p>
            <a:pPr>
              <a:spcAft>
                <a:spcPts val="1260"/>
              </a:spcAft>
            </a:pPr>
            <a:r>
              <a:rPr sz="2100" b="1">
                <a:solidFill>
                  <a:srgbClr val="202122"/>
                </a:solidFill>
                <a:latin typeface="Calibri"/>
              </a:rPr>
              <a:t>The impacts can be severe:</a:t>
            </a:r>
            <a:r>
              <a:rPr sz="2100" b="0">
                <a:solidFill>
                  <a:srgbClr val="202122"/>
                </a:solidFill>
                <a:latin typeface="Calibri"/>
              </a:rPr>
              <a:t> legal action, fines, reputational damage, loss of a licence to operate and loss of business. That's why support and security roles matter so much.</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dental practice's booking system is hit by ransomware. It can't see patients (lost business), must report the breach (regulator), and loses patients' trust (reputation).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Risks and impacts of digital systems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Risks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855"/>
              </a:spcAft>
              <a:buClr>
                <a:srgbClr val="0645AD"/>
              </a:buClr>
              <a:buFont typeface="Arial"/>
              <a:buChar char="•"/>
            </a:pPr>
            <a:r>
              <a:rPr sz="1900" b="1">
                <a:solidFill>
                  <a:srgbClr val="202122"/>
                </a:solidFill>
                <a:latin typeface="Calibri"/>
              </a:rPr>
              <a:t>Security breaches:</a:t>
            </a:r>
            <a:r>
              <a:rPr sz="1900" b="0">
                <a:solidFill>
                  <a:srgbClr val="202122"/>
                </a:solidFill>
                <a:latin typeface="Calibri"/>
              </a:rPr>
              <a:t> loss of confidentiality, integrity or availability</a:t>
            </a:r>
          </a:p>
          <a:p>
            <a:pPr marL="274320" indent="-274320">
              <a:spcAft>
                <a:spcPts val="855"/>
              </a:spcAft>
              <a:buClr>
                <a:srgbClr val="0645AD"/>
              </a:buClr>
              <a:buFont typeface="Arial"/>
              <a:buChar char="•"/>
            </a:pPr>
            <a:r>
              <a:rPr sz="1900" b="0">
                <a:solidFill>
                  <a:srgbClr val="202122"/>
                </a:solidFill>
                <a:latin typeface="Calibri"/>
              </a:rPr>
              <a:t>Privacy breaches of personal or business information</a:t>
            </a:r>
          </a:p>
          <a:p>
            <a:pPr marL="274320" indent="-274320">
              <a:spcAft>
                <a:spcPts val="855"/>
              </a:spcAft>
              <a:buClr>
                <a:srgbClr val="0645AD"/>
              </a:buClr>
              <a:buFont typeface="Arial"/>
              <a:buChar char="•"/>
            </a:pPr>
            <a:r>
              <a:rPr sz="1900" b="0">
                <a:solidFill>
                  <a:srgbClr val="202122"/>
                </a:solidFill>
                <a:latin typeface="Calibri"/>
              </a:rPr>
              <a:t>Regulatory or legal non-compliance</a:t>
            </a:r>
          </a:p>
          <a:p>
            <a:pPr marL="274320" indent="-274320">
              <a:spcAft>
                <a:spcPts val="855"/>
              </a:spcAft>
              <a:buClr>
                <a:srgbClr val="0645AD"/>
              </a:buClr>
              <a:buFont typeface="Arial"/>
              <a:buChar char="•"/>
            </a:pPr>
            <a:r>
              <a:rPr sz="1900" b="0">
                <a:solidFill>
                  <a:srgbClr val="202122"/>
                </a:solidFill>
                <a:latin typeface="Calibri"/>
              </a:rPr>
              <a:t>Audience exclusion through bias or poor UX</a:t>
            </a:r>
          </a:p>
          <a:p>
            <a:pPr marL="274320" indent="-274320">
              <a:spcAft>
                <a:spcPts val="855"/>
              </a:spcAft>
              <a:buClr>
                <a:srgbClr val="0645AD"/>
              </a:buClr>
              <a:buFont typeface="Arial"/>
              <a:buChar char="•"/>
            </a:pPr>
            <a:r>
              <a:rPr sz="1900" b="0">
                <a:solidFill>
                  <a:srgbClr val="202122"/>
                </a:solidFill>
                <a:latin typeface="Calibri"/>
              </a:rPr>
              <a:t>Rival technologies and technical failures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Impacts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Legal action</a:t>
            </a:r>
          </a:p>
          <a:p>
            <a:pPr marL="274320" indent="-274320">
              <a:spcAft>
                <a:spcPts val="990"/>
              </a:spcAft>
              <a:buClr>
                <a:srgbClr val="0645AD"/>
              </a:buClr>
              <a:buFont typeface="Arial"/>
              <a:buChar char="•"/>
            </a:pPr>
            <a:r>
              <a:rPr sz="2200" b="0">
                <a:solidFill>
                  <a:srgbClr val="202122"/>
                </a:solidFill>
                <a:latin typeface="Calibri"/>
              </a:rPr>
              <a:t>Fines</a:t>
            </a:r>
          </a:p>
          <a:p>
            <a:pPr marL="274320" indent="-274320">
              <a:spcAft>
                <a:spcPts val="990"/>
              </a:spcAft>
              <a:buClr>
                <a:srgbClr val="0645AD"/>
              </a:buClr>
              <a:buFont typeface="Arial"/>
              <a:buChar char="•"/>
            </a:pPr>
            <a:r>
              <a:rPr sz="2200" b="0">
                <a:solidFill>
                  <a:srgbClr val="202122"/>
                </a:solidFill>
                <a:latin typeface="Calibri"/>
              </a:rPr>
              <a:t>Reputational damage</a:t>
            </a:r>
          </a:p>
          <a:p>
            <a:pPr marL="274320" indent="-274320">
              <a:spcAft>
                <a:spcPts val="990"/>
              </a:spcAft>
              <a:buClr>
                <a:srgbClr val="0645AD"/>
              </a:buClr>
              <a:buFont typeface="Arial"/>
              <a:buChar char="•"/>
            </a:pPr>
            <a:r>
              <a:rPr sz="2200" b="0">
                <a:solidFill>
                  <a:srgbClr val="202122"/>
                </a:solidFill>
                <a:latin typeface="Calibri"/>
              </a:rPr>
              <a:t>Loss of licence to practise</a:t>
            </a:r>
          </a:p>
          <a:p>
            <a:pPr marL="274320" indent="-274320">
              <a:spcAft>
                <a:spcPts val="990"/>
              </a:spcAft>
              <a:buClr>
                <a:srgbClr val="0645AD"/>
              </a:buClr>
              <a:buFont typeface="Arial"/>
              <a:buChar char="•"/>
            </a:pPr>
            <a:r>
              <a:rPr sz="2200" b="0">
                <a:solidFill>
                  <a:srgbClr val="202122"/>
                </a:solidFill>
                <a:latin typeface="Calibri"/>
              </a:rPr>
              <a:t>Loss of business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Risks and impacts of digital systems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two risks of using digital systems.</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two impacts of a serious breach.</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can a system exclude users?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Give an example of a public sector organisation.</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What does B2B mean?</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Is a supplier an internal or external stakeholder?</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Give one way digital systems add value to HR.</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Name two impacts of a data breach.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Give an example of a public sector organisation.</a:t>
            </a:r>
          </a:p>
          <a:p>
            <a:r>
              <a:rPr sz="1800" b="1">
                <a:solidFill>
                  <a:srgbClr val="03306E"/>
                </a:solidFill>
                <a:latin typeface="Calibri"/>
              </a:rPr>
              <a:t>Any, e.g. the NHS, a council, a state school.</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What does B2B mean?</a:t>
            </a:r>
          </a:p>
          <a:p>
            <a:r>
              <a:rPr sz="1800" b="1">
                <a:solidFill>
                  <a:srgbClr val="03306E"/>
                </a:solidFill>
                <a:latin typeface="Calibri"/>
              </a:rPr>
              <a:t>Business to business.</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Is a supplier an internal or external stakeholder?</a:t>
            </a:r>
          </a:p>
          <a:p>
            <a:r>
              <a:rPr sz="1800" b="1">
                <a:solidFill>
                  <a:srgbClr val="03306E"/>
                </a:solidFill>
                <a:latin typeface="Calibri"/>
              </a:rPr>
              <a:t>External.</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Give one way digital systems add value to HR.</a:t>
            </a:r>
          </a:p>
          <a:p>
            <a:r>
              <a:rPr sz="1800" b="1">
                <a:solidFill>
                  <a:srgbClr val="03306E"/>
                </a:solidFill>
                <a:latin typeface="Calibri"/>
              </a:rPr>
              <a:t>Staff records, performance management or training records.</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Name two impacts of a data breach.</a:t>
            </a:r>
          </a:p>
          <a:p>
            <a:r>
              <a:rPr sz="1800" b="1">
                <a:solidFill>
                  <a:srgbClr val="03306E"/>
                </a:solidFill>
                <a:latin typeface="Calibri"/>
              </a:rPr>
              <a:t>Any two of: legal action, fines, reputational damage, loss of licence, loss of business.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Digital audit of a local business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The Business Context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Choose a local business, e.g. a gym, dentist or takeaway.</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Identify its sector, business model and stakeholders.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Map the digital systems it uses to each business area.</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Identify its top three digital risks and their likely impact.</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Stakeholders split into internal and external</a:t>
            </a:r>
          </a:p>
          <a:p>
            <a:pPr marL="274320" indent="-274320">
              <a:spcAft>
                <a:spcPts val="810"/>
              </a:spcAft>
              <a:buClr>
                <a:srgbClr val="0645AD"/>
              </a:buClr>
              <a:buFont typeface="Arial"/>
              <a:buChar char="•"/>
            </a:pPr>
            <a:r>
              <a:rPr sz="1800" b="0">
                <a:solidFill>
                  <a:srgbClr val="202122"/>
                </a:solidFill>
                <a:latin typeface="Calibri"/>
              </a:rPr>
              <a:t>At least four business areas covered</a:t>
            </a:r>
          </a:p>
          <a:p>
            <a:pPr marL="274320" indent="-274320">
              <a:spcAft>
                <a:spcPts val="810"/>
              </a:spcAft>
              <a:buClr>
                <a:srgbClr val="0645AD"/>
              </a:buClr>
              <a:buFont typeface="Arial"/>
              <a:buChar char="•"/>
            </a:pPr>
            <a:r>
              <a:rPr sz="1800" b="0">
                <a:solidFill>
                  <a:srgbClr val="202122"/>
                </a:solidFill>
                <a:latin typeface="Calibri"/>
              </a:rPr>
              <a:t>Risks linked to realistic impacts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What is the difference between a public and a voluntary organisation?</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Name one quality expectation users have of a system.</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Which impact of a breach do you think is hardest to recover from?</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Core Paper 2: Legislation, Business, Emerging Issues, Environments and Security</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https://lana6478.github.io/Digital-Suport-and-security-T-levle/#/01-core-component/02-core-paper-2.md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Business Context</dc:title>
  <dc:subject>Digital Support and Security T Level: Core Paper 2</dc:subject>
  <dc:creator>Samuel O'Connell</dc:creator>
  <cp:keywords>T Level; Digital Support and Security; lesson slides; 5.1, 5.2, 5.3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