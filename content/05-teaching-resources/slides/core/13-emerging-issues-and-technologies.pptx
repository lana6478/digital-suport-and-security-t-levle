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E.g. remote working, staff monitoring, automation.</a:t>
            </a:r>
          </a:p>
          <a:p>
            <a:r>
              <a:t>2. Being left out through lack of skills, equipment or connectivity.</a:t>
            </a:r>
          </a:p>
          <a:p>
            <a:r>
              <a:t>3. E.g. better access to information and services.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Everyone being able to access and use digital services fairly.</a:t>
            </a:r>
          </a:p>
          <a:p>
            <a:r>
              <a:t>2. Any two: age, digital skills, literacy, culture, accessibility needs.</a:t>
            </a:r>
          </a:p>
          <a:p>
            <a:r>
              <a:t>3. Yes, it is required by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Processing data close to where it's collected rather than centrally.</a:t>
            </a:r>
          </a:p>
          <a:p>
            <a:r>
              <a:t>2. It could break current encryption.</a:t>
            </a:r>
          </a:p>
          <a:p>
            <a:r>
              <a:t>3. Creates new content such as text, images or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should be able to judge how these technologies interrelate, e.g. AI plus drones plus IoT.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Software that can be used and changed freely.</a:t>
            </a:r>
          </a:p>
          <a:p>
            <a:r>
              <a:t>2. E.g. rare metal use, energy use, disposal.</a:t>
            </a:r>
          </a:p>
          <a:p>
            <a:r>
              <a:t>3. It is very hard to tamper with.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Emerging Issues and Technologies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6.1, 6.2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Explain how digital technology affects organisational culture and society.</a:t>
            </a:r>
          </a:p>
        </p:txBody>
      </p:sp>
      <p:sp>
        <p:nvSpPr>
          <p:cNvPr id="9" name="Oval 8"/>
          <p:cNvSpPr/>
          <p:nvPr/>
        </p:nvSpPr>
        <p:spPr>
          <a:xfrm>
            <a:off x="548640" y="329184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Describe digital inclusion and the characteristics that affect it.</a:t>
            </a:r>
          </a:p>
        </p:txBody>
      </p:sp>
      <p:sp>
        <p:nvSpPr>
          <p:cNvPr id="11" name="Oval 10"/>
          <p:cNvSpPr/>
          <p:nvPr/>
        </p:nvSpPr>
        <p:spPr>
          <a:xfrm>
            <a:off x="548640" y="43434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Evaluate the impact of emerging technologies on organisations, individuals and society.</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Name one job that did not exist ten years ago, and one that might disappear in the next ten.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Impact of digital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Technology changes how organisations work and how society lives.</a:t>
            </a:r>
          </a:p>
          <a:p>
            <a:pPr>
              <a:spcAft>
                <a:spcPts val="1260"/>
              </a:spcAft>
            </a:pPr>
            <a:r>
              <a:rPr sz="2100" b="0">
                <a:solidFill>
                  <a:srgbClr val="202122"/>
                </a:solidFill>
                <a:latin typeface="Calibri"/>
              </a:rPr>
              <a:t>In organisations, communication has moved to email, chat and video; people are expected to be more productive and more available; staff are monitored more; remote and hybrid working are normal; and automation, including AI, takes over routine tasks.</a:t>
            </a:r>
          </a:p>
          <a:p>
            <a:pPr>
              <a:spcAft>
                <a:spcPts val="1260"/>
              </a:spcAft>
            </a:pPr>
            <a:r>
              <a:rPr sz="2100" b="0">
                <a:solidFill>
                  <a:srgbClr val="202122"/>
                </a:solidFill>
                <a:latin typeface="Calibri"/>
              </a:rPr>
              <a:t>In society, some jobs disappear while new skills are needed. Fewer decisions involve humans, privacy is harder to protect, and behaviour changes. Access to information and services has improved for many, but people without skills, equipment or connectivity risk digital isolation.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Self-service checkouts cut cashier jobs but created roles in maintenance and IT support, and left some older shoppers struggling.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Impact of digital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On organisational culture</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New ways of communicating</a:t>
            </a:r>
          </a:p>
          <a:p>
            <a:pPr marL="274320" indent="-274320">
              <a:spcAft>
                <a:spcPts val="990"/>
              </a:spcAft>
              <a:buClr>
                <a:srgbClr val="0645AD"/>
              </a:buClr>
              <a:buFont typeface="Arial"/>
              <a:buChar char="•"/>
            </a:pPr>
            <a:r>
              <a:rPr sz="2200" b="0">
                <a:solidFill>
                  <a:srgbClr val="202122"/>
                </a:solidFill>
                <a:latin typeface="Calibri"/>
              </a:rPr>
              <a:t>Higher expectations of productivity and availability</a:t>
            </a:r>
          </a:p>
          <a:p>
            <a:pPr marL="274320" indent="-274320">
              <a:spcAft>
                <a:spcPts val="990"/>
              </a:spcAft>
              <a:buClr>
                <a:srgbClr val="0645AD"/>
              </a:buClr>
              <a:buFont typeface="Arial"/>
              <a:buChar char="•"/>
            </a:pPr>
            <a:r>
              <a:rPr sz="2200" b="0">
                <a:solidFill>
                  <a:srgbClr val="202122"/>
                </a:solidFill>
                <a:latin typeface="Calibri"/>
              </a:rPr>
              <a:t>More monitoring of staff</a:t>
            </a:r>
          </a:p>
          <a:p>
            <a:pPr marL="274320" indent="-274320">
              <a:spcAft>
                <a:spcPts val="990"/>
              </a:spcAft>
              <a:buClr>
                <a:srgbClr val="0645AD"/>
              </a:buClr>
              <a:buFont typeface="Arial"/>
              <a:buChar char="•"/>
            </a:pPr>
            <a:r>
              <a:rPr sz="2200" b="0">
                <a:solidFill>
                  <a:srgbClr val="202122"/>
                </a:solidFill>
                <a:latin typeface="Calibri"/>
              </a:rPr>
              <a:t>Remote, hybrid and in-office working</a:t>
            </a:r>
          </a:p>
          <a:p>
            <a:pPr marL="274320" indent="-274320">
              <a:spcAft>
                <a:spcPts val="990"/>
              </a:spcAft>
              <a:buClr>
                <a:srgbClr val="0645AD"/>
              </a:buClr>
              <a:buFont typeface="Arial"/>
              <a:buChar char="•"/>
            </a:pPr>
            <a:r>
              <a:rPr sz="2200" b="0">
                <a:solidFill>
                  <a:srgbClr val="202122"/>
                </a:solidFill>
                <a:latin typeface="Calibri"/>
              </a:rPr>
              <a:t>Automation, including AI</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On society</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855"/>
              </a:spcAft>
              <a:buClr>
                <a:srgbClr val="0645AD"/>
              </a:buClr>
              <a:buFont typeface="Arial"/>
              <a:buChar char="•"/>
            </a:pPr>
            <a:r>
              <a:rPr sz="1900" b="0">
                <a:solidFill>
                  <a:srgbClr val="202122"/>
                </a:solidFill>
                <a:latin typeface="Calibri"/>
              </a:rPr>
              <a:t>Job losses and changing skills</a:t>
            </a:r>
          </a:p>
          <a:p>
            <a:pPr marL="274320" indent="-274320">
              <a:spcAft>
                <a:spcPts val="855"/>
              </a:spcAft>
              <a:buClr>
                <a:srgbClr val="0645AD"/>
              </a:buClr>
              <a:buFont typeface="Arial"/>
              <a:buChar char="•"/>
            </a:pPr>
            <a:r>
              <a:rPr sz="1900" b="0">
                <a:solidFill>
                  <a:srgbClr val="202122"/>
                </a:solidFill>
                <a:latin typeface="Calibri"/>
              </a:rPr>
              <a:t>Less human decision-making and empathy</a:t>
            </a:r>
          </a:p>
          <a:p>
            <a:pPr marL="274320" indent="-274320">
              <a:spcAft>
                <a:spcPts val="855"/>
              </a:spcAft>
              <a:buClr>
                <a:srgbClr val="0645AD"/>
              </a:buClr>
              <a:buFont typeface="Arial"/>
              <a:buChar char="•"/>
            </a:pPr>
            <a:r>
              <a:rPr sz="1900" b="1">
                <a:solidFill>
                  <a:srgbClr val="202122"/>
                </a:solidFill>
                <a:latin typeface="Calibri"/>
              </a:rPr>
              <a:t>Privacy:</a:t>
            </a:r>
            <a:r>
              <a:rPr sz="1900" b="0">
                <a:solidFill>
                  <a:srgbClr val="202122"/>
                </a:solidFill>
                <a:latin typeface="Calibri"/>
              </a:rPr>
              <a:t> digital footprint and surveillance</a:t>
            </a:r>
          </a:p>
          <a:p>
            <a:pPr marL="274320" indent="-274320">
              <a:spcAft>
                <a:spcPts val="855"/>
              </a:spcAft>
              <a:buClr>
                <a:srgbClr val="0645AD"/>
              </a:buClr>
              <a:buFont typeface="Arial"/>
              <a:buChar char="•"/>
            </a:pPr>
            <a:r>
              <a:rPr sz="1900" b="0">
                <a:solidFill>
                  <a:srgbClr val="202122"/>
                </a:solidFill>
                <a:latin typeface="Calibri"/>
              </a:rPr>
              <a:t>Digital isolation for some; better access to information for others</a:t>
            </a:r>
          </a:p>
          <a:p>
            <a:pPr marL="274320" indent="-274320">
              <a:spcAft>
                <a:spcPts val="855"/>
              </a:spcAft>
              <a:buClr>
                <a:srgbClr val="0645AD"/>
              </a:buClr>
              <a:buFont typeface="Arial"/>
              <a:buChar char="•"/>
            </a:pPr>
            <a:r>
              <a:rPr sz="1900" b="0">
                <a:solidFill>
                  <a:srgbClr val="202122"/>
                </a:solidFill>
                <a:latin typeface="Calibri"/>
              </a:rPr>
              <a:t>Generative AI and globalisation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Impact of digital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Give two ways technology has changed organisational culture.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digital isolation?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positive impact on society.</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Digital inclusion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Digital inclusion means everyone can access and use digital services fairly.</a:t>
            </a:r>
          </a:p>
          <a:p>
            <a:pPr>
              <a:spcAft>
                <a:spcPts val="1200"/>
              </a:spcAft>
            </a:pPr>
            <a:r>
              <a:rPr sz="2000" b="0">
                <a:solidFill>
                  <a:srgbClr val="202122"/>
                </a:solidFill>
                <a:latin typeface="Calibri"/>
              </a:rPr>
              <a:t>That needs suitable hardware and software, reliable connectivity, and design that follows accessibility best practice. Public sector websites must meet accessibility regulations by law.</a:t>
            </a:r>
          </a:p>
          <a:p>
            <a:pPr>
              <a:spcAft>
                <a:spcPts val="1200"/>
              </a:spcAft>
            </a:pPr>
            <a:r>
              <a:rPr sz="2000" b="0">
                <a:solidFill>
                  <a:srgbClr val="202122"/>
                </a:solidFill>
                <a:latin typeface="Calibri"/>
              </a:rPr>
              <a:t>Think about who the users are: their age, digital and literacy skills, whether they're staff or the public, cultural issues (including bias built into systems), and accessibility needs such as visual impairment or limited mobility.</a:t>
            </a:r>
          </a:p>
          <a:p>
            <a:pPr>
              <a:spcAft>
                <a:spcPts val="1200"/>
              </a:spcAft>
            </a:pPr>
            <a:r>
              <a:rPr sz="2000" b="0">
                <a:solidFill>
                  <a:srgbClr val="202122"/>
                </a:solidFill>
                <a:latin typeface="Calibri"/>
              </a:rPr>
              <a:t>Professional development helps IT staff keep up with standards so they can build inclusive systems.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council moves applications online. Offering a phone line, large-text options and screen-reader-friendly forms keeps it inclusive.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Digital inclusion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Fair access needs suitable hardware, software and connectivity.</a:t>
            </a:r>
          </a:p>
          <a:p>
            <a:pPr marL="274320" indent="-274320">
              <a:spcAft>
                <a:spcPts val="1080"/>
              </a:spcAft>
              <a:buClr>
                <a:srgbClr val="0645AD"/>
              </a:buClr>
              <a:buFont typeface="Arial"/>
              <a:buChar char="•"/>
            </a:pPr>
            <a:r>
              <a:rPr sz="2400" b="0">
                <a:solidFill>
                  <a:srgbClr val="202122"/>
                </a:solidFill>
                <a:latin typeface="Calibri"/>
              </a:rPr>
              <a:t>Follow best-practice codes and public sector accessibility regulations.</a:t>
            </a:r>
          </a:p>
          <a:p>
            <a:pPr marL="274320" indent="-274320">
              <a:spcAft>
                <a:spcPts val="1080"/>
              </a:spcAft>
              <a:buClr>
                <a:srgbClr val="0645AD"/>
              </a:buClr>
              <a:buFont typeface="Arial"/>
              <a:buChar char="•"/>
            </a:pPr>
            <a:r>
              <a:rPr sz="2400" b="0">
                <a:solidFill>
                  <a:srgbClr val="202122"/>
                </a:solidFill>
                <a:latin typeface="Calibri"/>
              </a:rPr>
              <a:t>Consider age, digital and literacy skills, internal or external audience.</a:t>
            </a:r>
          </a:p>
          <a:p>
            <a:pPr marL="274320" indent="-274320">
              <a:spcAft>
                <a:spcPts val="1080"/>
              </a:spcAft>
              <a:buClr>
                <a:srgbClr val="0645AD"/>
              </a:buClr>
              <a:buFont typeface="Arial"/>
              <a:buChar char="•"/>
            </a:pPr>
            <a:r>
              <a:rPr sz="2400" b="0">
                <a:solidFill>
                  <a:srgbClr val="202122"/>
                </a:solidFill>
                <a:latin typeface="Calibri"/>
              </a:rPr>
              <a:t>Consider cultural issues, including bias built into digital systems.</a:t>
            </a:r>
          </a:p>
          <a:p>
            <a:pPr marL="274320" indent="-274320">
              <a:spcAft>
                <a:spcPts val="1080"/>
              </a:spcAft>
              <a:buClr>
                <a:srgbClr val="0645AD"/>
              </a:buClr>
              <a:buFont typeface="Arial"/>
              <a:buChar char="•"/>
            </a:pPr>
            <a:r>
              <a:rPr sz="2400" b="0">
                <a:solidFill>
                  <a:srgbClr val="202122"/>
                </a:solidFill>
                <a:latin typeface="Calibri"/>
              </a:rPr>
              <a:t>Consider additional and accessibility needs.</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Professional development keeps you competent, employable and up to date with standards as technology changes.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Digital inclusion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digital inclusion mean?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two user characteristics that affect inclusion.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Must public sector websites be accessible?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 (1)</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080"/>
              </a:spcAft>
            </a:pPr>
            <a:r>
              <a:rPr sz="1800" b="0">
                <a:solidFill>
                  <a:srgbClr val="202122"/>
                </a:solidFill>
                <a:latin typeface="Calibri"/>
              </a:rPr>
              <a:t>Several emerging technologies are changing digital support.</a:t>
            </a:r>
          </a:p>
          <a:p>
            <a:pPr>
              <a:spcAft>
                <a:spcPts val="1080"/>
              </a:spcAft>
            </a:pPr>
            <a:r>
              <a:rPr sz="1800" b="1">
                <a:solidFill>
                  <a:srgbClr val="202122"/>
                </a:solidFill>
                <a:latin typeface="Calibri"/>
              </a:rPr>
              <a:t>Storage and processing:</a:t>
            </a:r>
            <a:r>
              <a:rPr sz="1800" b="0">
                <a:solidFill>
                  <a:srgbClr val="202122"/>
                </a:solidFill>
                <a:latin typeface="Calibri"/>
              </a:rPr>
              <a:t> demand for storage keeps growing, and quantum computing could solve problems ordinary computers can't, which may one day break today's encryption.</a:t>
            </a:r>
          </a:p>
          <a:p>
            <a:pPr>
              <a:spcAft>
                <a:spcPts val="1080"/>
              </a:spcAft>
            </a:pPr>
            <a:r>
              <a:rPr sz="1800" b="1">
                <a:solidFill>
                  <a:srgbClr val="202122"/>
                </a:solidFill>
                <a:latin typeface="Calibri"/>
              </a:rPr>
              <a:t>Internet of Things:</a:t>
            </a:r>
            <a:r>
              <a:rPr sz="1800" b="0">
                <a:solidFill>
                  <a:srgbClr val="202122"/>
                </a:solidFill>
                <a:latin typeface="Calibri"/>
              </a:rPr>
              <a:t> billions of connected sensors and devices in factories, cities and homes. Edge computing processes their data close to where it's collected, cutting network load and delay.</a:t>
            </a:r>
          </a:p>
          <a:p>
            <a:pPr>
              <a:spcAft>
                <a:spcPts val="1080"/>
              </a:spcAft>
            </a:pPr>
            <a:r>
              <a:rPr sz="1800" b="1">
                <a:solidFill>
                  <a:srgbClr val="202122"/>
                </a:solidFill>
                <a:latin typeface="Calibri"/>
              </a:rPr>
              <a:t>Artificial intelligence:</a:t>
            </a:r>
            <a:r>
              <a:rPr sz="1800" b="0">
                <a:solidFill>
                  <a:srgbClr val="202122"/>
                </a:solidFill>
                <a:latin typeface="Calibri"/>
              </a:rPr>
              <a:t> machine learning finds patterns in data; generative AI creates text, images and code.</a:t>
            </a:r>
          </a:p>
          <a:p>
            <a:pPr>
              <a:spcAft>
                <a:spcPts val="1080"/>
              </a:spcAft>
            </a:pPr>
            <a:r>
              <a:rPr sz="1800" b="1">
                <a:solidFill>
                  <a:srgbClr val="202122"/>
                </a:solidFill>
                <a:latin typeface="Calibri"/>
              </a:rPr>
              <a:t>Extended reality:</a:t>
            </a:r>
            <a:r>
              <a:rPr sz="1800" b="0">
                <a:solidFill>
                  <a:srgbClr val="202122"/>
                </a:solidFill>
                <a:latin typeface="Calibri"/>
              </a:rPr>
              <a:t> augmented and virtual reality for training, design and remote support.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engineer wearing AR glasses sees repair instructions overlaid on a faulty server, while an expert watches remotely and guides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 (1)</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Storage and processing</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Growing demand for storage; quantum computing could solve problems classical computers cannot.</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Internet of Things</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Edge computing, extra network load, industrial, smart city and home uses.</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Artificial intelligence</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Generative AI and machine learning.</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Extended reality</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Augmented and virtual reality for training, design and support.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Emerging technologies (1)</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edge computing?</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might quantum computing worry security experts?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generative AI do?</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 (2)</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080"/>
              </a:spcAft>
            </a:pPr>
            <a:r>
              <a:rPr sz="1800" b="0">
                <a:solidFill>
                  <a:srgbClr val="202122"/>
                </a:solidFill>
                <a:latin typeface="Calibri"/>
              </a:rPr>
              <a:t>Open source software can be used and changed freely, with community support, which cuts licence costs.</a:t>
            </a:r>
          </a:p>
          <a:p>
            <a:pPr>
              <a:spcAft>
                <a:spcPts val="1080"/>
              </a:spcAft>
            </a:pPr>
            <a:r>
              <a:rPr sz="1800" b="0">
                <a:solidFill>
                  <a:srgbClr val="202122"/>
                </a:solidFill>
                <a:latin typeface="Calibri"/>
              </a:rPr>
              <a:t>Blockchain is a shared ledger that's very hard to tamper with, used for cryptocurrency and supply-chain tracking.</a:t>
            </a:r>
          </a:p>
          <a:p>
            <a:pPr>
              <a:spcAft>
                <a:spcPts val="1080"/>
              </a:spcAft>
            </a:pPr>
            <a:r>
              <a:rPr sz="1800" b="0">
                <a:solidFill>
                  <a:srgbClr val="202122"/>
                </a:solidFill>
                <a:latin typeface="Calibri"/>
              </a:rPr>
              <a:t>3D printing and drones create new ways to make and deliver things. Autonomous machines such as self-driving vehicles and robotic assembly lines replace human control.</a:t>
            </a:r>
          </a:p>
          <a:p>
            <a:pPr>
              <a:spcAft>
                <a:spcPts val="1080"/>
              </a:spcAft>
            </a:pPr>
            <a:r>
              <a:rPr sz="1800" b="0">
                <a:solidFill>
                  <a:srgbClr val="202122"/>
                </a:solidFill>
                <a:latin typeface="Calibri"/>
              </a:rPr>
              <a:t>All of this has an environmental cost: devices use rare metals, data centres use huge amounts of energy, and old kit must be disposed of responsibly.</a:t>
            </a:r>
          </a:p>
          <a:p>
            <a:pPr>
              <a:spcAft>
                <a:spcPts val="1080"/>
              </a:spcAft>
            </a:pPr>
            <a:r>
              <a:rPr sz="1800" b="0">
                <a:solidFill>
                  <a:srgbClr val="202122"/>
                </a:solidFill>
                <a:latin typeface="Calibri"/>
              </a:rPr>
              <a:t>These technologies often work together, which multiplies their impact.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warehouse uses IoT tags, AI to plan routes, autonomous robots to pick items and drones for stock checks: four technologies working together.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 (2)</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Open source</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Free to use and change, with community support.</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Blockchain</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Tamper-resistant shared ledgers.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600" b="1" i="0">
                <a:solidFill>
                  <a:srgbClr val="03306E"/>
                </a:solidFill>
                <a:latin typeface="Calibri"/>
              </a:rPr>
              <a:t>3D printing and drones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New ways to make and deliver things.</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Autonomous machines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Self-driving cars and robotic assembly.</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800" b="1" i="0">
                <a:solidFill>
                  <a:srgbClr val="03306E"/>
                </a:solidFill>
                <a:latin typeface="Calibri"/>
              </a:rPr>
              <a:t>Environmental impact</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Rare metals, energy use and disposal.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Emerging technologies (2)</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open source software?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one environmental impact of technology.</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makes blockchain useful?</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Give two ways digital technology has changed organisational culture.</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is digital isolation?</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edge computing?</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Give one environmental impact of emerging technology.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Give two ways digital technology has changed organisational culture.</a:t>
            </a:r>
          </a:p>
          <a:p>
            <a:r>
              <a:rPr sz="1800" b="1">
                <a:solidFill>
                  <a:srgbClr val="03306E"/>
                </a:solidFill>
                <a:latin typeface="Calibri"/>
              </a:rPr>
              <a:t>Any two, e.g. remote working, staff monitoring, automation.</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is digital isolation?</a:t>
            </a:r>
          </a:p>
          <a:p>
            <a:r>
              <a:rPr sz="1800" b="1">
                <a:solidFill>
                  <a:srgbClr val="03306E"/>
                </a:solidFill>
                <a:latin typeface="Calibri"/>
              </a:rPr>
              <a:t>Being left out because of a lack of skills, equipment, connectivity or resistance to change.</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edge computing?</a:t>
            </a:r>
          </a:p>
          <a:p>
            <a:r>
              <a:rPr sz="1800" b="1">
                <a:solidFill>
                  <a:srgbClr val="03306E"/>
                </a:solidFill>
                <a:latin typeface="Calibri"/>
              </a:rPr>
              <a:t>Processing data close to where it is collected, e.g. on IoT devices, rather than in a central data centre.</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Give one environmental impact of emerging technology.</a:t>
            </a:r>
          </a:p>
          <a:p>
            <a:r>
              <a:rPr sz="1800" b="1">
                <a:solidFill>
                  <a:srgbClr val="03306E"/>
                </a:solidFill>
                <a:latin typeface="Calibri"/>
              </a:rPr>
              <a:t>Rare metal use, energy consumption or disposal.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Tech pitch and critique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Each group is given one emerging technology.</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Prepare a one-minute pitch on its benefits to organisations.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Another group responds with its risks to individuals and society.</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The class votes on whether benefits outweigh risks.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Covers organisations, individuals and society</a:t>
            </a:r>
          </a:p>
          <a:p>
            <a:pPr marL="274320" indent="-274320">
              <a:spcAft>
                <a:spcPts val="810"/>
              </a:spcAft>
              <a:buClr>
                <a:srgbClr val="0645AD"/>
              </a:buClr>
              <a:buFont typeface="Arial"/>
              <a:buChar char="•"/>
            </a:pPr>
            <a:r>
              <a:rPr sz="1800" b="0">
                <a:solidFill>
                  <a:srgbClr val="202122"/>
                </a:solidFill>
                <a:latin typeface="Calibri"/>
              </a:rPr>
              <a:t>Considers inclusion and the environment</a:t>
            </a:r>
          </a:p>
          <a:p>
            <a:pPr marL="274320" indent="-274320">
              <a:spcAft>
                <a:spcPts val="810"/>
              </a:spcAft>
              <a:buClr>
                <a:srgbClr val="0645AD"/>
              </a:buClr>
              <a:buFont typeface="Arial"/>
              <a:buChar char="•"/>
            </a:pPr>
            <a:r>
              <a:rPr sz="1800" b="0">
                <a:solidFill>
                  <a:srgbClr val="202122"/>
                </a:solidFill>
                <a:latin typeface="Calibri"/>
              </a:rPr>
              <a:t>Uses real examples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emerging technology will most affect IT support jobs?</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Name one characteristic that affects digital inclusion.</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does professional development matter in this industry?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Legislation, Business, Emerging Issues,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Issues and Technologies</dc:title>
  <dc:subject>Digital Support and Security T Level: Core Paper 2</dc:subject>
  <dc:creator>Samuel O'Connell</dc:creator>
  <cp:keywords>T Level; Digital Support and Security; lesson slides; 6.1, 6.2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