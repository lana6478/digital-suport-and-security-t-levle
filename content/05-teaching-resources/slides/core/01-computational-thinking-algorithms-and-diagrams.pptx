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the starter: grouping steps is decomposition, leaving details out is abstraction. Ask students for a digital support example of each, e.g. decomposing 'the network is slow' into device, cabling, switch and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specification expects students to judge how suitable each component is for a given problem, so push for 'it depends' answers with a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algorithm, however complex, is built from these three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Algorithms can also be written as descriptions with hierarchical markers (1, 1.1, 1.2). Flowcharts are easier to follow visually; written descriptions are quicker to write and 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 trace table on the board for a simple loop, e.g. adding up the numbers 1 to 5, before students try one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full symbol key is on the Diagram notation page of the wiki. Students need to both interpret existing diagrams and complete or create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Stretch: ask stronger students to add a sub-process for 'escalate to second line'.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F2B705"/>
                </a:solidFill>
                <a:latin typeface="Calibri"/>
              </a:rPr>
              <a:t>CORE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Computational Thinking, Algorithms and Diagrams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Core Paper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1.1, 1.2, 2.7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the four components of computational thinking and when to use each.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Trace, correct and design algorithms using sequence, selection and iteration.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Draw flowcharts using the correct symbols.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Interpret and create data flow and information flow diagrams.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Write down every step you take to get to college in the morning. Which steps could you group together? Which details could you leave out?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The four components of computational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202122"/>
                </a:solidFill>
                <a:latin typeface="Calibri"/>
              </a:rPr>
              <a:t>Break a problem or solution into smaller, manageable parts. Identify the main features, then split each into sub-parts.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Pattern recognition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Spot trends and similarities within and between problems, and reuse what worked before to make predictions.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Abstraction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Keep only the information you need. Work out the inputs, outputs, what varies and what stays constant.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Algorithmic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Express the solution as clear, ordered steps that a person or computer can follow.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Weighing up computational thinking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Benefits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Large problems become manageable pieces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Parts can be shared across a team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Reusing patterns saves time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Abstraction focuses effort on what matters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Drawbacks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Decomposing can take time up front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Over-abstraction can hide an important detail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false pattern leads to the wrong fix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Parts still have to be joined back together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Three control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Sequence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Steps run one after another in order. Example: log in, open the ticket, record the fault.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Selection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decision chooses a path. Example: IF the printer shows an error code THEN look it up ELSE check the queue.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Steps repeat until a condition is met. Example: ping the server every 5 seconds UNTIL it replies.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Flowchart symbols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3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513"/>
                <a:gridCol w="2832616"/>
                <a:gridCol w="5901284"/>
              </a:tblGrid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Symbol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Shape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Terminator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Rounded rectangle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Start and end of the algorithm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Rectangle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An action or calculation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Sub-process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Rectangle with double sides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step defined in its own flowchart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Diamond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A yes/no question that splits the flow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Input / output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Parallelogram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Data entering or leaving the system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646611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Arrow and label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Line with arrowhead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Direction of flow, with Yes/No labels on decisions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Working with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66751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Trace:</a:t>
            </a:r>
            <a:r>
              <a:rPr sz="2400" b="0">
                <a:solidFill>
                  <a:srgbClr val="202122"/>
                </a:solidFill>
                <a:latin typeface="Calibri"/>
              </a:rPr>
              <a:t> follow the algorithm step by step with a given input and record the output.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Correct:</a:t>
            </a:r>
            <a:r>
              <a:rPr sz="2400" b="0">
                <a:solidFill>
                  <a:srgbClr val="202122"/>
                </a:solidFill>
                <a:latin typeface="Calibri"/>
              </a:rPr>
              <a:t> find logic errors such as a wrong condition or a loop that never ends.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Design:</a:t>
            </a:r>
            <a:r>
              <a:rPr sz="2400" b="0">
                <a:solidFill>
                  <a:srgbClr val="202122"/>
                </a:solidFill>
                <a:latin typeface="Calibri"/>
              </a:rPr>
              <a:t> build your own solution using sequence, selection and iteration.</a:t>
            </a:r>
          </a:p>
          <a:p>
            <a:pPr marL="274320" indent="-274320">
              <a:spcAft>
                <a:spcPts val="1080"/>
              </a:spcAft>
              <a:buClr>
                <a:srgbClr val="0645AD"/>
              </a:buClr>
              <a:buFont typeface="Arial"/>
              <a:buChar char="•"/>
            </a:pPr>
            <a:r>
              <a:rPr sz="2400" b="1">
                <a:solidFill>
                  <a:srgbClr val="202122"/>
                </a:solidFill>
                <a:latin typeface="Calibri"/>
              </a:rPr>
              <a:t>Test:</a:t>
            </a:r>
            <a:r>
              <a:rPr sz="2400" b="0">
                <a:solidFill>
                  <a:srgbClr val="202122"/>
                </a:solidFill>
                <a:latin typeface="Calibri"/>
              </a:rPr>
              <a:t> try normal, boundary and invalid inputs to check it behaves as expected.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600200"/>
            <a:ext cx="3867912" cy="443484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74519"/>
            <a:ext cx="548640" cy="54864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202122"/>
                </a:solidFill>
                <a:latin typeface="Calibri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0604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01752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FFFFFF"/>
                </a:solidFill>
                <a:latin typeface="Cambria"/>
              </a:rPr>
              <a:t>A trace table records the value of each variable after every step. It is the fastest way to find where an algorithm goes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Diagrams in digital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flow diagram (DFD)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Data source and destination:</a:t>
            </a:r>
            <a:r>
              <a:rPr sz="2200" b="0">
                <a:solidFill>
                  <a:srgbClr val="202122"/>
                </a:solidFill>
                <a:latin typeface="Calibri"/>
              </a:rPr>
              <a:t> external entities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Process:</a:t>
            </a:r>
            <a:r>
              <a:rPr sz="2200" b="0">
                <a:solidFill>
                  <a:srgbClr val="202122"/>
                </a:solidFill>
                <a:latin typeface="Calibri"/>
              </a:rPr>
              <a:t> something that changes the data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Data store:</a:t>
            </a:r>
            <a:r>
              <a:rPr sz="2200" b="0">
                <a:solidFill>
                  <a:srgbClr val="202122"/>
                </a:solidFill>
                <a:latin typeface="Calibri"/>
              </a:rPr>
              <a:t> where data is held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Arrows with labels: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data that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Information flow diagram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Boxes:</a:t>
            </a:r>
            <a:r>
              <a:rPr sz="2200" b="0">
                <a:solidFill>
                  <a:srgbClr val="202122"/>
                </a:solidFill>
                <a:latin typeface="Calibri"/>
              </a:rPr>
              <a:t> people, departments or systems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Arrows: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direction information travels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Labels:</a:t>
            </a:r>
            <a:r>
              <a:rPr sz="2200" b="0">
                <a:solidFill>
                  <a:srgbClr val="202122"/>
                </a:solidFill>
                <a:latin typeface="Calibri"/>
              </a:rPr>
              <a:t> what the information is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Simpler:</a:t>
            </a:r>
            <a:r>
              <a:rPr sz="2200" b="0">
                <a:solidFill>
                  <a:srgbClr val="202122"/>
                </a:solidFill>
                <a:latin typeface="Calibri"/>
              </a:rPr>
              <a:t> shows who talks to whom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Key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916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Decomposition</a:t>
            </a:r>
            <a:r>
              <a:rPr sz="1900">
                <a:solidFill>
                  <a:srgbClr val="202122"/>
                </a:solidFill>
                <a:latin typeface="Calibri"/>
              </a:rPr>
              <a:t>  breaking a problem into smaller parts.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6002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38747" y="16916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Abstraction</a:t>
            </a:r>
            <a:r>
              <a:rPr sz="1900">
                <a:solidFill>
                  <a:srgbClr val="202122"/>
                </a:solidFill>
                <a:latin typeface="Calibri"/>
              </a:rPr>
              <a:t>  filtering out detail that is not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Algorithm</a:t>
            </a:r>
            <a:r>
              <a:rPr sz="1900">
                <a:solidFill>
                  <a:srgbClr val="202122"/>
                </a:solidFill>
                <a:latin typeface="Calibri"/>
              </a:rPr>
              <a:t>  a precise, ordered set of steps to solve a problem.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32004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38747" y="32918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Selection</a:t>
            </a:r>
            <a:r>
              <a:rPr sz="1900">
                <a:solidFill>
                  <a:srgbClr val="202122"/>
                </a:solidFill>
                <a:latin typeface="Calibri"/>
              </a:rPr>
              <a:t>  a decision that chooses between paths.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8006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Iteration</a:t>
            </a:r>
            <a:r>
              <a:rPr sz="1900">
                <a:solidFill>
                  <a:srgbClr val="202122"/>
                </a:solidFill>
                <a:latin typeface="Calibri"/>
              </a:rPr>
              <a:t>  repeating steps until a condition is met.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4800600"/>
            <a:ext cx="5432907" cy="13716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38747" y="4892040"/>
            <a:ext cx="4975707" cy="118872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DFD</a:t>
            </a:r>
            <a:r>
              <a:rPr sz="1900">
                <a:solidFill>
                  <a:srgbClr val="202122"/>
                </a:solidFill>
                <a:latin typeface="Calibri"/>
              </a:rPr>
              <a:t>  a diagram showing how data moves between entities, processes and stores.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the four components of computational thinking.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flowchart symbol is used for a decision?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the difference between selection and iteration?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drawback of abstraction.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data store represent on a DFD?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the four components of computational thinking.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Decomposition, pattern recognition, abstraction, algorithmic design.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flowchart symbol is used for a decision?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diamond.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the difference between selection and iteration?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Selection chooses a path once; iteration repeats steps until a condition is met.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drawback of abstraction.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Removing too much detail can hide something important to the solution.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data store represent on a DFD?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place where data is held, such as a database or file.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Flowchart a helpdesk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Computational Thinking, Algorithms and Diagrams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9298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Scenario: a user reports they cannot print.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19217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39465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Decompose the problem into at least four possible causes.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99135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38651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Draw a flowchart that checks each cause in a sensible order.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790541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637836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at least one decision and one loop.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589727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437022"/>
            <a:ext cx="5943600" cy="68945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Swap with another pair and trace their flowchart with a test case.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symbols throughout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Every decision has labelled Yes and No paths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The flowchart always reaches an end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The trace gives the expected result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CORE COMPONENT  ·  Core Paper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component of computational thinking do you use most without realising?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Draw the symbol for an input or output.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When would you choose a DFD over an information flow diagram?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Core Paper 1: Problem Solving, Digital Support and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https://lana6478.github.io/Digital-Suport-and-security-T-levle/#/01-core-component/01-core-paper-1.md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Thinking, Algorithms and Diagrams</dc:title>
  <dc:subject>Digital Support and Security T Level: Core Paper 1</dc:subject>
  <dc:creator>Samuel O'Connell</dc:creator>
  <cp:keywords>T Level; Digital Support and Security; lesson slides; 1.1, 1.2, 2.7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