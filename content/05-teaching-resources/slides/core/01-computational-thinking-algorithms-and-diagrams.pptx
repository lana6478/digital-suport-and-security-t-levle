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 back to the starter: grouping steps is decomposition, leaving details out is abstraction. Ask students for a digital support example of each, e.g. decomposing 'the network is slow' into device, cabling, switch and internet.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Breaking a problem into smaller, more manageable parts.</a:t>
            </a:r>
          </a:p>
          <a:p>
            <a:r>
              <a:t>2. Abstraction.</a:t>
            </a:r>
          </a:p>
          <a:p>
            <a:r>
              <a:t>3. It lets them reuse fixes from similar problems instead of starting from scratch.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specification expects students to judge how suitable each component is for a given problem, so push for 'it depends' answers with a reason.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algorithm, however complex, is built from these three structures.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Iteration.</a:t>
            </a:r>
          </a:p>
          <a:p>
            <a:r>
              <a:t>2. A diamond (decision).</a:t>
            </a:r>
          </a:p>
          <a:p>
            <a:r>
              <a:t>3. It runs forever (an infinite loop).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Algorithms can also be written as descriptions with hierarchical markers (1, 1.1, 1.2). Flowcharts are easier to follow visually; written descriptions are quicker to write and edit.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a trace table on the board for a simple loop, e.g. adding up the numbers 1 to 5, before students try one themselves.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Recording each variable's value step by step to find the output or an error.</a:t>
            </a:r>
          </a:p>
          <a:p>
            <a:r>
              <a:t>2. No. It runs but produces the wrong result.</a:t>
            </a:r>
          </a:p>
          <a:p>
            <a:r>
              <a:t>3. With the inputs and the required outputs.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symbol key is on the Diagram notation page of the wiki. Students need to both interpret existing diagrams and complete or create their own.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 place where data is held, e.g. a database or file.</a:t>
            </a:r>
          </a:p>
          <a:p>
            <a:r>
              <a:t>2. A person or system outside the system that sends or receives data.</a:t>
            </a:r>
          </a:p>
          <a:p>
            <a:r>
              <a:t>3. When you only need to show who passes information to whom.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Stretch: ask stronger students to add a sub-process for 'escalate to second line'.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CORE COMPONENT</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Computational Thinking, Algorithms and Diagrams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Paper 1</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1.1, 1.2, 2.7</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Support and Security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Computational Thinking, Algorithms and Diagrams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Describe the four components of computational thinking and when to use each.</a:t>
            </a:r>
          </a:p>
        </p:txBody>
      </p:sp>
      <p:sp>
        <p:nvSpPr>
          <p:cNvPr id="9" name="Oval 8"/>
          <p:cNvSpPr/>
          <p:nvPr/>
        </p:nvSpPr>
        <p:spPr>
          <a:xfrm>
            <a:off x="548640" y="327469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Trace, correct and design algorithms using sequence, selection and iteration.</a:t>
            </a:r>
          </a:p>
        </p:txBody>
      </p:sp>
      <p:sp>
        <p:nvSpPr>
          <p:cNvPr id="11" name="Oval 10"/>
          <p:cNvSpPr/>
          <p:nvPr/>
        </p:nvSpPr>
        <p:spPr>
          <a:xfrm>
            <a:off x="548640" y="431482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Draw flowcharts using the correct symbols.</a:t>
            </a:r>
          </a:p>
        </p:txBody>
      </p:sp>
      <p:sp>
        <p:nvSpPr>
          <p:cNvPr id="13" name="Oval 12"/>
          <p:cNvSpPr/>
          <p:nvPr/>
        </p:nvSpPr>
        <p:spPr>
          <a:xfrm>
            <a:off x="548640" y="5354954"/>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Interpret and create data flow and information flow diagrams.</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Write down every step you take to get to college in the morning. Which steps could you group together? Which details could you leave out?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four components of computational thinking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Computational Thinking, Algorithms and Diagrams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080"/>
              </a:spcAft>
            </a:pPr>
            <a:r>
              <a:rPr sz="1800" b="0">
                <a:solidFill>
                  <a:srgbClr val="202122"/>
                </a:solidFill>
                <a:latin typeface="Calibri"/>
              </a:rPr>
              <a:t>Computational thinking is a way of tackling problems so that a person or a computer can solve them. It isn't programming: it's the thinking you do before you write code or fix a fault.</a:t>
            </a:r>
          </a:p>
          <a:p>
            <a:pPr>
              <a:spcAft>
                <a:spcPts val="1080"/>
              </a:spcAft>
            </a:pPr>
            <a:r>
              <a:rPr sz="1800" b="1">
                <a:solidFill>
                  <a:srgbClr val="202122"/>
                </a:solidFill>
                <a:latin typeface="Calibri"/>
              </a:rPr>
              <a:t>Decomposition:</a:t>
            </a:r>
            <a:r>
              <a:rPr sz="1800" b="0">
                <a:solidFill>
                  <a:srgbClr val="202122"/>
                </a:solidFill>
                <a:latin typeface="Calibri"/>
              </a:rPr>
              <a:t> breaking a big problem into smaller parts you can solve one at a time.</a:t>
            </a:r>
          </a:p>
          <a:p>
            <a:pPr>
              <a:spcAft>
                <a:spcPts val="1080"/>
              </a:spcAft>
            </a:pPr>
            <a:r>
              <a:rPr sz="1800" b="1">
                <a:solidFill>
                  <a:srgbClr val="202122"/>
                </a:solidFill>
                <a:latin typeface="Calibri"/>
              </a:rPr>
              <a:t>Pattern recognition:</a:t>
            </a:r>
            <a:r>
              <a:rPr sz="1800" b="0">
                <a:solidFill>
                  <a:srgbClr val="202122"/>
                </a:solidFill>
                <a:latin typeface="Calibri"/>
              </a:rPr>
              <a:t> spotting what this problem has in common with ones you've solved before, so you can reuse a solution.</a:t>
            </a:r>
          </a:p>
          <a:p>
            <a:pPr>
              <a:spcAft>
                <a:spcPts val="1080"/>
              </a:spcAft>
            </a:pPr>
            <a:r>
              <a:rPr sz="1800" b="1">
                <a:solidFill>
                  <a:srgbClr val="202122"/>
                </a:solidFill>
                <a:latin typeface="Calibri"/>
              </a:rPr>
              <a:t>Abstraction:</a:t>
            </a:r>
            <a:r>
              <a:rPr sz="1800" b="0">
                <a:solidFill>
                  <a:srgbClr val="202122"/>
                </a:solidFill>
                <a:latin typeface="Calibri"/>
              </a:rPr>
              <a:t> stripping away detail that doesn't matter. A network diagram shows devices and links, not the colour of the cables.</a:t>
            </a:r>
          </a:p>
          <a:p>
            <a:pPr>
              <a:spcAft>
                <a:spcPts val="1080"/>
              </a:spcAft>
            </a:pPr>
            <a:r>
              <a:rPr sz="1800" b="1">
                <a:solidFill>
                  <a:srgbClr val="202122"/>
                </a:solidFill>
                <a:latin typeface="Calibri"/>
              </a:rPr>
              <a:t>Algorithmic design:</a:t>
            </a:r>
            <a:r>
              <a:rPr sz="1800" b="0">
                <a:solidFill>
                  <a:srgbClr val="202122"/>
                </a:solidFill>
                <a:latin typeface="Calibri"/>
              </a:rPr>
              <a:t> writing the solution as clear, ordered steps anyone could follow.</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user says 'my laptop is slow'. Decompose it (CPU, memory, disk, network), recognise the pattern (it's slow every Monday, when updates run), abstract (ignore the wallpaper), then write steps to diagnose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four components of computational thinking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Computational Thinking, Algorithms and Diagrams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Decomposition</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1900" b="0" i="0">
                <a:solidFill>
                  <a:srgbClr val="202122"/>
                </a:solidFill>
                <a:latin typeface="Calibri"/>
              </a:rPr>
              <a:t>Break a problem or solution into smaller, manageable parts. Identify the main features, then split each into sub-parts.</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Pattern recognition</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Spot trends and similarities within and between problems, and reuse what worked before to make predictions.</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Abstraction</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Keep only the information you need. Work out the inputs, outputs, what varies and what stays constant.</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Algorithmic design</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Express the solution as clear, ordered steps that a person or computer can follow.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2800" b="1" i="0">
                <a:solidFill>
                  <a:srgbClr val="03306E"/>
                </a:solidFill>
                <a:latin typeface="Cambria"/>
              </a:rPr>
              <a:t>Quick check: The four components of computational thinking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Computational Thinking, Algorithms and Diagrams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decomposition?</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Which component means ignoring detail that doesn't matter?</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is pattern recognition useful for a support technician?</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Weighing up computational thinking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Computational Thinking, Algorithms and Diagrams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Benefits</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Large problems become manageable pieces</a:t>
            </a:r>
          </a:p>
          <a:p>
            <a:pPr marL="274320" indent="-274320">
              <a:spcAft>
                <a:spcPts val="990"/>
              </a:spcAft>
              <a:buClr>
                <a:srgbClr val="0645AD"/>
              </a:buClr>
              <a:buFont typeface="Arial"/>
              <a:buChar char="•"/>
            </a:pPr>
            <a:r>
              <a:rPr sz="2200" b="0">
                <a:solidFill>
                  <a:srgbClr val="202122"/>
                </a:solidFill>
                <a:latin typeface="Calibri"/>
              </a:rPr>
              <a:t>Parts can be shared across a team</a:t>
            </a:r>
          </a:p>
          <a:p>
            <a:pPr marL="274320" indent="-274320">
              <a:spcAft>
                <a:spcPts val="990"/>
              </a:spcAft>
              <a:buClr>
                <a:srgbClr val="0645AD"/>
              </a:buClr>
              <a:buFont typeface="Arial"/>
              <a:buChar char="•"/>
            </a:pPr>
            <a:r>
              <a:rPr sz="2200" b="0">
                <a:solidFill>
                  <a:srgbClr val="202122"/>
                </a:solidFill>
                <a:latin typeface="Calibri"/>
              </a:rPr>
              <a:t>Reusing patterns saves time</a:t>
            </a:r>
          </a:p>
          <a:p>
            <a:pPr marL="274320" indent="-274320">
              <a:spcAft>
                <a:spcPts val="990"/>
              </a:spcAft>
              <a:buClr>
                <a:srgbClr val="0645AD"/>
              </a:buClr>
              <a:buFont typeface="Arial"/>
              <a:buChar char="•"/>
            </a:pPr>
            <a:r>
              <a:rPr sz="2200" b="0">
                <a:solidFill>
                  <a:srgbClr val="202122"/>
                </a:solidFill>
                <a:latin typeface="Calibri"/>
              </a:rPr>
              <a:t>Abstraction focuses effort on what matters</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Drawbacks</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Decomposing can take time up front</a:t>
            </a:r>
          </a:p>
          <a:p>
            <a:pPr marL="274320" indent="-274320">
              <a:spcAft>
                <a:spcPts val="990"/>
              </a:spcAft>
              <a:buClr>
                <a:srgbClr val="0645AD"/>
              </a:buClr>
              <a:buFont typeface="Arial"/>
              <a:buChar char="•"/>
            </a:pPr>
            <a:r>
              <a:rPr sz="2200" b="0">
                <a:solidFill>
                  <a:srgbClr val="202122"/>
                </a:solidFill>
                <a:latin typeface="Calibri"/>
              </a:rPr>
              <a:t>Over-abstraction can hide an important detail</a:t>
            </a:r>
          </a:p>
          <a:p>
            <a:pPr marL="274320" indent="-274320">
              <a:spcAft>
                <a:spcPts val="990"/>
              </a:spcAft>
              <a:buClr>
                <a:srgbClr val="0645AD"/>
              </a:buClr>
              <a:buFont typeface="Arial"/>
              <a:buChar char="•"/>
            </a:pPr>
            <a:r>
              <a:rPr sz="2200" b="0">
                <a:solidFill>
                  <a:srgbClr val="202122"/>
                </a:solidFill>
                <a:latin typeface="Calibri"/>
              </a:rPr>
              <a:t>A false pattern leads to the wrong fix</a:t>
            </a:r>
          </a:p>
          <a:p>
            <a:pPr marL="274320" indent="-274320">
              <a:spcAft>
                <a:spcPts val="990"/>
              </a:spcAft>
              <a:buClr>
                <a:srgbClr val="0645AD"/>
              </a:buClr>
              <a:buFont typeface="Arial"/>
              <a:buChar char="•"/>
            </a:pPr>
            <a:r>
              <a:rPr sz="2200" b="0">
                <a:solidFill>
                  <a:srgbClr val="202122"/>
                </a:solidFill>
                <a:latin typeface="Calibri"/>
              </a:rPr>
              <a:t>Parts still have to be joined back together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Three control structures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Computational Thinking, Algorithms and Diagrams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Every algorithm, however complicated, is built from just three control structures.</a:t>
            </a:r>
          </a:p>
          <a:p>
            <a:pPr>
              <a:spcAft>
                <a:spcPts val="1260"/>
              </a:spcAft>
            </a:pPr>
            <a:r>
              <a:rPr sz="2100" b="1">
                <a:solidFill>
                  <a:srgbClr val="202122"/>
                </a:solidFill>
                <a:latin typeface="Calibri"/>
              </a:rPr>
              <a:t>Sequence:</a:t>
            </a:r>
            <a:r>
              <a:rPr sz="2100" b="0">
                <a:solidFill>
                  <a:srgbClr val="202122"/>
                </a:solidFill>
                <a:latin typeface="Calibri"/>
              </a:rPr>
              <a:t> instructions run one after another, in order. Changing the order can change the result.</a:t>
            </a:r>
          </a:p>
          <a:p>
            <a:pPr>
              <a:spcAft>
                <a:spcPts val="1260"/>
              </a:spcAft>
            </a:pPr>
            <a:r>
              <a:rPr sz="2100" b="1">
                <a:solidFill>
                  <a:srgbClr val="202122"/>
                </a:solidFill>
                <a:latin typeface="Calibri"/>
              </a:rPr>
              <a:t>Selection:</a:t>
            </a:r>
            <a:r>
              <a:rPr sz="2100" b="0">
                <a:solidFill>
                  <a:srgbClr val="202122"/>
                </a:solidFill>
                <a:latin typeface="Calibri"/>
              </a:rPr>
              <a:t> a condition is tested and the algorithm takes one path or another. In code this is an IF statement; in a flowchart it's a diamond with Yes and No arrows.</a:t>
            </a:r>
          </a:p>
          <a:p>
            <a:pPr>
              <a:spcAft>
                <a:spcPts val="1260"/>
              </a:spcAft>
            </a:pPr>
            <a:r>
              <a:rPr sz="2100" b="1">
                <a:solidFill>
                  <a:srgbClr val="202122"/>
                </a:solidFill>
                <a:latin typeface="Calibri"/>
              </a:rPr>
              <a:t>Iteration:</a:t>
            </a:r>
            <a:r>
              <a:rPr sz="2100" b="0">
                <a:solidFill>
                  <a:srgbClr val="202122"/>
                </a:solidFill>
                <a:latin typeface="Calibri"/>
              </a:rPr>
              <a:t> steps repeat, either a fixed number of times (count-controlled) or until a condition is met (condition-controlled). Every loop needs a way to stop, or it runs forever.</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Resetting 30 passwords: FOR each account (iteration), IF the account is disabled (selection) skip it, ELSE generate a password, then email the user (sequence).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Three control structures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Computational Thinking, Algorithms and Diagrams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Rounded Rectangle 5"/>
          <p:cNvSpPr/>
          <p:nvPr/>
        </p:nvSpPr>
        <p:spPr>
          <a:xfrm>
            <a:off x="548640"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Sequence</a:t>
            </a:r>
          </a:p>
        </p:txBody>
      </p:sp>
      <p:sp>
        <p:nvSpPr>
          <p:cNvPr id="9" name="TextBox 8"/>
          <p:cNvSpPr txBox="1"/>
          <p:nvPr/>
        </p:nvSpPr>
        <p:spPr>
          <a:xfrm>
            <a:off x="777240" y="2468880"/>
            <a:ext cx="3058058" cy="3566160"/>
          </a:xfrm>
          <a:prstGeom prst="rect">
            <a:avLst/>
          </a:prstGeom>
          <a:noFill/>
        </p:spPr>
        <p:txBody>
          <a:bodyPr wrap="square" anchor="t" lIns="0" rIns="0" tIns="0" bIns="0"/>
          <a:lstStyle/>
          <a:p>
            <a:pPr algn="l"/>
            <a:r>
              <a:rPr sz="2000" b="0" i="0">
                <a:solidFill>
                  <a:srgbClr val="202122"/>
                </a:solidFill>
                <a:latin typeface="Calibri"/>
              </a:rPr>
              <a:t>Steps run one after another in order. Example: log in, open the ticket, record the fault.</a:t>
            </a:r>
          </a:p>
        </p:txBody>
      </p:sp>
      <p:sp>
        <p:nvSpPr>
          <p:cNvPr id="10" name="Rounded Rectangle 9"/>
          <p:cNvSpPr/>
          <p:nvPr/>
        </p:nvSpPr>
        <p:spPr>
          <a:xfrm>
            <a:off x="4338218"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Selection</a:t>
            </a:r>
          </a:p>
        </p:txBody>
      </p:sp>
      <p:sp>
        <p:nvSpPr>
          <p:cNvPr id="13" name="TextBox 12"/>
          <p:cNvSpPr txBox="1"/>
          <p:nvPr/>
        </p:nvSpPr>
        <p:spPr>
          <a:xfrm>
            <a:off x="4566818" y="2468880"/>
            <a:ext cx="3058058" cy="3566160"/>
          </a:xfrm>
          <a:prstGeom prst="rect">
            <a:avLst/>
          </a:prstGeom>
          <a:noFill/>
        </p:spPr>
        <p:txBody>
          <a:bodyPr wrap="square" anchor="t" lIns="0" rIns="0" tIns="0" bIns="0"/>
          <a:lstStyle/>
          <a:p>
            <a:pPr algn="l"/>
            <a:r>
              <a:rPr sz="2000" b="0" i="0">
                <a:solidFill>
                  <a:srgbClr val="202122"/>
                </a:solidFill>
                <a:latin typeface="Calibri"/>
              </a:rPr>
              <a:t>A decision chooses a path. Example: IF the printer shows an error code THEN look it up ELSE check the queue.</a:t>
            </a:r>
          </a:p>
        </p:txBody>
      </p:sp>
      <p:sp>
        <p:nvSpPr>
          <p:cNvPr id="14" name="Rounded Rectangle 13"/>
          <p:cNvSpPr/>
          <p:nvPr/>
        </p:nvSpPr>
        <p:spPr>
          <a:xfrm>
            <a:off x="8127796"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Iteration</a:t>
            </a:r>
          </a:p>
        </p:txBody>
      </p:sp>
      <p:sp>
        <p:nvSpPr>
          <p:cNvPr id="17" name="TextBox 16"/>
          <p:cNvSpPr txBox="1"/>
          <p:nvPr/>
        </p:nvSpPr>
        <p:spPr>
          <a:xfrm>
            <a:off x="8356396" y="2468880"/>
            <a:ext cx="3058058" cy="3566160"/>
          </a:xfrm>
          <a:prstGeom prst="rect">
            <a:avLst/>
          </a:prstGeom>
          <a:noFill/>
        </p:spPr>
        <p:txBody>
          <a:bodyPr wrap="square" anchor="t" lIns="0" rIns="0" tIns="0" bIns="0"/>
          <a:lstStyle/>
          <a:p>
            <a:pPr algn="l"/>
            <a:r>
              <a:rPr sz="2000" b="0" i="0">
                <a:solidFill>
                  <a:srgbClr val="202122"/>
                </a:solidFill>
                <a:latin typeface="Calibri"/>
              </a:rPr>
              <a:t>Steps repeat until a condition is met. Example: ping the server every 5 seconds UNTIL it replies.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Three control structures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Computational Thinking, Algorithms and Diagrams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control structure repeats steps?</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flowchart symbol shows selection?</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happens if a loop's stopping condition is never met?</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Flowchart symbols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Computational Thinking, Algorithms and Diagrams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graphicFrame>
        <p:nvGraphicFramePr>
          <p:cNvPr id="6" name="Table 5"/>
          <p:cNvGraphicFramePr>
            <a:graphicFrameLocks noGrp="1"/>
          </p:cNvGraphicFramePr>
          <p:nvPr/>
        </p:nvGraphicFramePr>
        <p:xfrm>
          <a:off x="548640" y="1600200"/>
          <a:ext cx="11094413" cy="4526277"/>
        </p:xfrm>
        <a:graphic>
          <a:graphicData uri="http://schemas.openxmlformats.org/drawingml/2006/table">
            <a:tbl>
              <a:tblPr firstRow="1" bandRow="1">
                <a:tableStyleId>{5C22544A-7EE6-4342-B048-85BDC9FD1C3A}</a:tableStyleId>
              </a:tblPr>
              <a:tblGrid>
                <a:gridCol w="2360513"/>
                <a:gridCol w="2832616"/>
                <a:gridCol w="5901284"/>
              </a:tblGrid>
              <a:tr h="646611">
                <a:tc>
                  <a:txBody>
                    <a:bodyPr wrap="square"/>
                    <a:lstStyle/>
                    <a:p>
                      <a:r>
                        <a:rPr sz="1600" b="1">
                          <a:solidFill>
                            <a:srgbClr val="FFFFFF"/>
                          </a:solidFill>
                          <a:latin typeface="Calibri"/>
                        </a:rPr>
                        <a:t>Symbol</a:t>
                      </a:r>
                    </a:p>
                  </a:txBody>
                  <a:tcPr marL="91440" marR="91440" anchor="ctr">
                    <a:solidFill>
                      <a:srgbClr val="03306E"/>
                    </a:solidFill>
                  </a:tcPr>
                </a:tc>
                <a:tc>
                  <a:txBody>
                    <a:bodyPr wrap="square"/>
                    <a:lstStyle/>
                    <a:p>
                      <a:r>
                        <a:rPr sz="1600" b="1">
                          <a:solidFill>
                            <a:srgbClr val="FFFFFF"/>
                          </a:solidFill>
                          <a:latin typeface="Calibri"/>
                        </a:rPr>
                        <a:t>Shape</a:t>
                      </a:r>
                    </a:p>
                  </a:txBody>
                  <a:tcPr marL="91440" marR="91440" anchor="ctr">
                    <a:solidFill>
                      <a:srgbClr val="03306E"/>
                    </a:solidFill>
                  </a:tcPr>
                </a:tc>
                <a:tc>
                  <a:txBody>
                    <a:bodyPr wrap="square"/>
                    <a:lstStyle/>
                    <a:p>
                      <a:r>
                        <a:rPr sz="1600" b="1">
                          <a:solidFill>
                            <a:srgbClr val="FFFFFF"/>
                          </a:solidFill>
                          <a:latin typeface="Calibri"/>
                        </a:rPr>
                        <a:t>Used for</a:t>
                      </a:r>
                    </a:p>
                  </a:txBody>
                  <a:tcPr marL="91440" marR="91440" anchor="ctr">
                    <a:solidFill>
                      <a:srgbClr val="03306E"/>
                    </a:solidFill>
                  </a:tcPr>
                </a:tc>
              </a:tr>
              <a:tr h="646611">
                <a:tc>
                  <a:txBody>
                    <a:bodyPr wrap="square"/>
                    <a:lstStyle/>
                    <a:p>
                      <a:r>
                        <a:rPr sz="1600" b="1">
                          <a:solidFill>
                            <a:srgbClr val="03306E"/>
                          </a:solidFill>
                          <a:latin typeface="Calibri"/>
                        </a:rPr>
                        <a:t>Terminator</a:t>
                      </a:r>
                    </a:p>
                  </a:txBody>
                  <a:tcPr marL="91440" marR="91440" anchor="ctr">
                    <a:solidFill>
                      <a:srgbClr val="FFFFFF"/>
                    </a:solidFill>
                  </a:tcPr>
                </a:tc>
                <a:tc>
                  <a:txBody>
                    <a:bodyPr wrap="square"/>
                    <a:lstStyle/>
                    <a:p>
                      <a:r>
                        <a:rPr sz="1600" b="0">
                          <a:solidFill>
                            <a:srgbClr val="202122"/>
                          </a:solidFill>
                          <a:latin typeface="Calibri"/>
                        </a:rPr>
                        <a:t>Rounded rectangle</a:t>
                      </a:r>
                    </a:p>
                  </a:txBody>
                  <a:tcPr marL="91440" marR="91440" anchor="ctr">
                    <a:solidFill>
                      <a:srgbClr val="FFFFFF"/>
                    </a:solidFill>
                  </a:tcPr>
                </a:tc>
                <a:tc>
                  <a:txBody>
                    <a:bodyPr wrap="square"/>
                    <a:lstStyle/>
                    <a:p>
                      <a:r>
                        <a:rPr sz="1600" b="0">
                          <a:solidFill>
                            <a:srgbClr val="202122"/>
                          </a:solidFill>
                          <a:latin typeface="Calibri"/>
                        </a:rPr>
                        <a:t>Start and end of the algorithm</a:t>
                      </a:r>
                    </a:p>
                  </a:txBody>
                  <a:tcPr marL="91440" marR="91440" anchor="ctr">
                    <a:solidFill>
                      <a:srgbClr val="FFFFFF"/>
                    </a:solidFill>
                  </a:tcPr>
                </a:tc>
              </a:tr>
              <a:tr h="646611">
                <a:tc>
                  <a:txBody>
                    <a:bodyPr wrap="square"/>
                    <a:lstStyle/>
                    <a:p>
                      <a:r>
                        <a:rPr sz="1600" b="1">
                          <a:solidFill>
                            <a:srgbClr val="03306E"/>
                          </a:solidFill>
                          <a:latin typeface="Calibri"/>
                        </a:rPr>
                        <a:t>Process</a:t>
                      </a:r>
                    </a:p>
                  </a:txBody>
                  <a:tcPr marL="91440" marR="91440" anchor="ctr">
                    <a:solidFill>
                      <a:srgbClr val="EAF3FF"/>
                    </a:solidFill>
                  </a:tcPr>
                </a:tc>
                <a:tc>
                  <a:txBody>
                    <a:bodyPr wrap="square"/>
                    <a:lstStyle/>
                    <a:p>
                      <a:r>
                        <a:rPr sz="1600" b="0">
                          <a:solidFill>
                            <a:srgbClr val="202122"/>
                          </a:solidFill>
                          <a:latin typeface="Calibri"/>
                        </a:rPr>
                        <a:t>Rectangle</a:t>
                      </a:r>
                    </a:p>
                  </a:txBody>
                  <a:tcPr marL="91440" marR="91440" anchor="ctr">
                    <a:solidFill>
                      <a:srgbClr val="EAF3FF"/>
                    </a:solidFill>
                  </a:tcPr>
                </a:tc>
                <a:tc>
                  <a:txBody>
                    <a:bodyPr wrap="square"/>
                    <a:lstStyle/>
                    <a:p>
                      <a:r>
                        <a:rPr sz="1600" b="0">
                          <a:solidFill>
                            <a:srgbClr val="202122"/>
                          </a:solidFill>
                          <a:latin typeface="Calibri"/>
                        </a:rPr>
                        <a:t>An action or calculation</a:t>
                      </a:r>
                    </a:p>
                  </a:txBody>
                  <a:tcPr marL="91440" marR="91440" anchor="ctr">
                    <a:solidFill>
                      <a:srgbClr val="EAF3FF"/>
                    </a:solidFill>
                  </a:tcPr>
                </a:tc>
              </a:tr>
              <a:tr h="646611">
                <a:tc>
                  <a:txBody>
                    <a:bodyPr wrap="square"/>
                    <a:lstStyle/>
                    <a:p>
                      <a:r>
                        <a:rPr sz="1600" b="1">
                          <a:solidFill>
                            <a:srgbClr val="03306E"/>
                          </a:solidFill>
                          <a:latin typeface="Calibri"/>
                        </a:rPr>
                        <a:t>Sub-process</a:t>
                      </a:r>
                    </a:p>
                  </a:txBody>
                  <a:tcPr marL="91440" marR="91440" anchor="ctr">
                    <a:solidFill>
                      <a:srgbClr val="FFFFFF"/>
                    </a:solidFill>
                  </a:tcPr>
                </a:tc>
                <a:tc>
                  <a:txBody>
                    <a:bodyPr wrap="square"/>
                    <a:lstStyle/>
                    <a:p>
                      <a:r>
                        <a:rPr sz="1600" b="0">
                          <a:solidFill>
                            <a:srgbClr val="202122"/>
                          </a:solidFill>
                          <a:latin typeface="Calibri"/>
                        </a:rPr>
                        <a:t>Rectangle with double sides</a:t>
                      </a:r>
                    </a:p>
                  </a:txBody>
                  <a:tcPr marL="91440" marR="91440" anchor="ctr">
                    <a:solidFill>
                      <a:srgbClr val="FFFFFF"/>
                    </a:solidFill>
                  </a:tcPr>
                </a:tc>
                <a:tc>
                  <a:txBody>
                    <a:bodyPr wrap="square"/>
                    <a:lstStyle/>
                    <a:p>
                      <a:r>
                        <a:rPr sz="1600" b="0">
                          <a:solidFill>
                            <a:srgbClr val="202122"/>
                          </a:solidFill>
                          <a:latin typeface="Calibri"/>
                        </a:rPr>
                        <a:t>A step defined in its own flowchart</a:t>
                      </a:r>
                    </a:p>
                  </a:txBody>
                  <a:tcPr marL="91440" marR="91440" anchor="ctr">
                    <a:solidFill>
                      <a:srgbClr val="FFFFFF"/>
                    </a:solidFill>
                  </a:tcPr>
                </a:tc>
              </a:tr>
              <a:tr h="646611">
                <a:tc>
                  <a:txBody>
                    <a:bodyPr wrap="square"/>
                    <a:lstStyle/>
                    <a:p>
                      <a:r>
                        <a:rPr sz="1600" b="1">
                          <a:solidFill>
                            <a:srgbClr val="03306E"/>
                          </a:solidFill>
                          <a:latin typeface="Calibri"/>
                        </a:rPr>
                        <a:t>Decision</a:t>
                      </a:r>
                    </a:p>
                  </a:txBody>
                  <a:tcPr marL="91440" marR="91440" anchor="ctr">
                    <a:solidFill>
                      <a:srgbClr val="EAF3FF"/>
                    </a:solidFill>
                  </a:tcPr>
                </a:tc>
                <a:tc>
                  <a:txBody>
                    <a:bodyPr wrap="square"/>
                    <a:lstStyle/>
                    <a:p>
                      <a:r>
                        <a:rPr sz="1600" b="0">
                          <a:solidFill>
                            <a:srgbClr val="202122"/>
                          </a:solidFill>
                          <a:latin typeface="Calibri"/>
                        </a:rPr>
                        <a:t>Diamond</a:t>
                      </a:r>
                    </a:p>
                  </a:txBody>
                  <a:tcPr marL="91440" marR="91440" anchor="ctr">
                    <a:solidFill>
                      <a:srgbClr val="EAF3FF"/>
                    </a:solidFill>
                  </a:tcPr>
                </a:tc>
                <a:tc>
                  <a:txBody>
                    <a:bodyPr wrap="square"/>
                    <a:lstStyle/>
                    <a:p>
                      <a:r>
                        <a:rPr sz="1600" b="0">
                          <a:solidFill>
                            <a:srgbClr val="202122"/>
                          </a:solidFill>
                          <a:latin typeface="Calibri"/>
                        </a:rPr>
                        <a:t>A yes/no question that splits the flow</a:t>
                      </a:r>
                    </a:p>
                  </a:txBody>
                  <a:tcPr marL="91440" marR="91440" anchor="ctr">
                    <a:solidFill>
                      <a:srgbClr val="EAF3FF"/>
                    </a:solidFill>
                  </a:tcPr>
                </a:tc>
              </a:tr>
              <a:tr h="646611">
                <a:tc>
                  <a:txBody>
                    <a:bodyPr wrap="square"/>
                    <a:lstStyle/>
                    <a:p>
                      <a:r>
                        <a:rPr sz="1600" b="1">
                          <a:solidFill>
                            <a:srgbClr val="03306E"/>
                          </a:solidFill>
                          <a:latin typeface="Calibri"/>
                        </a:rPr>
                        <a:t>Input / output</a:t>
                      </a:r>
                    </a:p>
                  </a:txBody>
                  <a:tcPr marL="91440" marR="91440" anchor="ctr">
                    <a:solidFill>
                      <a:srgbClr val="FFFFFF"/>
                    </a:solidFill>
                  </a:tcPr>
                </a:tc>
                <a:tc>
                  <a:txBody>
                    <a:bodyPr wrap="square"/>
                    <a:lstStyle/>
                    <a:p>
                      <a:r>
                        <a:rPr sz="1600" b="0">
                          <a:solidFill>
                            <a:srgbClr val="202122"/>
                          </a:solidFill>
                          <a:latin typeface="Calibri"/>
                        </a:rPr>
                        <a:t>Parallelogram</a:t>
                      </a:r>
                    </a:p>
                  </a:txBody>
                  <a:tcPr marL="91440" marR="91440" anchor="ctr">
                    <a:solidFill>
                      <a:srgbClr val="FFFFFF"/>
                    </a:solidFill>
                  </a:tcPr>
                </a:tc>
                <a:tc>
                  <a:txBody>
                    <a:bodyPr wrap="square"/>
                    <a:lstStyle/>
                    <a:p>
                      <a:r>
                        <a:rPr sz="1600" b="0">
                          <a:solidFill>
                            <a:srgbClr val="202122"/>
                          </a:solidFill>
                          <a:latin typeface="Calibri"/>
                        </a:rPr>
                        <a:t>Data entering or leaving the system</a:t>
                      </a:r>
                    </a:p>
                  </a:txBody>
                  <a:tcPr marL="91440" marR="91440" anchor="ctr">
                    <a:solidFill>
                      <a:srgbClr val="FFFFFF"/>
                    </a:solidFill>
                  </a:tcPr>
                </a:tc>
              </a:tr>
              <a:tr h="646611">
                <a:tc>
                  <a:txBody>
                    <a:bodyPr wrap="square"/>
                    <a:lstStyle/>
                    <a:p>
                      <a:r>
                        <a:rPr sz="1600" b="1">
                          <a:solidFill>
                            <a:srgbClr val="03306E"/>
                          </a:solidFill>
                          <a:latin typeface="Calibri"/>
                        </a:rPr>
                        <a:t>Arrow and label</a:t>
                      </a:r>
                    </a:p>
                  </a:txBody>
                  <a:tcPr marL="91440" marR="91440" anchor="ctr">
                    <a:solidFill>
                      <a:srgbClr val="EAF3FF"/>
                    </a:solidFill>
                  </a:tcPr>
                </a:tc>
                <a:tc>
                  <a:txBody>
                    <a:bodyPr wrap="square"/>
                    <a:lstStyle/>
                    <a:p>
                      <a:r>
                        <a:rPr sz="1600" b="0">
                          <a:solidFill>
                            <a:srgbClr val="202122"/>
                          </a:solidFill>
                          <a:latin typeface="Calibri"/>
                        </a:rPr>
                        <a:t>Line with arrowhead</a:t>
                      </a:r>
                    </a:p>
                  </a:txBody>
                  <a:tcPr marL="91440" marR="91440" anchor="ctr">
                    <a:solidFill>
                      <a:srgbClr val="EAF3FF"/>
                    </a:solidFill>
                  </a:tcPr>
                </a:tc>
                <a:tc>
                  <a:txBody>
                    <a:bodyPr wrap="square"/>
                    <a:lstStyle/>
                    <a:p>
                      <a:r>
                        <a:rPr sz="1600" b="0">
                          <a:solidFill>
                            <a:srgbClr val="202122"/>
                          </a:solidFill>
                          <a:latin typeface="Calibri"/>
                        </a:rPr>
                        <a:t>Direction of flow, with Yes/No labels on decisions</a:t>
                      </a:r>
                    </a:p>
                  </a:txBody>
                  <a:tcPr marL="91440" marR="91440" anchor="ctr">
                    <a:solidFill>
                      <a:srgbClr val="EAF3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Working with algorithms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Computational Thinking, Algorithms and Diagrams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140"/>
              </a:spcAft>
            </a:pPr>
            <a:r>
              <a:rPr sz="1900" b="0">
                <a:solidFill>
                  <a:srgbClr val="202122"/>
                </a:solidFill>
                <a:latin typeface="Calibri"/>
              </a:rPr>
              <a:t>In the exam you'll be given algorithms to work out, fix and write yourself.</a:t>
            </a:r>
          </a:p>
          <a:p>
            <a:pPr>
              <a:spcAft>
                <a:spcPts val="1140"/>
              </a:spcAft>
            </a:pPr>
            <a:r>
              <a:rPr sz="1900" b="0">
                <a:solidFill>
                  <a:srgbClr val="202122"/>
                </a:solidFill>
                <a:latin typeface="Calibri"/>
              </a:rPr>
              <a:t>To find an algorithm's purpose or output, trace it: follow each step with a sample input and write down every variable's value as it changes. This is what a trace table is for.</a:t>
            </a:r>
          </a:p>
          <a:p>
            <a:pPr>
              <a:spcAft>
                <a:spcPts val="1140"/>
              </a:spcAft>
            </a:pPr>
            <a:r>
              <a:rPr sz="1900" b="0">
                <a:solidFill>
                  <a:srgbClr val="202122"/>
                </a:solidFill>
                <a:latin typeface="Calibri"/>
              </a:rPr>
              <a:t>Errors in algorithms are usually logic errors: a comparison the wrong way round (&lt; instead of &gt;), a counter that never increases, or steps in the wrong order. The algorithm still runs; it just gives the wrong answer.</a:t>
            </a:r>
          </a:p>
          <a:p>
            <a:pPr>
              <a:spcAft>
                <a:spcPts val="1140"/>
              </a:spcAft>
            </a:pPr>
            <a:r>
              <a:rPr sz="1900" b="0">
                <a:solidFill>
                  <a:srgbClr val="202122"/>
                </a:solidFill>
                <a:latin typeface="Calibri"/>
              </a:rPr>
              <a:t>When you design your own, start from the inputs and outputs, then build the steps using sequence, selection and iteration.</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An algorithm should total the numbers 1 to 5. A trace shows the total reaching 10, not 15. The loop stops at 4 because it checks 'count &lt; 5' instead of 'count &lt;= 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Working with algorithms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Computational Thinking, Algorithms and Diagrams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TextBox 5"/>
          <p:cNvSpPr txBox="1"/>
          <p:nvPr/>
        </p:nvSpPr>
        <p:spPr>
          <a:xfrm>
            <a:off x="548640" y="1600200"/>
            <a:ext cx="6675120" cy="4572000"/>
          </a:xfrm>
          <a:prstGeom prst="rect">
            <a:avLst/>
          </a:prstGeom>
          <a:noFill/>
        </p:spPr>
        <p:txBody>
          <a:bodyPr wrap="square" lIns="0" rIns="0" tIns="0" bIns="0">
            <a:spAutoFit/>
          </a:bodyPr>
          <a:lstStyle/>
          <a:p>
            <a:pPr marL="274320" indent="-274320">
              <a:spcAft>
                <a:spcPts val="1080"/>
              </a:spcAft>
              <a:buClr>
                <a:srgbClr val="0645AD"/>
              </a:buClr>
              <a:buFont typeface="Arial"/>
              <a:buChar char="•"/>
            </a:pPr>
            <a:r>
              <a:rPr sz="2400" b="1">
                <a:solidFill>
                  <a:srgbClr val="202122"/>
                </a:solidFill>
                <a:latin typeface="Calibri"/>
              </a:rPr>
              <a:t>Trace:</a:t>
            </a:r>
            <a:r>
              <a:rPr sz="2400" b="0">
                <a:solidFill>
                  <a:srgbClr val="202122"/>
                </a:solidFill>
                <a:latin typeface="Calibri"/>
              </a:rPr>
              <a:t> follow the algorithm step by step with a given input and record the output.</a:t>
            </a:r>
          </a:p>
          <a:p>
            <a:pPr marL="274320" indent="-274320">
              <a:spcAft>
                <a:spcPts val="1080"/>
              </a:spcAft>
              <a:buClr>
                <a:srgbClr val="0645AD"/>
              </a:buClr>
              <a:buFont typeface="Arial"/>
              <a:buChar char="•"/>
            </a:pPr>
            <a:r>
              <a:rPr sz="2400" b="1">
                <a:solidFill>
                  <a:srgbClr val="202122"/>
                </a:solidFill>
                <a:latin typeface="Calibri"/>
              </a:rPr>
              <a:t>Correct:</a:t>
            </a:r>
            <a:r>
              <a:rPr sz="2400" b="0">
                <a:solidFill>
                  <a:srgbClr val="202122"/>
                </a:solidFill>
                <a:latin typeface="Calibri"/>
              </a:rPr>
              <a:t> find logic errors such as a wrong condition or a loop that never ends.</a:t>
            </a:r>
          </a:p>
          <a:p>
            <a:pPr marL="274320" indent="-274320">
              <a:spcAft>
                <a:spcPts val="1080"/>
              </a:spcAft>
              <a:buClr>
                <a:srgbClr val="0645AD"/>
              </a:buClr>
              <a:buFont typeface="Arial"/>
              <a:buChar char="•"/>
            </a:pPr>
            <a:r>
              <a:rPr sz="2400" b="1">
                <a:solidFill>
                  <a:srgbClr val="202122"/>
                </a:solidFill>
                <a:latin typeface="Calibri"/>
              </a:rPr>
              <a:t>Design:</a:t>
            </a:r>
            <a:r>
              <a:rPr sz="2400" b="0">
                <a:solidFill>
                  <a:srgbClr val="202122"/>
                </a:solidFill>
                <a:latin typeface="Calibri"/>
              </a:rPr>
              <a:t> build your own solution using sequence, selection and iteration.</a:t>
            </a:r>
          </a:p>
          <a:p>
            <a:pPr marL="274320" indent="-274320">
              <a:spcAft>
                <a:spcPts val="1080"/>
              </a:spcAft>
              <a:buClr>
                <a:srgbClr val="0645AD"/>
              </a:buClr>
              <a:buFont typeface="Arial"/>
              <a:buChar char="•"/>
            </a:pPr>
            <a:r>
              <a:rPr sz="2400" b="1">
                <a:solidFill>
                  <a:srgbClr val="202122"/>
                </a:solidFill>
                <a:latin typeface="Calibri"/>
              </a:rPr>
              <a:t>Test:</a:t>
            </a:r>
            <a:r>
              <a:rPr sz="2400" b="0">
                <a:solidFill>
                  <a:srgbClr val="202122"/>
                </a:solidFill>
                <a:latin typeface="Calibri"/>
              </a:rPr>
              <a:t> try normal, boundary and invalid inputs to check it behaves as expected.</a:t>
            </a:r>
          </a:p>
        </p:txBody>
      </p:sp>
      <p:sp>
        <p:nvSpPr>
          <p:cNvPr id="7" name="Rounded Rectangle 6"/>
          <p:cNvSpPr/>
          <p:nvPr/>
        </p:nvSpPr>
        <p:spPr>
          <a:xfrm>
            <a:off x="7772400" y="1600200"/>
            <a:ext cx="3867912" cy="443484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74519"/>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a:t>
            </a:r>
          </a:p>
        </p:txBody>
      </p:sp>
      <p:sp>
        <p:nvSpPr>
          <p:cNvPr id="9" name="TextBox 8"/>
          <p:cNvSpPr txBox="1"/>
          <p:nvPr/>
        </p:nvSpPr>
        <p:spPr>
          <a:xfrm>
            <a:off x="8046720" y="2606040"/>
            <a:ext cx="3291840" cy="365760"/>
          </a:xfrm>
          <a:prstGeom prst="rect">
            <a:avLst/>
          </a:prstGeom>
          <a:noFill/>
        </p:spPr>
        <p:txBody>
          <a:bodyPr wrap="square" anchor="t" lIns="0" rIns="0" tIns="0" bIns="0"/>
          <a:lstStyle/>
          <a:p>
            <a:pPr algn="l"/>
            <a:r>
              <a:rPr sz="1300" b="1" i="0">
                <a:solidFill>
                  <a:srgbClr val="A9C8F0"/>
                </a:solidFill>
                <a:latin typeface="Calibri"/>
              </a:rPr>
              <a:t>KEY IDEA</a:t>
            </a:r>
          </a:p>
        </p:txBody>
      </p:sp>
      <p:sp>
        <p:nvSpPr>
          <p:cNvPr id="10" name="TextBox 9"/>
          <p:cNvSpPr txBox="1"/>
          <p:nvPr/>
        </p:nvSpPr>
        <p:spPr>
          <a:xfrm>
            <a:off x="8046720" y="3017520"/>
            <a:ext cx="3291840" cy="2926080"/>
          </a:xfrm>
          <a:prstGeom prst="rect">
            <a:avLst/>
          </a:prstGeom>
          <a:noFill/>
        </p:spPr>
        <p:txBody>
          <a:bodyPr wrap="square" anchor="t" lIns="0" rIns="0" tIns="0" bIns="0"/>
          <a:lstStyle/>
          <a:p>
            <a:pPr algn="l"/>
            <a:r>
              <a:rPr sz="2200" b="0" i="0">
                <a:solidFill>
                  <a:srgbClr val="FFFFFF"/>
                </a:solidFill>
                <a:latin typeface="Cambria"/>
              </a:rPr>
              <a:t>A trace table records the value of each variable after every step. It is the fastest way to find where an algorithm goes wrong.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Working with algorithms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Computational Thinking, Algorithms and Diagrams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a trace table used for?</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Does a logic error stop an algorithm running?</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Where should you start when designing an algorithm?</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Diagrams in digital support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Computational Thinking, Algorithms and Diagrams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Diagrams let you explain a system quickly to colleagues and clients.</a:t>
            </a:r>
          </a:p>
          <a:p>
            <a:pPr>
              <a:spcAft>
                <a:spcPts val="1200"/>
              </a:spcAft>
            </a:pPr>
            <a:r>
              <a:rPr sz="2000" b="0">
                <a:solidFill>
                  <a:srgbClr val="202122"/>
                </a:solidFill>
                <a:latin typeface="Calibri"/>
              </a:rPr>
              <a:t>A data flow diagram (DFD) shows how data moves through a system. External entities (people or systems outside it) send or receive data; processes change the data; data stores hold it; labelled arrows show exactly what data moves where.</a:t>
            </a:r>
          </a:p>
          <a:p>
            <a:pPr>
              <a:spcAft>
                <a:spcPts val="1200"/>
              </a:spcAft>
            </a:pPr>
            <a:r>
              <a:rPr sz="2000" b="0">
                <a:solidFill>
                  <a:srgbClr val="202122"/>
                </a:solidFill>
                <a:latin typeface="Calibri"/>
              </a:rPr>
              <a:t>An information flow diagram is simpler. It uses boxes for people, departments or systems and arrows for the information passing between them. It shows who talks to whom, not how data is processed.</a:t>
            </a:r>
          </a:p>
          <a:p>
            <a:pPr>
              <a:spcAft>
                <a:spcPts val="1200"/>
              </a:spcAft>
            </a:pPr>
            <a:r>
              <a:rPr sz="2000" b="0">
                <a:solidFill>
                  <a:srgbClr val="202122"/>
                </a:solidFill>
                <a:latin typeface="Calibri"/>
              </a:rPr>
              <a:t>You need to be able to read both and complete or draw your own.</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Helpdesk DFD: User (entity) sends 'fault report' to Log Ticket (process), which writes to the Tickets data store. Assign Technician (process) reads the ticket and sends 'job' to the Technician (entity).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Diagrams in digital support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Computational Thinking, Algorithms and Diagrams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Data flow diagram (DFD)</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Data source and destination:</a:t>
            </a:r>
            <a:r>
              <a:rPr sz="2200" b="0">
                <a:solidFill>
                  <a:srgbClr val="202122"/>
                </a:solidFill>
                <a:latin typeface="Calibri"/>
              </a:rPr>
              <a:t> external entities</a:t>
            </a:r>
          </a:p>
          <a:p>
            <a:pPr marL="274320" indent="-274320">
              <a:spcAft>
                <a:spcPts val="990"/>
              </a:spcAft>
              <a:buClr>
                <a:srgbClr val="0645AD"/>
              </a:buClr>
              <a:buFont typeface="Arial"/>
              <a:buChar char="•"/>
            </a:pPr>
            <a:r>
              <a:rPr sz="2200" b="1">
                <a:solidFill>
                  <a:srgbClr val="202122"/>
                </a:solidFill>
                <a:latin typeface="Calibri"/>
              </a:rPr>
              <a:t>Process:</a:t>
            </a:r>
            <a:r>
              <a:rPr sz="2200" b="0">
                <a:solidFill>
                  <a:srgbClr val="202122"/>
                </a:solidFill>
                <a:latin typeface="Calibri"/>
              </a:rPr>
              <a:t> something that changes the data</a:t>
            </a:r>
          </a:p>
          <a:p>
            <a:pPr marL="274320" indent="-274320">
              <a:spcAft>
                <a:spcPts val="990"/>
              </a:spcAft>
              <a:buClr>
                <a:srgbClr val="0645AD"/>
              </a:buClr>
              <a:buFont typeface="Arial"/>
              <a:buChar char="•"/>
            </a:pPr>
            <a:r>
              <a:rPr sz="2200" b="1">
                <a:solidFill>
                  <a:srgbClr val="202122"/>
                </a:solidFill>
                <a:latin typeface="Calibri"/>
              </a:rPr>
              <a:t>Data store:</a:t>
            </a:r>
            <a:r>
              <a:rPr sz="2200" b="0">
                <a:solidFill>
                  <a:srgbClr val="202122"/>
                </a:solidFill>
                <a:latin typeface="Calibri"/>
              </a:rPr>
              <a:t> where data is held</a:t>
            </a:r>
          </a:p>
          <a:p>
            <a:pPr marL="274320" indent="-274320">
              <a:spcAft>
                <a:spcPts val="990"/>
              </a:spcAft>
              <a:buClr>
                <a:srgbClr val="0645AD"/>
              </a:buClr>
              <a:buFont typeface="Arial"/>
              <a:buChar char="•"/>
            </a:pPr>
            <a:r>
              <a:rPr sz="2200" b="1">
                <a:solidFill>
                  <a:srgbClr val="202122"/>
                </a:solidFill>
                <a:latin typeface="Calibri"/>
              </a:rPr>
              <a:t>Arrows with labels:</a:t>
            </a:r>
            <a:r>
              <a:rPr sz="2200" b="0">
                <a:solidFill>
                  <a:srgbClr val="202122"/>
                </a:solidFill>
                <a:latin typeface="Calibri"/>
              </a:rPr>
              <a:t> the data that moves</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Information flow diagram</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Boxes:</a:t>
            </a:r>
            <a:r>
              <a:rPr sz="2200" b="0">
                <a:solidFill>
                  <a:srgbClr val="202122"/>
                </a:solidFill>
                <a:latin typeface="Calibri"/>
              </a:rPr>
              <a:t> people, departments or systems</a:t>
            </a:r>
          </a:p>
          <a:p>
            <a:pPr marL="274320" indent="-274320">
              <a:spcAft>
                <a:spcPts val="990"/>
              </a:spcAft>
              <a:buClr>
                <a:srgbClr val="0645AD"/>
              </a:buClr>
              <a:buFont typeface="Arial"/>
              <a:buChar char="•"/>
            </a:pPr>
            <a:r>
              <a:rPr sz="2200" b="1">
                <a:solidFill>
                  <a:srgbClr val="202122"/>
                </a:solidFill>
                <a:latin typeface="Calibri"/>
              </a:rPr>
              <a:t>Arrows:</a:t>
            </a:r>
            <a:r>
              <a:rPr sz="2200" b="0">
                <a:solidFill>
                  <a:srgbClr val="202122"/>
                </a:solidFill>
                <a:latin typeface="Calibri"/>
              </a:rPr>
              <a:t> the direction information travels</a:t>
            </a:r>
          </a:p>
          <a:p>
            <a:pPr marL="274320" indent="-274320">
              <a:spcAft>
                <a:spcPts val="990"/>
              </a:spcAft>
              <a:buClr>
                <a:srgbClr val="0645AD"/>
              </a:buClr>
              <a:buFont typeface="Arial"/>
              <a:buChar char="•"/>
            </a:pPr>
            <a:r>
              <a:rPr sz="2200" b="1">
                <a:solidFill>
                  <a:srgbClr val="202122"/>
                </a:solidFill>
                <a:latin typeface="Calibri"/>
              </a:rPr>
              <a:t>Labels:</a:t>
            </a:r>
            <a:r>
              <a:rPr sz="2200" b="0">
                <a:solidFill>
                  <a:srgbClr val="202122"/>
                </a:solidFill>
                <a:latin typeface="Calibri"/>
              </a:rPr>
              <a:t> what the information is</a:t>
            </a:r>
          </a:p>
          <a:p>
            <a:pPr marL="274320" indent="-274320">
              <a:spcAft>
                <a:spcPts val="990"/>
              </a:spcAft>
              <a:buClr>
                <a:srgbClr val="0645AD"/>
              </a:buClr>
              <a:buFont typeface="Arial"/>
              <a:buChar char="•"/>
            </a:pPr>
            <a:r>
              <a:rPr sz="2200" b="1">
                <a:solidFill>
                  <a:srgbClr val="202122"/>
                </a:solidFill>
                <a:latin typeface="Calibri"/>
              </a:rPr>
              <a:t>Simpler:</a:t>
            </a:r>
            <a:r>
              <a:rPr sz="2200" b="0">
                <a:solidFill>
                  <a:srgbClr val="202122"/>
                </a:solidFill>
                <a:latin typeface="Calibri"/>
              </a:rPr>
              <a:t> shows who talks to whom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Diagrams in digital support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Computational Thinking, Algorithms and Diagrams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16</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does a data store represent on a DFD?</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an external entity?</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When would an information flow diagram be enough?</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Key terms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Computational Thinking, Algorithms and Diagrams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17</a:t>
            </a:r>
          </a:p>
        </p:txBody>
      </p:sp>
      <p:sp>
        <p:nvSpPr>
          <p:cNvPr id="6" name="Rounded Rectangle 5"/>
          <p:cNvSpPr/>
          <p:nvPr/>
        </p:nvSpPr>
        <p:spPr>
          <a:xfrm>
            <a:off x="548640" y="1600200"/>
            <a:ext cx="5432907" cy="13716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91640"/>
            <a:ext cx="4975707" cy="1188720"/>
          </a:xfrm>
          <a:prstGeom prst="rect">
            <a:avLst/>
          </a:prstGeom>
          <a:noFill/>
        </p:spPr>
        <p:txBody>
          <a:bodyPr wrap="square" anchor="ctr" lIns="0" rIns="0" tIns="0" bIns="0"/>
          <a:lstStyle/>
          <a:p>
            <a:pPr algn="l"/>
            <a:r>
              <a:rPr sz="1900" b="1" i="0">
                <a:solidFill>
                  <a:srgbClr val="03306E"/>
                </a:solidFill>
                <a:latin typeface="Calibri"/>
              </a:rPr>
              <a:t>Decomposition</a:t>
            </a:r>
            <a:r>
              <a:rPr sz="1900">
                <a:solidFill>
                  <a:srgbClr val="202122"/>
                </a:solidFill>
                <a:latin typeface="Calibri"/>
              </a:rPr>
              <a:t>  breaking a problem into smaller parts.</a:t>
            </a:r>
          </a:p>
        </p:txBody>
      </p:sp>
      <p:sp>
        <p:nvSpPr>
          <p:cNvPr id="8" name="Rounded Rectangle 7"/>
          <p:cNvSpPr/>
          <p:nvPr/>
        </p:nvSpPr>
        <p:spPr>
          <a:xfrm>
            <a:off x="6210147" y="1600200"/>
            <a:ext cx="5432907" cy="13716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38747" y="1691640"/>
            <a:ext cx="4975707" cy="1188720"/>
          </a:xfrm>
          <a:prstGeom prst="rect">
            <a:avLst/>
          </a:prstGeom>
          <a:noFill/>
        </p:spPr>
        <p:txBody>
          <a:bodyPr wrap="square" anchor="ctr" lIns="0" rIns="0" tIns="0" bIns="0"/>
          <a:lstStyle/>
          <a:p>
            <a:pPr algn="l"/>
            <a:r>
              <a:rPr sz="1900" b="1" i="0">
                <a:solidFill>
                  <a:srgbClr val="03306E"/>
                </a:solidFill>
                <a:latin typeface="Calibri"/>
              </a:rPr>
              <a:t>Abstraction</a:t>
            </a:r>
            <a:r>
              <a:rPr sz="1900">
                <a:solidFill>
                  <a:srgbClr val="202122"/>
                </a:solidFill>
                <a:latin typeface="Calibri"/>
              </a:rPr>
              <a:t>  filtering out detail that is not needed.</a:t>
            </a:r>
          </a:p>
        </p:txBody>
      </p:sp>
      <p:sp>
        <p:nvSpPr>
          <p:cNvPr id="10" name="Rounded Rectangle 9"/>
          <p:cNvSpPr/>
          <p:nvPr/>
        </p:nvSpPr>
        <p:spPr>
          <a:xfrm>
            <a:off x="548640" y="3200400"/>
            <a:ext cx="5432907" cy="13716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291840"/>
            <a:ext cx="4975707" cy="1188720"/>
          </a:xfrm>
          <a:prstGeom prst="rect">
            <a:avLst/>
          </a:prstGeom>
          <a:noFill/>
        </p:spPr>
        <p:txBody>
          <a:bodyPr wrap="square" anchor="ctr" lIns="0" rIns="0" tIns="0" bIns="0"/>
          <a:lstStyle/>
          <a:p>
            <a:pPr algn="l"/>
            <a:r>
              <a:rPr sz="1900" b="1" i="0">
                <a:solidFill>
                  <a:srgbClr val="03306E"/>
                </a:solidFill>
                <a:latin typeface="Calibri"/>
              </a:rPr>
              <a:t>Algorithm</a:t>
            </a:r>
            <a:r>
              <a:rPr sz="1900">
                <a:solidFill>
                  <a:srgbClr val="202122"/>
                </a:solidFill>
                <a:latin typeface="Calibri"/>
              </a:rPr>
              <a:t>  a precise, ordered set of steps to solve a problem.</a:t>
            </a:r>
          </a:p>
        </p:txBody>
      </p:sp>
      <p:sp>
        <p:nvSpPr>
          <p:cNvPr id="12" name="Rounded Rectangle 11"/>
          <p:cNvSpPr/>
          <p:nvPr/>
        </p:nvSpPr>
        <p:spPr>
          <a:xfrm>
            <a:off x="6210147" y="3200400"/>
            <a:ext cx="5432907" cy="13716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38747" y="3291840"/>
            <a:ext cx="4975707" cy="1188720"/>
          </a:xfrm>
          <a:prstGeom prst="rect">
            <a:avLst/>
          </a:prstGeom>
          <a:noFill/>
        </p:spPr>
        <p:txBody>
          <a:bodyPr wrap="square" anchor="ctr" lIns="0" rIns="0" tIns="0" bIns="0"/>
          <a:lstStyle/>
          <a:p>
            <a:pPr algn="l"/>
            <a:r>
              <a:rPr sz="1900" b="1" i="0">
                <a:solidFill>
                  <a:srgbClr val="03306E"/>
                </a:solidFill>
                <a:latin typeface="Calibri"/>
              </a:rPr>
              <a:t>Selection</a:t>
            </a:r>
            <a:r>
              <a:rPr sz="1900">
                <a:solidFill>
                  <a:srgbClr val="202122"/>
                </a:solidFill>
                <a:latin typeface="Calibri"/>
              </a:rPr>
              <a:t>  a decision that chooses between paths.</a:t>
            </a:r>
          </a:p>
        </p:txBody>
      </p:sp>
      <p:sp>
        <p:nvSpPr>
          <p:cNvPr id="14" name="Rounded Rectangle 13"/>
          <p:cNvSpPr/>
          <p:nvPr/>
        </p:nvSpPr>
        <p:spPr>
          <a:xfrm>
            <a:off x="548640" y="4800600"/>
            <a:ext cx="5432907" cy="13716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4892040"/>
            <a:ext cx="4975707" cy="1188720"/>
          </a:xfrm>
          <a:prstGeom prst="rect">
            <a:avLst/>
          </a:prstGeom>
          <a:noFill/>
        </p:spPr>
        <p:txBody>
          <a:bodyPr wrap="square" anchor="ctr" lIns="0" rIns="0" tIns="0" bIns="0"/>
          <a:lstStyle/>
          <a:p>
            <a:pPr algn="l"/>
            <a:r>
              <a:rPr sz="1900" b="1" i="0">
                <a:solidFill>
                  <a:srgbClr val="03306E"/>
                </a:solidFill>
                <a:latin typeface="Calibri"/>
              </a:rPr>
              <a:t>Iteration</a:t>
            </a:r>
            <a:r>
              <a:rPr sz="1900">
                <a:solidFill>
                  <a:srgbClr val="202122"/>
                </a:solidFill>
                <a:latin typeface="Calibri"/>
              </a:rPr>
              <a:t>  repeating steps until a condition is met.</a:t>
            </a:r>
          </a:p>
        </p:txBody>
      </p:sp>
      <p:sp>
        <p:nvSpPr>
          <p:cNvPr id="16" name="Rounded Rectangle 15"/>
          <p:cNvSpPr/>
          <p:nvPr/>
        </p:nvSpPr>
        <p:spPr>
          <a:xfrm>
            <a:off x="6210147" y="4800600"/>
            <a:ext cx="5432907" cy="13716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38747" y="4892040"/>
            <a:ext cx="4975707" cy="1188720"/>
          </a:xfrm>
          <a:prstGeom prst="rect">
            <a:avLst/>
          </a:prstGeom>
          <a:noFill/>
        </p:spPr>
        <p:txBody>
          <a:bodyPr wrap="square" anchor="ctr" lIns="0" rIns="0" tIns="0" bIns="0"/>
          <a:lstStyle/>
          <a:p>
            <a:pPr algn="l"/>
            <a:r>
              <a:rPr sz="1900" b="1" i="0">
                <a:solidFill>
                  <a:srgbClr val="03306E"/>
                </a:solidFill>
                <a:latin typeface="Calibri"/>
              </a:rPr>
              <a:t>DFD</a:t>
            </a:r>
            <a:r>
              <a:rPr sz="1900">
                <a:solidFill>
                  <a:srgbClr val="202122"/>
                </a:solidFill>
                <a:latin typeface="Calibri"/>
              </a:rPr>
              <a:t>  a diagram showing how data moves between entities, processes and stores.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Computational Thinking, Algorithms and Diagrams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18</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2200" b="0" i="0">
                <a:solidFill>
                  <a:srgbClr val="202122"/>
                </a:solidFill>
                <a:latin typeface="Calibri"/>
              </a:rPr>
              <a:t>Name the four components of computational thinking.</a:t>
            </a:r>
          </a:p>
        </p:txBody>
      </p:sp>
      <p:sp>
        <p:nvSpPr>
          <p:cNvPr id="8" name="Oval 7"/>
          <p:cNvSpPr/>
          <p:nvPr/>
        </p:nvSpPr>
        <p:spPr>
          <a:xfrm>
            <a:off x="548640" y="2574950"/>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2200" b="0" i="0">
                <a:solidFill>
                  <a:srgbClr val="202122"/>
                </a:solidFill>
                <a:latin typeface="Calibri"/>
              </a:rPr>
              <a:t>Which flowchart symbol is used for a decision?</a:t>
            </a:r>
          </a:p>
        </p:txBody>
      </p:sp>
      <p:sp>
        <p:nvSpPr>
          <p:cNvPr id="10" name="Oval 9"/>
          <p:cNvSpPr/>
          <p:nvPr/>
        </p:nvSpPr>
        <p:spPr>
          <a:xfrm>
            <a:off x="548640" y="3531412"/>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2200" b="0" i="0">
                <a:solidFill>
                  <a:srgbClr val="202122"/>
                </a:solidFill>
                <a:latin typeface="Calibri"/>
              </a:rPr>
              <a:t>What is the difference between selection and iteration?</a:t>
            </a:r>
          </a:p>
        </p:txBody>
      </p:sp>
      <p:sp>
        <p:nvSpPr>
          <p:cNvPr id="12" name="Oval 11"/>
          <p:cNvSpPr/>
          <p:nvPr/>
        </p:nvSpPr>
        <p:spPr>
          <a:xfrm>
            <a:off x="548640" y="4487875"/>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2200" b="0" i="0">
                <a:solidFill>
                  <a:srgbClr val="202122"/>
                </a:solidFill>
                <a:latin typeface="Calibri"/>
              </a:rPr>
              <a:t>Give one drawback of abstraction.</a:t>
            </a:r>
          </a:p>
        </p:txBody>
      </p:sp>
      <p:sp>
        <p:nvSpPr>
          <p:cNvPr id="14" name="Oval 13"/>
          <p:cNvSpPr/>
          <p:nvPr/>
        </p:nvSpPr>
        <p:spPr>
          <a:xfrm>
            <a:off x="548640" y="5444337"/>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2200" b="0" i="0">
                <a:solidFill>
                  <a:srgbClr val="202122"/>
                </a:solidFill>
                <a:latin typeface="Calibri"/>
              </a:rPr>
              <a:t>What does a data store represent on a DFD?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Computational Thinking, Algorithms and Diagrams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19</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1800" b="0" i="0">
                <a:solidFill>
                  <a:srgbClr val="54595D"/>
                </a:solidFill>
                <a:latin typeface="Calibri"/>
              </a:rPr>
              <a:t>Name the four components of computational thinking.</a:t>
            </a:r>
          </a:p>
          <a:p>
            <a:r>
              <a:rPr sz="1800" b="1">
                <a:solidFill>
                  <a:srgbClr val="03306E"/>
                </a:solidFill>
                <a:latin typeface="Calibri"/>
              </a:rPr>
              <a:t>Decomposition, pattern recognition, abstraction, algorithmic design.</a:t>
            </a:r>
          </a:p>
        </p:txBody>
      </p:sp>
      <p:sp>
        <p:nvSpPr>
          <p:cNvPr id="8" name="Oval 7"/>
          <p:cNvSpPr/>
          <p:nvPr/>
        </p:nvSpPr>
        <p:spPr>
          <a:xfrm>
            <a:off x="548640" y="2574950"/>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1800" b="0" i="0">
                <a:solidFill>
                  <a:srgbClr val="54595D"/>
                </a:solidFill>
                <a:latin typeface="Calibri"/>
              </a:rPr>
              <a:t>Which flowchart symbol is used for a decision?</a:t>
            </a:r>
          </a:p>
          <a:p>
            <a:r>
              <a:rPr sz="1800" b="1">
                <a:solidFill>
                  <a:srgbClr val="03306E"/>
                </a:solidFill>
                <a:latin typeface="Calibri"/>
              </a:rPr>
              <a:t>A diamond.</a:t>
            </a:r>
          </a:p>
        </p:txBody>
      </p:sp>
      <p:sp>
        <p:nvSpPr>
          <p:cNvPr id="10" name="Oval 9"/>
          <p:cNvSpPr/>
          <p:nvPr/>
        </p:nvSpPr>
        <p:spPr>
          <a:xfrm>
            <a:off x="548640" y="3531412"/>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1800" b="0" i="0">
                <a:solidFill>
                  <a:srgbClr val="54595D"/>
                </a:solidFill>
                <a:latin typeface="Calibri"/>
              </a:rPr>
              <a:t>What is the difference between selection and iteration?</a:t>
            </a:r>
          </a:p>
          <a:p>
            <a:r>
              <a:rPr sz="1800" b="1">
                <a:solidFill>
                  <a:srgbClr val="03306E"/>
                </a:solidFill>
                <a:latin typeface="Calibri"/>
              </a:rPr>
              <a:t>Selection chooses a path once; iteration repeats steps until a condition is met.</a:t>
            </a:r>
          </a:p>
        </p:txBody>
      </p:sp>
      <p:sp>
        <p:nvSpPr>
          <p:cNvPr id="12" name="Oval 11"/>
          <p:cNvSpPr/>
          <p:nvPr/>
        </p:nvSpPr>
        <p:spPr>
          <a:xfrm>
            <a:off x="548640" y="4487875"/>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1800" b="0" i="0">
                <a:solidFill>
                  <a:srgbClr val="54595D"/>
                </a:solidFill>
                <a:latin typeface="Calibri"/>
              </a:rPr>
              <a:t>Give one drawback of abstraction.</a:t>
            </a:r>
          </a:p>
          <a:p>
            <a:r>
              <a:rPr sz="1800" b="1">
                <a:solidFill>
                  <a:srgbClr val="03306E"/>
                </a:solidFill>
                <a:latin typeface="Calibri"/>
              </a:rPr>
              <a:t>Removing too much detail can hide something important to the solution.</a:t>
            </a:r>
          </a:p>
        </p:txBody>
      </p:sp>
      <p:sp>
        <p:nvSpPr>
          <p:cNvPr id="14" name="Oval 13"/>
          <p:cNvSpPr/>
          <p:nvPr/>
        </p:nvSpPr>
        <p:spPr>
          <a:xfrm>
            <a:off x="548640" y="5444337"/>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1800" b="0" i="0">
                <a:solidFill>
                  <a:srgbClr val="54595D"/>
                </a:solidFill>
                <a:latin typeface="Calibri"/>
              </a:rPr>
              <a:t>What does a data store represent on a DFD?</a:t>
            </a:r>
          </a:p>
          <a:p>
            <a:r>
              <a:rPr sz="1800" b="1">
                <a:solidFill>
                  <a:srgbClr val="03306E"/>
                </a:solidFill>
                <a:latin typeface="Calibri"/>
              </a:rPr>
              <a:t>A place where data is held, such as a database or file.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Flowchart a helpdesk fix</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Computational Thinking, Algorithms and Diagrams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20</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39298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689457"/>
          </a:xfrm>
          <a:prstGeom prst="rect">
            <a:avLst/>
          </a:prstGeom>
          <a:noFill/>
        </p:spPr>
        <p:txBody>
          <a:bodyPr wrap="square" anchor="ctr" lIns="0" rIns="0" tIns="0" bIns="0"/>
          <a:lstStyle/>
          <a:p>
            <a:pPr algn="l"/>
            <a:r>
              <a:rPr sz="1700" b="0" i="0">
                <a:solidFill>
                  <a:srgbClr val="202122"/>
                </a:solidFill>
                <a:latin typeface="Calibri"/>
              </a:rPr>
              <a:t>Scenario: a user reports they cannot print.</a:t>
            </a:r>
          </a:p>
        </p:txBody>
      </p:sp>
      <p:sp>
        <p:nvSpPr>
          <p:cNvPr id="11" name="Oval 10"/>
          <p:cNvSpPr/>
          <p:nvPr/>
        </p:nvSpPr>
        <p:spPr>
          <a:xfrm>
            <a:off x="548640" y="319217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039465"/>
            <a:ext cx="5943600" cy="689457"/>
          </a:xfrm>
          <a:prstGeom prst="rect">
            <a:avLst/>
          </a:prstGeom>
          <a:noFill/>
        </p:spPr>
        <p:txBody>
          <a:bodyPr wrap="square" anchor="ctr" lIns="0" rIns="0" tIns="0" bIns="0"/>
          <a:lstStyle/>
          <a:p>
            <a:pPr algn="l"/>
            <a:r>
              <a:rPr sz="1700" b="0" i="0">
                <a:solidFill>
                  <a:srgbClr val="202122"/>
                </a:solidFill>
                <a:latin typeface="Calibri"/>
              </a:rPr>
              <a:t>Decompose the problem into at least four possible causes.</a:t>
            </a:r>
          </a:p>
        </p:txBody>
      </p:sp>
      <p:sp>
        <p:nvSpPr>
          <p:cNvPr id="13" name="Oval 12"/>
          <p:cNvSpPr/>
          <p:nvPr/>
        </p:nvSpPr>
        <p:spPr>
          <a:xfrm>
            <a:off x="548640" y="399135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3838651"/>
            <a:ext cx="5943600" cy="689457"/>
          </a:xfrm>
          <a:prstGeom prst="rect">
            <a:avLst/>
          </a:prstGeom>
          <a:noFill/>
        </p:spPr>
        <p:txBody>
          <a:bodyPr wrap="square" anchor="ctr" lIns="0" rIns="0" tIns="0" bIns="0"/>
          <a:lstStyle/>
          <a:p>
            <a:pPr algn="l"/>
            <a:r>
              <a:rPr sz="1700" b="0" i="0">
                <a:solidFill>
                  <a:srgbClr val="202122"/>
                </a:solidFill>
                <a:latin typeface="Calibri"/>
              </a:rPr>
              <a:t>Draw a flowchart that checks each cause in a sensible order.</a:t>
            </a:r>
          </a:p>
        </p:txBody>
      </p:sp>
      <p:sp>
        <p:nvSpPr>
          <p:cNvPr id="15" name="Oval 14"/>
          <p:cNvSpPr/>
          <p:nvPr/>
        </p:nvSpPr>
        <p:spPr>
          <a:xfrm>
            <a:off x="548640" y="4790541"/>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4637836"/>
            <a:ext cx="5943600" cy="689457"/>
          </a:xfrm>
          <a:prstGeom prst="rect">
            <a:avLst/>
          </a:prstGeom>
          <a:noFill/>
        </p:spPr>
        <p:txBody>
          <a:bodyPr wrap="square" anchor="ctr" lIns="0" rIns="0" tIns="0" bIns="0"/>
          <a:lstStyle/>
          <a:p>
            <a:pPr algn="l"/>
            <a:r>
              <a:rPr sz="1700" b="0" i="0">
                <a:solidFill>
                  <a:srgbClr val="202122"/>
                </a:solidFill>
                <a:latin typeface="Calibri"/>
              </a:rPr>
              <a:t>Use at least one decision and one loop.</a:t>
            </a:r>
          </a:p>
        </p:txBody>
      </p:sp>
      <p:sp>
        <p:nvSpPr>
          <p:cNvPr id="17" name="Oval 16"/>
          <p:cNvSpPr/>
          <p:nvPr/>
        </p:nvSpPr>
        <p:spPr>
          <a:xfrm>
            <a:off x="548640" y="5589727"/>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8" name="TextBox 17"/>
          <p:cNvSpPr txBox="1"/>
          <p:nvPr/>
        </p:nvSpPr>
        <p:spPr>
          <a:xfrm>
            <a:off x="1143000" y="5437022"/>
            <a:ext cx="5943600" cy="689457"/>
          </a:xfrm>
          <a:prstGeom prst="rect">
            <a:avLst/>
          </a:prstGeom>
          <a:noFill/>
        </p:spPr>
        <p:txBody>
          <a:bodyPr wrap="square" anchor="ctr" lIns="0" rIns="0" tIns="0" bIns="0"/>
          <a:lstStyle/>
          <a:p>
            <a:pPr algn="l"/>
            <a:r>
              <a:rPr sz="1700" b="0" i="0">
                <a:solidFill>
                  <a:srgbClr val="202122"/>
                </a:solidFill>
                <a:latin typeface="Calibri"/>
              </a:rPr>
              <a:t>Swap with another pair and trace their flowchart with a test case.</a:t>
            </a:r>
          </a:p>
        </p:txBody>
      </p:sp>
      <p:sp>
        <p:nvSpPr>
          <p:cNvPr id="19" name="Rounded Rectangle 18"/>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21" name="TextBox 20"/>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Correct symbols throughout</a:t>
            </a:r>
          </a:p>
          <a:p>
            <a:pPr marL="274320" indent="-274320">
              <a:spcAft>
                <a:spcPts val="810"/>
              </a:spcAft>
              <a:buClr>
                <a:srgbClr val="0645AD"/>
              </a:buClr>
              <a:buFont typeface="Arial"/>
              <a:buChar char="•"/>
            </a:pPr>
            <a:r>
              <a:rPr sz="1800" b="0">
                <a:solidFill>
                  <a:srgbClr val="202122"/>
                </a:solidFill>
                <a:latin typeface="Calibri"/>
              </a:rPr>
              <a:t>Every decision has labelled Yes and No paths</a:t>
            </a:r>
          </a:p>
          <a:p>
            <a:pPr marL="274320" indent="-274320">
              <a:spcAft>
                <a:spcPts val="810"/>
              </a:spcAft>
              <a:buClr>
                <a:srgbClr val="0645AD"/>
              </a:buClr>
              <a:buFont typeface="Arial"/>
              <a:buChar char="•"/>
            </a:pPr>
            <a:r>
              <a:rPr sz="1800" b="0">
                <a:solidFill>
                  <a:srgbClr val="202122"/>
                </a:solidFill>
                <a:latin typeface="Calibri"/>
              </a:rPr>
              <a:t>The flowchart always reaches an end</a:t>
            </a:r>
          </a:p>
          <a:p>
            <a:pPr marL="274320" indent="-274320">
              <a:spcAft>
                <a:spcPts val="810"/>
              </a:spcAft>
              <a:buClr>
                <a:srgbClr val="0645AD"/>
              </a:buClr>
              <a:buFont typeface="Arial"/>
              <a:buChar char="•"/>
            </a:pPr>
            <a:r>
              <a:rPr sz="1800" b="0">
                <a:solidFill>
                  <a:srgbClr val="202122"/>
                </a:solidFill>
                <a:latin typeface="Calibri"/>
              </a:rPr>
              <a:t>The trace gives the expected result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Which component of computational thinking do you use most without realising?</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Draw the symbol for an input or output.</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When would you choose a DFD over an information flow diagram?</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Core Paper 1: Problem Solving, Digital Support and Data</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https://lana6478.github.io/Digital-Suport-and-security-T-levle/#/01-core-component/01-core-paper-1.md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Computational Thinking, Algorithms and Diagrams</dc:title>
  <dc:subject>Digital Support and Security T Level: Core Paper 1</dc:subject>
  <dc:creator>Samuel O'Connell</dc:creator>
  <cp:keywords>T Level; Digital Support and Security; lesson slides; 1.1, 1.2, 2.7</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