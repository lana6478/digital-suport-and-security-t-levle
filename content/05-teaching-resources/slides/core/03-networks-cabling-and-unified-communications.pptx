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real routing table with 'route print' on Windows or 'ip route' on Linux.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next router a packet is sent to.</a:t>
            </a:r>
          </a:p>
          <a:p>
            <a:r>
              <a:t>2. Static routes are entered manually; dynamic routes are learned automatically.</a:t>
            </a:r>
          </a:p>
          <a:p>
            <a:r>
              <a:t>3. Sending packets that match no other route, usually towards the internet.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ordering with two rules: ALLOW port 443 from anywhere, then BLOCK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device couldn't get an address from a DHCP server.</a:t>
            </a:r>
          </a:p>
          <a:p>
            <a:r>
              <a:t>2. The first matching rule is applied, so later rules may never be reached.</a:t>
            </a:r>
          </a:p>
          <a:p>
            <a:r>
              <a:t>3. Any two of: IP address, subnet mask, default gateway, DNS servers.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To reduce interference and crosstalk.</a:t>
            </a:r>
          </a:p>
          <a:p>
            <a:r>
              <a:t>2. In electrically noisy areas, e.g. near motors or power cables.</a:t>
            </a:r>
          </a:p>
          <a:p>
            <a:r>
              <a:t>3. Higher bandwidth, longer distances, immune to electrical interference.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the latest values in the specification if a question asks for exact figures.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SIP is the signalling that starts and ends the call; VoIP is the voice data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VoIP carries the voice; SIP sets up, manages and ends the call.</a:t>
            </a:r>
          </a:p>
          <a:p>
            <a:r>
              <a:t>2. Compresses and decompresses audio or video.</a:t>
            </a:r>
          </a:p>
          <a:p>
            <a:r>
              <a:t>3. Lossy.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Latency.</a:t>
            </a:r>
          </a:p>
          <a:p>
            <a:r>
              <a:t>2. Variation in latency between packets.</a:t>
            </a:r>
          </a:p>
          <a:p>
            <a:r>
              <a:t>3. Using Quality of Service (QoS) to prioritise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CORE COMPONENT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Network Infrastructure, Cabling and Unified Communications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Paper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 2.2, 2.3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Interpret routing table data and TCP/IP configuration from console tools.</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what a firewall does and how ALLOW and BLOCK rules take precedence.</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Compare cable types and Ethernet standards on bandwidth and length.</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VoIP, SIP, codecs and the network metrics that affect call quality.</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Open a command prompt and type ipconfig (or ifconfig on Linux or macOS). What do you think each line of the output tells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Reading a routing table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Routers use a routing table to decide where to send each packet. Each row is a route.</a:t>
            </a:r>
          </a:p>
          <a:p>
            <a:pPr>
              <a:spcAft>
                <a:spcPts val="1260"/>
              </a:spcAft>
            </a:pPr>
            <a:r>
              <a:rPr sz="2100" b="0">
                <a:solidFill>
                  <a:srgbClr val="202122"/>
                </a:solidFill>
                <a:latin typeface="Calibri"/>
              </a:rPr>
              <a:t>The network ID and subnet mask together describe a destination network. The next hop is the address of the next router the packet should be sent to. The interface is the port it leaves through.</a:t>
            </a:r>
          </a:p>
          <a:p>
            <a:pPr>
              <a:spcAft>
                <a:spcPts val="1260"/>
              </a:spcAft>
            </a:pPr>
            <a:r>
              <a:rPr sz="2100" b="0">
                <a:solidFill>
                  <a:srgbClr val="202122"/>
                </a:solidFill>
                <a:latin typeface="Calibri"/>
              </a:rPr>
              <a:t>Routes can be static (typed in by an administrator; simple but don't adapt to change) or dynamic (learned automatically from other routers using a routing protocol; adapt when links fail).</a:t>
            </a:r>
          </a:p>
          <a:p>
            <a:pPr>
              <a:spcAft>
                <a:spcPts val="1260"/>
              </a:spcAft>
            </a:pPr>
            <a:r>
              <a:rPr sz="2100" b="0">
                <a:solidFill>
                  <a:srgbClr val="202122"/>
                </a:solidFill>
                <a:latin typeface="Calibri"/>
              </a:rPr>
              <a:t>If no specific route matches, the default route (0.0.0.0/0) sends the packet towards the internet.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Route: 192.168.2.0 / 255.255.255.0, next hop 10.0.0.2, interface eth1. A packet for 192.168.2.45 leaves through eth1 towards the router at 10.0.0.2.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Reading a routing table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2773603"/>
                <a:gridCol w="8320811"/>
              </a:tblGrid>
              <a:tr h="754380">
                <a:tc>
                  <a:txBody>
                    <a:bodyPr wrap="square"/>
                    <a:lstStyle/>
                    <a:p>
                      <a:r>
                        <a:rPr sz="1600" b="1">
                          <a:solidFill>
                            <a:srgbClr val="FFFFFF"/>
                          </a:solidFill>
                          <a:latin typeface="Calibri"/>
                        </a:rPr>
                        <a:t>Field</a:t>
                      </a:r>
                    </a:p>
                  </a:txBody>
                  <a:tcPr marL="91440" marR="91440" anchor="ctr">
                    <a:solidFill>
                      <a:srgbClr val="03306E"/>
                    </a:solidFill>
                  </a:tcPr>
                </a:tc>
                <a:tc>
                  <a:txBody>
                    <a:bodyPr wrap="square"/>
                    <a:lstStyle/>
                    <a:p>
                      <a:r>
                        <a:rPr sz="1600" b="1">
                          <a:solidFill>
                            <a:srgbClr val="FFFFFF"/>
                          </a:solidFill>
                          <a:latin typeface="Calibri"/>
                        </a:rPr>
                        <a:t>What it tells you</a:t>
                      </a:r>
                    </a:p>
                  </a:txBody>
                  <a:tcPr marL="91440" marR="91440" anchor="ctr">
                    <a:solidFill>
                      <a:srgbClr val="03306E"/>
                    </a:solidFill>
                  </a:tcPr>
                </a:tc>
              </a:tr>
              <a:tr h="754380">
                <a:tc>
                  <a:txBody>
                    <a:bodyPr wrap="square"/>
                    <a:lstStyle/>
                    <a:p>
                      <a:r>
                        <a:rPr sz="1600" b="1">
                          <a:solidFill>
                            <a:srgbClr val="03306E"/>
                          </a:solidFill>
                          <a:latin typeface="Calibri"/>
                        </a:rPr>
                        <a:t>Network ID</a:t>
                      </a:r>
                    </a:p>
                  </a:txBody>
                  <a:tcPr marL="91440" marR="91440" anchor="ctr">
                    <a:solidFill>
                      <a:srgbClr val="FFFFFF"/>
                    </a:solidFill>
                  </a:tcPr>
                </a:tc>
                <a:tc>
                  <a:txBody>
                    <a:bodyPr wrap="square"/>
                    <a:lstStyle/>
                    <a:p>
                      <a:r>
                        <a:rPr sz="1600" b="0">
                          <a:solidFill>
                            <a:srgbClr val="202122"/>
                          </a:solidFill>
                          <a:latin typeface="Calibri"/>
                        </a:rPr>
                        <a:t>The destination network the route leads to</a:t>
                      </a:r>
                    </a:p>
                  </a:txBody>
                  <a:tcPr marL="91440" marR="91440" anchor="ctr">
                    <a:solidFill>
                      <a:srgbClr val="FFFFFF"/>
                    </a:solidFill>
                  </a:tcPr>
                </a:tc>
              </a:tr>
              <a:tr h="754380">
                <a:tc>
                  <a:txBody>
                    <a:bodyPr wrap="square"/>
                    <a:lstStyle/>
                    <a:p>
                      <a:r>
                        <a:rPr sz="1600" b="1">
                          <a:solidFill>
                            <a:srgbClr val="03306E"/>
                          </a:solidFill>
                          <a:latin typeface="Calibri"/>
                        </a:rPr>
                        <a:t>Subnet mask</a:t>
                      </a:r>
                    </a:p>
                  </a:txBody>
                  <a:tcPr marL="91440" marR="91440" anchor="ctr">
                    <a:solidFill>
                      <a:srgbClr val="EAF3FF"/>
                    </a:solidFill>
                  </a:tcPr>
                </a:tc>
                <a:tc>
                  <a:txBody>
                    <a:bodyPr wrap="square"/>
                    <a:lstStyle/>
                    <a:p>
                      <a:r>
                        <a:rPr sz="1600" b="0">
                          <a:solidFill>
                            <a:srgbClr val="202122"/>
                          </a:solidFill>
                          <a:latin typeface="Calibri"/>
                        </a:rPr>
                        <a:t>Which part of the address identifies the network</a:t>
                      </a:r>
                    </a:p>
                  </a:txBody>
                  <a:tcPr marL="91440" marR="91440" anchor="ctr">
                    <a:solidFill>
                      <a:srgbClr val="EAF3FF"/>
                    </a:solidFill>
                  </a:tcPr>
                </a:tc>
              </a:tr>
              <a:tr h="754380">
                <a:tc>
                  <a:txBody>
                    <a:bodyPr wrap="square"/>
                    <a:lstStyle/>
                    <a:p>
                      <a:r>
                        <a:rPr sz="1600" b="1">
                          <a:solidFill>
                            <a:srgbClr val="03306E"/>
                          </a:solidFill>
                          <a:latin typeface="Calibri"/>
                        </a:rPr>
                        <a:t>Next hop</a:t>
                      </a:r>
                    </a:p>
                  </a:txBody>
                  <a:tcPr marL="91440" marR="91440" anchor="ctr">
                    <a:solidFill>
                      <a:srgbClr val="FFFFFF"/>
                    </a:solidFill>
                  </a:tcPr>
                </a:tc>
                <a:tc>
                  <a:txBody>
                    <a:bodyPr wrap="square"/>
                    <a:lstStyle/>
                    <a:p>
                      <a:r>
                        <a:rPr sz="1600" b="0">
                          <a:solidFill>
                            <a:srgbClr val="202122"/>
                          </a:solidFill>
                          <a:latin typeface="Calibri"/>
                        </a:rPr>
                        <a:t>The next router the packet is sent to</a:t>
                      </a:r>
                    </a:p>
                  </a:txBody>
                  <a:tcPr marL="91440" marR="91440" anchor="ctr">
                    <a:solidFill>
                      <a:srgbClr val="FFFFFF"/>
                    </a:solidFill>
                  </a:tcPr>
                </a:tc>
              </a:tr>
              <a:tr h="754380">
                <a:tc>
                  <a:txBody>
                    <a:bodyPr wrap="square"/>
                    <a:lstStyle/>
                    <a:p>
                      <a:r>
                        <a:rPr sz="1600" b="1">
                          <a:solidFill>
                            <a:srgbClr val="03306E"/>
                          </a:solidFill>
                          <a:latin typeface="Calibri"/>
                        </a:rPr>
                        <a:t>Interface</a:t>
                      </a:r>
                    </a:p>
                  </a:txBody>
                  <a:tcPr marL="91440" marR="91440" anchor="ctr">
                    <a:solidFill>
                      <a:srgbClr val="EAF3FF"/>
                    </a:solidFill>
                  </a:tcPr>
                </a:tc>
                <a:tc>
                  <a:txBody>
                    <a:bodyPr wrap="square"/>
                    <a:lstStyle/>
                    <a:p>
                      <a:r>
                        <a:rPr sz="1600" b="0">
                          <a:solidFill>
                            <a:srgbClr val="202122"/>
                          </a:solidFill>
                          <a:latin typeface="Calibri"/>
                        </a:rPr>
                        <a:t>Which network interface the packet leaves through</a:t>
                      </a:r>
                    </a:p>
                  </a:txBody>
                  <a:tcPr marL="91440" marR="91440" anchor="ctr">
                    <a:solidFill>
                      <a:srgbClr val="EAF3FF"/>
                    </a:solidFill>
                  </a:tcPr>
                </a:tc>
              </a:tr>
              <a:tr h="754380">
                <a:tc>
                  <a:txBody>
                    <a:bodyPr wrap="square"/>
                    <a:lstStyle/>
                    <a:p>
                      <a:r>
                        <a:rPr sz="1600" b="1">
                          <a:solidFill>
                            <a:srgbClr val="03306E"/>
                          </a:solidFill>
                          <a:latin typeface="Calibri"/>
                        </a:rPr>
                        <a:t>Static or dynamic</a:t>
                      </a:r>
                    </a:p>
                  </a:txBody>
                  <a:tcPr marL="91440" marR="91440" anchor="ctr">
                    <a:solidFill>
                      <a:srgbClr val="FFFFFF"/>
                    </a:solidFill>
                  </a:tcPr>
                </a:tc>
                <a:tc>
                  <a:txBody>
                    <a:bodyPr wrap="square"/>
                    <a:lstStyle/>
                    <a:p>
                      <a:r>
                        <a:rPr sz="1600" b="0">
                          <a:solidFill>
                            <a:srgbClr val="202122"/>
                          </a:solidFill>
                          <a:latin typeface="Calibri"/>
                        </a:rPr>
                        <a:t>Whether the route was entered by hand or learned from a routing protocol</a:t>
                      </a:r>
                    </a:p>
                  </a:txBody>
                  <a:tcPr marL="91440" marR="9144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Reading a routing table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the next hop field show?</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static and dynamic routes?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default route for?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Console tools and firewalls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ipconfig (Windows) and ifconfig (Linux and macOS) show a device's TCP/IP settings: IP address, subnet mask, default gateway and DNS servers. They're the first thing to check when a device can't connect. An address starting 169.254 means the device couldn't reach a DHCP server.</a:t>
            </a:r>
          </a:p>
          <a:p>
            <a:pPr>
              <a:spcAft>
                <a:spcPts val="1200"/>
              </a:spcAft>
            </a:pPr>
            <a:r>
              <a:rPr sz="2000" b="0">
                <a:solidFill>
                  <a:srgbClr val="202122"/>
                </a:solidFill>
                <a:latin typeface="Calibri"/>
              </a:rPr>
              <a:t>A firewall filters traffic using rules that ALLOW or BLOCK traffic by address, port or application. Rules are usually checked from the top down and the first match wins, so order matters: specific rules go above general ones.</a:t>
            </a:r>
          </a:p>
          <a:p>
            <a:pPr>
              <a:spcAft>
                <a:spcPts val="1200"/>
              </a:spcAft>
            </a:pPr>
            <a:r>
              <a:rPr sz="2000" b="0">
                <a:solidFill>
                  <a:srgbClr val="202122"/>
                </a:solidFill>
                <a:latin typeface="Calibri"/>
              </a:rPr>
              <a:t>Firewall admin access must itself be protected with strong credentials and limited to trusted locations.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Rule 1 ALLOW TCP 443 from any. Rule 2 BLOCK all. Web traffic gets through. Swap the order and rule 1 is never reached, so everything is blocked.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Console tools and firewalls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ipconfig / ifconfig:</a:t>
            </a:r>
            <a:r>
              <a:rPr sz="2200" b="0">
                <a:solidFill>
                  <a:srgbClr val="202122"/>
                </a:solidFill>
                <a:latin typeface="Calibri"/>
              </a:rPr>
              <a:t> shows IP address, subnet mask, default gateway and DNS servers.</a:t>
            </a:r>
          </a:p>
          <a:p>
            <a:pPr marL="274320" indent="-274320">
              <a:spcAft>
                <a:spcPts val="990"/>
              </a:spcAft>
              <a:buClr>
                <a:srgbClr val="0645AD"/>
              </a:buClr>
              <a:buFont typeface="Arial"/>
              <a:buChar char="•"/>
            </a:pPr>
            <a:r>
              <a:rPr sz="2200" b="1">
                <a:solidFill>
                  <a:srgbClr val="202122"/>
                </a:solidFill>
                <a:latin typeface="Calibri"/>
              </a:rPr>
              <a:t>Firewall:</a:t>
            </a:r>
            <a:r>
              <a:rPr sz="2200" b="0">
                <a:solidFill>
                  <a:srgbClr val="202122"/>
                </a:solidFill>
                <a:latin typeface="Calibri"/>
              </a:rPr>
              <a:t> filters traffic in and out of a network or device using rules.</a:t>
            </a:r>
          </a:p>
          <a:p>
            <a:pPr marL="274320" indent="-274320">
              <a:spcAft>
                <a:spcPts val="990"/>
              </a:spcAft>
              <a:buClr>
                <a:srgbClr val="0645AD"/>
              </a:buClr>
              <a:buFont typeface="Arial"/>
              <a:buChar char="•"/>
            </a:pPr>
            <a:r>
              <a:rPr sz="2200" b="1">
                <a:solidFill>
                  <a:srgbClr val="202122"/>
                </a:solidFill>
                <a:latin typeface="Calibri"/>
              </a:rPr>
              <a:t>Rules:</a:t>
            </a:r>
            <a:r>
              <a:rPr sz="2200" b="0">
                <a:solidFill>
                  <a:srgbClr val="202122"/>
                </a:solidFill>
                <a:latin typeface="Calibri"/>
              </a:rPr>
              <a:t> each rule ALLOWs or BLOCKs traffic by address, port or application.</a:t>
            </a:r>
          </a:p>
          <a:p>
            <a:pPr marL="274320" indent="-274320">
              <a:spcAft>
                <a:spcPts val="990"/>
              </a:spcAft>
              <a:buClr>
                <a:srgbClr val="0645AD"/>
              </a:buClr>
              <a:buFont typeface="Arial"/>
              <a:buChar char="•"/>
            </a:pPr>
            <a:r>
              <a:rPr sz="2200" b="1">
                <a:solidFill>
                  <a:srgbClr val="202122"/>
                </a:solidFill>
                <a:latin typeface="Calibri"/>
              </a:rPr>
              <a:t>Precedence:</a:t>
            </a:r>
            <a:r>
              <a:rPr sz="2200" b="0">
                <a:solidFill>
                  <a:srgbClr val="202122"/>
                </a:solidFill>
                <a:latin typeface="Calibri"/>
              </a:rPr>
              <a:t> rules are checked in order, and the first matching rule usually wins.</a:t>
            </a:r>
          </a:p>
          <a:p>
            <a:pPr marL="274320" indent="-274320">
              <a:spcAft>
                <a:spcPts val="990"/>
              </a:spcAft>
              <a:buClr>
                <a:srgbClr val="0645AD"/>
              </a:buClr>
              <a:buFont typeface="Arial"/>
              <a:buChar char="•"/>
            </a:pPr>
            <a:r>
              <a:rPr sz="2200" b="1">
                <a:solidFill>
                  <a:srgbClr val="202122"/>
                </a:solidFill>
                <a:latin typeface="Calibri"/>
              </a:rPr>
              <a:t>Admin access:</a:t>
            </a:r>
            <a:r>
              <a:rPr sz="2200" b="0">
                <a:solidFill>
                  <a:srgbClr val="202122"/>
                </a:solidFill>
                <a:latin typeface="Calibri"/>
              </a:rPr>
              <a:t> secure it with strong credentials and restrict where it can be reached from.</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Put specific rules above general ones. A 'block all' rule at the top would stop every rule below it from ever being reached.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Console tools and firewalls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an IP address starting 169.254 suggest?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does firewall rule order matter?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two things ipconfig shows.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Cable types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Copper cables carry electrical signals. UTP (unshielded twisted pair) twists each pair of wires to cancel interference; it's cheap and flexible, so it's used in most offices. STP (shielded twisted pair) adds a foil or braid shield, which helps near motors, lifts or power cables.</a:t>
            </a:r>
          </a:p>
          <a:p>
            <a:pPr>
              <a:spcAft>
                <a:spcPts val="1260"/>
              </a:spcAft>
            </a:pPr>
            <a:r>
              <a:rPr sz="2100" b="0">
                <a:solidFill>
                  <a:srgbClr val="202122"/>
                </a:solidFill>
                <a:latin typeface="Calibri"/>
              </a:rPr>
              <a:t>Coaxial cable has a single copper core inside a braided shield. It's used for broadband and TV.</a:t>
            </a:r>
          </a:p>
          <a:p>
            <a:pPr>
              <a:spcAft>
                <a:spcPts val="1260"/>
              </a:spcAft>
            </a:pPr>
            <a:r>
              <a:rPr sz="2100" b="0">
                <a:solidFill>
                  <a:srgbClr val="202122"/>
                </a:solidFill>
                <a:latin typeface="Calibri"/>
              </a:rPr>
              <a:t>Fibre optic cable carries pulses of light through glass. It supports much higher bandwidth over much longer distances and isn't affected by electrical interference, but it costs more and needs specialist tools to terminate.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school links two buildings 400 m apart with fibre (copper is limited to 100 m) and wires each classroom with UTP.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Cable types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UTP</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Unshielded twisted pair. Cheap and flexible; the standard for office LANs.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STP</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Shielded twisted pair. Extra shielding reduces interference in electrically noisy areas.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Coaxial</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Copper core with a braided shield. Used for broadband and TV connections.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Fibre optic</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Sends light, not electricity. Very high bandwidth over long distances and immune to interference.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Cable types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Why are the pairs in UTP twisted?</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When would you choose STP over UTP?</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two advantages of fibre.</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Ethernet cable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graphicFrame>
        <p:nvGraphicFramePr>
          <p:cNvPr id="6" name="Table 5"/>
          <p:cNvGraphicFramePr>
            <a:graphicFrameLocks noGrp="1"/>
          </p:cNvGraphicFramePr>
          <p:nvPr/>
        </p:nvGraphicFramePr>
        <p:xfrm>
          <a:off x="548640" y="1600200"/>
          <a:ext cx="11094414" cy="3977640"/>
        </p:xfrm>
        <a:graphic>
          <a:graphicData uri="http://schemas.openxmlformats.org/drawingml/2006/table">
            <a:tbl>
              <a:tblPr firstRow="1" bandRow="1">
                <a:tableStyleId>{5C22544A-7EE6-4342-B048-85BDC9FD1C3A}</a:tableStyleId>
              </a:tblPr>
              <a:tblGrid>
                <a:gridCol w="1828749"/>
                <a:gridCol w="2438333"/>
                <a:gridCol w="1950666"/>
                <a:gridCol w="4876666"/>
              </a:tblGrid>
              <a:tr h="994410">
                <a:tc>
                  <a:txBody>
                    <a:bodyPr wrap="square"/>
                    <a:lstStyle/>
                    <a:p>
                      <a:r>
                        <a:rPr sz="1600" b="1">
                          <a:solidFill>
                            <a:srgbClr val="FFFFFF"/>
                          </a:solidFill>
                          <a:latin typeface="Calibri"/>
                        </a:rPr>
                        <a:t>Standard</a:t>
                      </a:r>
                    </a:p>
                  </a:txBody>
                  <a:tcPr marL="91440" marR="91440" anchor="ctr">
                    <a:solidFill>
                      <a:srgbClr val="03306E"/>
                    </a:solidFill>
                  </a:tcPr>
                </a:tc>
                <a:tc>
                  <a:txBody>
                    <a:bodyPr wrap="square"/>
                    <a:lstStyle/>
                    <a:p>
                      <a:r>
                        <a:rPr sz="1600" b="1">
                          <a:solidFill>
                            <a:srgbClr val="FFFFFF"/>
                          </a:solidFill>
                          <a:latin typeface="Calibri"/>
                        </a:rPr>
                        <a:t>Typical bandwidth</a:t>
                      </a:r>
                    </a:p>
                  </a:txBody>
                  <a:tcPr marL="91440" marR="91440" anchor="ctr">
                    <a:solidFill>
                      <a:srgbClr val="03306E"/>
                    </a:solidFill>
                  </a:tcPr>
                </a:tc>
                <a:tc>
                  <a:txBody>
                    <a:bodyPr wrap="square"/>
                    <a:lstStyle/>
                    <a:p>
                      <a:r>
                        <a:rPr sz="1600" b="1">
                          <a:solidFill>
                            <a:srgbClr val="FFFFFF"/>
                          </a:solidFill>
                          <a:latin typeface="Calibri"/>
                        </a:rPr>
                        <a:t>Max length</a:t>
                      </a:r>
                    </a:p>
                  </a:txBody>
                  <a:tcPr marL="91440" marR="91440" anchor="ctr">
                    <a:solidFill>
                      <a:srgbClr val="03306E"/>
                    </a:solidFill>
                  </a:tcPr>
                </a:tc>
                <a:tc>
                  <a:txBody>
                    <a:bodyPr wrap="square"/>
                    <a:lstStyle/>
                    <a:p>
                      <a:r>
                        <a:rPr sz="1600" b="1">
                          <a:solidFill>
                            <a:srgbClr val="FFFFFF"/>
                          </a:solidFill>
                          <a:latin typeface="Calibri"/>
                        </a:rPr>
                        <a:t>Trade-off</a:t>
                      </a:r>
                    </a:p>
                  </a:txBody>
                  <a:tcPr marL="91440" marR="91440" anchor="ctr">
                    <a:solidFill>
                      <a:srgbClr val="03306E"/>
                    </a:solidFill>
                  </a:tcPr>
                </a:tc>
              </a:tr>
              <a:tr h="994410">
                <a:tc>
                  <a:txBody>
                    <a:bodyPr wrap="square"/>
                    <a:lstStyle/>
                    <a:p>
                      <a:r>
                        <a:rPr sz="1600" b="1">
                          <a:solidFill>
                            <a:srgbClr val="03306E"/>
                          </a:solidFill>
                          <a:latin typeface="Calibri"/>
                        </a:rPr>
                        <a:t>CAT 5e</a:t>
                      </a:r>
                    </a:p>
                  </a:txBody>
                  <a:tcPr marL="91440" marR="91440" anchor="ctr">
                    <a:solidFill>
                      <a:srgbClr val="FFFFFF"/>
                    </a:solidFill>
                  </a:tcPr>
                </a:tc>
                <a:tc>
                  <a:txBody>
                    <a:bodyPr wrap="square"/>
                    <a:lstStyle/>
                    <a:p>
                      <a:r>
                        <a:rPr sz="1600" b="0">
                          <a:solidFill>
                            <a:srgbClr val="202122"/>
                          </a:solidFill>
                          <a:latin typeface="Calibri"/>
                        </a:rPr>
                        <a:t>Up to 1 Gbps</a:t>
                      </a:r>
                    </a:p>
                  </a:txBody>
                  <a:tcPr marL="91440" marR="91440" anchor="ctr">
                    <a:solidFill>
                      <a:srgbClr val="FFFFFF"/>
                    </a:solidFill>
                  </a:tcPr>
                </a:tc>
                <a:tc>
                  <a:txBody>
                    <a:bodyPr wrap="square"/>
                    <a:lstStyle/>
                    <a:p>
                      <a:r>
                        <a:rPr sz="1600" b="0">
                          <a:solidFill>
                            <a:srgbClr val="202122"/>
                          </a:solidFill>
                          <a:latin typeface="Calibri"/>
                        </a:rPr>
                        <a:t>100 m</a:t>
                      </a:r>
                    </a:p>
                  </a:txBody>
                  <a:tcPr marL="91440" marR="91440" anchor="ctr">
                    <a:solidFill>
                      <a:srgbClr val="FFFFFF"/>
                    </a:solidFill>
                  </a:tcPr>
                </a:tc>
                <a:tc>
                  <a:txBody>
                    <a:bodyPr wrap="square"/>
                    <a:lstStyle/>
                    <a:p>
                      <a:r>
                        <a:rPr sz="1600" b="0">
                          <a:solidFill>
                            <a:srgbClr val="202122"/>
                          </a:solidFill>
                          <a:latin typeface="Calibri"/>
                        </a:rPr>
                        <a:t>Cheapest; fine for most desktops</a:t>
                      </a:r>
                    </a:p>
                  </a:txBody>
                  <a:tcPr marL="91440" marR="91440" anchor="ctr">
                    <a:solidFill>
                      <a:srgbClr val="FFFFFF"/>
                    </a:solidFill>
                  </a:tcPr>
                </a:tc>
              </a:tr>
              <a:tr h="994410">
                <a:tc>
                  <a:txBody>
                    <a:bodyPr wrap="square"/>
                    <a:lstStyle/>
                    <a:p>
                      <a:r>
                        <a:rPr sz="1600" b="1">
                          <a:solidFill>
                            <a:srgbClr val="03306E"/>
                          </a:solidFill>
                          <a:latin typeface="Calibri"/>
                        </a:rPr>
                        <a:t>CAT 6</a:t>
                      </a:r>
                    </a:p>
                  </a:txBody>
                  <a:tcPr marL="91440" marR="91440" anchor="ctr">
                    <a:solidFill>
                      <a:srgbClr val="EAF3FF"/>
                    </a:solidFill>
                  </a:tcPr>
                </a:tc>
                <a:tc>
                  <a:txBody>
                    <a:bodyPr wrap="square"/>
                    <a:lstStyle/>
                    <a:p>
                      <a:r>
                        <a:rPr sz="1600" b="0">
                          <a:solidFill>
                            <a:srgbClr val="202122"/>
                          </a:solidFill>
                          <a:latin typeface="Calibri"/>
                        </a:rPr>
                        <a:t>Up to 10 Gbps (up to about 55 m)</a:t>
                      </a:r>
                    </a:p>
                  </a:txBody>
                  <a:tcPr marL="91440" marR="91440" anchor="ctr">
                    <a:solidFill>
                      <a:srgbClr val="EAF3FF"/>
                    </a:solidFill>
                  </a:tcPr>
                </a:tc>
                <a:tc>
                  <a:txBody>
                    <a:bodyPr wrap="square"/>
                    <a:lstStyle/>
                    <a:p>
                      <a:r>
                        <a:rPr sz="1600" b="0">
                          <a:solidFill>
                            <a:srgbClr val="202122"/>
                          </a:solidFill>
                          <a:latin typeface="Calibri"/>
                        </a:rPr>
                        <a:t>100 m</a:t>
                      </a:r>
                    </a:p>
                  </a:txBody>
                  <a:tcPr marL="91440" marR="91440" anchor="ctr">
                    <a:solidFill>
                      <a:srgbClr val="EAF3FF"/>
                    </a:solidFill>
                  </a:tcPr>
                </a:tc>
                <a:tc>
                  <a:txBody>
                    <a:bodyPr wrap="square"/>
                    <a:lstStyle/>
                    <a:p>
                      <a:r>
                        <a:rPr sz="1600" b="0">
                          <a:solidFill>
                            <a:srgbClr val="202122"/>
                          </a:solidFill>
                          <a:latin typeface="Calibri"/>
                        </a:rPr>
                        <a:t>Better crosstalk protection, costs more</a:t>
                      </a:r>
                    </a:p>
                  </a:txBody>
                  <a:tcPr marL="91440" marR="91440" anchor="ctr">
                    <a:solidFill>
                      <a:srgbClr val="EAF3FF"/>
                    </a:solidFill>
                  </a:tcPr>
                </a:tc>
              </a:tr>
              <a:tr h="994410">
                <a:tc>
                  <a:txBody>
                    <a:bodyPr wrap="square"/>
                    <a:lstStyle/>
                    <a:p>
                      <a:r>
                        <a:rPr sz="1600" b="1">
                          <a:solidFill>
                            <a:srgbClr val="03306E"/>
                          </a:solidFill>
                          <a:latin typeface="Calibri"/>
                        </a:rPr>
                        <a:t>CAT 7</a:t>
                      </a:r>
                    </a:p>
                  </a:txBody>
                  <a:tcPr marL="91440" marR="91440" anchor="ctr">
                    <a:solidFill>
                      <a:srgbClr val="FFFFFF"/>
                    </a:solidFill>
                  </a:tcPr>
                </a:tc>
                <a:tc>
                  <a:txBody>
                    <a:bodyPr wrap="square"/>
                    <a:lstStyle/>
                    <a:p>
                      <a:r>
                        <a:rPr sz="1600" b="0">
                          <a:solidFill>
                            <a:srgbClr val="202122"/>
                          </a:solidFill>
                          <a:latin typeface="Calibri"/>
                        </a:rPr>
                        <a:t>Up to 10 Gbps</a:t>
                      </a:r>
                    </a:p>
                  </a:txBody>
                  <a:tcPr marL="91440" marR="91440" anchor="ctr">
                    <a:solidFill>
                      <a:srgbClr val="FFFFFF"/>
                    </a:solidFill>
                  </a:tcPr>
                </a:tc>
                <a:tc>
                  <a:txBody>
                    <a:bodyPr wrap="square"/>
                    <a:lstStyle/>
                    <a:p>
                      <a:r>
                        <a:rPr sz="1600" b="0">
                          <a:solidFill>
                            <a:srgbClr val="202122"/>
                          </a:solidFill>
                          <a:latin typeface="Calibri"/>
                        </a:rPr>
                        <a:t>100 m</a:t>
                      </a:r>
                    </a:p>
                  </a:txBody>
                  <a:tcPr marL="91440" marR="91440" anchor="ctr">
                    <a:solidFill>
                      <a:srgbClr val="FFFFFF"/>
                    </a:solidFill>
                  </a:tcPr>
                </a:tc>
                <a:tc>
                  <a:txBody>
                    <a:bodyPr wrap="square"/>
                    <a:lstStyle/>
                    <a:p>
                      <a:r>
                        <a:rPr sz="1600" b="0">
                          <a:solidFill>
                            <a:srgbClr val="202122"/>
                          </a:solidFill>
                          <a:latin typeface="Calibri"/>
                        </a:rPr>
                        <a:t>Fully shielded, thicker and harder to install</a:t>
                      </a:r>
                    </a:p>
                  </a:txBody>
                  <a:tcPr marL="91440" marR="91440" anchor="ctr">
                    <a:solidFill>
                      <a:srgbClr val="FFFFFF"/>
                    </a:solidFill>
                  </a:tcPr>
                </a:tc>
              </a:tr>
            </a:tbl>
          </a:graphicData>
        </a:graphic>
      </p:graphicFrame>
      <p:sp>
        <p:nvSpPr>
          <p:cNvPr id="7" name="TextBox 6"/>
          <p:cNvSpPr txBox="1"/>
          <p:nvPr/>
        </p:nvSpPr>
        <p:spPr>
          <a:xfrm>
            <a:off x="548640" y="5715000"/>
            <a:ext cx="11094415" cy="457200"/>
          </a:xfrm>
          <a:prstGeom prst="rect">
            <a:avLst/>
          </a:prstGeom>
          <a:noFill/>
        </p:spPr>
        <p:txBody>
          <a:bodyPr wrap="square" anchor="t" lIns="0" rIns="0" tIns="0" bIns="0"/>
          <a:lstStyle/>
          <a:p>
            <a:pPr algn="l"/>
            <a:r>
              <a:rPr sz="1300" b="0" i="1">
                <a:solidFill>
                  <a:srgbClr val="54595D"/>
                </a:solidFill>
                <a:latin typeface="Calibri"/>
              </a:rPr>
              <a:t>Ethernet is the family of wired LAN standards these cables are built for.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Unified communications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Unified communications combines voice, video, messaging and presence on one network.</a:t>
            </a:r>
          </a:p>
          <a:p>
            <a:pPr>
              <a:spcAft>
                <a:spcPts val="1200"/>
              </a:spcAft>
            </a:pPr>
            <a:r>
              <a:rPr sz="2000" b="0">
                <a:solidFill>
                  <a:srgbClr val="202122"/>
                </a:solidFill>
                <a:latin typeface="Calibri"/>
              </a:rPr>
              <a:t>VoIP (Voice over IP) turns speech into data packets and sends them over the network instead of a phone line.</a:t>
            </a:r>
          </a:p>
          <a:p>
            <a:pPr>
              <a:spcAft>
                <a:spcPts val="1200"/>
              </a:spcAft>
            </a:pPr>
            <a:r>
              <a:rPr sz="2000" b="0">
                <a:solidFill>
                  <a:srgbClr val="202122"/>
                </a:solidFill>
                <a:latin typeface="Calibri"/>
              </a:rPr>
              <a:t>SIP (Session Initiation Protocol) is the signalling that sets up, manages and ends a call: it rings the other phone and agrees the settings. VoIP carries the voice; SIP runs the call.</a:t>
            </a:r>
          </a:p>
          <a:p>
            <a:pPr>
              <a:spcAft>
                <a:spcPts val="1200"/>
              </a:spcAft>
            </a:pPr>
            <a:r>
              <a:rPr sz="2000" b="0">
                <a:solidFill>
                  <a:srgbClr val="202122"/>
                </a:solidFill>
                <a:latin typeface="Calibri"/>
              </a:rPr>
              <a:t>Codecs compress and decompress media so it uses less bandwidth. Lossy codecs such as MP3 throw away detail you won't notice; lossless codecs such as FLAC keep everything. MPEG-4 is common for video.</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When you call a colleague on Teams, SIP-style signalling sets up the call, a codec compresses your voice, and VoIP packets carry it across the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Unified communications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VoIP</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Voice over IP carries phone calls as data packets over a network.</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SIP</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Session Initiation Protocol sets up, manages and ends VoIP calls and video sessions.</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Codecs</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Compress and decompress media. MPEG-4 for video, MP3 for lossy audio, FLAC for lossless audio.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Unified communications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VoIP and SIP?</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codec do?</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Is MP3 lossy or lossless?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What affects call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Real-time voice and video are very sensitive to network conditions.</a:t>
            </a:r>
          </a:p>
          <a:p>
            <a:pPr>
              <a:spcAft>
                <a:spcPts val="1140"/>
              </a:spcAft>
            </a:pPr>
            <a:r>
              <a:rPr sz="1900" b="0">
                <a:solidFill>
                  <a:srgbClr val="202122"/>
                </a:solidFill>
                <a:latin typeface="Calibri"/>
              </a:rPr>
              <a:t>Bandwidth is how much data the link can carry. If it's too low, calls break up. Speed is how fast data is transferred.</a:t>
            </a:r>
          </a:p>
          <a:p>
            <a:pPr>
              <a:spcAft>
                <a:spcPts val="1140"/>
              </a:spcAft>
            </a:pPr>
            <a:r>
              <a:rPr sz="1900" b="0">
                <a:solidFill>
                  <a:srgbClr val="202122"/>
                </a:solidFill>
                <a:latin typeface="Calibri"/>
              </a:rPr>
              <a:t>Latency is the delay before data arrives. Above about 150 ms people start talking over each other.</a:t>
            </a:r>
          </a:p>
          <a:p>
            <a:pPr>
              <a:spcAft>
                <a:spcPts val="1140"/>
              </a:spcAft>
            </a:pPr>
            <a:r>
              <a:rPr sz="1900" b="1">
                <a:solidFill>
                  <a:srgbClr val="202122"/>
                </a:solidFill>
                <a:latin typeface="Calibri"/>
              </a:rPr>
              <a:t>Jitter is variation in latency:</a:t>
            </a:r>
            <a:r>
              <a:rPr sz="1900" b="0">
                <a:solidFill>
                  <a:srgbClr val="202122"/>
                </a:solidFill>
                <a:latin typeface="Calibri"/>
              </a:rPr>
              <a:t> packets arrive unevenly, making speech sound choppy or robotic.</a:t>
            </a:r>
          </a:p>
          <a:p>
            <a:pPr>
              <a:spcAft>
                <a:spcPts val="1140"/>
              </a:spcAft>
            </a:pPr>
            <a:r>
              <a:rPr sz="1900" b="0">
                <a:solidFill>
                  <a:srgbClr val="202122"/>
                </a:solidFill>
                <a:latin typeface="Calibri"/>
              </a:rPr>
              <a:t>Packet loss is data that never arrives, heard as gaps and missing words.</a:t>
            </a:r>
          </a:p>
          <a:p>
            <a:pPr>
              <a:spcAft>
                <a:spcPts val="1140"/>
              </a:spcAft>
            </a:pPr>
            <a:r>
              <a:rPr sz="1900" b="0">
                <a:solidFill>
                  <a:srgbClr val="202122"/>
                </a:solidFill>
                <a:latin typeface="Calibri"/>
              </a:rPr>
              <a:t>Quality of Service (QoS) settings can prioritise voice traffic over downloads.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Calls are fine at 9am but choppy at lunchtime when everyone streams video. Jitter and packet loss rise with congestion; prioritising VoIP with QoS fixes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What affects call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Speed</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How fast data is transferred.</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Bandwidth</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How much data can be carried at once.</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Latency</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The delay before data arrives. High latency causes talk-over.</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Jitter</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Variation in latency. Causes choppy, robotic audio.</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Packet loss</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Packets that never arrive. Causes gaps and dropped words.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What affects call quality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metric causes people to talk over each other?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jitter?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can voice be protected from congestion?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19</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does the next hop field in a routing table show?</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cable type is immune to electrical interference?</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What is the maximum length of a CAT 6 Ethernet run?</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does SIP do?</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Which network metric causes choppy, robotic-sounding calls?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20</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does the next hop field in a routing table show?</a:t>
            </a:r>
          </a:p>
          <a:p>
            <a:r>
              <a:rPr sz="1800" b="1">
                <a:solidFill>
                  <a:srgbClr val="03306E"/>
                </a:solidFill>
                <a:latin typeface="Calibri"/>
              </a:rPr>
              <a:t>The next router a packet is sent to.</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cable type is immune to electrical interference?</a:t>
            </a:r>
          </a:p>
          <a:p>
            <a:r>
              <a:rPr sz="1800" b="1">
                <a:solidFill>
                  <a:srgbClr val="03306E"/>
                </a:solidFill>
                <a:latin typeface="Calibri"/>
              </a:rPr>
              <a:t>Fibre optic.</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What is the maximum length of a CAT 6 Ethernet run?</a:t>
            </a:r>
          </a:p>
          <a:p>
            <a:r>
              <a:rPr sz="1800" b="1">
                <a:solidFill>
                  <a:srgbClr val="03306E"/>
                </a:solidFill>
                <a:latin typeface="Calibri"/>
              </a:rPr>
              <a:t>100 metres.</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does SIP do?</a:t>
            </a:r>
          </a:p>
          <a:p>
            <a:r>
              <a:rPr sz="1800" b="1">
                <a:solidFill>
                  <a:srgbClr val="03306E"/>
                </a:solidFill>
                <a:latin typeface="Calibri"/>
              </a:rPr>
              <a:t>Sets up, manages and ends VoIP and video sessions.</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Which network metric causes choppy, robotic-sounding calls?</a:t>
            </a:r>
          </a:p>
          <a:p>
            <a:r>
              <a:rPr sz="1800" b="1">
                <a:solidFill>
                  <a:srgbClr val="03306E"/>
                </a:solidFill>
                <a:latin typeface="Calibri"/>
              </a:rPr>
              <a:t>Jitter.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Diagnose the bad VoIP line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Network Infrastructure, Cabling and Unified Communications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21</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15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A sales team complains that calls keep breaking up and people talk over each other.</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Identify which network metrics could explain each symptom.</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Suggest two tests you would run to confirm your theory.</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Recommend one cabling or configuration change and justify it.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Links talk-over to latency</a:t>
            </a:r>
          </a:p>
          <a:p>
            <a:pPr marL="274320" indent="-274320">
              <a:spcAft>
                <a:spcPts val="810"/>
              </a:spcAft>
              <a:buClr>
                <a:srgbClr val="0645AD"/>
              </a:buClr>
              <a:buFont typeface="Arial"/>
              <a:buChar char="•"/>
            </a:pPr>
            <a:r>
              <a:rPr sz="1800" b="0">
                <a:solidFill>
                  <a:srgbClr val="202122"/>
                </a:solidFill>
                <a:latin typeface="Calibri"/>
              </a:rPr>
              <a:t>Links breaking up to jitter or packet loss</a:t>
            </a:r>
          </a:p>
          <a:p>
            <a:pPr marL="274320" indent="-274320">
              <a:spcAft>
                <a:spcPts val="810"/>
              </a:spcAft>
              <a:buClr>
                <a:srgbClr val="0645AD"/>
              </a:buClr>
              <a:buFont typeface="Arial"/>
              <a:buChar char="•"/>
            </a:pPr>
            <a:r>
              <a:rPr sz="1800" b="0">
                <a:solidFill>
                  <a:srgbClr val="202122"/>
                </a:solidFill>
                <a:latin typeface="Calibri"/>
              </a:rPr>
              <a:t>Tests are realistic, e.g. ping or a VoIP quality tool</a:t>
            </a:r>
          </a:p>
          <a:p>
            <a:pPr marL="274320" indent="-274320">
              <a:spcAft>
                <a:spcPts val="810"/>
              </a:spcAft>
              <a:buClr>
                <a:srgbClr val="0645AD"/>
              </a:buClr>
              <a:buFont typeface="Arial"/>
              <a:buChar char="•"/>
            </a:pPr>
            <a:r>
              <a:rPr sz="1800" b="0">
                <a:solidFill>
                  <a:srgbClr val="202122"/>
                </a:solidFill>
                <a:latin typeface="Calibri"/>
              </a:rPr>
              <a:t>Recommendation is justified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What would ipconfig tell you if a PC cannot reach the internet?</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Why must firewall rules be placed in the right order?</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Which codec would you pick to archive a recording without losing quality?</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Core Paper 1: Problem Solving, Digital Support and Data</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https://lana6478.github.io/Digital-Suport-and-security-T-levle/#/01-core-component/01-core-paper-1.md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 Infrastructure, Cabling and Unified Communications</dc:title>
  <dc:subject>Digital Support and Security T Level: Core Paper 1</dc:subject>
  <dc:creator>Samuel O'Connell</dc:creator>
  <cp:keywords>T Level; Digital Support and Security; lesson slides; 2.1, 2.2, 2.3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