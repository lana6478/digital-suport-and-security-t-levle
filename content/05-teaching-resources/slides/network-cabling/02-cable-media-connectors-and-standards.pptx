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Plenum-rated cable gives off less smoke and toxic fumes, burns less, keeps working at higher heat, and complies with the Construction Products Regulation (CPR).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Power to be carried over the data cable.</a:t>
            </a:r>
          </a:p>
          <a:p>
            <a:r>
              <a:t>2. Fibre.</a:t>
            </a:r>
          </a:p>
          <a:p>
            <a:r>
              <a:t>3. It produces less smoke and toxic fumes in a fire.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LC.</a:t>
            </a:r>
          </a:p>
          <a:p>
            <a:r>
              <a:t>2. Converts electrical signals to light and back.</a:t>
            </a:r>
          </a:p>
          <a:p>
            <a:r>
              <a:t>3. RJ-11.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110 block.</a:t>
            </a:r>
          </a:p>
          <a:p>
            <a:r>
              <a:t>2. Terminating cables so connections can be changed with patch leads.</a:t>
            </a:r>
          </a:p>
          <a:p>
            <a:r>
              <a:t>3. Cat3.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tables for Cat3 and Cat5 and for fibre OM1 to OM4 by wavelength are on the wiki page.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Melting two fibres together to make a permanent joint.</a:t>
            </a:r>
          </a:p>
          <a:p>
            <a:r>
              <a:t>2. 568A at one end and 568B at the other.</a:t>
            </a:r>
          </a:p>
          <a:p>
            <a:r>
              <a:t>3. So everything matches and faults are easier to trace.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NETWORK CABLING</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Cable Media, Connectors and Standards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Network Cabling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2.11 to 2.16</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Compare copper and fibre media types and their uses.</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Explain the benefits of plenum-rated cable.</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Identify connectors, transceivers and termination points.</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Apply copper and fibre standards and termination methods.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Why is most office cabling copper, but most links between buildings fibre?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Copper and fibre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Copper is durable, easy to handle, cheap to install and can carry power (PoE) to devices such as cameras and access points. It's used for telephony and short LAN runs of up to 90 m permanent link and 100 m channel. Types include UTP, STP, FTP and coaxial.</a:t>
            </a:r>
          </a:p>
          <a:p>
            <a:pPr>
              <a:spcAft>
                <a:spcPts val="1200"/>
              </a:spcAft>
            </a:pPr>
            <a:r>
              <a:rPr sz="2000" b="0">
                <a:solidFill>
                  <a:srgbClr val="202122"/>
                </a:solidFill>
                <a:latin typeface="Calibri"/>
              </a:rPr>
              <a:t>Fibre goes further, carries more data, is lighter and suffers less degradation, but its performance is limited by the quality of the lasers at each end. Single-mode (OS1 and OS2) is for long distances; multi-mode (OM3 and OM4) for shorter runs.</a:t>
            </a:r>
          </a:p>
          <a:p>
            <a:pPr>
              <a:spcAft>
                <a:spcPts val="1200"/>
              </a:spcAft>
            </a:pPr>
            <a:r>
              <a:rPr sz="2000" b="0">
                <a:solidFill>
                  <a:srgbClr val="202122"/>
                </a:solidFill>
                <a:latin typeface="Calibri"/>
              </a:rPr>
              <a:t>Plenum-rated cable gives off less smoke and fewer toxic fumes in a fire and meets the Construction Products Regulation (CPR).</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wireless access point on the ceiling is powered and connected by one Cat6 cable using PoE, so no power socket is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Copper and fibre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Copper</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Durable, easy to handle, cheap to install</a:t>
            </a:r>
          </a:p>
          <a:p>
            <a:pPr marL="274320" indent="-274320">
              <a:spcAft>
                <a:spcPts val="990"/>
              </a:spcAft>
              <a:buClr>
                <a:srgbClr val="0645AD"/>
              </a:buClr>
              <a:buFont typeface="Arial"/>
              <a:buChar char="•"/>
            </a:pPr>
            <a:r>
              <a:rPr sz="2200" b="0">
                <a:solidFill>
                  <a:srgbClr val="202122"/>
                </a:solidFill>
                <a:latin typeface="Calibri"/>
              </a:rPr>
              <a:t>Can carry power (PoE)</a:t>
            </a:r>
          </a:p>
          <a:p>
            <a:pPr marL="274320" indent="-274320">
              <a:spcAft>
                <a:spcPts val="990"/>
              </a:spcAft>
              <a:buClr>
                <a:srgbClr val="0645AD"/>
              </a:buClr>
              <a:buFont typeface="Arial"/>
              <a:buChar char="•"/>
            </a:pPr>
            <a:r>
              <a:rPr sz="2200" b="0">
                <a:solidFill>
                  <a:srgbClr val="202122"/>
                </a:solidFill>
                <a:latin typeface="Calibri"/>
              </a:rPr>
              <a:t>Max 90 m permanent link, 100 m channel</a:t>
            </a:r>
          </a:p>
          <a:p>
            <a:pPr marL="274320" indent="-274320">
              <a:spcAft>
                <a:spcPts val="990"/>
              </a:spcAft>
              <a:buClr>
                <a:srgbClr val="0645AD"/>
              </a:buClr>
              <a:buFont typeface="Arial"/>
              <a:buChar char="•"/>
            </a:pPr>
            <a:r>
              <a:rPr sz="2200" b="0">
                <a:solidFill>
                  <a:srgbClr val="202122"/>
                </a:solidFill>
                <a:latin typeface="Calibri"/>
              </a:rPr>
              <a:t>UTP, STP, FTP, coaxial</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Fibre</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Longer distances, higher bandwidth</a:t>
            </a:r>
          </a:p>
          <a:p>
            <a:pPr marL="274320" indent="-274320">
              <a:spcAft>
                <a:spcPts val="990"/>
              </a:spcAft>
              <a:buClr>
                <a:srgbClr val="0645AD"/>
              </a:buClr>
              <a:buFont typeface="Arial"/>
              <a:buChar char="•"/>
            </a:pPr>
            <a:r>
              <a:rPr sz="2200" b="0">
                <a:solidFill>
                  <a:srgbClr val="202122"/>
                </a:solidFill>
                <a:latin typeface="Calibri"/>
              </a:rPr>
              <a:t>Lightweight, less degradation</a:t>
            </a:r>
          </a:p>
          <a:p>
            <a:pPr marL="274320" indent="-274320">
              <a:spcAft>
                <a:spcPts val="990"/>
              </a:spcAft>
              <a:buClr>
                <a:srgbClr val="0645AD"/>
              </a:buClr>
              <a:buFont typeface="Arial"/>
              <a:buChar char="•"/>
            </a:pPr>
            <a:r>
              <a:rPr sz="2200" b="0">
                <a:solidFill>
                  <a:srgbClr val="202122"/>
                </a:solidFill>
                <a:latin typeface="Calibri"/>
              </a:rPr>
              <a:t>Limited by the laser quality at each end</a:t>
            </a:r>
          </a:p>
          <a:p>
            <a:pPr marL="274320" indent="-274320">
              <a:spcAft>
                <a:spcPts val="990"/>
              </a:spcAft>
              <a:buClr>
                <a:srgbClr val="0645AD"/>
              </a:buClr>
              <a:buFont typeface="Arial"/>
              <a:buChar char="•"/>
            </a:pPr>
            <a:r>
              <a:rPr sz="2200" b="0">
                <a:solidFill>
                  <a:srgbClr val="202122"/>
                </a:solidFill>
                <a:latin typeface="Calibri"/>
              </a:rPr>
              <a:t>Single-mode OS1/OS2; multi-mode OM3/OM4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Copper and fibre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PoE allow?</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is better for a 2 km link, copper or fibre?</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use plenum-rated cable?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Connectors and transceivers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Copper connectors include RJ-45 for Ethernet, RJ-11 for telephones, BNC and F-type for coaxial, and DB-9 and DB-25 for older serial connections.</a:t>
            </a:r>
          </a:p>
          <a:p>
            <a:pPr>
              <a:spcAft>
                <a:spcPts val="1260"/>
              </a:spcAft>
            </a:pPr>
            <a:r>
              <a:rPr sz="2100" b="0">
                <a:solidFill>
                  <a:srgbClr val="202122"/>
                </a:solidFill>
                <a:latin typeface="Calibri"/>
              </a:rPr>
              <a:t>Fibre connectors include LC (small, common in switches), SC, ST, MT-RJ and MPO (many fibres at once). Choose by mating type, locking method (latching, screw or bayonet, and UPC or APC polish), durability and size.</a:t>
            </a:r>
          </a:p>
          <a:p>
            <a:pPr>
              <a:spcAft>
                <a:spcPts val="1260"/>
              </a:spcAft>
            </a:pPr>
            <a:r>
              <a:rPr sz="2100" b="0">
                <a:solidFill>
                  <a:srgbClr val="202122"/>
                </a:solidFill>
                <a:latin typeface="Calibri"/>
              </a:rPr>
              <a:t>Transceivers such as SFP, SFP+, GBIC and QSFP plug into switches to convert electrical signals to light. Choose by simplex or duplex, speed, wavelength, connector type and whether it's compatible with the host.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switch uplink uses an SFP+ transceiver with LC connectors on OM4 multi-mode fibre for 10 Gbps.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Connectors and transceivers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Copper connectors</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RJ-45, RJ-11, BNC, DB-9, DB-25, F-type.</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Fibre connectors</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LC, ST, SC, MT-RJ, MPO.</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Choosing a connector</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Mating type, locking (latch, screw, bayonet, APC or UPC), durability, size.</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Transceivers</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SFP, SFP+, GBIC, QSFP. Choose by duplex, bandwidth, WDM, rate and connector.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Connectors and transceivers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fibre connector is small and common in switches?</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a transceiver do?</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Which copper connector is used for telephones?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Termination points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Cables end at termination points, where they're connected in a structured way.</a:t>
            </a:r>
          </a:p>
          <a:p>
            <a:pPr>
              <a:spcAft>
                <a:spcPts val="1260"/>
              </a:spcAft>
            </a:pPr>
            <a:r>
              <a:rPr sz="2100" b="0">
                <a:solidFill>
                  <a:srgbClr val="202122"/>
                </a:solidFill>
                <a:latin typeface="Calibri"/>
              </a:rPr>
              <a:t>A 66 block is an older punch-down terminal for telephone systems, used with Cat3 cable.</a:t>
            </a:r>
          </a:p>
          <a:p>
            <a:pPr>
              <a:spcAft>
                <a:spcPts val="1260"/>
              </a:spcAft>
            </a:pPr>
            <a:r>
              <a:rPr sz="2100" b="0">
                <a:solidFill>
                  <a:srgbClr val="202122"/>
                </a:solidFill>
                <a:latin typeface="Calibri"/>
              </a:rPr>
              <a:t>A 110 block supports higher speeds (Cat5 to Cat6a) and replaced the 66 block for structured cabling.</a:t>
            </a:r>
          </a:p>
          <a:p>
            <a:pPr>
              <a:spcAft>
                <a:spcPts val="1260"/>
              </a:spcAft>
            </a:pPr>
            <a:r>
              <a:rPr sz="2100" b="0">
                <a:solidFill>
                  <a:srgbClr val="202122"/>
                </a:solidFill>
                <a:latin typeface="Calibri"/>
              </a:rPr>
              <a:t>A patch panel is a rack-mounted panel where incoming cables are punched down at the back. Short patch leads at the front connect ports to switches, so changes can be made without touching the permanent cabling. Patch panels handle large numbers of copper and fibre connections.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Moving a desk to a new switch port is just a matter of moving one patch lead at the front of the panel: no re-cabling needed.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Termination points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66 block</a:t>
            </a:r>
          </a:p>
        </p:txBody>
      </p:sp>
      <p:sp>
        <p:nvSpPr>
          <p:cNvPr id="9" name="TextBox 8"/>
          <p:cNvSpPr txBox="1"/>
          <p:nvPr/>
        </p:nvSpPr>
        <p:spPr>
          <a:xfrm>
            <a:off x="777240" y="2468880"/>
            <a:ext cx="3058058" cy="3566160"/>
          </a:xfrm>
          <a:prstGeom prst="rect">
            <a:avLst/>
          </a:prstGeom>
          <a:noFill/>
        </p:spPr>
        <p:txBody>
          <a:bodyPr wrap="square" anchor="t" lIns="0" rIns="0" tIns="0" bIns="0"/>
          <a:lstStyle/>
          <a:p>
            <a:pPr algn="l"/>
            <a:r>
              <a:rPr sz="2000" b="0" i="0">
                <a:solidFill>
                  <a:srgbClr val="202122"/>
                </a:solidFill>
                <a:latin typeface="Calibri"/>
              </a:rPr>
              <a:t>Punch-down for telephone systems; 22 to 26 gauge wire; Cat3.</a:t>
            </a:r>
          </a:p>
        </p:txBody>
      </p:sp>
      <p:sp>
        <p:nvSpPr>
          <p:cNvPr id="10" name="Rounded Rectangle 9"/>
          <p:cNvSpPr/>
          <p:nvPr/>
        </p:nvSpPr>
        <p:spPr>
          <a:xfrm>
            <a:off x="4338218"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110 block</a:t>
            </a:r>
          </a:p>
        </p:txBody>
      </p:sp>
      <p:sp>
        <p:nvSpPr>
          <p:cNvPr id="13" name="TextBox 12"/>
          <p:cNvSpPr txBox="1"/>
          <p:nvPr/>
        </p:nvSpPr>
        <p:spPr>
          <a:xfrm>
            <a:off x="4566818" y="2468880"/>
            <a:ext cx="3058058" cy="3566160"/>
          </a:xfrm>
          <a:prstGeom prst="rect">
            <a:avLst/>
          </a:prstGeom>
          <a:noFill/>
        </p:spPr>
        <p:txBody>
          <a:bodyPr wrap="square" anchor="t" lIns="0" rIns="0" tIns="0" bIns="0"/>
          <a:lstStyle/>
          <a:p>
            <a:pPr algn="l"/>
            <a:r>
              <a:rPr sz="2000" b="0" i="0">
                <a:solidFill>
                  <a:srgbClr val="202122"/>
                </a:solidFill>
                <a:latin typeface="Calibri"/>
              </a:rPr>
              <a:t>Higher speeds (Cat5 to Cat6a); replaced the 66 block.</a:t>
            </a:r>
          </a:p>
        </p:txBody>
      </p:sp>
      <p:sp>
        <p:nvSpPr>
          <p:cNvPr id="14" name="Rounded Rectangle 13"/>
          <p:cNvSpPr/>
          <p:nvPr/>
        </p:nvSpPr>
        <p:spPr>
          <a:xfrm>
            <a:off x="8127796"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Patch panel</a:t>
            </a:r>
          </a:p>
        </p:txBody>
      </p:sp>
      <p:sp>
        <p:nvSpPr>
          <p:cNvPr id="17" name="TextBox 16"/>
          <p:cNvSpPr txBox="1"/>
          <p:nvPr/>
        </p:nvSpPr>
        <p:spPr>
          <a:xfrm>
            <a:off x="8356396" y="2468880"/>
            <a:ext cx="3058058" cy="3566160"/>
          </a:xfrm>
          <a:prstGeom prst="rect">
            <a:avLst/>
          </a:prstGeom>
          <a:noFill/>
        </p:spPr>
        <p:txBody>
          <a:bodyPr wrap="square" anchor="t" lIns="0" rIns="0" tIns="0" bIns="0"/>
          <a:lstStyle/>
          <a:p>
            <a:pPr algn="l"/>
            <a:r>
              <a:rPr sz="2000" b="0" i="0">
                <a:solidFill>
                  <a:srgbClr val="202122"/>
                </a:solidFill>
                <a:latin typeface="Calibri"/>
              </a:rPr>
              <a:t>Incoming cables terminate at the back; patch leads connect at the front.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Termination points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punch-down block supports Cat6?</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a patch panel for?</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Which cable category is used with a 66 block?</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Copper cable standards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graphicFrame>
        <p:nvGraphicFramePr>
          <p:cNvPr id="6" name="Table 5"/>
          <p:cNvGraphicFramePr>
            <a:graphicFrameLocks noGrp="1"/>
          </p:cNvGraphicFramePr>
          <p:nvPr/>
        </p:nvGraphicFramePr>
        <p:xfrm>
          <a:off x="548640" y="1600200"/>
          <a:ext cx="11094412" cy="4526280"/>
        </p:xfrm>
        <a:graphic>
          <a:graphicData uri="http://schemas.openxmlformats.org/drawingml/2006/table">
            <a:tbl>
              <a:tblPr firstRow="1" bandRow="1">
                <a:tableStyleId>{5C22544A-7EE6-4342-B048-85BDC9FD1C3A}</a:tableStyleId>
              </a:tblPr>
              <a:tblGrid>
                <a:gridCol w="1957837"/>
                <a:gridCol w="2871495"/>
                <a:gridCol w="2349405"/>
                <a:gridCol w="3915675"/>
              </a:tblGrid>
              <a:tr h="754380">
                <a:tc>
                  <a:txBody>
                    <a:bodyPr wrap="square"/>
                    <a:lstStyle/>
                    <a:p>
                      <a:r>
                        <a:rPr sz="1600" b="1">
                          <a:solidFill>
                            <a:srgbClr val="FFFFFF"/>
                          </a:solidFill>
                          <a:latin typeface="Calibri"/>
                        </a:rPr>
                        <a:t>Cable</a:t>
                      </a:r>
                    </a:p>
                  </a:txBody>
                  <a:tcPr marL="91440" marR="91440" anchor="ctr">
                    <a:solidFill>
                      <a:srgbClr val="03306E"/>
                    </a:solidFill>
                  </a:tcPr>
                </a:tc>
                <a:tc>
                  <a:txBody>
                    <a:bodyPr wrap="square"/>
                    <a:lstStyle/>
                    <a:p>
                      <a:r>
                        <a:rPr sz="1600" b="1">
                          <a:solidFill>
                            <a:srgbClr val="FFFFFF"/>
                          </a:solidFill>
                          <a:latin typeface="Calibri"/>
                        </a:rPr>
                        <a:t>Frequency (MHz)</a:t>
                      </a:r>
                    </a:p>
                  </a:txBody>
                  <a:tcPr marL="91440" marR="91440" anchor="ctr">
                    <a:solidFill>
                      <a:srgbClr val="03306E"/>
                    </a:solidFill>
                  </a:tcPr>
                </a:tc>
                <a:tc>
                  <a:txBody>
                    <a:bodyPr wrap="square"/>
                    <a:lstStyle/>
                    <a:p>
                      <a:r>
                        <a:rPr sz="1600" b="1">
                          <a:solidFill>
                            <a:srgbClr val="FFFFFF"/>
                          </a:solidFill>
                          <a:latin typeface="Calibri"/>
                        </a:rPr>
                        <a:t>Max length</a:t>
                      </a:r>
                    </a:p>
                  </a:txBody>
                  <a:tcPr marL="91440" marR="91440" anchor="ctr">
                    <a:solidFill>
                      <a:srgbClr val="03306E"/>
                    </a:solidFill>
                  </a:tcPr>
                </a:tc>
                <a:tc>
                  <a:txBody>
                    <a:bodyPr wrap="square"/>
                    <a:lstStyle/>
                    <a:p>
                      <a:r>
                        <a:rPr sz="1600" b="1">
                          <a:solidFill>
                            <a:srgbClr val="FFFFFF"/>
                          </a:solidFill>
                          <a:latin typeface="Calibri"/>
                        </a:rPr>
                        <a:t>Ethernet rate</a:t>
                      </a:r>
                    </a:p>
                  </a:txBody>
                  <a:tcPr marL="91440" marR="91440" anchor="ctr">
                    <a:solidFill>
                      <a:srgbClr val="03306E"/>
                    </a:solidFill>
                  </a:tcPr>
                </a:tc>
              </a:tr>
              <a:tr h="754380">
                <a:tc>
                  <a:txBody>
                    <a:bodyPr wrap="square"/>
                    <a:lstStyle/>
                    <a:p>
                      <a:r>
                        <a:rPr sz="1600" b="1">
                          <a:solidFill>
                            <a:srgbClr val="03306E"/>
                          </a:solidFill>
                          <a:latin typeface="Calibri"/>
                        </a:rPr>
                        <a:t>Cat5e</a:t>
                      </a:r>
                    </a:p>
                  </a:txBody>
                  <a:tcPr marL="91440" marR="91440" anchor="ctr">
                    <a:solidFill>
                      <a:srgbClr val="FFFFFF"/>
                    </a:solidFill>
                  </a:tcPr>
                </a:tc>
                <a:tc>
                  <a:txBody>
                    <a:bodyPr wrap="square"/>
                    <a:lstStyle/>
                    <a:p>
                      <a:r>
                        <a:rPr sz="1600" b="0">
                          <a:solidFill>
                            <a:srgbClr val="202122"/>
                          </a:solidFill>
                          <a:latin typeface="Calibri"/>
                        </a:rPr>
                        <a:t>100 (up to 350)</a:t>
                      </a:r>
                    </a:p>
                  </a:txBody>
                  <a:tcPr marL="91440" marR="91440" anchor="ctr">
                    <a:solidFill>
                      <a:srgbClr val="FFFFFF"/>
                    </a:solidFill>
                  </a:tcPr>
                </a:tc>
                <a:tc>
                  <a:txBody>
                    <a:bodyPr wrap="square"/>
                    <a:lstStyle/>
                    <a:p>
                      <a:r>
                        <a:rPr sz="1600" b="0">
                          <a:solidFill>
                            <a:srgbClr val="202122"/>
                          </a:solidFill>
                          <a:latin typeface="Calibri"/>
                        </a:rPr>
                        <a:t>100 m</a:t>
                      </a:r>
                    </a:p>
                  </a:txBody>
                  <a:tcPr marL="91440" marR="91440" anchor="ctr">
                    <a:solidFill>
                      <a:srgbClr val="FFFFFF"/>
                    </a:solidFill>
                  </a:tcPr>
                </a:tc>
                <a:tc>
                  <a:txBody>
                    <a:bodyPr wrap="square"/>
                    <a:lstStyle/>
                    <a:p>
                      <a:r>
                        <a:rPr sz="1600" b="0">
                          <a:solidFill>
                            <a:srgbClr val="202122"/>
                          </a:solidFill>
                          <a:latin typeface="Calibri"/>
                        </a:rPr>
                        <a:t>1 Gbps (1000BASE-T)</a:t>
                      </a:r>
                    </a:p>
                  </a:txBody>
                  <a:tcPr marL="91440" marR="91440" anchor="ctr">
                    <a:solidFill>
                      <a:srgbClr val="FFFFFF"/>
                    </a:solidFill>
                  </a:tcPr>
                </a:tc>
              </a:tr>
              <a:tr h="754380">
                <a:tc>
                  <a:txBody>
                    <a:bodyPr wrap="square"/>
                    <a:lstStyle/>
                    <a:p>
                      <a:r>
                        <a:rPr sz="1600" b="1">
                          <a:solidFill>
                            <a:srgbClr val="03306E"/>
                          </a:solidFill>
                          <a:latin typeface="Calibri"/>
                        </a:rPr>
                        <a:t>Cat6</a:t>
                      </a:r>
                    </a:p>
                  </a:txBody>
                  <a:tcPr marL="91440" marR="91440" anchor="ctr">
                    <a:solidFill>
                      <a:srgbClr val="EAF3FF"/>
                    </a:solidFill>
                  </a:tcPr>
                </a:tc>
                <a:tc>
                  <a:txBody>
                    <a:bodyPr wrap="square"/>
                    <a:lstStyle/>
                    <a:p>
                      <a:r>
                        <a:rPr sz="1600" b="0">
                          <a:solidFill>
                            <a:srgbClr val="202122"/>
                          </a:solidFill>
                          <a:latin typeface="Calibri"/>
                        </a:rPr>
                        <a:t>250 (up to 550)</a:t>
                      </a:r>
                    </a:p>
                  </a:txBody>
                  <a:tcPr marL="91440" marR="91440" anchor="ctr">
                    <a:solidFill>
                      <a:srgbClr val="EAF3FF"/>
                    </a:solidFill>
                  </a:tcPr>
                </a:tc>
                <a:tc>
                  <a:txBody>
                    <a:bodyPr wrap="square"/>
                    <a:lstStyle/>
                    <a:p>
                      <a:r>
                        <a:rPr sz="1600" b="0">
                          <a:solidFill>
                            <a:srgbClr val="202122"/>
                          </a:solidFill>
                          <a:latin typeface="Calibri"/>
                        </a:rPr>
                        <a:t>100 m</a:t>
                      </a:r>
                    </a:p>
                  </a:txBody>
                  <a:tcPr marL="91440" marR="91440" anchor="ctr">
                    <a:solidFill>
                      <a:srgbClr val="EAF3FF"/>
                    </a:solidFill>
                  </a:tcPr>
                </a:tc>
                <a:tc>
                  <a:txBody>
                    <a:bodyPr wrap="square"/>
                    <a:lstStyle/>
                    <a:p>
                      <a:r>
                        <a:rPr sz="1600" b="0">
                          <a:solidFill>
                            <a:srgbClr val="202122"/>
                          </a:solidFill>
                          <a:latin typeface="Calibri"/>
                        </a:rPr>
                        <a:t>1 or 10 Gbps</a:t>
                      </a:r>
                    </a:p>
                  </a:txBody>
                  <a:tcPr marL="91440" marR="91440" anchor="ctr">
                    <a:solidFill>
                      <a:srgbClr val="EAF3FF"/>
                    </a:solidFill>
                  </a:tcPr>
                </a:tc>
              </a:tr>
              <a:tr h="754380">
                <a:tc>
                  <a:txBody>
                    <a:bodyPr wrap="square"/>
                    <a:lstStyle/>
                    <a:p>
                      <a:r>
                        <a:rPr sz="1600" b="1">
                          <a:solidFill>
                            <a:srgbClr val="03306E"/>
                          </a:solidFill>
                          <a:latin typeface="Calibri"/>
                        </a:rPr>
                        <a:t>Cat6a</a:t>
                      </a:r>
                    </a:p>
                  </a:txBody>
                  <a:tcPr marL="91440" marR="91440" anchor="ctr">
                    <a:solidFill>
                      <a:srgbClr val="FFFFFF"/>
                    </a:solidFill>
                  </a:tcPr>
                </a:tc>
                <a:tc>
                  <a:txBody>
                    <a:bodyPr wrap="square"/>
                    <a:lstStyle/>
                    <a:p>
                      <a:r>
                        <a:rPr sz="1600" b="0">
                          <a:solidFill>
                            <a:srgbClr val="202122"/>
                          </a:solidFill>
                          <a:latin typeface="Calibri"/>
                        </a:rPr>
                        <a:t>500 (up to 550)</a:t>
                      </a:r>
                    </a:p>
                  </a:txBody>
                  <a:tcPr marL="91440" marR="91440" anchor="ctr">
                    <a:solidFill>
                      <a:srgbClr val="FFFFFF"/>
                    </a:solidFill>
                  </a:tcPr>
                </a:tc>
                <a:tc>
                  <a:txBody>
                    <a:bodyPr wrap="square"/>
                    <a:lstStyle/>
                    <a:p>
                      <a:r>
                        <a:rPr sz="1600" b="0">
                          <a:solidFill>
                            <a:srgbClr val="202122"/>
                          </a:solidFill>
                          <a:latin typeface="Calibri"/>
                        </a:rPr>
                        <a:t>100 m</a:t>
                      </a:r>
                    </a:p>
                  </a:txBody>
                  <a:tcPr marL="91440" marR="91440" anchor="ctr">
                    <a:solidFill>
                      <a:srgbClr val="FFFFFF"/>
                    </a:solidFill>
                  </a:tcPr>
                </a:tc>
                <a:tc>
                  <a:txBody>
                    <a:bodyPr wrap="square"/>
                    <a:lstStyle/>
                    <a:p>
                      <a:r>
                        <a:rPr sz="1600" b="0">
                          <a:solidFill>
                            <a:srgbClr val="202122"/>
                          </a:solidFill>
                          <a:latin typeface="Calibri"/>
                        </a:rPr>
                        <a:t>10 Gbps (10GBASE-T)</a:t>
                      </a:r>
                    </a:p>
                  </a:txBody>
                  <a:tcPr marL="91440" marR="91440" anchor="ctr">
                    <a:solidFill>
                      <a:srgbClr val="FFFFFF"/>
                    </a:solidFill>
                  </a:tcPr>
                </a:tc>
              </a:tr>
              <a:tr h="754380">
                <a:tc>
                  <a:txBody>
                    <a:bodyPr wrap="square"/>
                    <a:lstStyle/>
                    <a:p>
                      <a:r>
                        <a:rPr sz="1600" b="1">
                          <a:solidFill>
                            <a:srgbClr val="03306E"/>
                          </a:solidFill>
                          <a:latin typeface="Calibri"/>
                        </a:rPr>
                        <a:t>Cat7</a:t>
                      </a:r>
                    </a:p>
                  </a:txBody>
                  <a:tcPr marL="91440" marR="91440" anchor="ctr">
                    <a:solidFill>
                      <a:srgbClr val="EAF3FF"/>
                    </a:solidFill>
                  </a:tcPr>
                </a:tc>
                <a:tc>
                  <a:txBody>
                    <a:bodyPr wrap="square"/>
                    <a:lstStyle/>
                    <a:p>
                      <a:r>
                        <a:rPr sz="1600" b="0">
                          <a:solidFill>
                            <a:srgbClr val="202122"/>
                          </a:solidFill>
                          <a:latin typeface="Calibri"/>
                        </a:rPr>
                        <a:t>600</a:t>
                      </a:r>
                    </a:p>
                  </a:txBody>
                  <a:tcPr marL="91440" marR="91440" anchor="ctr">
                    <a:solidFill>
                      <a:srgbClr val="EAF3FF"/>
                    </a:solidFill>
                  </a:tcPr>
                </a:tc>
                <a:tc>
                  <a:txBody>
                    <a:bodyPr wrap="square"/>
                    <a:lstStyle/>
                    <a:p>
                      <a:r>
                        <a:rPr sz="1600" b="0">
                          <a:solidFill>
                            <a:srgbClr val="202122"/>
                          </a:solidFill>
                          <a:latin typeface="Calibri"/>
                        </a:rPr>
                        <a:t>100 m</a:t>
                      </a:r>
                    </a:p>
                  </a:txBody>
                  <a:tcPr marL="91440" marR="91440" anchor="ctr">
                    <a:solidFill>
                      <a:srgbClr val="EAF3FF"/>
                    </a:solidFill>
                  </a:tcPr>
                </a:tc>
                <a:tc>
                  <a:txBody>
                    <a:bodyPr wrap="square"/>
                    <a:lstStyle/>
                    <a:p>
                      <a:r>
                        <a:rPr sz="1600" b="0">
                          <a:solidFill>
                            <a:srgbClr val="202122"/>
                          </a:solidFill>
                          <a:latin typeface="Calibri"/>
                        </a:rPr>
                        <a:t>10 Gbps</a:t>
                      </a:r>
                    </a:p>
                  </a:txBody>
                  <a:tcPr marL="91440" marR="91440" anchor="ctr">
                    <a:solidFill>
                      <a:srgbClr val="EAF3FF"/>
                    </a:solidFill>
                  </a:tcPr>
                </a:tc>
              </a:tr>
              <a:tr h="754380">
                <a:tc>
                  <a:txBody>
                    <a:bodyPr wrap="square"/>
                    <a:lstStyle/>
                    <a:p>
                      <a:r>
                        <a:rPr sz="1600" b="1">
                          <a:solidFill>
                            <a:srgbClr val="03306E"/>
                          </a:solidFill>
                          <a:latin typeface="Calibri"/>
                        </a:rPr>
                        <a:t>RG59 / RG6 coax</a:t>
                      </a:r>
                    </a:p>
                  </a:txBody>
                  <a:tcPr marL="91440" marR="91440" anchor="ctr">
                    <a:solidFill>
                      <a:srgbClr val="FFFFFF"/>
                    </a:solidFill>
                  </a:tcPr>
                </a:tc>
                <a:tc>
                  <a:txBody>
                    <a:bodyPr wrap="square"/>
                    <a:lstStyle/>
                    <a:p>
                      <a:r>
                        <a:rPr sz="1600" b="0">
                          <a:solidFill>
                            <a:srgbClr val="202122"/>
                          </a:solidFill>
                          <a:latin typeface="Calibri"/>
                        </a:rPr>
                        <a:t>High / low bandwidth</a:t>
                      </a:r>
                    </a:p>
                  </a:txBody>
                  <a:tcPr marL="91440" marR="91440" anchor="ctr">
                    <a:solidFill>
                      <a:srgbClr val="FFFFFF"/>
                    </a:solidFill>
                  </a:tcPr>
                </a:tc>
                <a:tc>
                  <a:txBody>
                    <a:bodyPr wrap="square"/>
                    <a:lstStyle/>
                    <a:p>
                      <a:r>
                        <a:rPr sz="1600" b="0">
                          <a:solidFill>
                            <a:srgbClr val="202122"/>
                          </a:solidFill>
                          <a:latin typeface="Calibri"/>
                        </a:rPr>
                        <a:t>229 m / 305 m</a:t>
                      </a:r>
                    </a:p>
                  </a:txBody>
                  <a:tcPr marL="91440" marR="91440" anchor="ctr">
                    <a:solidFill>
                      <a:srgbClr val="FFFFFF"/>
                    </a:solidFill>
                  </a:tcPr>
                </a:tc>
                <a:tc>
                  <a:txBody>
                    <a:bodyPr wrap="square"/>
                    <a:lstStyle/>
                    <a:p>
                      <a:r>
                        <a:rPr sz="1600" b="0">
                          <a:solidFill>
                            <a:srgbClr val="202122"/>
                          </a:solidFill>
                          <a:latin typeface="Calibri"/>
                        </a:rPr>
                        <a:t>10 Mbps</a:t>
                      </a:r>
                    </a:p>
                  </a:txBody>
                  <a:tcPr marL="91440" marR="9144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Termination methods and standards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Copper is terminated on patch panels or with RJ-45 plugs. Fibre is terminated by splicing: fusion splicing melts two fibres together for a permanent, low-loss joint, mainly single-mode; mechanical splicing aligns them in a clamp and is quicker but not permanent.</a:t>
            </a:r>
          </a:p>
          <a:p>
            <a:pPr>
              <a:spcAft>
                <a:spcPts val="1320"/>
              </a:spcAft>
            </a:pPr>
            <a:r>
              <a:rPr sz="2200" b="0">
                <a:solidFill>
                  <a:srgbClr val="202122"/>
                </a:solidFill>
                <a:latin typeface="Calibri"/>
              </a:rPr>
              <a:t>The TIA/EIA-568A and 568B standards set the order of the eight wires. A straight-through cable uses the same standard at both ends; a crossover uses 568A at one end and 568B at the other.</a:t>
            </a:r>
          </a:p>
          <a:p>
            <a:pPr>
              <a:spcAft>
                <a:spcPts val="1320"/>
              </a:spcAft>
            </a:pPr>
            <a:r>
              <a:rPr sz="2200" b="0">
                <a:solidFill>
                  <a:srgbClr val="202122"/>
                </a:solidFill>
                <a:latin typeface="Calibri"/>
              </a:rPr>
              <a:t>Ethernet standards, from 100BASE-T to 10GBASE-T, define the speed each cable supports.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new building is wired to 568B throughout, so every outlet and patch lead matches, making faults far easier to trace.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Termination methods and standards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Methods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Patching to a patch panel</a:t>
            </a:r>
          </a:p>
          <a:p>
            <a:pPr marL="274320" indent="-274320">
              <a:spcAft>
                <a:spcPts val="990"/>
              </a:spcAft>
              <a:buClr>
                <a:srgbClr val="0645AD"/>
              </a:buClr>
              <a:buFont typeface="Arial"/>
              <a:buChar char="•"/>
            </a:pPr>
            <a:r>
              <a:rPr sz="2200" b="0">
                <a:solidFill>
                  <a:srgbClr val="202122"/>
                </a:solidFill>
                <a:latin typeface="Calibri"/>
              </a:rPr>
              <a:t>RJ45 for Ethernet</a:t>
            </a:r>
          </a:p>
          <a:p>
            <a:pPr marL="274320" indent="-274320">
              <a:spcAft>
                <a:spcPts val="990"/>
              </a:spcAft>
              <a:buClr>
                <a:srgbClr val="0645AD"/>
              </a:buClr>
              <a:buFont typeface="Arial"/>
              <a:buChar char="•"/>
            </a:pPr>
            <a:r>
              <a:rPr sz="2200" b="1">
                <a:solidFill>
                  <a:srgbClr val="202122"/>
                </a:solidFill>
                <a:latin typeface="Calibri"/>
              </a:rPr>
              <a:t>Fusion splicing:</a:t>
            </a:r>
            <a:r>
              <a:rPr sz="2200" b="0">
                <a:solidFill>
                  <a:srgbClr val="202122"/>
                </a:solidFill>
                <a:latin typeface="Calibri"/>
              </a:rPr>
              <a:t> permanent, single-mode</a:t>
            </a:r>
          </a:p>
          <a:p>
            <a:pPr marL="274320" indent="-274320">
              <a:spcAft>
                <a:spcPts val="990"/>
              </a:spcAft>
              <a:buClr>
                <a:srgbClr val="0645AD"/>
              </a:buClr>
              <a:buFont typeface="Arial"/>
              <a:buChar char="•"/>
            </a:pPr>
            <a:r>
              <a:rPr sz="2200" b="1">
                <a:solidFill>
                  <a:srgbClr val="202122"/>
                </a:solidFill>
                <a:latin typeface="Calibri"/>
              </a:rPr>
              <a:t>Mechanical splicing:</a:t>
            </a:r>
            <a:r>
              <a:rPr sz="2200" b="0">
                <a:solidFill>
                  <a:srgbClr val="202122"/>
                </a:solidFill>
                <a:latin typeface="Calibri"/>
              </a:rPr>
              <a:t> non-permanent, single or multi-mode</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Standards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TIA/EIA-568A and 568B pin-outs</a:t>
            </a:r>
          </a:p>
          <a:p>
            <a:pPr marL="274320" indent="-274320">
              <a:spcAft>
                <a:spcPts val="990"/>
              </a:spcAft>
              <a:buClr>
                <a:srgbClr val="0645AD"/>
              </a:buClr>
              <a:buFont typeface="Arial"/>
              <a:buChar char="•"/>
            </a:pPr>
            <a:r>
              <a:rPr sz="2200" b="1">
                <a:solidFill>
                  <a:srgbClr val="202122"/>
                </a:solidFill>
                <a:latin typeface="Calibri"/>
              </a:rPr>
              <a:t>Straight-through:</a:t>
            </a:r>
            <a:r>
              <a:rPr sz="2200" b="0">
                <a:solidFill>
                  <a:srgbClr val="202122"/>
                </a:solidFill>
                <a:latin typeface="Calibri"/>
              </a:rPr>
              <a:t> same standard at both ends</a:t>
            </a:r>
          </a:p>
          <a:p>
            <a:pPr marL="274320" indent="-274320">
              <a:spcAft>
                <a:spcPts val="990"/>
              </a:spcAft>
              <a:buClr>
                <a:srgbClr val="0645AD"/>
              </a:buClr>
              <a:buFont typeface="Arial"/>
              <a:buChar char="•"/>
            </a:pPr>
            <a:r>
              <a:rPr sz="2200" b="1">
                <a:solidFill>
                  <a:srgbClr val="202122"/>
                </a:solidFill>
                <a:latin typeface="Calibri"/>
              </a:rPr>
              <a:t>Crossover:</a:t>
            </a:r>
            <a:r>
              <a:rPr sz="2200" b="0">
                <a:solidFill>
                  <a:srgbClr val="202122"/>
                </a:solidFill>
                <a:latin typeface="Calibri"/>
              </a:rPr>
              <a:t> 568A at one end, 568B at the other</a:t>
            </a:r>
          </a:p>
          <a:p>
            <a:pPr marL="274320" indent="-274320">
              <a:spcAft>
                <a:spcPts val="990"/>
              </a:spcAft>
              <a:buClr>
                <a:srgbClr val="0645AD"/>
              </a:buClr>
              <a:buFont typeface="Arial"/>
              <a:buChar char="•"/>
            </a:pPr>
            <a:r>
              <a:rPr sz="2200" b="1">
                <a:solidFill>
                  <a:srgbClr val="202122"/>
                </a:solidFill>
                <a:latin typeface="Calibri"/>
              </a:rPr>
              <a:t>Ethernet:</a:t>
            </a:r>
            <a:r>
              <a:rPr sz="2200" b="0">
                <a:solidFill>
                  <a:srgbClr val="202122"/>
                </a:solidFill>
                <a:latin typeface="Calibri"/>
              </a:rPr>
              <a:t> 100BaseT through 10GBaseT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Termination methods and standards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fusion splicing?</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makes a crossover cable?</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use one wiring standard throughout a building?</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What is the maximum copper channel length?</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Which fibre connector is small and common in switches?</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What does plenum-rated cable reduce in a fire?</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Which punch-down block supports Cat6?</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What makes a crossover cable?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17</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What is the maximum copper channel length?</a:t>
            </a:r>
          </a:p>
          <a:p>
            <a:r>
              <a:rPr sz="1800" b="1">
                <a:solidFill>
                  <a:srgbClr val="03306E"/>
                </a:solidFill>
                <a:latin typeface="Calibri"/>
              </a:rPr>
              <a:t>100 metres.</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Which fibre connector is small and common in switches?</a:t>
            </a:r>
          </a:p>
          <a:p>
            <a:r>
              <a:rPr sz="1800" b="1">
                <a:solidFill>
                  <a:srgbClr val="03306E"/>
                </a:solidFill>
                <a:latin typeface="Calibri"/>
              </a:rPr>
              <a:t>LC.</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What does plenum-rated cable reduce in a fire?</a:t>
            </a:r>
          </a:p>
          <a:p>
            <a:r>
              <a:rPr sz="1800" b="1">
                <a:solidFill>
                  <a:srgbClr val="03306E"/>
                </a:solidFill>
                <a:latin typeface="Calibri"/>
              </a:rPr>
              <a:t>Smoke and toxic fumes.</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Which punch-down block supports Cat6?</a:t>
            </a:r>
          </a:p>
          <a:p>
            <a:r>
              <a:rPr sz="1800" b="1">
                <a:solidFill>
                  <a:srgbClr val="03306E"/>
                </a:solidFill>
                <a:latin typeface="Calibri"/>
              </a:rPr>
              <a:t>The 110 block.</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What makes a crossover cable?</a:t>
            </a:r>
          </a:p>
          <a:p>
            <a:r>
              <a:rPr sz="1800" b="1">
                <a:solidFill>
                  <a:srgbClr val="03306E"/>
                </a:solidFill>
                <a:latin typeface="Calibri"/>
              </a:rPr>
              <a:t>568A at one end and 568B at the other.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Spec the materials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Cable Media, Connectors and Standards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18</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Scenario: a two-storey office with 40 desks and a link to a warehouse 400 m away.</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Choose cable types for the desks, riser and warehouse link.</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Choose connectors, transceivers and termination points.</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Justify each choice using the standards tables.</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Lengths stay within standards</a:t>
            </a:r>
          </a:p>
          <a:p>
            <a:pPr marL="274320" indent="-274320">
              <a:spcAft>
                <a:spcPts val="810"/>
              </a:spcAft>
              <a:buClr>
                <a:srgbClr val="0645AD"/>
              </a:buClr>
              <a:buFont typeface="Arial"/>
              <a:buChar char="•"/>
            </a:pPr>
            <a:r>
              <a:rPr sz="1800" b="0">
                <a:solidFill>
                  <a:srgbClr val="202122"/>
                </a:solidFill>
                <a:latin typeface="Calibri"/>
              </a:rPr>
              <a:t>Fibre type suits the 400 m link</a:t>
            </a:r>
          </a:p>
          <a:p>
            <a:pPr marL="274320" indent="-274320">
              <a:spcAft>
                <a:spcPts val="810"/>
              </a:spcAft>
              <a:buClr>
                <a:srgbClr val="0645AD"/>
              </a:buClr>
              <a:buFont typeface="Arial"/>
              <a:buChar char="•"/>
            </a:pPr>
            <a:r>
              <a:rPr sz="1800" b="0">
                <a:solidFill>
                  <a:srgbClr val="202122"/>
                </a:solidFill>
                <a:latin typeface="Calibri"/>
              </a:rPr>
              <a:t>Plenum cable considered where needed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When would you use single-mode fibre?</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Name two copper connectors.</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What is the difference between fusion and mechanical splicing?</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Network Cabling - Installation and Testing</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https://lana6478.github.io/Digital-Suport-and-security-T-levle/#/02-occupational-specialisms/network-cabling/02-cabling-installation-and-testing.md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Cable Media, Connectors and Standards</dc:title>
  <dc:subject>Digital Support and Security T Level: Network Cabling Content Area 2</dc:subject>
  <dc:creator>Samuel O'Connell</dc:creator>
  <cp:keywords>T Level; Digital Support and Security; lesson slides; 2.11 to 2.16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