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To find other services and avoid damaging them.</a:t>
            </a:r>
          </a:p>
          <a:p>
            <a:r>
              <a:t>2. BS EN 50174.</a:t>
            </a:r>
          </a:p>
          <a:p>
            <a:r>
              <a:t>3. Any two: telecoms, CCTV, alarms, AV, access points, IoT.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Stop work immediately.</a:t>
            </a:r>
          </a:p>
          <a:p>
            <a:r>
              <a:t>2. An asbestos-registered professional.</a:t>
            </a:r>
          </a:p>
          <a:p>
            <a:r>
              <a:t>3. It releases fibres that can cause fatal lung disease.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Trained operators.</a:t>
            </a:r>
          </a:p>
          <a:p>
            <a:r>
              <a:t>2. The Confined Spaces Regulations 1997.</a:t>
            </a:r>
          </a:p>
          <a:p>
            <a:r>
              <a:t>3. Escape may be difficult if something goes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NETWORK CABLING</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Health, Safety and Compliance for Cabling</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Network Cabling Content Area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2.19 to 2.24</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Identify supporting media and how to protect it during installation.</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Describe the standards and legislation that govern cabling work.</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Respond correctly to suspected asbestos.</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Apply risk management to working at height and in confined spaces.</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You lift a ceiling tile and see old, crumbly grey board. What should you 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Protecting supporting media</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Cabling jobs often happen around other services: telecoms, CCTV and security systems, alarms, AV, wireless access points and IoT devices.</a:t>
            </a:r>
          </a:p>
          <a:p>
            <a:pPr>
              <a:spcAft>
                <a:spcPts val="1320"/>
              </a:spcAft>
            </a:pPr>
            <a:r>
              <a:rPr sz="2200" b="0">
                <a:solidFill>
                  <a:srgbClr val="202122"/>
                </a:solidFill>
                <a:latin typeface="Calibri"/>
              </a:rPr>
              <a:t>Protect them by checking local records before starting, labelling service cables, avoiding shared containment routes where possible and following change management so nothing is disconnected by surprise.</a:t>
            </a:r>
          </a:p>
          <a:p>
            <a:pPr>
              <a:spcAft>
                <a:spcPts val="1320"/>
              </a:spcAft>
            </a:pPr>
            <a:r>
              <a:rPr sz="2200" b="0">
                <a:solidFill>
                  <a:srgbClr val="202122"/>
                </a:solidFill>
                <a:latin typeface="Calibri"/>
              </a:rPr>
              <a:t>Data cables must be segregated from electrical cables, following BS EN 50174, to prevent interference and for safety.</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An installer cuts what looks like a spare cable in a ceiling void: it's the fire alarm. Checking records and labels first would have prevented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Protecting supporting media</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TextBox 5"/>
          <p:cNvSpPr txBox="1"/>
          <p:nvPr/>
        </p:nvSpPr>
        <p:spPr>
          <a:xfrm>
            <a:off x="548640" y="1600200"/>
            <a:ext cx="6675120" cy="4572000"/>
          </a:xfrm>
          <a:prstGeom prst="rect">
            <a:avLst/>
          </a:prstGeom>
          <a:noFill/>
        </p:spPr>
        <p:txBody>
          <a:bodyPr wrap="square" lIns="0" rIns="0" tIns="0" bIns="0">
            <a:spAutoFit/>
          </a:bodyPr>
          <a:lstStyle/>
          <a:p>
            <a:pPr marL="274320" indent="-274320">
              <a:spcAft>
                <a:spcPts val="1080"/>
              </a:spcAft>
              <a:buClr>
                <a:srgbClr val="0645AD"/>
              </a:buClr>
              <a:buFont typeface="Arial"/>
              <a:buChar char="•"/>
            </a:pPr>
            <a:r>
              <a:rPr sz="2400" b="1">
                <a:solidFill>
                  <a:srgbClr val="202122"/>
                </a:solidFill>
                <a:latin typeface="Calibri"/>
              </a:rPr>
              <a:t>Supporting media:</a:t>
            </a:r>
            <a:r>
              <a:rPr sz="2400" b="0">
                <a:solidFill>
                  <a:srgbClr val="202122"/>
                </a:solidFill>
                <a:latin typeface="Calibri"/>
              </a:rPr>
              <a:t> telecoms, CCTV, alarms, AV, wireless access points, IoT devices.</a:t>
            </a:r>
          </a:p>
          <a:p>
            <a:pPr marL="274320" indent="-274320">
              <a:spcAft>
                <a:spcPts val="1080"/>
              </a:spcAft>
              <a:buClr>
                <a:srgbClr val="0645AD"/>
              </a:buClr>
              <a:buFont typeface="Arial"/>
              <a:buChar char="•"/>
            </a:pPr>
            <a:r>
              <a:rPr sz="2400" b="0">
                <a:solidFill>
                  <a:srgbClr val="202122"/>
                </a:solidFill>
                <a:latin typeface="Calibri"/>
              </a:rPr>
              <a:t>Avoid sharing containment routes with other services.</a:t>
            </a:r>
          </a:p>
          <a:p>
            <a:pPr marL="274320" indent="-274320">
              <a:spcAft>
                <a:spcPts val="1080"/>
              </a:spcAft>
              <a:buClr>
                <a:srgbClr val="0645AD"/>
              </a:buClr>
              <a:buFont typeface="Arial"/>
              <a:buChar char="•"/>
            </a:pPr>
            <a:r>
              <a:rPr sz="2400" b="0">
                <a:solidFill>
                  <a:srgbClr val="202122"/>
                </a:solidFill>
                <a:latin typeface="Calibri"/>
              </a:rPr>
              <a:t>Label service cables.</a:t>
            </a:r>
          </a:p>
          <a:p>
            <a:pPr marL="274320" indent="-274320">
              <a:spcAft>
                <a:spcPts val="1080"/>
              </a:spcAft>
              <a:buClr>
                <a:srgbClr val="0645AD"/>
              </a:buClr>
              <a:buFont typeface="Arial"/>
              <a:buChar char="•"/>
            </a:pPr>
            <a:r>
              <a:rPr sz="2400" b="0">
                <a:solidFill>
                  <a:srgbClr val="202122"/>
                </a:solidFill>
                <a:latin typeface="Calibri"/>
              </a:rPr>
              <a:t>Check local records before starting.</a:t>
            </a:r>
          </a:p>
          <a:p>
            <a:pPr marL="274320" indent="-274320">
              <a:spcAft>
                <a:spcPts val="1080"/>
              </a:spcAft>
              <a:buClr>
                <a:srgbClr val="0645AD"/>
              </a:buClr>
              <a:buFont typeface="Arial"/>
              <a:buChar char="•"/>
            </a:pPr>
            <a:r>
              <a:rPr sz="2400" b="0">
                <a:solidFill>
                  <a:srgbClr val="202122"/>
                </a:solidFill>
                <a:latin typeface="Calibri"/>
              </a:rPr>
              <a:t>Apply change management.</a:t>
            </a:r>
          </a:p>
        </p:txBody>
      </p:sp>
      <p:sp>
        <p:nvSpPr>
          <p:cNvPr id="7" name="Rounded Rectangle 6"/>
          <p:cNvSpPr/>
          <p:nvPr/>
        </p:nvSpPr>
        <p:spPr>
          <a:xfrm>
            <a:off x="7772400" y="1600200"/>
            <a:ext cx="3867912" cy="443484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74519"/>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a:t>
            </a:r>
          </a:p>
        </p:txBody>
      </p:sp>
      <p:sp>
        <p:nvSpPr>
          <p:cNvPr id="9" name="TextBox 8"/>
          <p:cNvSpPr txBox="1"/>
          <p:nvPr/>
        </p:nvSpPr>
        <p:spPr>
          <a:xfrm>
            <a:off x="8046720" y="2606040"/>
            <a:ext cx="3291840" cy="365760"/>
          </a:xfrm>
          <a:prstGeom prst="rect">
            <a:avLst/>
          </a:prstGeom>
          <a:noFill/>
        </p:spPr>
        <p:txBody>
          <a:bodyPr wrap="square" anchor="t" lIns="0" rIns="0" tIns="0" bIns="0"/>
          <a:lstStyle/>
          <a:p>
            <a:pPr algn="l"/>
            <a:r>
              <a:rPr sz="1300" b="1" i="0">
                <a:solidFill>
                  <a:srgbClr val="A9C8F0"/>
                </a:solidFill>
                <a:latin typeface="Calibri"/>
              </a:rPr>
              <a:t>KEY IDEA</a:t>
            </a:r>
          </a:p>
        </p:txBody>
      </p:sp>
      <p:sp>
        <p:nvSpPr>
          <p:cNvPr id="10" name="TextBox 9"/>
          <p:cNvSpPr txBox="1"/>
          <p:nvPr/>
        </p:nvSpPr>
        <p:spPr>
          <a:xfrm>
            <a:off x="8046720" y="3017520"/>
            <a:ext cx="3291840" cy="2926080"/>
          </a:xfrm>
          <a:prstGeom prst="rect">
            <a:avLst/>
          </a:prstGeom>
          <a:noFill/>
        </p:spPr>
        <p:txBody>
          <a:bodyPr wrap="square" anchor="t" lIns="0" rIns="0" tIns="0" bIns="0"/>
          <a:lstStyle/>
          <a:p>
            <a:pPr algn="l"/>
            <a:r>
              <a:rPr sz="2200" b="0" i="0">
                <a:solidFill>
                  <a:srgbClr val="FFFFFF"/>
                </a:solidFill>
                <a:latin typeface="Cambria"/>
              </a:rPr>
              <a:t>Segregate data cables from electrical cables in line with BS EN 50174.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Protecting supporting media</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Why check local records before starting?</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standard covers segregating data and power cables?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Give two examples of supporting media.</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Key cabling standards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graphicFrame>
        <p:nvGraphicFramePr>
          <p:cNvPr id="6" name="Table 5"/>
          <p:cNvGraphicFramePr>
            <a:graphicFrameLocks noGrp="1"/>
          </p:cNvGraphicFramePr>
          <p:nvPr/>
        </p:nvGraphicFramePr>
        <p:xfrm>
          <a:off x="548640" y="1600200"/>
          <a:ext cx="11094415" cy="4526280"/>
        </p:xfrm>
        <a:graphic>
          <a:graphicData uri="http://schemas.openxmlformats.org/drawingml/2006/table">
            <a:tbl>
              <a:tblPr firstRow="1" bandRow="1">
                <a:tableStyleId>{5C22544A-7EE6-4342-B048-85BDC9FD1C3A}</a:tableStyleId>
              </a:tblPr>
              <a:tblGrid>
                <a:gridCol w="3612135"/>
                <a:gridCol w="7482280"/>
              </a:tblGrid>
              <a:tr h="565785">
                <a:tc>
                  <a:txBody>
                    <a:bodyPr wrap="square"/>
                    <a:lstStyle/>
                    <a:p>
                      <a:r>
                        <a:rPr sz="1600" b="1">
                          <a:solidFill>
                            <a:srgbClr val="FFFFFF"/>
                          </a:solidFill>
                          <a:latin typeface="Calibri"/>
                        </a:rPr>
                        <a:t>Standard</a:t>
                      </a:r>
                    </a:p>
                  </a:txBody>
                  <a:tcPr marL="91440" marR="91440" anchor="ctr">
                    <a:solidFill>
                      <a:srgbClr val="03306E"/>
                    </a:solidFill>
                  </a:tcPr>
                </a:tc>
                <a:tc>
                  <a:txBody>
                    <a:bodyPr wrap="square"/>
                    <a:lstStyle/>
                    <a:p>
                      <a:r>
                        <a:rPr sz="1600" b="1">
                          <a:solidFill>
                            <a:srgbClr val="FFFFFF"/>
                          </a:solidFill>
                          <a:latin typeface="Calibri"/>
                        </a:rPr>
                        <a:t>Covers</a:t>
                      </a:r>
                    </a:p>
                  </a:txBody>
                  <a:tcPr marL="91440" marR="91440" anchor="ctr">
                    <a:solidFill>
                      <a:srgbClr val="03306E"/>
                    </a:solidFill>
                  </a:tcPr>
                </a:tc>
              </a:tr>
              <a:tr h="565785">
                <a:tc>
                  <a:txBody>
                    <a:bodyPr wrap="square"/>
                    <a:lstStyle/>
                    <a:p>
                      <a:r>
                        <a:rPr sz="1600" b="1">
                          <a:solidFill>
                            <a:srgbClr val="03306E"/>
                          </a:solidFill>
                          <a:latin typeface="Calibri"/>
                        </a:rPr>
                        <a:t>BS EN 50173 / ISO/IEC 11801</a:t>
                      </a:r>
                    </a:p>
                  </a:txBody>
                  <a:tcPr marL="91440" marR="91440" anchor="ctr">
                    <a:solidFill>
                      <a:srgbClr val="FFFFFF"/>
                    </a:solidFill>
                  </a:tcPr>
                </a:tc>
                <a:tc>
                  <a:txBody>
                    <a:bodyPr wrap="square"/>
                    <a:lstStyle/>
                    <a:p>
                      <a:r>
                        <a:rPr sz="1600" b="0">
                          <a:solidFill>
                            <a:srgbClr val="202122"/>
                          </a:solidFill>
                          <a:latin typeface="Calibri"/>
                        </a:rPr>
                        <a:t>Generic cabling systems</a:t>
                      </a:r>
                    </a:p>
                  </a:txBody>
                  <a:tcPr marL="91440" marR="91440" anchor="ctr">
                    <a:solidFill>
                      <a:srgbClr val="FFFFFF"/>
                    </a:solidFill>
                  </a:tcPr>
                </a:tc>
              </a:tr>
              <a:tr h="565785">
                <a:tc>
                  <a:txBody>
                    <a:bodyPr wrap="square"/>
                    <a:lstStyle/>
                    <a:p>
                      <a:r>
                        <a:rPr sz="1600" b="1">
                          <a:solidFill>
                            <a:srgbClr val="03306E"/>
                          </a:solidFill>
                          <a:latin typeface="Calibri"/>
                        </a:rPr>
                        <a:t>BS EN 50174</a:t>
                      </a:r>
                    </a:p>
                  </a:txBody>
                  <a:tcPr marL="91440" marR="91440" anchor="ctr">
                    <a:solidFill>
                      <a:srgbClr val="EAF3FF"/>
                    </a:solidFill>
                  </a:tcPr>
                </a:tc>
                <a:tc>
                  <a:txBody>
                    <a:bodyPr wrap="square"/>
                    <a:lstStyle/>
                    <a:p>
                      <a:r>
                        <a:rPr sz="1600" b="0">
                          <a:solidFill>
                            <a:srgbClr val="202122"/>
                          </a:solidFill>
                          <a:latin typeface="Calibri"/>
                        </a:rPr>
                        <a:t>Installation specification and quality</a:t>
                      </a:r>
                    </a:p>
                  </a:txBody>
                  <a:tcPr marL="91440" marR="91440" anchor="ctr">
                    <a:solidFill>
                      <a:srgbClr val="EAF3FF"/>
                    </a:solidFill>
                  </a:tcPr>
                </a:tc>
              </a:tr>
              <a:tr h="565785">
                <a:tc>
                  <a:txBody>
                    <a:bodyPr wrap="square"/>
                    <a:lstStyle/>
                    <a:p>
                      <a:r>
                        <a:rPr sz="1600" b="1">
                          <a:solidFill>
                            <a:srgbClr val="03306E"/>
                          </a:solidFill>
                          <a:latin typeface="Calibri"/>
                        </a:rPr>
                        <a:t>BS EN 50310</a:t>
                      </a:r>
                    </a:p>
                  </a:txBody>
                  <a:tcPr marL="91440" marR="91440" anchor="ctr">
                    <a:solidFill>
                      <a:srgbClr val="FFFFFF"/>
                    </a:solidFill>
                  </a:tcPr>
                </a:tc>
                <a:tc>
                  <a:txBody>
                    <a:bodyPr wrap="square"/>
                    <a:lstStyle/>
                    <a:p>
                      <a:r>
                        <a:rPr sz="1600" b="0">
                          <a:solidFill>
                            <a:srgbClr val="202122"/>
                          </a:solidFill>
                          <a:latin typeface="Calibri"/>
                        </a:rPr>
                        <a:t>Bonding and earthing</a:t>
                      </a:r>
                    </a:p>
                  </a:txBody>
                  <a:tcPr marL="91440" marR="91440" anchor="ctr">
                    <a:solidFill>
                      <a:srgbClr val="FFFFFF"/>
                    </a:solidFill>
                  </a:tcPr>
                </a:tc>
              </a:tr>
              <a:tr h="565785">
                <a:tc>
                  <a:txBody>
                    <a:bodyPr wrap="square"/>
                    <a:lstStyle/>
                    <a:p>
                      <a:r>
                        <a:rPr sz="1600" b="1">
                          <a:solidFill>
                            <a:srgbClr val="03306E"/>
                          </a:solidFill>
                          <a:latin typeface="Calibri"/>
                        </a:rPr>
                        <a:t>BS EN 60825</a:t>
                      </a:r>
                    </a:p>
                  </a:txBody>
                  <a:tcPr marL="91440" marR="91440" anchor="ctr">
                    <a:solidFill>
                      <a:srgbClr val="EAF3FF"/>
                    </a:solidFill>
                  </a:tcPr>
                </a:tc>
                <a:tc>
                  <a:txBody>
                    <a:bodyPr wrap="square"/>
                    <a:lstStyle/>
                    <a:p>
                      <a:r>
                        <a:rPr sz="1600" b="0">
                          <a:solidFill>
                            <a:srgbClr val="202122"/>
                          </a:solidFill>
                          <a:latin typeface="Calibri"/>
                        </a:rPr>
                        <a:t>Optical fibre safety</a:t>
                      </a:r>
                    </a:p>
                  </a:txBody>
                  <a:tcPr marL="91440" marR="91440" anchor="ctr">
                    <a:solidFill>
                      <a:srgbClr val="EAF3FF"/>
                    </a:solidFill>
                  </a:tcPr>
                </a:tc>
              </a:tr>
              <a:tr h="565785">
                <a:tc>
                  <a:txBody>
                    <a:bodyPr wrap="square"/>
                    <a:lstStyle/>
                    <a:p>
                      <a:r>
                        <a:rPr sz="1600" b="1">
                          <a:solidFill>
                            <a:srgbClr val="03306E"/>
                          </a:solidFill>
                          <a:latin typeface="Calibri"/>
                        </a:rPr>
                        <a:t>BS 6701 and BS 7671</a:t>
                      </a:r>
                    </a:p>
                  </a:txBody>
                  <a:tcPr marL="91440" marR="91440" anchor="ctr">
                    <a:solidFill>
                      <a:srgbClr val="FFFFFF"/>
                    </a:solidFill>
                  </a:tcPr>
                </a:tc>
                <a:tc>
                  <a:txBody>
                    <a:bodyPr wrap="square"/>
                    <a:lstStyle/>
                    <a:p>
                      <a:r>
                        <a:rPr sz="1600" b="0">
                          <a:solidFill>
                            <a:srgbClr val="202122"/>
                          </a:solidFill>
                          <a:latin typeface="Calibri"/>
                        </a:rPr>
                        <a:t>Installation and wiring regulations</a:t>
                      </a:r>
                    </a:p>
                  </a:txBody>
                  <a:tcPr marL="91440" marR="91440" anchor="ctr">
                    <a:solidFill>
                      <a:srgbClr val="FFFFFF"/>
                    </a:solidFill>
                  </a:tcPr>
                </a:tc>
              </a:tr>
              <a:tr h="565785">
                <a:tc>
                  <a:txBody>
                    <a:bodyPr wrap="square"/>
                    <a:lstStyle/>
                    <a:p>
                      <a:r>
                        <a:rPr sz="1600" b="1">
                          <a:solidFill>
                            <a:srgbClr val="03306E"/>
                          </a:solidFill>
                          <a:latin typeface="Calibri"/>
                        </a:rPr>
                        <a:t>IEEE 802.3 / 802.16</a:t>
                      </a:r>
                    </a:p>
                  </a:txBody>
                  <a:tcPr marL="91440" marR="91440" anchor="ctr">
                    <a:solidFill>
                      <a:srgbClr val="EAF3FF"/>
                    </a:solidFill>
                  </a:tcPr>
                </a:tc>
                <a:tc>
                  <a:txBody>
                    <a:bodyPr wrap="square"/>
                    <a:lstStyle/>
                    <a:p>
                      <a:r>
                        <a:rPr sz="1600" b="0">
                          <a:solidFill>
                            <a:srgbClr val="202122"/>
                          </a:solidFill>
                          <a:latin typeface="Calibri"/>
                        </a:rPr>
                        <a:t>Ethernet / WiMAX</a:t>
                      </a:r>
                    </a:p>
                  </a:txBody>
                  <a:tcPr marL="91440" marR="91440" anchor="ctr">
                    <a:solidFill>
                      <a:srgbClr val="EAF3FF"/>
                    </a:solidFill>
                  </a:tcPr>
                </a:tc>
              </a:tr>
              <a:tr h="565785">
                <a:tc>
                  <a:txBody>
                    <a:bodyPr wrap="square"/>
                    <a:lstStyle/>
                    <a:p>
                      <a:r>
                        <a:rPr sz="1600" b="1">
                          <a:solidFill>
                            <a:srgbClr val="03306E"/>
                          </a:solidFill>
                          <a:latin typeface="Calibri"/>
                        </a:rPr>
                        <a:t>TIA/EIA-568-B, IEC 60364</a:t>
                      </a:r>
                    </a:p>
                  </a:txBody>
                  <a:tcPr marL="91440" marR="91440" anchor="ctr">
                    <a:solidFill>
                      <a:srgbClr val="FFFFFF"/>
                    </a:solidFill>
                  </a:tcPr>
                </a:tc>
                <a:tc>
                  <a:txBody>
                    <a:bodyPr wrap="square"/>
                    <a:lstStyle/>
                    <a:p>
                      <a:r>
                        <a:rPr sz="1600" b="0">
                          <a:solidFill>
                            <a:srgbClr val="202122"/>
                          </a:solidFill>
                          <a:latin typeface="Calibri"/>
                        </a:rPr>
                        <a:t>Cable categories; electrical installations</a:t>
                      </a:r>
                    </a:p>
                  </a:txBody>
                  <a:tcPr marL="91440" marR="9144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HSWA 1974</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2000" b="0" i="0">
                <a:solidFill>
                  <a:srgbClr val="202122"/>
                </a:solidFill>
                <a:latin typeface="Calibri"/>
              </a:rPr>
              <a:t>The general duty of care.</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600" b="1" i="0">
                <a:solidFill>
                  <a:srgbClr val="03306E"/>
                </a:solidFill>
                <a:latin typeface="Calibri"/>
              </a:rPr>
              <a:t>Electricity at Work 1989</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Safe work near electrical systems.</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Work at Height 2005</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Planning and equipment for work at height.</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900" b="1" i="0">
                <a:solidFill>
                  <a:srgbClr val="03306E"/>
                </a:solidFill>
                <a:latin typeface="Calibri"/>
              </a:rPr>
              <a:t>COSHH 2002</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2000" b="0" i="0">
                <a:solidFill>
                  <a:srgbClr val="202122"/>
                </a:solidFill>
                <a:latin typeface="Calibri"/>
              </a:rPr>
              <a:t>Hazardous substances.</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800" b="1" i="0">
                <a:solidFill>
                  <a:srgbClr val="03306E"/>
                </a:solidFill>
                <a:latin typeface="Calibri"/>
              </a:rPr>
              <a:t>Confined Spaces 1997</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Safe entry and rescue plans.</a:t>
            </a:r>
          </a:p>
        </p:txBody>
      </p:sp>
      <p:sp>
        <p:nvSpPr>
          <p:cNvPr id="26" name="Rounded Rectangle 25"/>
          <p:cNvSpPr/>
          <p:nvPr/>
        </p:nvSpPr>
        <p:spPr>
          <a:xfrm>
            <a:off x="8127796"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56396" y="425196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6</a:t>
            </a:r>
          </a:p>
        </p:txBody>
      </p:sp>
      <p:sp>
        <p:nvSpPr>
          <p:cNvPr id="28" name="TextBox 27"/>
          <p:cNvSpPr txBox="1"/>
          <p:nvPr/>
        </p:nvSpPr>
        <p:spPr>
          <a:xfrm>
            <a:off x="8950756" y="4224528"/>
            <a:ext cx="2509418" cy="512064"/>
          </a:xfrm>
          <a:prstGeom prst="rect">
            <a:avLst/>
          </a:prstGeom>
          <a:noFill/>
        </p:spPr>
        <p:txBody>
          <a:bodyPr wrap="square" anchor="ctr" lIns="0" rIns="0" tIns="0" bIns="0"/>
          <a:lstStyle/>
          <a:p>
            <a:pPr algn="l"/>
            <a:r>
              <a:rPr sz="1600" b="1" i="0">
                <a:solidFill>
                  <a:srgbClr val="03306E"/>
                </a:solidFill>
                <a:latin typeface="Calibri"/>
              </a:rPr>
              <a:t>PPE 2018 and Asbestos 2012</a:t>
            </a:r>
          </a:p>
        </p:txBody>
      </p:sp>
      <p:sp>
        <p:nvSpPr>
          <p:cNvPr id="29" name="TextBox 28"/>
          <p:cNvSpPr txBox="1"/>
          <p:nvPr/>
        </p:nvSpPr>
        <p:spPr>
          <a:xfrm>
            <a:off x="8356396" y="4892040"/>
            <a:ext cx="3058058" cy="1143000"/>
          </a:xfrm>
          <a:prstGeom prst="rect">
            <a:avLst/>
          </a:prstGeom>
          <a:noFill/>
        </p:spPr>
        <p:txBody>
          <a:bodyPr wrap="square" anchor="t" lIns="0" rIns="0" tIns="0" bIns="0"/>
          <a:lstStyle/>
          <a:p>
            <a:pPr algn="l"/>
            <a:r>
              <a:rPr sz="2000" b="0" i="0">
                <a:solidFill>
                  <a:srgbClr val="202122"/>
                </a:solidFill>
                <a:latin typeface="Calibri"/>
              </a:rPr>
              <a:t>Protective equipment; control of asbestos.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If you suspect asbestos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Asbestos was widely used in buildings until 1999. Disturbing it releases fibres that can cause fatal lung diseases decades later.</a:t>
            </a:r>
          </a:p>
          <a:p>
            <a:pPr>
              <a:spcAft>
                <a:spcPts val="1260"/>
              </a:spcAft>
            </a:pPr>
            <a:r>
              <a:rPr sz="2100" b="0">
                <a:solidFill>
                  <a:srgbClr val="202122"/>
                </a:solidFill>
                <a:latin typeface="Calibri"/>
              </a:rPr>
              <a:t>If you suspect asbestos-containing material (ACM), stop work immediately. Tell the relevant people: your supervisor and the site manager. Isolate the area so nobody else enters. Have it investigated by an asbestos-registered professional. Then act on their findings: removal, sealing, or air-quality checks.</a:t>
            </a:r>
          </a:p>
          <a:p>
            <a:pPr>
              <a:spcAft>
                <a:spcPts val="1260"/>
              </a:spcAft>
            </a:pPr>
            <a:r>
              <a:rPr sz="2100" b="0">
                <a:solidFill>
                  <a:srgbClr val="202122"/>
                </a:solidFill>
                <a:latin typeface="Calibri"/>
              </a:rPr>
              <a:t>Never drill, cut or sweep suspect material to 'check'. The Control of Asbestos Regulations 2012 apply.</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Lifting a ceiling tile in a 1970s school reveals crumbly grey board. The installer stops, leaves the tile, keeps people out and calls the supervisor.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If you suspect asbestos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Rectangle 5"/>
          <p:cNvSpPr/>
          <p:nvPr/>
        </p:nvSpPr>
        <p:spPr>
          <a:xfrm>
            <a:off x="1603217" y="2793492"/>
            <a:ext cx="8985260"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83177" y="249174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1</a:t>
            </a:r>
          </a:p>
        </p:txBody>
      </p:sp>
      <p:sp>
        <p:nvSpPr>
          <p:cNvPr id="8" name="TextBox 7"/>
          <p:cNvSpPr txBox="1"/>
          <p:nvPr/>
        </p:nvSpPr>
        <p:spPr>
          <a:xfrm>
            <a:off x="548640" y="3268979"/>
            <a:ext cx="2109155" cy="731520"/>
          </a:xfrm>
          <a:prstGeom prst="rect">
            <a:avLst/>
          </a:prstGeom>
          <a:noFill/>
        </p:spPr>
        <p:txBody>
          <a:bodyPr wrap="square" anchor="t" lIns="0" rIns="0" tIns="0" bIns="0"/>
          <a:lstStyle/>
          <a:p>
            <a:pPr algn="ctr"/>
            <a:r>
              <a:rPr sz="1700" b="1" i="0">
                <a:solidFill>
                  <a:srgbClr val="03306E"/>
                </a:solidFill>
                <a:latin typeface="Calibri"/>
              </a:rPr>
              <a:t>Stop</a:t>
            </a:r>
          </a:p>
        </p:txBody>
      </p:sp>
      <p:sp>
        <p:nvSpPr>
          <p:cNvPr id="9" name="Rounded Rectangle 8"/>
          <p:cNvSpPr/>
          <p:nvPr/>
        </p:nvSpPr>
        <p:spPr>
          <a:xfrm>
            <a:off x="548640" y="4046220"/>
            <a:ext cx="2109155" cy="12344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183380"/>
            <a:ext cx="1834835" cy="960119"/>
          </a:xfrm>
          <a:prstGeom prst="rect">
            <a:avLst/>
          </a:prstGeom>
          <a:noFill/>
        </p:spPr>
        <p:txBody>
          <a:bodyPr wrap="square" anchor="t" lIns="0" rIns="0" tIns="0" bIns="0"/>
          <a:lstStyle/>
          <a:p>
            <a:pPr algn="l"/>
            <a:r>
              <a:rPr sz="1800" b="0" i="0">
                <a:solidFill>
                  <a:srgbClr val="202122"/>
                </a:solidFill>
                <a:latin typeface="Calibri"/>
              </a:rPr>
              <a:t>Stop work immediately.</a:t>
            </a:r>
          </a:p>
        </p:txBody>
      </p:sp>
      <p:sp>
        <p:nvSpPr>
          <p:cNvPr id="11" name="Oval 10"/>
          <p:cNvSpPr/>
          <p:nvPr/>
        </p:nvSpPr>
        <p:spPr>
          <a:xfrm>
            <a:off x="3529492" y="249174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2</a:t>
            </a:r>
          </a:p>
        </p:txBody>
      </p:sp>
      <p:sp>
        <p:nvSpPr>
          <p:cNvPr id="12" name="TextBox 11"/>
          <p:cNvSpPr txBox="1"/>
          <p:nvPr/>
        </p:nvSpPr>
        <p:spPr>
          <a:xfrm>
            <a:off x="2794955" y="3268979"/>
            <a:ext cx="2109155" cy="731520"/>
          </a:xfrm>
          <a:prstGeom prst="rect">
            <a:avLst/>
          </a:prstGeom>
          <a:noFill/>
        </p:spPr>
        <p:txBody>
          <a:bodyPr wrap="square" anchor="t" lIns="0" rIns="0" tIns="0" bIns="0"/>
          <a:lstStyle/>
          <a:p>
            <a:pPr algn="ctr"/>
            <a:r>
              <a:rPr sz="1700" b="1" i="0">
                <a:solidFill>
                  <a:srgbClr val="03306E"/>
                </a:solidFill>
                <a:latin typeface="Calibri"/>
              </a:rPr>
              <a:t>Inform</a:t>
            </a:r>
          </a:p>
        </p:txBody>
      </p:sp>
      <p:sp>
        <p:nvSpPr>
          <p:cNvPr id="13" name="Rounded Rectangle 12"/>
          <p:cNvSpPr/>
          <p:nvPr/>
        </p:nvSpPr>
        <p:spPr>
          <a:xfrm>
            <a:off x="2794955" y="4046220"/>
            <a:ext cx="2109155" cy="12344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32115" y="4183380"/>
            <a:ext cx="1834835" cy="960119"/>
          </a:xfrm>
          <a:prstGeom prst="rect">
            <a:avLst/>
          </a:prstGeom>
          <a:noFill/>
        </p:spPr>
        <p:txBody>
          <a:bodyPr wrap="square" anchor="t" lIns="0" rIns="0" tIns="0" bIns="0"/>
          <a:lstStyle/>
          <a:p>
            <a:pPr algn="l"/>
            <a:r>
              <a:rPr sz="1800" b="0" i="0">
                <a:solidFill>
                  <a:srgbClr val="202122"/>
                </a:solidFill>
                <a:latin typeface="Calibri"/>
              </a:rPr>
              <a:t>Tell the relevant people.</a:t>
            </a:r>
          </a:p>
        </p:txBody>
      </p:sp>
      <p:sp>
        <p:nvSpPr>
          <p:cNvPr id="15" name="Oval 14"/>
          <p:cNvSpPr/>
          <p:nvPr/>
        </p:nvSpPr>
        <p:spPr>
          <a:xfrm>
            <a:off x="5775807" y="249174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3</a:t>
            </a:r>
          </a:p>
        </p:txBody>
      </p:sp>
      <p:sp>
        <p:nvSpPr>
          <p:cNvPr id="16" name="TextBox 15"/>
          <p:cNvSpPr txBox="1"/>
          <p:nvPr/>
        </p:nvSpPr>
        <p:spPr>
          <a:xfrm>
            <a:off x="5041270" y="3268979"/>
            <a:ext cx="2109155" cy="731520"/>
          </a:xfrm>
          <a:prstGeom prst="rect">
            <a:avLst/>
          </a:prstGeom>
          <a:noFill/>
        </p:spPr>
        <p:txBody>
          <a:bodyPr wrap="square" anchor="t" lIns="0" rIns="0" tIns="0" bIns="0"/>
          <a:lstStyle/>
          <a:p>
            <a:pPr algn="ctr"/>
            <a:r>
              <a:rPr sz="1700" b="1" i="0">
                <a:solidFill>
                  <a:srgbClr val="03306E"/>
                </a:solidFill>
                <a:latin typeface="Calibri"/>
              </a:rPr>
              <a:t>Isolate</a:t>
            </a:r>
          </a:p>
        </p:txBody>
      </p:sp>
      <p:sp>
        <p:nvSpPr>
          <p:cNvPr id="17" name="Rounded Rectangle 16"/>
          <p:cNvSpPr/>
          <p:nvPr/>
        </p:nvSpPr>
        <p:spPr>
          <a:xfrm>
            <a:off x="5041270" y="4046220"/>
            <a:ext cx="2109155" cy="12344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78430" y="4183380"/>
            <a:ext cx="1834835" cy="960119"/>
          </a:xfrm>
          <a:prstGeom prst="rect">
            <a:avLst/>
          </a:prstGeom>
          <a:noFill/>
        </p:spPr>
        <p:txBody>
          <a:bodyPr wrap="square" anchor="t" lIns="0" rIns="0" tIns="0" bIns="0"/>
          <a:lstStyle/>
          <a:p>
            <a:pPr algn="l"/>
            <a:r>
              <a:rPr sz="1800" b="0" i="0">
                <a:solidFill>
                  <a:srgbClr val="202122"/>
                </a:solidFill>
                <a:latin typeface="Calibri"/>
              </a:rPr>
              <a:t>Restrict access to the area.</a:t>
            </a:r>
          </a:p>
        </p:txBody>
      </p:sp>
      <p:sp>
        <p:nvSpPr>
          <p:cNvPr id="19" name="Oval 18"/>
          <p:cNvSpPr/>
          <p:nvPr/>
        </p:nvSpPr>
        <p:spPr>
          <a:xfrm>
            <a:off x="8022122" y="249174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4</a:t>
            </a:r>
          </a:p>
        </p:txBody>
      </p:sp>
      <p:sp>
        <p:nvSpPr>
          <p:cNvPr id="20" name="TextBox 19"/>
          <p:cNvSpPr txBox="1"/>
          <p:nvPr/>
        </p:nvSpPr>
        <p:spPr>
          <a:xfrm>
            <a:off x="7287585" y="3268979"/>
            <a:ext cx="2109155" cy="731520"/>
          </a:xfrm>
          <a:prstGeom prst="rect">
            <a:avLst/>
          </a:prstGeom>
          <a:noFill/>
        </p:spPr>
        <p:txBody>
          <a:bodyPr wrap="square" anchor="t" lIns="0" rIns="0" tIns="0" bIns="0"/>
          <a:lstStyle/>
          <a:p>
            <a:pPr algn="ctr"/>
            <a:r>
              <a:rPr sz="1700" b="1" i="0">
                <a:solidFill>
                  <a:srgbClr val="03306E"/>
                </a:solidFill>
                <a:latin typeface="Calibri"/>
              </a:rPr>
              <a:t>Investigate</a:t>
            </a:r>
          </a:p>
        </p:txBody>
      </p:sp>
      <p:sp>
        <p:nvSpPr>
          <p:cNvPr id="21" name="Rounded Rectangle 20"/>
          <p:cNvSpPr/>
          <p:nvPr/>
        </p:nvSpPr>
        <p:spPr>
          <a:xfrm>
            <a:off x="7287585" y="4046220"/>
            <a:ext cx="2109155" cy="12344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24745" y="4183380"/>
            <a:ext cx="1834835" cy="960119"/>
          </a:xfrm>
          <a:prstGeom prst="rect">
            <a:avLst/>
          </a:prstGeom>
          <a:noFill/>
        </p:spPr>
        <p:txBody>
          <a:bodyPr wrap="square" anchor="t" lIns="0" rIns="0" tIns="0" bIns="0"/>
          <a:lstStyle/>
          <a:p>
            <a:pPr algn="l"/>
            <a:r>
              <a:rPr sz="1800" b="0" i="0">
                <a:solidFill>
                  <a:srgbClr val="202122"/>
                </a:solidFill>
                <a:latin typeface="Calibri"/>
              </a:rPr>
              <a:t>Use an asbestos-registered professional.</a:t>
            </a:r>
          </a:p>
        </p:txBody>
      </p:sp>
      <p:sp>
        <p:nvSpPr>
          <p:cNvPr id="23" name="Oval 22"/>
          <p:cNvSpPr/>
          <p:nvPr/>
        </p:nvSpPr>
        <p:spPr>
          <a:xfrm>
            <a:off x="10268437" y="249174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5</a:t>
            </a:r>
          </a:p>
        </p:txBody>
      </p:sp>
      <p:sp>
        <p:nvSpPr>
          <p:cNvPr id="24" name="TextBox 23"/>
          <p:cNvSpPr txBox="1"/>
          <p:nvPr/>
        </p:nvSpPr>
        <p:spPr>
          <a:xfrm>
            <a:off x="9533900" y="3268979"/>
            <a:ext cx="2109155" cy="731520"/>
          </a:xfrm>
          <a:prstGeom prst="rect">
            <a:avLst/>
          </a:prstGeom>
          <a:noFill/>
        </p:spPr>
        <p:txBody>
          <a:bodyPr wrap="square" anchor="t" lIns="0" rIns="0" tIns="0" bIns="0"/>
          <a:lstStyle/>
          <a:p>
            <a:pPr algn="ctr"/>
            <a:r>
              <a:rPr sz="1700" b="1" i="0">
                <a:solidFill>
                  <a:srgbClr val="03306E"/>
                </a:solidFill>
                <a:latin typeface="Calibri"/>
              </a:rPr>
              <a:t>Act</a:t>
            </a:r>
          </a:p>
        </p:txBody>
      </p:sp>
      <p:sp>
        <p:nvSpPr>
          <p:cNvPr id="25" name="Rounded Rectangle 24"/>
          <p:cNvSpPr/>
          <p:nvPr/>
        </p:nvSpPr>
        <p:spPr>
          <a:xfrm>
            <a:off x="9533900" y="4046220"/>
            <a:ext cx="2109155" cy="12344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71060" y="4183380"/>
            <a:ext cx="1834835" cy="960119"/>
          </a:xfrm>
          <a:prstGeom prst="rect">
            <a:avLst/>
          </a:prstGeom>
          <a:noFill/>
        </p:spPr>
        <p:txBody>
          <a:bodyPr wrap="square" anchor="t" lIns="0" rIns="0" tIns="0" bIns="0"/>
          <a:lstStyle/>
          <a:p>
            <a:pPr algn="l"/>
            <a:r>
              <a:rPr sz="1800" b="0" i="0">
                <a:solidFill>
                  <a:srgbClr val="202122"/>
                </a:solidFill>
                <a:latin typeface="Calibri"/>
              </a:rPr>
              <a:t>Removal, sealing or air-quality checks.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If you suspect asbestos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the first thing to do if you suspect asbestos?</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Who should investigate suspected asbestos?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is disturbing asbestos dangerous?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Working at height and in confined spaces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Before working at height, risk-assess the job and choose the safest equipment. Mobile elevating work platforms (MEWPs) must be used by trained operators. Low-level access towers must be assembled, inspected, used and dismantled following the manufacturer's instructions. The Work at Height Regulations 2005 apply.</a:t>
            </a:r>
          </a:p>
          <a:p>
            <a:pPr>
              <a:spcAft>
                <a:spcPts val="1200"/>
              </a:spcAft>
            </a:pPr>
            <a:r>
              <a:rPr sz="2000" b="0">
                <a:solidFill>
                  <a:srgbClr val="202122"/>
                </a:solidFill>
                <a:latin typeface="Calibri"/>
              </a:rPr>
              <a:t>Confined spaces, such as ceiling voids, ducts and underfloor areas, bring risks of poor air, heat and difficulty escaping. The same risk management process applies, with the right PPE, properly maintained, and a rescue plan. The Confined Spaces Regulations 1997 apply.</a:t>
            </a:r>
          </a:p>
          <a:p>
            <a:pPr>
              <a:spcAft>
                <a:spcPts val="1200"/>
              </a:spcAft>
            </a:pPr>
            <a:r>
              <a:rPr sz="2000" b="0">
                <a:solidFill>
                  <a:srgbClr val="202122"/>
                </a:solidFill>
                <a:latin typeface="Calibri"/>
              </a:rPr>
              <a:t>Record your findings clearly.</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Running cable through a raised floor void: check the air, plan how to get out, keep a colleague outside, and wear knee pads and gloves.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Working at height and in confined spaces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At height</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Risk assess before starting</a:t>
            </a:r>
          </a:p>
          <a:p>
            <a:pPr marL="274320" indent="-274320">
              <a:spcAft>
                <a:spcPts val="990"/>
              </a:spcAft>
              <a:buClr>
                <a:srgbClr val="0645AD"/>
              </a:buClr>
              <a:buFont typeface="Arial"/>
              <a:buChar char="•"/>
            </a:pPr>
            <a:r>
              <a:rPr sz="2200" b="0">
                <a:solidFill>
                  <a:srgbClr val="202122"/>
                </a:solidFill>
                <a:latin typeface="Calibri"/>
              </a:rPr>
              <a:t>Use MEWPs safely</a:t>
            </a:r>
          </a:p>
          <a:p>
            <a:pPr marL="274320" indent="-274320">
              <a:spcAft>
                <a:spcPts val="990"/>
              </a:spcAft>
              <a:buClr>
                <a:srgbClr val="0645AD"/>
              </a:buClr>
              <a:buFont typeface="Arial"/>
              <a:buChar char="•"/>
            </a:pPr>
            <a:r>
              <a:rPr sz="2200" b="0">
                <a:solidFill>
                  <a:srgbClr val="202122"/>
                </a:solidFill>
                <a:latin typeface="Calibri"/>
              </a:rPr>
              <a:t>Assemble, inspect and dismantle towers per the manufacturer</a:t>
            </a:r>
          </a:p>
          <a:p>
            <a:pPr marL="274320" indent="-274320">
              <a:spcAft>
                <a:spcPts val="990"/>
              </a:spcAft>
              <a:buClr>
                <a:srgbClr val="0645AD"/>
              </a:buClr>
              <a:buFont typeface="Arial"/>
              <a:buChar char="•"/>
            </a:pPr>
            <a:r>
              <a:rPr sz="2200" b="0">
                <a:solidFill>
                  <a:srgbClr val="202122"/>
                </a:solidFill>
                <a:latin typeface="Calibri"/>
              </a:rPr>
              <a:t>Record findings</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Confined spaces</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Same risk management process</a:t>
            </a:r>
          </a:p>
          <a:p>
            <a:pPr marL="274320" indent="-274320">
              <a:spcAft>
                <a:spcPts val="990"/>
              </a:spcAft>
              <a:buClr>
                <a:srgbClr val="0645AD"/>
              </a:buClr>
              <a:buFont typeface="Arial"/>
              <a:buChar char="•"/>
            </a:pPr>
            <a:r>
              <a:rPr sz="2200" b="0">
                <a:solidFill>
                  <a:srgbClr val="202122"/>
                </a:solidFill>
                <a:latin typeface="Calibri"/>
              </a:rPr>
              <a:t>Correct PPE, properly maintained</a:t>
            </a:r>
          </a:p>
          <a:p>
            <a:pPr marL="274320" indent="-274320">
              <a:spcAft>
                <a:spcPts val="990"/>
              </a:spcAft>
              <a:buClr>
                <a:srgbClr val="0645AD"/>
              </a:buClr>
              <a:buFont typeface="Arial"/>
              <a:buChar char="•"/>
            </a:pPr>
            <a:r>
              <a:rPr sz="2200" b="0">
                <a:solidFill>
                  <a:srgbClr val="202122"/>
                </a:solidFill>
                <a:latin typeface="Calibri"/>
              </a:rPr>
              <a:t>Plan for rescue</a:t>
            </a:r>
          </a:p>
          <a:p>
            <a:pPr marL="274320" indent="-274320">
              <a:spcAft>
                <a:spcPts val="990"/>
              </a:spcAft>
              <a:buClr>
                <a:srgbClr val="0645AD"/>
              </a:buClr>
              <a:buFont typeface="Arial"/>
              <a:buChar char="•"/>
            </a:pPr>
            <a:r>
              <a:rPr sz="2200" b="0">
                <a:solidFill>
                  <a:srgbClr val="202122"/>
                </a:solidFill>
                <a:latin typeface="Calibri"/>
              </a:rPr>
              <a:t>Record findings clearly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100" b="1" i="0">
                <a:solidFill>
                  <a:srgbClr val="03306E"/>
                </a:solidFill>
                <a:latin typeface="Cambria"/>
              </a:rPr>
              <a:t>Quick check: Working at height and in confined spaces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Who may operate a MEWP?</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regulations cover confined spaces?</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is a rescue plan needed for confined spaces?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Which standard covers segregation of data and power cables?</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What is the first thing to do if you suspect asbestos?</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Which regulations cover work in ceiling voids and ducts?</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Which standard covers optical fibre safety?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Which standard covers segregation of data and power cables?</a:t>
            </a:r>
          </a:p>
          <a:p>
            <a:r>
              <a:rPr sz="1800" b="1">
                <a:solidFill>
                  <a:srgbClr val="03306E"/>
                </a:solidFill>
                <a:latin typeface="Calibri"/>
              </a:rPr>
              <a:t>BS EN 50174.</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What is the first thing to do if you suspect asbestos?</a:t>
            </a:r>
          </a:p>
          <a:p>
            <a:r>
              <a:rPr sz="1800" b="1">
                <a:solidFill>
                  <a:srgbClr val="03306E"/>
                </a:solidFill>
                <a:latin typeface="Calibri"/>
              </a:rPr>
              <a:t>Stop work immediately.</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Which regulations cover work in ceiling voids and ducts?</a:t>
            </a:r>
          </a:p>
          <a:p>
            <a:r>
              <a:rPr sz="1800" b="1">
                <a:solidFill>
                  <a:srgbClr val="03306E"/>
                </a:solidFill>
                <a:latin typeface="Calibri"/>
              </a:rPr>
              <a:t>Confined Spaces Regulations 1997.</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Which standard covers optical fibre safety?</a:t>
            </a:r>
          </a:p>
          <a:p>
            <a:r>
              <a:rPr sz="1800" b="1">
                <a:solidFill>
                  <a:srgbClr val="03306E"/>
                </a:solidFill>
                <a:latin typeface="Calibri"/>
              </a:rPr>
              <a:t>BS EN 60825.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Method statement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Compliance for Cabling</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16</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30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Small groups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Scenario: run 20 new cables through a 1970s school corridor ceiling, 3.5 m high.</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Write a method statement with a risk assessment.</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Name the legislation and standards that apply at each step.</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Include what to do if ACM or live services are found.</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Height and asbestos risks covered</a:t>
            </a:r>
          </a:p>
          <a:p>
            <a:pPr marL="274320" indent="-274320">
              <a:spcAft>
                <a:spcPts val="810"/>
              </a:spcAft>
              <a:buClr>
                <a:srgbClr val="0645AD"/>
              </a:buClr>
              <a:buFont typeface="Arial"/>
              <a:buChar char="•"/>
            </a:pPr>
            <a:r>
              <a:rPr sz="1800" b="0">
                <a:solidFill>
                  <a:srgbClr val="202122"/>
                </a:solidFill>
                <a:latin typeface="Calibri"/>
              </a:rPr>
              <a:t>Correct legislation named</a:t>
            </a:r>
          </a:p>
          <a:p>
            <a:pPr marL="274320" indent="-274320">
              <a:spcAft>
                <a:spcPts val="810"/>
              </a:spcAft>
              <a:buClr>
                <a:srgbClr val="0645AD"/>
              </a:buClr>
              <a:buFont typeface="Arial"/>
              <a:buChar char="•"/>
            </a:pPr>
            <a:r>
              <a:rPr sz="1800" b="0">
                <a:solidFill>
                  <a:srgbClr val="202122"/>
                </a:solidFill>
                <a:latin typeface="Calibri"/>
              </a:rPr>
              <a:t>Clear stop and escalate steps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NETWORK CABLING  ·  Network Cabling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must you check local records before drilling?</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Name one piece of access equipment and its main hazard.</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Who can investigate suspected asbestos?</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Network Cabling - Installation and Testing</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https://lana6478.github.io/Digital-Suport-and-security-T-levle/#/02-occupational-specialisms/network-cabling/02-cabling-installation-and-testing.md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Safety and Compliance for Cabling</dc:title>
  <dc:subject>Digital Support and Security T Level: Network Cabling Content Area 2</dc:subject>
  <dc:creator>Samuel O'Connell</dc:creator>
  <cp:keywords>T Level; Digital Support and Security; lesson slides; 2.19 to 2.24</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