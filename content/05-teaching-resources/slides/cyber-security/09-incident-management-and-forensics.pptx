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purpose of forensics is to gather legitimate evidence. If evidence is tampered with, it may not be usable.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Preservation.</a:t>
            </a:r>
          </a:p>
          <a:p>
            <a:r>
              <a:t>2. So the original isn't altered.</a:t>
            </a:r>
          </a:p>
          <a:p>
            <a:r>
              <a:t>3. To prove the evidence is reliable and wasn't tampered with.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Crimes are reported to the police and personal data breaches to the ICO.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 ICO.</a:t>
            </a:r>
          </a:p>
          <a:p>
            <a:r>
              <a:t>2. A workaround is temporary; a fix is permanent.</a:t>
            </a:r>
          </a:p>
          <a:p>
            <a:r>
              <a:t>3. By its business impact.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Evidence in memory is lost when it's powered off.</a:t>
            </a:r>
          </a:p>
          <a:p>
            <a:r>
              <a:t>2. The date, time and a description.</a:t>
            </a:r>
          </a:p>
          <a:p>
            <a:r>
              <a:t>3. They may be overwritten or deleted.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E0463A"/>
                </a:solidFill>
                <a:latin typeface="Calibri"/>
              </a:rPr>
              <a:t>CYBER SECURITY</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Incident Management and Digital Forensics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Cyber Security Content Area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2.1, 2.19, 2.20</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4028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 name="TextBox 7"/>
          <p:cNvSpPr txBox="1"/>
          <p:nvPr/>
        </p:nvSpPr>
        <p:spPr>
          <a:xfrm>
            <a:off x="1234440" y="2011680"/>
            <a:ext cx="6035040" cy="914400"/>
          </a:xfrm>
          <a:prstGeom prst="rect">
            <a:avLst/>
          </a:prstGeom>
          <a:noFill/>
        </p:spPr>
        <p:txBody>
          <a:bodyPr wrap="square" anchor="ctr" lIns="0" rIns="0" tIns="0" bIns="0"/>
          <a:lstStyle/>
          <a:p>
            <a:pPr algn="l"/>
            <a:r>
              <a:rPr sz="2000" b="0" i="0">
                <a:solidFill>
                  <a:srgbClr val="202122"/>
                </a:solidFill>
                <a:latin typeface="Calibri"/>
              </a:rPr>
              <a:t>Describe the five-stage compliance model for computer forensics.</a:t>
            </a:r>
          </a:p>
        </p:txBody>
      </p:sp>
      <p:sp>
        <p:nvSpPr>
          <p:cNvPr id="9" name="Oval 8"/>
          <p:cNvSpPr/>
          <p:nvPr/>
        </p:nvSpPr>
        <p:spPr>
          <a:xfrm>
            <a:off x="548640" y="329184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0" name="TextBox 9"/>
          <p:cNvSpPr txBox="1"/>
          <p:nvPr/>
        </p:nvSpPr>
        <p:spPr>
          <a:xfrm>
            <a:off x="1234440" y="3063240"/>
            <a:ext cx="6035040" cy="914400"/>
          </a:xfrm>
          <a:prstGeom prst="rect">
            <a:avLst/>
          </a:prstGeom>
          <a:noFill/>
        </p:spPr>
        <p:txBody>
          <a:bodyPr wrap="square" anchor="ctr" lIns="0" rIns="0" tIns="0" bIns="0"/>
          <a:lstStyle/>
          <a:p>
            <a:pPr algn="l"/>
            <a:r>
              <a:rPr sz="2000" b="0" i="0">
                <a:solidFill>
                  <a:srgbClr val="202122"/>
                </a:solidFill>
                <a:latin typeface="Calibri"/>
              </a:rPr>
              <a:t>Describe the stages of incident and event management.</a:t>
            </a:r>
          </a:p>
        </p:txBody>
      </p:sp>
      <p:sp>
        <p:nvSpPr>
          <p:cNvPr id="11" name="Oval 10"/>
          <p:cNvSpPr/>
          <p:nvPr/>
        </p:nvSpPr>
        <p:spPr>
          <a:xfrm>
            <a:off x="548640" y="4343400"/>
            <a:ext cx="457200" cy="45720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2" name="TextBox 11"/>
          <p:cNvSpPr txBox="1"/>
          <p:nvPr/>
        </p:nvSpPr>
        <p:spPr>
          <a:xfrm>
            <a:off x="1234440" y="4114800"/>
            <a:ext cx="6035040" cy="914400"/>
          </a:xfrm>
          <a:prstGeom prst="rect">
            <a:avLst/>
          </a:prstGeom>
          <a:noFill/>
        </p:spPr>
        <p:txBody>
          <a:bodyPr wrap="square" anchor="ctr" lIns="0" rIns="0" tIns="0" bIns="0"/>
          <a:lstStyle/>
          <a:p>
            <a:pPr algn="l"/>
            <a:r>
              <a:rPr sz="2000" b="0" i="0">
                <a:solidFill>
                  <a:srgbClr val="202122"/>
                </a:solidFill>
                <a:latin typeface="Calibri"/>
              </a:rPr>
              <a:t>Escalate a security incident while preserving evidence.</a:t>
            </a:r>
          </a:p>
        </p:txBody>
      </p:sp>
      <p:sp>
        <p:nvSpPr>
          <p:cNvPr id="13" name="Rounded Rectangle 12"/>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5" name="TextBox 14"/>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You spot ransomware encrypting files on a colleague's PC. Do you switch it off, unplug the network cable, or do something else?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Forensic compliance model</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Digital forensics gathers evidence from devices and networks that can stand up in court or an investigation. It follows five stages.</a:t>
            </a:r>
          </a:p>
          <a:p>
            <a:pPr>
              <a:spcAft>
                <a:spcPts val="1260"/>
              </a:spcAft>
            </a:pPr>
            <a:r>
              <a:rPr sz="2100" b="1">
                <a:solidFill>
                  <a:srgbClr val="202122"/>
                </a:solidFill>
                <a:latin typeface="Calibri"/>
              </a:rPr>
              <a:t>Identification:</a:t>
            </a:r>
            <a:r>
              <a:rPr sz="2100" b="0">
                <a:solidFill>
                  <a:srgbClr val="202122"/>
                </a:solidFill>
                <a:latin typeface="Calibri"/>
              </a:rPr>
              <a:t> what evidence exists, where it is and how it's stored. Preservation: isolate and secure it without changing it, in chronological order and within legal retention periods. Analysis: rebuild fragments of data and draw conclusions based only on the evidence. Documentation: record every finding and every step taken. Presentation: report to the right body, such as the police.</a:t>
            </a:r>
          </a:p>
          <a:p>
            <a:pPr>
              <a:spcAft>
                <a:spcPts val="1260"/>
              </a:spcAft>
            </a:pPr>
            <a:r>
              <a:rPr sz="2100" b="0">
                <a:solidFill>
                  <a:srgbClr val="202122"/>
                </a:solidFill>
                <a:latin typeface="Calibri"/>
              </a:rPr>
              <a:t>If evidence is altered or its handling isn't recorded, it may be unusable.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An investigator makes a bit-for-bit copy of a hard drive and works only on the copy, so the original evidence is never changed.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Forensic compliance model</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ectangle 5"/>
          <p:cNvSpPr/>
          <p:nvPr/>
        </p:nvSpPr>
        <p:spPr>
          <a:xfrm>
            <a:off x="1603217" y="2656332"/>
            <a:ext cx="8985260"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283177" y="23545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8" name="TextBox 7"/>
          <p:cNvSpPr txBox="1"/>
          <p:nvPr/>
        </p:nvSpPr>
        <p:spPr>
          <a:xfrm>
            <a:off x="548640" y="3131820"/>
            <a:ext cx="2109155" cy="731520"/>
          </a:xfrm>
          <a:prstGeom prst="rect">
            <a:avLst/>
          </a:prstGeom>
          <a:noFill/>
        </p:spPr>
        <p:txBody>
          <a:bodyPr wrap="square" anchor="t" lIns="0" rIns="0" tIns="0" bIns="0"/>
          <a:lstStyle/>
          <a:p>
            <a:pPr algn="ctr"/>
            <a:r>
              <a:rPr sz="1700" b="1" i="0">
                <a:solidFill>
                  <a:srgbClr val="03306E"/>
                </a:solidFill>
                <a:latin typeface="Calibri"/>
              </a:rPr>
              <a:t>Identification</a:t>
            </a:r>
          </a:p>
        </p:txBody>
      </p:sp>
      <p:sp>
        <p:nvSpPr>
          <p:cNvPr id="9" name="Rounded Rectangle 8"/>
          <p:cNvSpPr/>
          <p:nvPr/>
        </p:nvSpPr>
        <p:spPr>
          <a:xfrm>
            <a:off x="548640" y="3909060"/>
            <a:ext cx="2109155"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46220"/>
            <a:ext cx="1834835" cy="1234439"/>
          </a:xfrm>
          <a:prstGeom prst="rect">
            <a:avLst/>
          </a:prstGeom>
          <a:noFill/>
        </p:spPr>
        <p:txBody>
          <a:bodyPr wrap="square" anchor="t" lIns="0" rIns="0" tIns="0" bIns="0"/>
          <a:lstStyle/>
          <a:p>
            <a:pPr algn="l"/>
            <a:r>
              <a:rPr sz="1800" b="0" i="0">
                <a:solidFill>
                  <a:srgbClr val="202122"/>
                </a:solidFill>
                <a:latin typeface="Calibri"/>
              </a:rPr>
              <a:t>What evidence exists, where and how it is stored.</a:t>
            </a:r>
          </a:p>
        </p:txBody>
      </p:sp>
      <p:sp>
        <p:nvSpPr>
          <p:cNvPr id="11" name="Oval 10"/>
          <p:cNvSpPr/>
          <p:nvPr/>
        </p:nvSpPr>
        <p:spPr>
          <a:xfrm>
            <a:off x="3529492" y="23545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2" name="TextBox 11"/>
          <p:cNvSpPr txBox="1"/>
          <p:nvPr/>
        </p:nvSpPr>
        <p:spPr>
          <a:xfrm>
            <a:off x="2794955" y="3131820"/>
            <a:ext cx="2109155" cy="731520"/>
          </a:xfrm>
          <a:prstGeom prst="rect">
            <a:avLst/>
          </a:prstGeom>
          <a:noFill/>
        </p:spPr>
        <p:txBody>
          <a:bodyPr wrap="square" anchor="t" lIns="0" rIns="0" tIns="0" bIns="0"/>
          <a:lstStyle/>
          <a:p>
            <a:pPr algn="ctr"/>
            <a:r>
              <a:rPr sz="1700" b="1" i="0">
                <a:solidFill>
                  <a:srgbClr val="03306E"/>
                </a:solidFill>
                <a:latin typeface="Calibri"/>
              </a:rPr>
              <a:t>Preservation</a:t>
            </a:r>
          </a:p>
        </p:txBody>
      </p:sp>
      <p:sp>
        <p:nvSpPr>
          <p:cNvPr id="13" name="Rounded Rectangle 12"/>
          <p:cNvSpPr/>
          <p:nvPr/>
        </p:nvSpPr>
        <p:spPr>
          <a:xfrm>
            <a:off x="2794955" y="3909060"/>
            <a:ext cx="2109155"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32115" y="4046220"/>
            <a:ext cx="1834835" cy="1234439"/>
          </a:xfrm>
          <a:prstGeom prst="rect">
            <a:avLst/>
          </a:prstGeom>
          <a:noFill/>
        </p:spPr>
        <p:txBody>
          <a:bodyPr wrap="square" anchor="t" lIns="0" rIns="0" tIns="0" bIns="0"/>
          <a:lstStyle/>
          <a:p>
            <a:pPr algn="l"/>
            <a:r>
              <a:rPr sz="1800" b="0" i="0">
                <a:solidFill>
                  <a:srgbClr val="202122"/>
                </a:solidFill>
                <a:latin typeface="Calibri"/>
              </a:rPr>
              <a:t>Isolate and secure it in order, without tampering.</a:t>
            </a:r>
          </a:p>
        </p:txBody>
      </p:sp>
      <p:sp>
        <p:nvSpPr>
          <p:cNvPr id="15" name="Oval 14"/>
          <p:cNvSpPr/>
          <p:nvPr/>
        </p:nvSpPr>
        <p:spPr>
          <a:xfrm>
            <a:off x="5775807" y="23545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5041270" y="3131820"/>
            <a:ext cx="2109155" cy="731520"/>
          </a:xfrm>
          <a:prstGeom prst="rect">
            <a:avLst/>
          </a:prstGeom>
          <a:noFill/>
        </p:spPr>
        <p:txBody>
          <a:bodyPr wrap="square" anchor="t" lIns="0" rIns="0" tIns="0" bIns="0"/>
          <a:lstStyle/>
          <a:p>
            <a:pPr algn="ctr"/>
            <a:r>
              <a:rPr sz="1700" b="1" i="0">
                <a:solidFill>
                  <a:srgbClr val="03306E"/>
                </a:solidFill>
                <a:latin typeface="Calibri"/>
              </a:rPr>
              <a:t>Analysis</a:t>
            </a:r>
          </a:p>
        </p:txBody>
      </p:sp>
      <p:sp>
        <p:nvSpPr>
          <p:cNvPr id="17" name="Rounded Rectangle 16"/>
          <p:cNvSpPr/>
          <p:nvPr/>
        </p:nvSpPr>
        <p:spPr>
          <a:xfrm>
            <a:off x="5041270" y="3909060"/>
            <a:ext cx="2109155"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78430" y="4046220"/>
            <a:ext cx="1834835" cy="1234439"/>
          </a:xfrm>
          <a:prstGeom prst="rect">
            <a:avLst/>
          </a:prstGeom>
          <a:noFill/>
        </p:spPr>
        <p:txBody>
          <a:bodyPr wrap="square" anchor="t" lIns="0" rIns="0" tIns="0" bIns="0"/>
          <a:lstStyle/>
          <a:p>
            <a:pPr algn="l"/>
            <a:r>
              <a:rPr sz="1800" b="0" i="0">
                <a:solidFill>
                  <a:srgbClr val="202122"/>
                </a:solidFill>
                <a:latin typeface="Calibri"/>
              </a:rPr>
              <a:t>Reconstruct fragments and draw evidence-based conclusions.</a:t>
            </a:r>
          </a:p>
        </p:txBody>
      </p:sp>
      <p:sp>
        <p:nvSpPr>
          <p:cNvPr id="19" name="Oval 18"/>
          <p:cNvSpPr/>
          <p:nvPr/>
        </p:nvSpPr>
        <p:spPr>
          <a:xfrm>
            <a:off x="8022122" y="23545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20" name="TextBox 19"/>
          <p:cNvSpPr txBox="1"/>
          <p:nvPr/>
        </p:nvSpPr>
        <p:spPr>
          <a:xfrm>
            <a:off x="7287585" y="3131820"/>
            <a:ext cx="2109155" cy="731520"/>
          </a:xfrm>
          <a:prstGeom prst="rect">
            <a:avLst/>
          </a:prstGeom>
          <a:noFill/>
        </p:spPr>
        <p:txBody>
          <a:bodyPr wrap="square" anchor="t" lIns="0" rIns="0" tIns="0" bIns="0"/>
          <a:lstStyle/>
          <a:p>
            <a:pPr algn="ctr"/>
            <a:r>
              <a:rPr sz="1700" b="1" i="0">
                <a:solidFill>
                  <a:srgbClr val="03306E"/>
                </a:solidFill>
                <a:latin typeface="Calibri"/>
              </a:rPr>
              <a:t>Documentation</a:t>
            </a:r>
          </a:p>
        </p:txBody>
      </p:sp>
      <p:sp>
        <p:nvSpPr>
          <p:cNvPr id="21" name="Rounded Rectangle 20"/>
          <p:cNvSpPr/>
          <p:nvPr/>
        </p:nvSpPr>
        <p:spPr>
          <a:xfrm>
            <a:off x="7287585" y="3909060"/>
            <a:ext cx="2109155"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24745" y="4046220"/>
            <a:ext cx="1834835" cy="1234439"/>
          </a:xfrm>
          <a:prstGeom prst="rect">
            <a:avLst/>
          </a:prstGeom>
          <a:noFill/>
        </p:spPr>
        <p:txBody>
          <a:bodyPr wrap="square" anchor="t" lIns="0" rIns="0" tIns="0" bIns="0"/>
          <a:lstStyle/>
          <a:p>
            <a:pPr algn="l"/>
            <a:r>
              <a:rPr sz="1800" b="0" i="0">
                <a:solidFill>
                  <a:srgbClr val="202122"/>
                </a:solidFill>
                <a:latin typeface="Calibri"/>
              </a:rPr>
              <a:t>Record every finding and every step.</a:t>
            </a:r>
          </a:p>
        </p:txBody>
      </p:sp>
      <p:sp>
        <p:nvSpPr>
          <p:cNvPr id="23" name="Oval 22"/>
          <p:cNvSpPr/>
          <p:nvPr/>
        </p:nvSpPr>
        <p:spPr>
          <a:xfrm>
            <a:off x="10268437" y="23545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24" name="TextBox 23"/>
          <p:cNvSpPr txBox="1"/>
          <p:nvPr/>
        </p:nvSpPr>
        <p:spPr>
          <a:xfrm>
            <a:off x="9533900" y="3131820"/>
            <a:ext cx="2109155" cy="731520"/>
          </a:xfrm>
          <a:prstGeom prst="rect">
            <a:avLst/>
          </a:prstGeom>
          <a:noFill/>
        </p:spPr>
        <p:txBody>
          <a:bodyPr wrap="square" anchor="t" lIns="0" rIns="0" tIns="0" bIns="0"/>
          <a:lstStyle/>
          <a:p>
            <a:pPr algn="ctr"/>
            <a:r>
              <a:rPr sz="1700" b="1" i="0">
                <a:solidFill>
                  <a:srgbClr val="03306E"/>
                </a:solidFill>
                <a:latin typeface="Calibri"/>
              </a:rPr>
              <a:t>Presentation</a:t>
            </a:r>
          </a:p>
        </p:txBody>
      </p:sp>
      <p:sp>
        <p:nvSpPr>
          <p:cNvPr id="25" name="Rounded Rectangle 24"/>
          <p:cNvSpPr/>
          <p:nvPr/>
        </p:nvSpPr>
        <p:spPr>
          <a:xfrm>
            <a:off x="9533900" y="3909060"/>
            <a:ext cx="2109155" cy="15087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71060" y="4046220"/>
            <a:ext cx="1834835" cy="1234439"/>
          </a:xfrm>
          <a:prstGeom prst="rect">
            <a:avLst/>
          </a:prstGeom>
          <a:noFill/>
        </p:spPr>
        <p:txBody>
          <a:bodyPr wrap="square" anchor="t" lIns="0" rIns="0" tIns="0" bIns="0"/>
          <a:lstStyle/>
          <a:p>
            <a:pPr algn="l"/>
            <a:r>
              <a:rPr sz="1800" b="0" i="0">
                <a:solidFill>
                  <a:srgbClr val="202122"/>
                </a:solidFill>
                <a:latin typeface="Calibri"/>
              </a:rPr>
              <a:t>Report to the right body, e.g. law enforcement.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Forensic compliance model</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second stage?</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work on a copy of the evidence?</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document every step?</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Incident and event management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Incident management gets from 'something's wrong' to 'resolved and learned from'.</a:t>
            </a:r>
          </a:p>
          <a:p>
            <a:pPr>
              <a:spcAft>
                <a:spcPts val="1320"/>
              </a:spcAft>
            </a:pPr>
            <a:r>
              <a:rPr sz="2200" b="0">
                <a:solidFill>
                  <a:srgbClr val="202122"/>
                </a:solidFill>
                <a:latin typeface="Calibri"/>
              </a:rPr>
              <a:t>Identify the incident, through the service desk, phone, email, SMS or chat. Log it, manually or automatically. Manage it: raise a ticket, assign the right person and categorise it by business impact. Prioritise it, using SLAs and escalation, reporting crimes to the police and personal data breaches to the ICO (within 72 hours). Resolve it with a workaround or a permanent fix. Close it with an incident report. Document everything and store it in line with data protection law.</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monitoring alert shows mass file changes at 2am. It's logged automatically, escalated as critical, the server isolated, backups restored, and the ICO informed.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Incident and event management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ectangle 5"/>
          <p:cNvSpPr/>
          <p:nvPr/>
        </p:nvSpPr>
        <p:spPr>
          <a:xfrm>
            <a:off x="1282315" y="2808732"/>
            <a:ext cx="9627064"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62275" y="25069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8" name="TextBox 7"/>
          <p:cNvSpPr txBox="1"/>
          <p:nvPr/>
        </p:nvSpPr>
        <p:spPr>
          <a:xfrm>
            <a:off x="548640" y="3284219"/>
            <a:ext cx="1467350" cy="731520"/>
          </a:xfrm>
          <a:prstGeom prst="rect">
            <a:avLst/>
          </a:prstGeom>
          <a:noFill/>
        </p:spPr>
        <p:txBody>
          <a:bodyPr wrap="square" anchor="t" lIns="0" rIns="0" tIns="0" bIns="0"/>
          <a:lstStyle/>
          <a:p>
            <a:pPr algn="ctr"/>
            <a:r>
              <a:rPr sz="1700" b="1" i="0">
                <a:solidFill>
                  <a:srgbClr val="03306E"/>
                </a:solidFill>
                <a:latin typeface="Calibri"/>
              </a:rPr>
              <a:t>Identify</a:t>
            </a:r>
          </a:p>
        </p:txBody>
      </p:sp>
      <p:sp>
        <p:nvSpPr>
          <p:cNvPr id="9" name="Rounded Rectangle 8"/>
          <p:cNvSpPr/>
          <p:nvPr/>
        </p:nvSpPr>
        <p:spPr>
          <a:xfrm>
            <a:off x="548640" y="4061460"/>
            <a:ext cx="1467350" cy="12039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198620"/>
            <a:ext cx="1193030" cy="929640"/>
          </a:xfrm>
          <a:prstGeom prst="rect">
            <a:avLst/>
          </a:prstGeom>
          <a:noFill/>
        </p:spPr>
        <p:txBody>
          <a:bodyPr wrap="square" anchor="t" lIns="0" rIns="0" tIns="0" bIns="0"/>
          <a:lstStyle/>
          <a:p>
            <a:pPr algn="l"/>
            <a:r>
              <a:rPr sz="1300" b="0" i="0">
                <a:solidFill>
                  <a:srgbClr val="202122"/>
                </a:solidFill>
                <a:latin typeface="Calibri"/>
              </a:rPr>
              <a:t>Via service desk, phone, email, SMS or chat.</a:t>
            </a:r>
          </a:p>
        </p:txBody>
      </p:sp>
      <p:sp>
        <p:nvSpPr>
          <p:cNvPr id="11" name="Oval 10"/>
          <p:cNvSpPr/>
          <p:nvPr/>
        </p:nvSpPr>
        <p:spPr>
          <a:xfrm>
            <a:off x="2566786" y="25069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2" name="TextBox 11"/>
          <p:cNvSpPr txBox="1"/>
          <p:nvPr/>
        </p:nvSpPr>
        <p:spPr>
          <a:xfrm>
            <a:off x="2153150" y="3284219"/>
            <a:ext cx="1467350" cy="731520"/>
          </a:xfrm>
          <a:prstGeom prst="rect">
            <a:avLst/>
          </a:prstGeom>
          <a:noFill/>
        </p:spPr>
        <p:txBody>
          <a:bodyPr wrap="square" anchor="t" lIns="0" rIns="0" tIns="0" bIns="0"/>
          <a:lstStyle/>
          <a:p>
            <a:pPr algn="ctr"/>
            <a:r>
              <a:rPr sz="1700" b="1" i="0">
                <a:solidFill>
                  <a:srgbClr val="03306E"/>
                </a:solidFill>
                <a:latin typeface="Calibri"/>
              </a:rPr>
              <a:t>Log</a:t>
            </a:r>
          </a:p>
        </p:txBody>
      </p:sp>
      <p:sp>
        <p:nvSpPr>
          <p:cNvPr id="13" name="Rounded Rectangle 12"/>
          <p:cNvSpPr/>
          <p:nvPr/>
        </p:nvSpPr>
        <p:spPr>
          <a:xfrm>
            <a:off x="2153150" y="4061460"/>
            <a:ext cx="1467350" cy="12039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290310" y="4198620"/>
            <a:ext cx="1193030" cy="929640"/>
          </a:xfrm>
          <a:prstGeom prst="rect">
            <a:avLst/>
          </a:prstGeom>
          <a:noFill/>
        </p:spPr>
        <p:txBody>
          <a:bodyPr wrap="square" anchor="t" lIns="0" rIns="0" tIns="0" bIns="0"/>
          <a:lstStyle/>
          <a:p>
            <a:pPr algn="l"/>
            <a:r>
              <a:rPr sz="1300" b="0" i="0">
                <a:solidFill>
                  <a:srgbClr val="202122"/>
                </a:solidFill>
                <a:latin typeface="Calibri"/>
              </a:rPr>
              <a:t>Manually or automatically by monitoring.</a:t>
            </a:r>
          </a:p>
        </p:txBody>
      </p:sp>
      <p:sp>
        <p:nvSpPr>
          <p:cNvPr id="15" name="Oval 14"/>
          <p:cNvSpPr/>
          <p:nvPr/>
        </p:nvSpPr>
        <p:spPr>
          <a:xfrm>
            <a:off x="4171296" y="25069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3757661" y="3284219"/>
            <a:ext cx="1467350" cy="731520"/>
          </a:xfrm>
          <a:prstGeom prst="rect">
            <a:avLst/>
          </a:prstGeom>
          <a:noFill/>
        </p:spPr>
        <p:txBody>
          <a:bodyPr wrap="square" anchor="t" lIns="0" rIns="0" tIns="0" bIns="0"/>
          <a:lstStyle/>
          <a:p>
            <a:pPr algn="ctr"/>
            <a:r>
              <a:rPr sz="1700" b="1" i="0">
                <a:solidFill>
                  <a:srgbClr val="03306E"/>
                </a:solidFill>
                <a:latin typeface="Calibri"/>
              </a:rPr>
              <a:t>Manage</a:t>
            </a:r>
          </a:p>
        </p:txBody>
      </p:sp>
      <p:sp>
        <p:nvSpPr>
          <p:cNvPr id="17" name="Rounded Rectangle 16"/>
          <p:cNvSpPr/>
          <p:nvPr/>
        </p:nvSpPr>
        <p:spPr>
          <a:xfrm>
            <a:off x="3757661" y="4061460"/>
            <a:ext cx="1467350" cy="12039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894821" y="4198620"/>
            <a:ext cx="1193030" cy="929640"/>
          </a:xfrm>
          <a:prstGeom prst="rect">
            <a:avLst/>
          </a:prstGeom>
          <a:noFill/>
        </p:spPr>
        <p:txBody>
          <a:bodyPr wrap="square" anchor="t" lIns="0" rIns="0" tIns="0" bIns="0"/>
          <a:lstStyle/>
          <a:p>
            <a:pPr algn="l"/>
            <a:r>
              <a:rPr sz="1300" b="0" i="0">
                <a:solidFill>
                  <a:srgbClr val="202122"/>
                </a:solidFill>
                <a:latin typeface="Calibri"/>
              </a:rPr>
              <a:t>Raise a ticket, assign, categorise by impact.</a:t>
            </a:r>
          </a:p>
        </p:txBody>
      </p:sp>
      <p:sp>
        <p:nvSpPr>
          <p:cNvPr id="19" name="Oval 18"/>
          <p:cNvSpPr/>
          <p:nvPr/>
        </p:nvSpPr>
        <p:spPr>
          <a:xfrm>
            <a:off x="5775807" y="25069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20" name="TextBox 19"/>
          <p:cNvSpPr txBox="1"/>
          <p:nvPr/>
        </p:nvSpPr>
        <p:spPr>
          <a:xfrm>
            <a:off x="5362172" y="3284219"/>
            <a:ext cx="1467350" cy="731520"/>
          </a:xfrm>
          <a:prstGeom prst="rect">
            <a:avLst/>
          </a:prstGeom>
          <a:noFill/>
        </p:spPr>
        <p:txBody>
          <a:bodyPr wrap="square" anchor="t" lIns="0" rIns="0" tIns="0" bIns="0"/>
          <a:lstStyle/>
          <a:p>
            <a:pPr algn="ctr"/>
            <a:r>
              <a:rPr sz="1700" b="1" i="0">
                <a:solidFill>
                  <a:srgbClr val="03306E"/>
                </a:solidFill>
                <a:latin typeface="Calibri"/>
              </a:rPr>
              <a:t>Prioritise</a:t>
            </a:r>
          </a:p>
        </p:txBody>
      </p:sp>
      <p:sp>
        <p:nvSpPr>
          <p:cNvPr id="21" name="Rounded Rectangle 20"/>
          <p:cNvSpPr/>
          <p:nvPr/>
        </p:nvSpPr>
        <p:spPr>
          <a:xfrm>
            <a:off x="5362172" y="4061460"/>
            <a:ext cx="1467350" cy="12039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99332" y="4198620"/>
            <a:ext cx="1193030" cy="929640"/>
          </a:xfrm>
          <a:prstGeom prst="rect">
            <a:avLst/>
          </a:prstGeom>
          <a:noFill/>
        </p:spPr>
        <p:txBody>
          <a:bodyPr wrap="square" anchor="t" lIns="0" rIns="0" tIns="0" bIns="0"/>
          <a:lstStyle/>
          <a:p>
            <a:pPr algn="l"/>
            <a:r>
              <a:rPr sz="1300" b="0" i="0">
                <a:solidFill>
                  <a:srgbClr val="202122"/>
                </a:solidFill>
                <a:latin typeface="Calibri"/>
              </a:rPr>
              <a:t>Urgency, SLAs, escalation; report crimes and breaches.</a:t>
            </a:r>
          </a:p>
        </p:txBody>
      </p:sp>
      <p:sp>
        <p:nvSpPr>
          <p:cNvPr id="23" name="Oval 22"/>
          <p:cNvSpPr/>
          <p:nvPr/>
        </p:nvSpPr>
        <p:spPr>
          <a:xfrm>
            <a:off x="7380318" y="25069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24" name="TextBox 23"/>
          <p:cNvSpPr txBox="1"/>
          <p:nvPr/>
        </p:nvSpPr>
        <p:spPr>
          <a:xfrm>
            <a:off x="6966682" y="3284219"/>
            <a:ext cx="1467350" cy="731520"/>
          </a:xfrm>
          <a:prstGeom prst="rect">
            <a:avLst/>
          </a:prstGeom>
          <a:noFill/>
        </p:spPr>
        <p:txBody>
          <a:bodyPr wrap="square" anchor="t" lIns="0" rIns="0" tIns="0" bIns="0"/>
          <a:lstStyle/>
          <a:p>
            <a:pPr algn="ctr"/>
            <a:r>
              <a:rPr sz="1700" b="1" i="0">
                <a:solidFill>
                  <a:srgbClr val="03306E"/>
                </a:solidFill>
                <a:latin typeface="Calibri"/>
              </a:rPr>
              <a:t>Resolve</a:t>
            </a:r>
          </a:p>
        </p:txBody>
      </p:sp>
      <p:sp>
        <p:nvSpPr>
          <p:cNvPr id="25" name="Rounded Rectangle 24"/>
          <p:cNvSpPr/>
          <p:nvPr/>
        </p:nvSpPr>
        <p:spPr>
          <a:xfrm>
            <a:off x="6966682" y="4061460"/>
            <a:ext cx="1467350" cy="12039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03842" y="4198620"/>
            <a:ext cx="1193030" cy="929640"/>
          </a:xfrm>
          <a:prstGeom prst="rect">
            <a:avLst/>
          </a:prstGeom>
          <a:noFill/>
        </p:spPr>
        <p:txBody>
          <a:bodyPr wrap="square" anchor="t" lIns="0" rIns="0" tIns="0" bIns="0"/>
          <a:lstStyle/>
          <a:p>
            <a:pPr algn="l"/>
            <a:r>
              <a:rPr sz="1300" b="0" i="0">
                <a:solidFill>
                  <a:srgbClr val="202122"/>
                </a:solidFill>
                <a:latin typeface="Calibri"/>
              </a:rPr>
              <a:t>Workaround or permanent fix.</a:t>
            </a:r>
          </a:p>
        </p:txBody>
      </p:sp>
      <p:sp>
        <p:nvSpPr>
          <p:cNvPr id="27" name="Oval 26"/>
          <p:cNvSpPr/>
          <p:nvPr/>
        </p:nvSpPr>
        <p:spPr>
          <a:xfrm>
            <a:off x="8984829" y="25069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6</a:t>
            </a:r>
          </a:p>
        </p:txBody>
      </p:sp>
      <p:sp>
        <p:nvSpPr>
          <p:cNvPr id="28" name="TextBox 27"/>
          <p:cNvSpPr txBox="1"/>
          <p:nvPr/>
        </p:nvSpPr>
        <p:spPr>
          <a:xfrm>
            <a:off x="8571193" y="3284219"/>
            <a:ext cx="1467350" cy="731520"/>
          </a:xfrm>
          <a:prstGeom prst="rect">
            <a:avLst/>
          </a:prstGeom>
          <a:noFill/>
        </p:spPr>
        <p:txBody>
          <a:bodyPr wrap="square" anchor="t" lIns="0" rIns="0" tIns="0" bIns="0"/>
          <a:lstStyle/>
          <a:p>
            <a:pPr algn="ctr"/>
            <a:r>
              <a:rPr sz="1700" b="1" i="0">
                <a:solidFill>
                  <a:srgbClr val="03306E"/>
                </a:solidFill>
                <a:latin typeface="Calibri"/>
              </a:rPr>
              <a:t>Close</a:t>
            </a:r>
          </a:p>
        </p:txBody>
      </p:sp>
      <p:sp>
        <p:nvSpPr>
          <p:cNvPr id="29" name="Rounded Rectangle 28"/>
          <p:cNvSpPr/>
          <p:nvPr/>
        </p:nvSpPr>
        <p:spPr>
          <a:xfrm>
            <a:off x="8571193" y="4061460"/>
            <a:ext cx="1467350" cy="12039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708353" y="4198620"/>
            <a:ext cx="1193030" cy="929640"/>
          </a:xfrm>
          <a:prstGeom prst="rect">
            <a:avLst/>
          </a:prstGeom>
          <a:noFill/>
        </p:spPr>
        <p:txBody>
          <a:bodyPr wrap="square" anchor="t" lIns="0" rIns="0" tIns="0" bIns="0"/>
          <a:lstStyle/>
          <a:p>
            <a:pPr algn="l"/>
            <a:r>
              <a:rPr sz="1300" b="0" i="0">
                <a:solidFill>
                  <a:srgbClr val="202122"/>
                </a:solidFill>
                <a:latin typeface="Calibri"/>
              </a:rPr>
              <a:t>Confirm and write an incident report.</a:t>
            </a:r>
          </a:p>
        </p:txBody>
      </p:sp>
      <p:sp>
        <p:nvSpPr>
          <p:cNvPr id="31" name="Oval 30"/>
          <p:cNvSpPr/>
          <p:nvPr/>
        </p:nvSpPr>
        <p:spPr>
          <a:xfrm>
            <a:off x="10589339" y="250698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7</a:t>
            </a:r>
          </a:p>
        </p:txBody>
      </p:sp>
      <p:sp>
        <p:nvSpPr>
          <p:cNvPr id="32" name="TextBox 31"/>
          <p:cNvSpPr txBox="1"/>
          <p:nvPr/>
        </p:nvSpPr>
        <p:spPr>
          <a:xfrm>
            <a:off x="10175704" y="3284219"/>
            <a:ext cx="1467350" cy="731520"/>
          </a:xfrm>
          <a:prstGeom prst="rect">
            <a:avLst/>
          </a:prstGeom>
          <a:noFill/>
        </p:spPr>
        <p:txBody>
          <a:bodyPr wrap="square" anchor="t" lIns="0" rIns="0" tIns="0" bIns="0"/>
          <a:lstStyle/>
          <a:p>
            <a:pPr algn="ctr"/>
            <a:r>
              <a:rPr sz="1700" b="1" i="0">
                <a:solidFill>
                  <a:srgbClr val="03306E"/>
                </a:solidFill>
                <a:latin typeface="Calibri"/>
              </a:rPr>
              <a:t>Document</a:t>
            </a:r>
          </a:p>
        </p:txBody>
      </p:sp>
      <p:sp>
        <p:nvSpPr>
          <p:cNvPr id="33" name="Rounded Rectangle 32"/>
          <p:cNvSpPr/>
          <p:nvPr/>
        </p:nvSpPr>
        <p:spPr>
          <a:xfrm>
            <a:off x="10175704" y="4061460"/>
            <a:ext cx="1467350" cy="120396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312864" y="4198620"/>
            <a:ext cx="1193030" cy="929640"/>
          </a:xfrm>
          <a:prstGeom prst="rect">
            <a:avLst/>
          </a:prstGeom>
          <a:noFill/>
        </p:spPr>
        <p:txBody>
          <a:bodyPr wrap="square" anchor="t" lIns="0" rIns="0" tIns="0" bIns="0"/>
          <a:lstStyle/>
          <a:p>
            <a:pPr algn="l"/>
            <a:r>
              <a:rPr sz="1300" b="0" i="0">
                <a:solidFill>
                  <a:srgbClr val="202122"/>
                </a:solidFill>
                <a:latin typeface="Calibri"/>
              </a:rPr>
              <a:t>Store records per data protection law.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Incident and event management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Who must be told about a personal data breach?</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a workaround and a fix?</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is an incident categorised?</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incident report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0">
                <a:solidFill>
                  <a:srgbClr val="202122"/>
                </a:solidFill>
                <a:latin typeface="Calibri"/>
              </a:rPr>
              <a:t>Executive summary</a:t>
            </a:r>
          </a:p>
          <a:p>
            <a:pPr marL="274320" indent="-274320">
              <a:spcAft>
                <a:spcPts val="1080"/>
              </a:spcAft>
              <a:buClr>
                <a:srgbClr val="0645AD"/>
              </a:buClr>
              <a:buFont typeface="Arial"/>
              <a:buChar char="•"/>
            </a:pPr>
            <a:r>
              <a:rPr sz="2400" b="0">
                <a:solidFill>
                  <a:srgbClr val="202122"/>
                </a:solidFill>
                <a:latin typeface="Calibri"/>
              </a:rPr>
              <a:t>Discovery and investigation</a:t>
            </a:r>
          </a:p>
          <a:p>
            <a:pPr marL="274320" indent="-274320">
              <a:spcAft>
                <a:spcPts val="1080"/>
              </a:spcAft>
              <a:buClr>
                <a:srgbClr val="0645AD"/>
              </a:buClr>
              <a:buFont typeface="Arial"/>
              <a:buChar char="•"/>
            </a:pPr>
            <a:r>
              <a:rPr sz="2400" b="0">
                <a:solidFill>
                  <a:srgbClr val="202122"/>
                </a:solidFill>
                <a:latin typeface="Calibri"/>
              </a:rPr>
              <a:t>Impact</a:t>
            </a:r>
          </a:p>
          <a:p>
            <a:pPr marL="274320" indent="-274320">
              <a:spcAft>
                <a:spcPts val="1080"/>
              </a:spcAft>
              <a:buClr>
                <a:srgbClr val="0645AD"/>
              </a:buClr>
              <a:buFont typeface="Arial"/>
              <a:buChar char="•"/>
            </a:pPr>
            <a:r>
              <a:rPr sz="2400" b="0">
                <a:solidFill>
                  <a:srgbClr val="202122"/>
                </a:solidFill>
                <a:latin typeface="Calibri"/>
              </a:rPr>
              <a:t>Mitigation</a:t>
            </a:r>
          </a:p>
          <a:p>
            <a:pPr marL="274320" indent="-274320">
              <a:spcAft>
                <a:spcPts val="1080"/>
              </a:spcAft>
              <a:buClr>
                <a:srgbClr val="0645AD"/>
              </a:buClr>
              <a:buFont typeface="Arial"/>
              <a:buChar char="•"/>
            </a:pPr>
            <a:r>
              <a:rPr sz="2400" b="0">
                <a:solidFill>
                  <a:srgbClr val="202122"/>
                </a:solidFill>
                <a:latin typeface="Calibri"/>
              </a:rPr>
              <a:t>Recommendations and any ongoing risk</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Write the executive summary last, and for a manager who will only read that part.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Escalating while preserving evidence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When you find a security incident, what you do first can destroy or protect evidence.</a:t>
            </a:r>
          </a:p>
          <a:p>
            <a:pPr>
              <a:spcAft>
                <a:spcPts val="1320"/>
              </a:spcAft>
            </a:pPr>
            <a:r>
              <a:rPr sz="2200" b="0">
                <a:solidFill>
                  <a:srgbClr val="202122"/>
                </a:solidFill>
                <a:latin typeface="Calibri"/>
              </a:rPr>
              <a:t>Record the date, time and a description of what you saw. Take appropriate action, usually isolating the device from the network to stop the spread. Preserve digital evidence, for example by copying the relevant log files before they're overwritten. Escalate to the right person or team.</a:t>
            </a:r>
          </a:p>
          <a:p>
            <a:pPr>
              <a:spcAft>
                <a:spcPts val="1320"/>
              </a:spcAft>
            </a:pPr>
            <a:r>
              <a:rPr sz="2200" b="0">
                <a:solidFill>
                  <a:srgbClr val="202122"/>
                </a:solidFill>
                <a:latin typeface="Calibri"/>
              </a:rPr>
              <a:t>Isolating rather than switching off matters: memory holds valuable evidence, such as running processes and encryption keys, that is lost at power-off.</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Spotting ransomware on a PC, you unplug the network cable (not the power), note the time and the ransom message, and call the security team.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Escalating while preserving evidence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ectangle 5"/>
          <p:cNvSpPr/>
          <p:nvPr/>
        </p:nvSpPr>
        <p:spPr>
          <a:xfrm>
            <a:off x="1884006" y="2382012"/>
            <a:ext cx="8423681"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563966" y="208026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8" name="TextBox 7"/>
          <p:cNvSpPr txBox="1"/>
          <p:nvPr/>
        </p:nvSpPr>
        <p:spPr>
          <a:xfrm>
            <a:off x="548640" y="2857500"/>
            <a:ext cx="2670733" cy="731520"/>
          </a:xfrm>
          <a:prstGeom prst="rect">
            <a:avLst/>
          </a:prstGeom>
          <a:noFill/>
        </p:spPr>
        <p:txBody>
          <a:bodyPr wrap="square" anchor="t" lIns="0" rIns="0" tIns="0" bIns="0"/>
          <a:lstStyle/>
          <a:p>
            <a:pPr algn="ctr"/>
            <a:r>
              <a:rPr sz="1700" b="1" i="0">
                <a:solidFill>
                  <a:srgbClr val="03306E"/>
                </a:solidFill>
                <a:latin typeface="Calibri"/>
              </a:rPr>
              <a:t>Record</a:t>
            </a:r>
          </a:p>
        </p:txBody>
      </p:sp>
      <p:sp>
        <p:nvSpPr>
          <p:cNvPr id="9" name="Rounded Rectangle 8"/>
          <p:cNvSpPr/>
          <p:nvPr/>
        </p:nvSpPr>
        <p:spPr>
          <a:xfrm>
            <a:off x="548640"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3771900"/>
            <a:ext cx="2396413" cy="960119"/>
          </a:xfrm>
          <a:prstGeom prst="rect">
            <a:avLst/>
          </a:prstGeom>
          <a:noFill/>
        </p:spPr>
        <p:txBody>
          <a:bodyPr wrap="square" anchor="t" lIns="0" rIns="0" tIns="0" bIns="0"/>
          <a:lstStyle/>
          <a:p>
            <a:pPr algn="l"/>
            <a:r>
              <a:rPr sz="1800" b="0" i="0">
                <a:solidFill>
                  <a:srgbClr val="202122"/>
                </a:solidFill>
                <a:latin typeface="Calibri"/>
              </a:rPr>
              <a:t>Date, time and description of the incident.</a:t>
            </a:r>
          </a:p>
        </p:txBody>
      </p:sp>
      <p:sp>
        <p:nvSpPr>
          <p:cNvPr id="11" name="Oval 10"/>
          <p:cNvSpPr/>
          <p:nvPr/>
        </p:nvSpPr>
        <p:spPr>
          <a:xfrm>
            <a:off x="4371860" y="208026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2" name="TextBox 11"/>
          <p:cNvSpPr txBox="1"/>
          <p:nvPr/>
        </p:nvSpPr>
        <p:spPr>
          <a:xfrm>
            <a:off x="3356533" y="2857500"/>
            <a:ext cx="2670733" cy="731520"/>
          </a:xfrm>
          <a:prstGeom prst="rect">
            <a:avLst/>
          </a:prstGeom>
          <a:noFill/>
        </p:spPr>
        <p:txBody>
          <a:bodyPr wrap="square" anchor="t" lIns="0" rIns="0" tIns="0" bIns="0"/>
          <a:lstStyle/>
          <a:p>
            <a:pPr algn="ctr"/>
            <a:r>
              <a:rPr sz="1700" b="1" i="0">
                <a:solidFill>
                  <a:srgbClr val="03306E"/>
                </a:solidFill>
                <a:latin typeface="Calibri"/>
              </a:rPr>
              <a:t>Act</a:t>
            </a:r>
          </a:p>
        </p:txBody>
      </p:sp>
      <p:sp>
        <p:nvSpPr>
          <p:cNvPr id="13" name="Rounded Rectangle 12"/>
          <p:cNvSpPr/>
          <p:nvPr/>
        </p:nvSpPr>
        <p:spPr>
          <a:xfrm>
            <a:off x="3356533"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93693" y="3771900"/>
            <a:ext cx="2396413" cy="960119"/>
          </a:xfrm>
          <a:prstGeom prst="rect">
            <a:avLst/>
          </a:prstGeom>
          <a:noFill/>
        </p:spPr>
        <p:txBody>
          <a:bodyPr wrap="square" anchor="t" lIns="0" rIns="0" tIns="0" bIns="0"/>
          <a:lstStyle/>
          <a:p>
            <a:pPr algn="l"/>
            <a:r>
              <a:rPr sz="1800" b="0" i="0">
                <a:solidFill>
                  <a:srgbClr val="202122"/>
                </a:solidFill>
                <a:latin typeface="Calibri"/>
              </a:rPr>
              <a:t>e.g. isolate the device from the network.</a:t>
            </a:r>
          </a:p>
        </p:txBody>
      </p:sp>
      <p:sp>
        <p:nvSpPr>
          <p:cNvPr id="15" name="Oval 14"/>
          <p:cNvSpPr/>
          <p:nvPr/>
        </p:nvSpPr>
        <p:spPr>
          <a:xfrm>
            <a:off x="7179754" y="208026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6164427" y="2857500"/>
            <a:ext cx="2670733" cy="731520"/>
          </a:xfrm>
          <a:prstGeom prst="rect">
            <a:avLst/>
          </a:prstGeom>
          <a:noFill/>
        </p:spPr>
        <p:txBody>
          <a:bodyPr wrap="square" anchor="t" lIns="0" rIns="0" tIns="0" bIns="0"/>
          <a:lstStyle/>
          <a:p>
            <a:pPr algn="ctr"/>
            <a:r>
              <a:rPr sz="1700" b="1" i="0">
                <a:solidFill>
                  <a:srgbClr val="03306E"/>
                </a:solidFill>
                <a:latin typeface="Calibri"/>
              </a:rPr>
              <a:t>Preserve</a:t>
            </a:r>
          </a:p>
        </p:txBody>
      </p:sp>
      <p:sp>
        <p:nvSpPr>
          <p:cNvPr id="17" name="Rounded Rectangle 16"/>
          <p:cNvSpPr/>
          <p:nvPr/>
        </p:nvSpPr>
        <p:spPr>
          <a:xfrm>
            <a:off x="6164427"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01587" y="3771900"/>
            <a:ext cx="2396413" cy="960119"/>
          </a:xfrm>
          <a:prstGeom prst="rect">
            <a:avLst/>
          </a:prstGeom>
          <a:noFill/>
        </p:spPr>
        <p:txBody>
          <a:bodyPr wrap="square" anchor="t" lIns="0" rIns="0" tIns="0" bIns="0"/>
          <a:lstStyle/>
          <a:p>
            <a:pPr algn="l"/>
            <a:r>
              <a:rPr sz="1800" b="0" i="0">
                <a:solidFill>
                  <a:srgbClr val="202122"/>
                </a:solidFill>
                <a:latin typeface="Calibri"/>
              </a:rPr>
              <a:t>Copy the relevant log files.</a:t>
            </a:r>
          </a:p>
        </p:txBody>
      </p:sp>
      <p:sp>
        <p:nvSpPr>
          <p:cNvPr id="19" name="Oval 18"/>
          <p:cNvSpPr/>
          <p:nvPr/>
        </p:nvSpPr>
        <p:spPr>
          <a:xfrm>
            <a:off x="9987648" y="2080260"/>
            <a:ext cx="640080" cy="6400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20" name="TextBox 19"/>
          <p:cNvSpPr txBox="1"/>
          <p:nvPr/>
        </p:nvSpPr>
        <p:spPr>
          <a:xfrm>
            <a:off x="8972321" y="2857500"/>
            <a:ext cx="2670733" cy="731520"/>
          </a:xfrm>
          <a:prstGeom prst="rect">
            <a:avLst/>
          </a:prstGeom>
          <a:noFill/>
        </p:spPr>
        <p:txBody>
          <a:bodyPr wrap="square" anchor="t" lIns="0" rIns="0" tIns="0" bIns="0"/>
          <a:lstStyle/>
          <a:p>
            <a:pPr algn="ctr"/>
            <a:r>
              <a:rPr sz="1700" b="1" i="0">
                <a:solidFill>
                  <a:srgbClr val="03306E"/>
                </a:solidFill>
                <a:latin typeface="Calibri"/>
              </a:rPr>
              <a:t>Escalate</a:t>
            </a:r>
          </a:p>
        </p:txBody>
      </p:sp>
      <p:sp>
        <p:nvSpPr>
          <p:cNvPr id="21" name="Rounded Rectangle 20"/>
          <p:cNvSpPr/>
          <p:nvPr/>
        </p:nvSpPr>
        <p:spPr>
          <a:xfrm>
            <a:off x="8972321" y="363474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09481" y="3771900"/>
            <a:ext cx="2396413" cy="960119"/>
          </a:xfrm>
          <a:prstGeom prst="rect">
            <a:avLst/>
          </a:prstGeom>
          <a:noFill/>
        </p:spPr>
        <p:txBody>
          <a:bodyPr wrap="square" anchor="t" lIns="0" rIns="0" tIns="0" bIns="0"/>
          <a:lstStyle/>
          <a:p>
            <a:pPr algn="l"/>
            <a:r>
              <a:rPr sz="1800" b="0" i="0">
                <a:solidFill>
                  <a:srgbClr val="202122"/>
                </a:solidFill>
                <a:latin typeface="Calibri"/>
              </a:rPr>
              <a:t>Pass to the right person or authority.</a:t>
            </a:r>
          </a:p>
        </p:txBody>
      </p:sp>
      <p:sp>
        <p:nvSpPr>
          <p:cNvPr id="23" name="TextBox 22"/>
          <p:cNvSpPr txBox="1"/>
          <p:nvPr/>
        </p:nvSpPr>
        <p:spPr>
          <a:xfrm>
            <a:off x="548640" y="5143500"/>
            <a:ext cx="11094415" cy="548640"/>
          </a:xfrm>
          <a:prstGeom prst="rect">
            <a:avLst/>
          </a:prstGeom>
          <a:noFill/>
        </p:spPr>
        <p:txBody>
          <a:bodyPr wrap="square" anchor="t" lIns="0" rIns="0" tIns="0" bIns="0"/>
          <a:lstStyle/>
          <a:p>
            <a:pPr algn="l"/>
            <a:r>
              <a:rPr sz="1600" b="0" i="1">
                <a:solidFill>
                  <a:srgbClr val="54595D"/>
                </a:solidFill>
                <a:latin typeface="Calibri"/>
              </a:rPr>
              <a:t>Isolating rather than powering off keeps evidence in memory that would otherwise be lost.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Escalating while preserving evidence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Why isolate a device rather than turn it off?</a:t>
            </a:r>
          </a:p>
        </p:txBody>
      </p:sp>
      <p:sp>
        <p:nvSpPr>
          <p:cNvPr id="8" name="Oval 7"/>
          <p:cNvSpPr/>
          <p:nvPr/>
        </p:nvSpPr>
        <p:spPr>
          <a:xfrm>
            <a:off x="548640" y="31089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should you record first?</a:t>
            </a:r>
          </a:p>
        </p:txBody>
      </p:sp>
      <p:sp>
        <p:nvSpPr>
          <p:cNvPr id="10" name="Oval 9"/>
          <p:cNvSpPr/>
          <p:nvPr/>
        </p:nvSpPr>
        <p:spPr>
          <a:xfrm>
            <a:off x="548640" y="45262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copy log files quickly?</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What is the second stage of the forensic compliance model?</a:t>
            </a:r>
          </a:p>
        </p:txBody>
      </p:sp>
      <p:sp>
        <p:nvSpPr>
          <p:cNvPr id="8" name="Oval 7"/>
          <p:cNvSpPr/>
          <p:nvPr/>
        </p:nvSpPr>
        <p:spPr>
          <a:xfrm>
            <a:off x="548640" y="2814066"/>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Who should a personal data breach be reported to?</a:t>
            </a:r>
          </a:p>
        </p:txBody>
      </p:sp>
      <p:sp>
        <p:nvSpPr>
          <p:cNvPr id="10" name="Oval 9"/>
          <p:cNvSpPr/>
          <p:nvPr/>
        </p:nvSpPr>
        <p:spPr>
          <a:xfrm>
            <a:off x="548640" y="4009644"/>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Name three sections of an incident report.</a:t>
            </a:r>
          </a:p>
        </p:txBody>
      </p:sp>
      <p:sp>
        <p:nvSpPr>
          <p:cNvPr id="12" name="Oval 11"/>
          <p:cNvSpPr/>
          <p:nvPr/>
        </p:nvSpPr>
        <p:spPr>
          <a:xfrm>
            <a:off x="548640" y="5205221"/>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Why isolate a device rather than switch it off?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What is the second stage of the forensic compliance model?</a:t>
            </a:r>
          </a:p>
          <a:p>
            <a:r>
              <a:rPr sz="1800" b="1">
                <a:solidFill>
                  <a:srgbClr val="03306E"/>
                </a:solidFill>
                <a:latin typeface="Calibri"/>
              </a:rPr>
              <a:t>Preservation.</a:t>
            </a:r>
          </a:p>
        </p:txBody>
      </p:sp>
      <p:sp>
        <p:nvSpPr>
          <p:cNvPr id="8" name="Oval 7"/>
          <p:cNvSpPr/>
          <p:nvPr/>
        </p:nvSpPr>
        <p:spPr>
          <a:xfrm>
            <a:off x="548640" y="2814066"/>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Who should a personal data breach be reported to?</a:t>
            </a:r>
          </a:p>
          <a:p>
            <a:r>
              <a:rPr sz="1800" b="1">
                <a:solidFill>
                  <a:srgbClr val="03306E"/>
                </a:solidFill>
                <a:latin typeface="Calibri"/>
              </a:rPr>
              <a:t>The ICO.</a:t>
            </a:r>
          </a:p>
        </p:txBody>
      </p:sp>
      <p:sp>
        <p:nvSpPr>
          <p:cNvPr id="10" name="Oval 9"/>
          <p:cNvSpPr/>
          <p:nvPr/>
        </p:nvSpPr>
        <p:spPr>
          <a:xfrm>
            <a:off x="548640" y="4009644"/>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Name three sections of an incident report.</a:t>
            </a:r>
          </a:p>
          <a:p>
            <a:r>
              <a:rPr sz="1800" b="1">
                <a:solidFill>
                  <a:srgbClr val="03306E"/>
                </a:solidFill>
                <a:latin typeface="Calibri"/>
              </a:rPr>
              <a:t>Any three of: executive summary, discovery and investigation, impact, mitigation, recommendations, ongoing risk.</a:t>
            </a:r>
          </a:p>
        </p:txBody>
      </p:sp>
      <p:sp>
        <p:nvSpPr>
          <p:cNvPr id="12" name="Oval 11"/>
          <p:cNvSpPr/>
          <p:nvPr/>
        </p:nvSpPr>
        <p:spPr>
          <a:xfrm>
            <a:off x="548640" y="5205221"/>
            <a:ext cx="411480" cy="41148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Why isolate a device rather than switch it off?</a:t>
            </a:r>
          </a:p>
          <a:p>
            <a:r>
              <a:rPr sz="1800" b="1">
                <a:solidFill>
                  <a:srgbClr val="03306E"/>
                </a:solidFill>
                <a:latin typeface="Calibri"/>
              </a:rPr>
              <a:t>To stop the spread while preserving evidence held in memory.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Handle the incident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Incident Management and Digital Forensics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FFFFFF"/>
                </a:solidFill>
                <a:latin typeface="Calibri"/>
              </a:rPr>
              <a:t>30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Small groups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Scenario: at 09:40 a finance clerk reports a pop-up demanding bitcoin. Two shared drives are now unreadable.</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Work through each incident management stage and record your actions.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List the evidence you would preserve and how.</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Write the executive summary of the incident report.</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Stages in the correct order</a:t>
            </a:r>
          </a:p>
          <a:p>
            <a:pPr marL="274320" indent="-274320">
              <a:spcAft>
                <a:spcPts val="810"/>
              </a:spcAft>
              <a:buClr>
                <a:srgbClr val="0645AD"/>
              </a:buClr>
              <a:buFont typeface="Arial"/>
              <a:buChar char="•"/>
            </a:pPr>
            <a:r>
              <a:rPr sz="1800" b="0">
                <a:solidFill>
                  <a:srgbClr val="202122"/>
                </a:solidFill>
                <a:latin typeface="Calibri"/>
              </a:rPr>
              <a:t>Evidence preserved before remediation</a:t>
            </a:r>
          </a:p>
          <a:p>
            <a:pPr marL="274320" indent="-274320">
              <a:spcAft>
                <a:spcPts val="810"/>
              </a:spcAft>
              <a:buClr>
                <a:srgbClr val="0645AD"/>
              </a:buClr>
              <a:buFont typeface="Arial"/>
              <a:buChar char="•"/>
            </a:pPr>
            <a:r>
              <a:rPr sz="1800" b="0">
                <a:solidFill>
                  <a:srgbClr val="202122"/>
                </a:solidFill>
                <a:latin typeface="Calibri"/>
              </a:rPr>
              <a:t>ICO reporting considered</a:t>
            </a:r>
          </a:p>
          <a:p>
            <a:pPr marL="274320" indent="-274320">
              <a:spcAft>
                <a:spcPts val="810"/>
              </a:spcAft>
              <a:buClr>
                <a:srgbClr val="0645AD"/>
              </a:buClr>
              <a:buFont typeface="Arial"/>
              <a:buChar char="•"/>
            </a:pPr>
            <a:r>
              <a:rPr sz="1800" b="0">
                <a:solidFill>
                  <a:srgbClr val="202122"/>
                </a:solidFill>
                <a:latin typeface="Calibri"/>
              </a:rPr>
              <a:t>Summary is clear to a manager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CYBER SECURITY  ·  Cyber Security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must forensic evidence be preserved in chronological order?</a:t>
            </a:r>
          </a:p>
        </p:txBody>
      </p:sp>
      <p:sp>
        <p:nvSpPr>
          <p:cNvPr id="6" name="Oval 5"/>
          <p:cNvSpPr/>
          <p:nvPr/>
        </p:nvSpPr>
        <p:spPr>
          <a:xfrm>
            <a:off x="548640" y="269748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is the difference between a workaround and a permanent fix?</a:t>
            </a:r>
          </a:p>
        </p:txBody>
      </p:sp>
      <p:sp>
        <p:nvSpPr>
          <p:cNvPr id="8" name="Oval 7"/>
          <p:cNvSpPr/>
          <p:nvPr/>
        </p:nvSpPr>
        <p:spPr>
          <a:xfrm>
            <a:off x="548640" y="3657600"/>
            <a:ext cx="502920" cy="502920"/>
          </a:xfrm>
          <a:prstGeom prst="ellipse">
            <a:avLst/>
          </a:prstGeom>
          <a:solidFill>
            <a:srgbClr val="E046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When must the police be informed?</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Cyber Security - Propose Remediation Advice for a Security Risk Assessment</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https://lana6478.github.io/Digital-Suport-and-security-T-levle/#/02-occupational-specialisms/cyber-security/02-remediation-and-risk-assessment.md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Incident Management and Digital Forensics</dc:title>
  <dc:subject>Digital Support and Security T Level: Cyber Security Content Area 2</dc:subject>
  <dc:creator>Samuel O'Connell</dc:creator>
  <cp:keywords>T Level; Digital Support and Security; lesson slides; 2.1, 2.19, 2.20</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