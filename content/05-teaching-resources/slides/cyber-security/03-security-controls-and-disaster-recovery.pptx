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E.g. reduces downtime, limits damage and cost, prepares alternatives, reveals gaps.</a:t>
            </a:r>
          </a:p>
          <a:p>
            <a:r>
              <a:t>2. E.g. natural disasters, power cuts, cyber attacks.</a:t>
            </a:r>
          </a:p>
          <a:p>
            <a:r>
              <a:t>3. Writing and testing it shows missing training, backups or resources.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Getting it approved (signed off).</a:t>
            </a:r>
          </a:p>
          <a:p>
            <a:r>
              <a:t>2. To prove it works and find gaps.</a:t>
            </a:r>
          </a:p>
          <a:p>
            <a:r>
              <a:t>3. A discussion-based walk-through of a disaster scenario.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Corrective.</a:t>
            </a:r>
          </a:p>
          <a:p>
            <a:r>
              <a:t>2. Encryption.</a:t>
            </a:r>
          </a:p>
          <a:p>
            <a:r>
              <a:t>3. Physical, technical, procedural.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E0463A"/>
                </a:solidFill>
                <a:latin typeface="Calibri"/>
              </a:rPr>
              <a:t>CYBER SECURITY</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Security Controls and Disaster Recovery</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Cyber Security Content Area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1.11 to 1.16</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Explain the purpose and importance of a disaster recovery plan.</a:t>
            </a:r>
          </a:p>
        </p:txBody>
      </p:sp>
      <p:sp>
        <p:nvSpPr>
          <p:cNvPr id="9" name="Oval 8"/>
          <p:cNvSpPr/>
          <p:nvPr/>
        </p:nvSpPr>
        <p:spPr>
          <a:xfrm>
            <a:off x="548640" y="327469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the stages of implementing a DRP.</a:t>
            </a:r>
          </a:p>
        </p:txBody>
      </p:sp>
      <p:sp>
        <p:nvSpPr>
          <p:cNvPr id="11" name="Oval 10"/>
          <p:cNvSpPr/>
          <p:nvPr/>
        </p:nvSpPr>
        <p:spPr>
          <a:xfrm>
            <a:off x="548640" y="431482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1900" b="0" i="0">
                <a:solidFill>
                  <a:srgbClr val="202122"/>
                </a:solidFill>
                <a:latin typeface="Calibri"/>
              </a:rPr>
              <a:t>Give physical, technical and procedural examples of preventative, corrective and compensating controls.</a:t>
            </a:r>
          </a:p>
        </p:txBody>
      </p:sp>
      <p:sp>
        <p:nvSpPr>
          <p:cNvPr id="13" name="Oval 12"/>
          <p:cNvSpPr/>
          <p:nvPr/>
        </p:nvSpPr>
        <p:spPr>
          <a:xfrm>
            <a:off x="548640" y="5354954"/>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Select and apply controls to protect personal, physical and environmental security.</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fire alarm goes off in the server room. What should happen in the next ten minutes, and who decides?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have a DRP?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 disaster recovery plan is a formal document setting out how to respond to unplanned incidents such as natural disasters, power cuts and cyber attacks.</a:t>
            </a:r>
          </a:p>
          <a:p>
            <a:pPr>
              <a:spcAft>
                <a:spcPts val="1320"/>
              </a:spcAft>
            </a:pPr>
            <a:r>
              <a:rPr sz="2200" b="0">
                <a:solidFill>
                  <a:srgbClr val="202122"/>
                </a:solidFill>
                <a:latin typeface="Calibri"/>
              </a:rPr>
              <a:t>It minimises the time to repair and the interruption to normal work, limits the damage and cost, and sets up alternative ways of operating in advance, so service can be restored quickly.</a:t>
            </a:r>
          </a:p>
          <a:p>
            <a:pPr>
              <a:spcAft>
                <a:spcPts val="1320"/>
              </a:spcAft>
            </a:pPr>
            <a:r>
              <a:rPr sz="2200" b="0">
                <a:solidFill>
                  <a:srgbClr val="202122"/>
                </a:solidFill>
                <a:latin typeface="Calibri"/>
              </a:rPr>
              <a:t>Writing and testing the plan also reveals gaps, such as untrained staff or missing backups, before a real disaster exposes them.</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During a ransomware attack, the DRP says who's in charge, which systems come back first, where the clean backups are and how to tell customers.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have a DRP?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A formal document for responding to natural disasters, power cuts, cyber attacks and other disruption.</a:t>
            </a:r>
          </a:p>
          <a:p>
            <a:pPr marL="274320" indent="-274320">
              <a:spcAft>
                <a:spcPts val="1080"/>
              </a:spcAft>
              <a:buClr>
                <a:srgbClr val="0645AD"/>
              </a:buClr>
              <a:buFont typeface="Arial"/>
              <a:buChar char="•"/>
            </a:pPr>
            <a:r>
              <a:rPr sz="2400" b="0">
                <a:solidFill>
                  <a:srgbClr val="202122"/>
                </a:solidFill>
                <a:latin typeface="Calibri"/>
              </a:rPr>
              <a:t>Minimises MTTR and interruption to normal operations.</a:t>
            </a:r>
          </a:p>
          <a:p>
            <a:pPr marL="274320" indent="-274320">
              <a:spcAft>
                <a:spcPts val="1080"/>
              </a:spcAft>
              <a:buClr>
                <a:srgbClr val="0645AD"/>
              </a:buClr>
              <a:buFont typeface="Arial"/>
              <a:buChar char="•"/>
            </a:pPr>
            <a:r>
              <a:rPr sz="2400" b="0">
                <a:solidFill>
                  <a:srgbClr val="202122"/>
                </a:solidFill>
                <a:latin typeface="Calibri"/>
              </a:rPr>
              <a:t>Limits damage and economic impact.</a:t>
            </a:r>
          </a:p>
          <a:p>
            <a:pPr marL="274320" indent="-274320">
              <a:spcAft>
                <a:spcPts val="1080"/>
              </a:spcAft>
              <a:buClr>
                <a:srgbClr val="0645AD"/>
              </a:buClr>
              <a:buFont typeface="Arial"/>
              <a:buChar char="•"/>
            </a:pPr>
            <a:r>
              <a:rPr sz="2400" b="0">
                <a:solidFill>
                  <a:srgbClr val="202122"/>
                </a:solidFill>
                <a:latin typeface="Calibri"/>
              </a:rPr>
              <a:t>Sets up alternative ways of working in advance.</a:t>
            </a:r>
          </a:p>
          <a:p>
            <a:pPr marL="274320" indent="-274320">
              <a:spcAft>
                <a:spcPts val="1080"/>
              </a:spcAft>
              <a:buClr>
                <a:srgbClr val="0645AD"/>
              </a:buClr>
              <a:buFont typeface="Arial"/>
              <a:buChar char="•"/>
            </a:pPr>
            <a:r>
              <a:rPr sz="2400" b="0">
                <a:solidFill>
                  <a:srgbClr val="202122"/>
                </a:solidFill>
                <a:latin typeface="Calibri"/>
              </a:rPr>
              <a:t>Reveals gaps, such as untrained staff.</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A DRP written during a disaster is too late. The plan's value comes from deciding things calmly beforehand.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Why have a DRP?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Give two reasons a DRP is important.</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three incidents a DRP covers.</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can a DRP reveal gaps?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Implementing a DRP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Implementing a DRP follows seven steps.</a:t>
            </a:r>
          </a:p>
          <a:p>
            <a:pPr>
              <a:spcAft>
                <a:spcPts val="1320"/>
              </a:spcAft>
            </a:pPr>
            <a:r>
              <a:rPr sz="2200" b="1">
                <a:solidFill>
                  <a:srgbClr val="202122"/>
                </a:solidFill>
                <a:latin typeface="Calibri"/>
              </a:rPr>
              <a:t>Define its scope:</a:t>
            </a:r>
            <a:r>
              <a:rPr sz="2200" b="0">
                <a:solidFill>
                  <a:srgbClr val="202122"/>
                </a:solidFill>
                <a:latin typeface="Calibri"/>
              </a:rPr>
              <a:t> the whole organisation, a department or individuals. Gather information: past outages, inventories of hardware, software, networks and data, and contact details. Risk-assess each threat's likelihood and impact.</a:t>
            </a:r>
          </a:p>
          <a:p>
            <a:pPr>
              <a:spcAft>
                <a:spcPts val="1320"/>
              </a:spcAft>
            </a:pPr>
            <a:r>
              <a:rPr sz="2200" b="0">
                <a:solidFill>
                  <a:srgbClr val="202122"/>
                </a:solidFill>
                <a:latin typeface="Calibri"/>
              </a:rPr>
              <a:t>Create the plan and the resources it needs: systems, staff roles and budget. Get it approved. Test it regularly: decide scope and frequency, run it, review and amend.</a:t>
            </a:r>
          </a:p>
          <a:p>
            <a:pPr>
              <a:spcAft>
                <a:spcPts val="1320"/>
              </a:spcAft>
            </a:pPr>
            <a:r>
              <a:rPr sz="2200" b="0">
                <a:solidFill>
                  <a:srgbClr val="202122"/>
                </a:solidFill>
                <a:latin typeface="Calibri"/>
              </a:rPr>
              <a:t>Keep improving it through internal and external audits and gap analysis.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tabletop exercise walks managers through 'the server room has flooded'. It reveals nobody knows the backup encryption password, so the plan is amended.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Implementing a DRP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282315" y="2869692"/>
            <a:ext cx="9627064"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62275" y="25679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548640" y="3345180"/>
            <a:ext cx="1467350" cy="731520"/>
          </a:xfrm>
          <a:prstGeom prst="rect">
            <a:avLst/>
          </a:prstGeom>
          <a:noFill/>
        </p:spPr>
        <p:txBody>
          <a:bodyPr wrap="square" anchor="t" lIns="0" rIns="0" tIns="0" bIns="0"/>
          <a:lstStyle/>
          <a:p>
            <a:pPr algn="ctr"/>
            <a:r>
              <a:rPr sz="1700" b="1" i="0">
                <a:solidFill>
                  <a:srgbClr val="03306E"/>
                </a:solidFill>
                <a:latin typeface="Calibri"/>
              </a:rPr>
              <a:t>Define scope</a:t>
            </a:r>
          </a:p>
        </p:txBody>
      </p:sp>
      <p:sp>
        <p:nvSpPr>
          <p:cNvPr id="9" name="Rounded Rectangle 8"/>
          <p:cNvSpPr/>
          <p:nvPr/>
        </p:nvSpPr>
        <p:spPr>
          <a:xfrm>
            <a:off x="548640" y="4122420"/>
            <a:ext cx="1467350" cy="10820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259580"/>
            <a:ext cx="1193030" cy="807720"/>
          </a:xfrm>
          <a:prstGeom prst="rect">
            <a:avLst/>
          </a:prstGeom>
          <a:noFill/>
        </p:spPr>
        <p:txBody>
          <a:bodyPr wrap="square" anchor="t" lIns="0" rIns="0" tIns="0" bIns="0"/>
          <a:lstStyle/>
          <a:p>
            <a:pPr algn="l"/>
            <a:r>
              <a:rPr sz="1100" b="0" i="0">
                <a:solidFill>
                  <a:srgbClr val="202122"/>
                </a:solidFill>
                <a:latin typeface="Calibri"/>
              </a:rPr>
              <a:t>Environmental, organisational, departmental, individual.</a:t>
            </a:r>
          </a:p>
        </p:txBody>
      </p:sp>
      <p:sp>
        <p:nvSpPr>
          <p:cNvPr id="11" name="Oval 10"/>
          <p:cNvSpPr/>
          <p:nvPr/>
        </p:nvSpPr>
        <p:spPr>
          <a:xfrm>
            <a:off x="2566786" y="25679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2153150" y="3345180"/>
            <a:ext cx="1467350" cy="731520"/>
          </a:xfrm>
          <a:prstGeom prst="rect">
            <a:avLst/>
          </a:prstGeom>
          <a:noFill/>
        </p:spPr>
        <p:txBody>
          <a:bodyPr wrap="square" anchor="t" lIns="0" rIns="0" tIns="0" bIns="0"/>
          <a:lstStyle/>
          <a:p>
            <a:pPr algn="ctr"/>
            <a:r>
              <a:rPr sz="1700" b="1" i="0">
                <a:solidFill>
                  <a:srgbClr val="03306E"/>
                </a:solidFill>
                <a:latin typeface="Calibri"/>
              </a:rPr>
              <a:t>Gather</a:t>
            </a:r>
          </a:p>
        </p:txBody>
      </p:sp>
      <p:sp>
        <p:nvSpPr>
          <p:cNvPr id="13" name="Rounded Rectangle 12"/>
          <p:cNvSpPr/>
          <p:nvPr/>
        </p:nvSpPr>
        <p:spPr>
          <a:xfrm>
            <a:off x="2153150" y="4122420"/>
            <a:ext cx="1467350" cy="10820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290310" y="4259580"/>
            <a:ext cx="1193030" cy="807720"/>
          </a:xfrm>
          <a:prstGeom prst="rect">
            <a:avLst/>
          </a:prstGeom>
          <a:noFill/>
        </p:spPr>
        <p:txBody>
          <a:bodyPr wrap="square" anchor="t" lIns="0" rIns="0" tIns="0" bIns="0"/>
          <a:lstStyle/>
          <a:p>
            <a:pPr algn="l"/>
            <a:r>
              <a:rPr sz="1100" b="0" i="0">
                <a:solidFill>
                  <a:srgbClr val="202122"/>
                </a:solidFill>
                <a:latin typeface="Calibri"/>
              </a:rPr>
              <a:t>Outage history, inventories, contacts.</a:t>
            </a:r>
          </a:p>
        </p:txBody>
      </p:sp>
      <p:sp>
        <p:nvSpPr>
          <p:cNvPr id="15" name="Oval 14"/>
          <p:cNvSpPr/>
          <p:nvPr/>
        </p:nvSpPr>
        <p:spPr>
          <a:xfrm>
            <a:off x="4171296" y="25679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3757661" y="3345180"/>
            <a:ext cx="1467350" cy="731520"/>
          </a:xfrm>
          <a:prstGeom prst="rect">
            <a:avLst/>
          </a:prstGeom>
          <a:noFill/>
        </p:spPr>
        <p:txBody>
          <a:bodyPr wrap="square" anchor="t" lIns="0" rIns="0" tIns="0" bIns="0"/>
          <a:lstStyle/>
          <a:p>
            <a:pPr algn="ctr"/>
            <a:r>
              <a:rPr sz="1700" b="1" i="0">
                <a:solidFill>
                  <a:srgbClr val="03306E"/>
                </a:solidFill>
                <a:latin typeface="Calibri"/>
              </a:rPr>
              <a:t>Risk assess</a:t>
            </a:r>
          </a:p>
        </p:txBody>
      </p:sp>
      <p:sp>
        <p:nvSpPr>
          <p:cNvPr id="17" name="Rounded Rectangle 16"/>
          <p:cNvSpPr/>
          <p:nvPr/>
        </p:nvSpPr>
        <p:spPr>
          <a:xfrm>
            <a:off x="3757661" y="4122420"/>
            <a:ext cx="1467350" cy="10820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94821" y="4259580"/>
            <a:ext cx="1193030" cy="807720"/>
          </a:xfrm>
          <a:prstGeom prst="rect">
            <a:avLst/>
          </a:prstGeom>
          <a:noFill/>
        </p:spPr>
        <p:txBody>
          <a:bodyPr wrap="square" anchor="t" lIns="0" rIns="0" tIns="0" bIns="0"/>
          <a:lstStyle/>
          <a:p>
            <a:pPr algn="l"/>
            <a:r>
              <a:rPr sz="1100" b="0" i="0">
                <a:solidFill>
                  <a:srgbClr val="202122"/>
                </a:solidFill>
                <a:latin typeface="Calibri"/>
              </a:rPr>
              <a:t>Likelihood and impact on business as usual.</a:t>
            </a:r>
          </a:p>
        </p:txBody>
      </p:sp>
      <p:sp>
        <p:nvSpPr>
          <p:cNvPr id="19" name="Oval 18"/>
          <p:cNvSpPr/>
          <p:nvPr/>
        </p:nvSpPr>
        <p:spPr>
          <a:xfrm>
            <a:off x="5775807" y="25679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0" name="TextBox 19"/>
          <p:cNvSpPr txBox="1"/>
          <p:nvPr/>
        </p:nvSpPr>
        <p:spPr>
          <a:xfrm>
            <a:off x="5362172" y="3345180"/>
            <a:ext cx="1467350" cy="731520"/>
          </a:xfrm>
          <a:prstGeom prst="rect">
            <a:avLst/>
          </a:prstGeom>
          <a:noFill/>
        </p:spPr>
        <p:txBody>
          <a:bodyPr wrap="square" anchor="t" lIns="0" rIns="0" tIns="0" bIns="0"/>
          <a:lstStyle/>
          <a:p>
            <a:pPr algn="ctr"/>
            <a:r>
              <a:rPr sz="1700" b="1" i="0">
                <a:solidFill>
                  <a:srgbClr val="03306E"/>
                </a:solidFill>
                <a:latin typeface="Calibri"/>
              </a:rPr>
              <a:t>Create</a:t>
            </a:r>
          </a:p>
        </p:txBody>
      </p:sp>
      <p:sp>
        <p:nvSpPr>
          <p:cNvPr id="21" name="Rounded Rectangle 20"/>
          <p:cNvSpPr/>
          <p:nvPr/>
        </p:nvSpPr>
        <p:spPr>
          <a:xfrm>
            <a:off x="5362172" y="4122420"/>
            <a:ext cx="1467350" cy="10820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99332" y="4259580"/>
            <a:ext cx="1193030" cy="807720"/>
          </a:xfrm>
          <a:prstGeom prst="rect">
            <a:avLst/>
          </a:prstGeom>
          <a:noFill/>
        </p:spPr>
        <p:txBody>
          <a:bodyPr wrap="square" anchor="t" lIns="0" rIns="0" tIns="0" bIns="0"/>
          <a:lstStyle/>
          <a:p>
            <a:pPr algn="l"/>
            <a:r>
              <a:rPr sz="1100" b="0" i="0">
                <a:solidFill>
                  <a:srgbClr val="202122"/>
                </a:solidFill>
                <a:latin typeface="Calibri"/>
              </a:rPr>
              <a:t>Systems, staff roles, budget.</a:t>
            </a:r>
          </a:p>
        </p:txBody>
      </p:sp>
      <p:sp>
        <p:nvSpPr>
          <p:cNvPr id="23" name="Oval 22"/>
          <p:cNvSpPr/>
          <p:nvPr/>
        </p:nvSpPr>
        <p:spPr>
          <a:xfrm>
            <a:off x="7380318" y="25679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4" name="TextBox 23"/>
          <p:cNvSpPr txBox="1"/>
          <p:nvPr/>
        </p:nvSpPr>
        <p:spPr>
          <a:xfrm>
            <a:off x="6966682" y="3345180"/>
            <a:ext cx="1467350" cy="731520"/>
          </a:xfrm>
          <a:prstGeom prst="rect">
            <a:avLst/>
          </a:prstGeom>
          <a:noFill/>
        </p:spPr>
        <p:txBody>
          <a:bodyPr wrap="square" anchor="t" lIns="0" rIns="0" tIns="0" bIns="0"/>
          <a:lstStyle/>
          <a:p>
            <a:pPr algn="ctr"/>
            <a:r>
              <a:rPr sz="1700" b="1" i="0">
                <a:solidFill>
                  <a:srgbClr val="03306E"/>
                </a:solidFill>
                <a:latin typeface="Calibri"/>
              </a:rPr>
              <a:t>Approve</a:t>
            </a:r>
          </a:p>
        </p:txBody>
      </p:sp>
      <p:sp>
        <p:nvSpPr>
          <p:cNvPr id="25" name="Rounded Rectangle 24"/>
          <p:cNvSpPr/>
          <p:nvPr/>
        </p:nvSpPr>
        <p:spPr>
          <a:xfrm>
            <a:off x="6966682" y="4122420"/>
            <a:ext cx="1467350" cy="10820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03842" y="4259580"/>
            <a:ext cx="1193030" cy="807720"/>
          </a:xfrm>
          <a:prstGeom prst="rect">
            <a:avLst/>
          </a:prstGeom>
          <a:noFill/>
        </p:spPr>
        <p:txBody>
          <a:bodyPr wrap="square" anchor="t" lIns="0" rIns="0" tIns="0" bIns="0"/>
          <a:lstStyle/>
          <a:p>
            <a:pPr algn="l"/>
            <a:r>
              <a:rPr sz="1100" b="0" i="0">
                <a:solidFill>
                  <a:srgbClr val="202122"/>
                </a:solidFill>
                <a:latin typeface="Calibri"/>
              </a:rPr>
              <a:t>Sign-off.</a:t>
            </a:r>
          </a:p>
        </p:txBody>
      </p:sp>
      <p:sp>
        <p:nvSpPr>
          <p:cNvPr id="27" name="Oval 26"/>
          <p:cNvSpPr/>
          <p:nvPr/>
        </p:nvSpPr>
        <p:spPr>
          <a:xfrm>
            <a:off x="8984829" y="25679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6</a:t>
            </a:r>
          </a:p>
        </p:txBody>
      </p:sp>
      <p:sp>
        <p:nvSpPr>
          <p:cNvPr id="28" name="TextBox 27"/>
          <p:cNvSpPr txBox="1"/>
          <p:nvPr/>
        </p:nvSpPr>
        <p:spPr>
          <a:xfrm>
            <a:off x="8571193" y="3345180"/>
            <a:ext cx="1467350" cy="731520"/>
          </a:xfrm>
          <a:prstGeom prst="rect">
            <a:avLst/>
          </a:prstGeom>
          <a:noFill/>
        </p:spPr>
        <p:txBody>
          <a:bodyPr wrap="square" anchor="t" lIns="0" rIns="0" tIns="0" bIns="0"/>
          <a:lstStyle/>
          <a:p>
            <a:pPr algn="ctr"/>
            <a:r>
              <a:rPr sz="1700" b="1" i="0">
                <a:solidFill>
                  <a:srgbClr val="03306E"/>
                </a:solidFill>
                <a:latin typeface="Calibri"/>
              </a:rPr>
              <a:t>Test</a:t>
            </a:r>
          </a:p>
        </p:txBody>
      </p:sp>
      <p:sp>
        <p:nvSpPr>
          <p:cNvPr id="29" name="Rounded Rectangle 28"/>
          <p:cNvSpPr/>
          <p:nvPr/>
        </p:nvSpPr>
        <p:spPr>
          <a:xfrm>
            <a:off x="8571193" y="4122420"/>
            <a:ext cx="1467350" cy="10820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708353" y="4259580"/>
            <a:ext cx="1193030" cy="807720"/>
          </a:xfrm>
          <a:prstGeom prst="rect">
            <a:avLst/>
          </a:prstGeom>
          <a:noFill/>
        </p:spPr>
        <p:txBody>
          <a:bodyPr wrap="square" anchor="t" lIns="0" rIns="0" tIns="0" bIns="0"/>
          <a:lstStyle/>
          <a:p>
            <a:pPr algn="l"/>
            <a:r>
              <a:rPr sz="1100" b="0" i="0">
                <a:solidFill>
                  <a:srgbClr val="202122"/>
                </a:solidFill>
                <a:latin typeface="Calibri"/>
              </a:rPr>
              <a:t>Scope, frequency, run, review, amend.</a:t>
            </a:r>
          </a:p>
        </p:txBody>
      </p:sp>
      <p:sp>
        <p:nvSpPr>
          <p:cNvPr id="31" name="Oval 30"/>
          <p:cNvSpPr/>
          <p:nvPr/>
        </p:nvSpPr>
        <p:spPr>
          <a:xfrm>
            <a:off x="10589339" y="25679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7</a:t>
            </a:r>
          </a:p>
        </p:txBody>
      </p:sp>
      <p:sp>
        <p:nvSpPr>
          <p:cNvPr id="32" name="TextBox 31"/>
          <p:cNvSpPr txBox="1"/>
          <p:nvPr/>
        </p:nvSpPr>
        <p:spPr>
          <a:xfrm>
            <a:off x="10175704" y="3345180"/>
            <a:ext cx="1467350" cy="731520"/>
          </a:xfrm>
          <a:prstGeom prst="rect">
            <a:avLst/>
          </a:prstGeom>
          <a:noFill/>
        </p:spPr>
        <p:txBody>
          <a:bodyPr wrap="square" anchor="t" lIns="0" rIns="0" tIns="0" bIns="0"/>
          <a:lstStyle/>
          <a:p>
            <a:pPr algn="ctr"/>
            <a:r>
              <a:rPr sz="1700" b="1" i="0">
                <a:solidFill>
                  <a:srgbClr val="03306E"/>
                </a:solidFill>
                <a:latin typeface="Calibri"/>
              </a:rPr>
              <a:t>Improve</a:t>
            </a:r>
          </a:p>
        </p:txBody>
      </p:sp>
      <p:sp>
        <p:nvSpPr>
          <p:cNvPr id="33" name="Rounded Rectangle 32"/>
          <p:cNvSpPr/>
          <p:nvPr/>
        </p:nvSpPr>
        <p:spPr>
          <a:xfrm>
            <a:off x="10175704" y="4122420"/>
            <a:ext cx="1467350" cy="10820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12864" y="4259580"/>
            <a:ext cx="1193030" cy="807720"/>
          </a:xfrm>
          <a:prstGeom prst="rect">
            <a:avLst/>
          </a:prstGeom>
          <a:noFill/>
        </p:spPr>
        <p:txBody>
          <a:bodyPr wrap="square" anchor="t" lIns="0" rIns="0" tIns="0" bIns="0"/>
          <a:lstStyle/>
          <a:p>
            <a:pPr algn="l"/>
            <a:r>
              <a:rPr sz="1100" b="0" i="0">
                <a:solidFill>
                  <a:srgbClr val="202122"/>
                </a:solidFill>
                <a:latin typeface="Calibri"/>
              </a:rPr>
              <a:t>Audits and gap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Implementing a DRP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comes after creating the plan?</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test a DRP?</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tabletop exercise?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Three control types in cyber security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Cyber security uses three main types of control, each physical, technical or procedural.</a:t>
            </a:r>
          </a:p>
          <a:p>
            <a:pPr>
              <a:spcAft>
                <a:spcPts val="1140"/>
              </a:spcAft>
            </a:pPr>
            <a:r>
              <a:rPr sz="1900" b="0">
                <a:solidFill>
                  <a:srgbClr val="202122"/>
                </a:solidFill>
                <a:latin typeface="Calibri"/>
              </a:rPr>
              <a:t>Preventative controls stop unauthorised access or tampering: locks, barriers, guards and biometrics; firewalls, allow and deny lists, sandboxing and device hardening; separation of duties and RBAC.</a:t>
            </a:r>
          </a:p>
          <a:p>
            <a:pPr>
              <a:spcAft>
                <a:spcPts val="1140"/>
              </a:spcAft>
            </a:pPr>
            <a:r>
              <a:rPr sz="1900" b="0">
                <a:solidFill>
                  <a:srgbClr val="202122"/>
                </a:solidFill>
                <a:latin typeface="Calibri"/>
              </a:rPr>
              <a:t>Corrective controls limit damage and stop recurrence: fire and gas suppression; patching, disconnecting and quarantining infected systems; standard procedures and invoking the DRP.</a:t>
            </a:r>
          </a:p>
          <a:p>
            <a:pPr>
              <a:spcAft>
                <a:spcPts val="1140"/>
              </a:spcAft>
            </a:pPr>
            <a:r>
              <a:rPr sz="1900" b="0">
                <a:solidFill>
                  <a:srgbClr val="202122"/>
                </a:solidFill>
                <a:latin typeface="Calibri"/>
              </a:rPr>
              <a:t>Compensating controls back up a failed primary control: segregation of duties and access logs; encryption; training, simulated attacks and monitoring procedures.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If a door lock fails (preventative), key-code logs and CCTV review (compensating) still show who entered.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Three control types in cyber security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2" cy="4526280"/>
        </p:xfrm>
        <a:graphic>
          <a:graphicData uri="http://schemas.openxmlformats.org/drawingml/2006/table">
            <a:tbl>
              <a:tblPr firstRow="1" bandRow="1">
                <a:tableStyleId>{5C22544A-7EE6-4342-B048-85BDC9FD1C3A}</a:tableStyleId>
              </a:tblPr>
              <a:tblGrid>
                <a:gridCol w="2050054"/>
                <a:gridCol w="3014786"/>
                <a:gridCol w="3014786"/>
                <a:gridCol w="3014786"/>
              </a:tblGrid>
              <a:tr h="1131570">
                <a:tc>
                  <a:txBody>
                    <a:bodyPr wrap="square"/>
                    <a:lstStyle/>
                    <a:p>
                      <a:r>
                        <a:rPr sz="1600" b="1">
                          <a:solidFill>
                            <a:srgbClr val="FFFFFF"/>
                          </a:solidFill>
                          <a:latin typeface="Calibri"/>
                        </a:rPr>
                        <a:t>Control</a:t>
                      </a:r>
                    </a:p>
                  </a:txBody>
                  <a:tcPr marL="91440" marR="91440" anchor="ctr">
                    <a:solidFill>
                      <a:srgbClr val="03306E"/>
                    </a:solidFill>
                  </a:tcPr>
                </a:tc>
                <a:tc>
                  <a:txBody>
                    <a:bodyPr wrap="square"/>
                    <a:lstStyle/>
                    <a:p>
                      <a:r>
                        <a:rPr sz="1600" b="1">
                          <a:solidFill>
                            <a:srgbClr val="FFFFFF"/>
                          </a:solidFill>
                          <a:latin typeface="Calibri"/>
                        </a:rPr>
                        <a:t>Physical</a:t>
                      </a:r>
                    </a:p>
                  </a:txBody>
                  <a:tcPr marL="91440" marR="91440" anchor="ctr">
                    <a:solidFill>
                      <a:srgbClr val="03306E"/>
                    </a:solidFill>
                  </a:tcPr>
                </a:tc>
                <a:tc>
                  <a:txBody>
                    <a:bodyPr wrap="square"/>
                    <a:lstStyle/>
                    <a:p>
                      <a:r>
                        <a:rPr sz="1600" b="1">
                          <a:solidFill>
                            <a:srgbClr val="FFFFFF"/>
                          </a:solidFill>
                          <a:latin typeface="Calibri"/>
                        </a:rPr>
                        <a:t>Technical</a:t>
                      </a:r>
                    </a:p>
                  </a:txBody>
                  <a:tcPr marL="91440" marR="91440" anchor="ctr">
                    <a:solidFill>
                      <a:srgbClr val="03306E"/>
                    </a:solidFill>
                  </a:tcPr>
                </a:tc>
                <a:tc>
                  <a:txBody>
                    <a:bodyPr wrap="square"/>
                    <a:lstStyle/>
                    <a:p>
                      <a:r>
                        <a:rPr sz="1600" b="1">
                          <a:solidFill>
                            <a:srgbClr val="FFFFFF"/>
                          </a:solidFill>
                          <a:latin typeface="Calibri"/>
                        </a:rPr>
                        <a:t>Procedural</a:t>
                      </a:r>
                    </a:p>
                  </a:txBody>
                  <a:tcPr marL="91440" marR="91440" anchor="ctr">
                    <a:solidFill>
                      <a:srgbClr val="03306E"/>
                    </a:solidFill>
                  </a:tcPr>
                </a:tc>
              </a:tr>
              <a:tr h="1131570">
                <a:tc>
                  <a:txBody>
                    <a:bodyPr wrap="square"/>
                    <a:lstStyle/>
                    <a:p>
                      <a:r>
                        <a:rPr sz="1600" b="1">
                          <a:solidFill>
                            <a:srgbClr val="03306E"/>
                          </a:solidFill>
                          <a:latin typeface="Calibri"/>
                        </a:rPr>
                        <a:t>Preventative</a:t>
                      </a:r>
                    </a:p>
                  </a:txBody>
                  <a:tcPr marL="91440" marR="91440" anchor="ctr">
                    <a:solidFill>
                      <a:srgbClr val="FFFFFF"/>
                    </a:solidFill>
                  </a:tcPr>
                </a:tc>
                <a:tc>
                  <a:txBody>
                    <a:bodyPr wrap="square"/>
                    <a:lstStyle/>
                    <a:p>
                      <a:r>
                        <a:rPr sz="1600" b="0">
                          <a:solidFill>
                            <a:srgbClr val="202122"/>
                          </a:solidFill>
                          <a:latin typeface="Calibri"/>
                        </a:rPr>
                        <a:t>Locks, barriers, guards, biometrics, CCTV</a:t>
                      </a:r>
                    </a:p>
                  </a:txBody>
                  <a:tcPr marL="91440" marR="91440" anchor="ctr">
                    <a:solidFill>
                      <a:srgbClr val="FFFFFF"/>
                    </a:solidFill>
                  </a:tcPr>
                </a:tc>
                <a:tc>
                  <a:txBody>
                    <a:bodyPr wrap="square"/>
                    <a:lstStyle/>
                    <a:p>
                      <a:r>
                        <a:rPr sz="1600" b="0">
                          <a:solidFill>
                            <a:srgbClr val="202122"/>
                          </a:solidFill>
                          <a:latin typeface="Calibri"/>
                        </a:rPr>
                        <a:t>Firewalls, allow and deny lists, sandboxing, hardening</a:t>
                      </a:r>
                    </a:p>
                  </a:txBody>
                  <a:tcPr marL="91440" marR="91440" anchor="ctr">
                    <a:solidFill>
                      <a:srgbClr val="FFFFFF"/>
                    </a:solidFill>
                  </a:tcPr>
                </a:tc>
                <a:tc>
                  <a:txBody>
                    <a:bodyPr wrap="square"/>
                    <a:lstStyle/>
                    <a:p>
                      <a:r>
                        <a:rPr sz="1600" b="0">
                          <a:solidFill>
                            <a:srgbClr val="202122"/>
                          </a:solidFill>
                          <a:latin typeface="Calibri"/>
                        </a:rPr>
                        <a:t>Separation of duties, RBAC</a:t>
                      </a:r>
                    </a:p>
                  </a:txBody>
                  <a:tcPr marL="91440" marR="91440" anchor="ctr">
                    <a:solidFill>
                      <a:srgbClr val="FFFFFF"/>
                    </a:solidFill>
                  </a:tcPr>
                </a:tc>
              </a:tr>
              <a:tr h="1131570">
                <a:tc>
                  <a:txBody>
                    <a:bodyPr wrap="square"/>
                    <a:lstStyle/>
                    <a:p>
                      <a:r>
                        <a:rPr sz="1600" b="1">
                          <a:solidFill>
                            <a:srgbClr val="03306E"/>
                          </a:solidFill>
                          <a:latin typeface="Calibri"/>
                        </a:rPr>
                        <a:t>Corrective</a:t>
                      </a:r>
                    </a:p>
                  </a:txBody>
                  <a:tcPr marL="91440" marR="91440" anchor="ctr">
                    <a:solidFill>
                      <a:srgbClr val="EAF3FF"/>
                    </a:solidFill>
                  </a:tcPr>
                </a:tc>
                <a:tc>
                  <a:txBody>
                    <a:bodyPr wrap="square"/>
                    <a:lstStyle/>
                    <a:p>
                      <a:r>
                        <a:rPr sz="1600" b="0">
                          <a:solidFill>
                            <a:srgbClr val="202122"/>
                          </a:solidFill>
                          <a:latin typeface="Calibri"/>
                        </a:rPr>
                        <a:t>Sprinklers, gas suppression</a:t>
                      </a:r>
                    </a:p>
                  </a:txBody>
                  <a:tcPr marL="91440" marR="91440" anchor="ctr">
                    <a:solidFill>
                      <a:srgbClr val="EAF3FF"/>
                    </a:solidFill>
                  </a:tcPr>
                </a:tc>
                <a:tc>
                  <a:txBody>
                    <a:bodyPr wrap="square"/>
                    <a:lstStyle/>
                    <a:p>
                      <a:r>
                        <a:rPr sz="1600" b="0">
                          <a:solidFill>
                            <a:srgbClr val="202122"/>
                          </a:solidFill>
                          <a:latin typeface="Calibri"/>
                        </a:rPr>
                        <a:t>Patching, disconnecting or quarantining infected systems</a:t>
                      </a:r>
                    </a:p>
                  </a:txBody>
                  <a:tcPr marL="91440" marR="91440" anchor="ctr">
                    <a:solidFill>
                      <a:srgbClr val="EAF3FF"/>
                    </a:solidFill>
                  </a:tcPr>
                </a:tc>
                <a:tc>
                  <a:txBody>
                    <a:bodyPr wrap="square"/>
                    <a:lstStyle/>
                    <a:p>
                      <a:r>
                        <a:rPr sz="1600" b="0">
                          <a:solidFill>
                            <a:srgbClr val="202122"/>
                          </a:solidFill>
                          <a:latin typeface="Calibri"/>
                        </a:rPr>
                        <a:t>SOPs, invoking the DRP</a:t>
                      </a:r>
                    </a:p>
                  </a:txBody>
                  <a:tcPr marL="91440" marR="91440" anchor="ctr">
                    <a:solidFill>
                      <a:srgbClr val="EAF3FF"/>
                    </a:solidFill>
                  </a:tcPr>
                </a:tc>
              </a:tr>
              <a:tr h="1131570">
                <a:tc>
                  <a:txBody>
                    <a:bodyPr wrap="square"/>
                    <a:lstStyle/>
                    <a:p>
                      <a:r>
                        <a:rPr sz="1600" b="1">
                          <a:solidFill>
                            <a:srgbClr val="03306E"/>
                          </a:solidFill>
                          <a:latin typeface="Calibri"/>
                        </a:rPr>
                        <a:t>Compensating</a:t>
                      </a:r>
                    </a:p>
                  </a:txBody>
                  <a:tcPr marL="91440" marR="91440" anchor="ctr">
                    <a:solidFill>
                      <a:srgbClr val="FFFFFF"/>
                    </a:solidFill>
                  </a:tcPr>
                </a:tc>
                <a:tc>
                  <a:txBody>
                    <a:bodyPr wrap="square"/>
                    <a:lstStyle/>
                    <a:p>
                      <a:r>
                        <a:rPr sz="1600" b="0">
                          <a:solidFill>
                            <a:srgbClr val="202122"/>
                          </a:solidFill>
                          <a:latin typeface="Calibri"/>
                        </a:rPr>
                        <a:t>Segregation of duties, key-code access logs</a:t>
                      </a:r>
                    </a:p>
                  </a:txBody>
                  <a:tcPr marL="91440" marR="91440" anchor="ctr">
                    <a:solidFill>
                      <a:srgbClr val="FFFFFF"/>
                    </a:solidFill>
                  </a:tcPr>
                </a:tc>
                <a:tc>
                  <a:txBody>
                    <a:bodyPr wrap="square"/>
                    <a:lstStyle/>
                    <a:p>
                      <a:r>
                        <a:rPr sz="1600" b="0">
                          <a:solidFill>
                            <a:srgbClr val="202122"/>
                          </a:solidFill>
                          <a:latin typeface="Calibri"/>
                        </a:rPr>
                        <a:t>Encryption</a:t>
                      </a:r>
                    </a:p>
                  </a:txBody>
                  <a:tcPr marL="91440" marR="91440" anchor="ctr">
                    <a:solidFill>
                      <a:srgbClr val="FFFFFF"/>
                    </a:solidFill>
                  </a:tcPr>
                </a:tc>
                <a:tc>
                  <a:txBody>
                    <a:bodyPr wrap="square"/>
                    <a:lstStyle/>
                    <a:p>
                      <a:r>
                        <a:rPr sz="1600" b="0">
                          <a:solidFill>
                            <a:srgbClr val="202122"/>
                          </a:solidFill>
                          <a:latin typeface="Calibri"/>
                        </a:rPr>
                        <a:t>Awareness training, simulated attacks, monitoring SOPs</a:t>
                      </a:r>
                    </a:p>
                  </a:txBody>
                  <a:tcPr marL="91440" marR="9144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Three control types in cyber security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Is quarantining a virus preventative or corrective?</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a technical compensating control.</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are the three forms each control can take?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2900" b="1" i="0">
                <a:solidFill>
                  <a:srgbClr val="03306E"/>
                </a:solidFill>
                <a:latin typeface="Cambria"/>
              </a:rPr>
              <a:t>Protecting personal, physical and environmental security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ectangle 5"/>
          <p:cNvSpPr/>
          <p:nvPr/>
        </p:nvSpPr>
        <p:spPr>
          <a:xfrm>
            <a:off x="1884006" y="2793492"/>
            <a:ext cx="8423681"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63966" y="24917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548640" y="3268979"/>
            <a:ext cx="2670733" cy="731520"/>
          </a:xfrm>
          <a:prstGeom prst="rect">
            <a:avLst/>
          </a:prstGeom>
          <a:noFill/>
        </p:spPr>
        <p:txBody>
          <a:bodyPr wrap="square" anchor="t" lIns="0" rIns="0" tIns="0" bIns="0"/>
          <a:lstStyle/>
          <a:p>
            <a:pPr algn="ctr"/>
            <a:r>
              <a:rPr sz="1700" b="1" i="0">
                <a:solidFill>
                  <a:srgbClr val="03306E"/>
                </a:solidFill>
                <a:latin typeface="Calibri"/>
              </a:rPr>
              <a:t>Review the risk</a:t>
            </a:r>
          </a:p>
        </p:txBody>
      </p:sp>
      <p:sp>
        <p:nvSpPr>
          <p:cNvPr id="9" name="Rounded Rectangle 8"/>
          <p:cNvSpPr/>
          <p:nvPr/>
        </p:nvSpPr>
        <p:spPr>
          <a:xfrm>
            <a:off x="548640"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2396413" cy="960119"/>
          </a:xfrm>
          <a:prstGeom prst="rect">
            <a:avLst/>
          </a:prstGeom>
          <a:noFill/>
        </p:spPr>
        <p:txBody>
          <a:bodyPr wrap="square" anchor="t" lIns="0" rIns="0" tIns="0" bIns="0"/>
          <a:lstStyle/>
          <a:p>
            <a:pPr algn="l"/>
            <a:r>
              <a:rPr sz="1800" b="0" i="0">
                <a:solidFill>
                  <a:srgbClr val="202122"/>
                </a:solidFill>
                <a:latin typeface="Calibri"/>
              </a:rPr>
              <a:t>Gather logs, security events and user reports.</a:t>
            </a:r>
          </a:p>
        </p:txBody>
      </p:sp>
      <p:sp>
        <p:nvSpPr>
          <p:cNvPr id="11" name="Oval 10"/>
          <p:cNvSpPr/>
          <p:nvPr/>
        </p:nvSpPr>
        <p:spPr>
          <a:xfrm>
            <a:off x="4371860" y="24917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3356533" y="3268979"/>
            <a:ext cx="2670733" cy="731520"/>
          </a:xfrm>
          <a:prstGeom prst="rect">
            <a:avLst/>
          </a:prstGeom>
          <a:noFill/>
        </p:spPr>
        <p:txBody>
          <a:bodyPr wrap="square" anchor="t" lIns="0" rIns="0" tIns="0" bIns="0"/>
          <a:lstStyle/>
          <a:p>
            <a:pPr algn="ctr"/>
            <a:r>
              <a:rPr sz="1700" b="1" i="0">
                <a:solidFill>
                  <a:srgbClr val="03306E"/>
                </a:solidFill>
                <a:latin typeface="Calibri"/>
              </a:rPr>
              <a:t>Select controls</a:t>
            </a:r>
          </a:p>
        </p:txBody>
      </p:sp>
      <p:sp>
        <p:nvSpPr>
          <p:cNvPr id="13" name="Rounded Rectangle 12"/>
          <p:cNvSpPr/>
          <p:nvPr/>
        </p:nvSpPr>
        <p:spPr>
          <a:xfrm>
            <a:off x="3356533"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93693" y="4183380"/>
            <a:ext cx="2396413" cy="960119"/>
          </a:xfrm>
          <a:prstGeom prst="rect">
            <a:avLst/>
          </a:prstGeom>
          <a:noFill/>
        </p:spPr>
        <p:txBody>
          <a:bodyPr wrap="square" anchor="t" lIns="0" rIns="0" tIns="0" bIns="0"/>
          <a:lstStyle/>
          <a:p>
            <a:pPr algn="l"/>
            <a:r>
              <a:rPr sz="1800" b="0" i="0">
                <a:solidFill>
                  <a:srgbClr val="202122"/>
                </a:solidFill>
                <a:latin typeface="Calibri"/>
              </a:rPr>
              <a:t>Preventative, corrective or compensating.</a:t>
            </a:r>
          </a:p>
        </p:txBody>
      </p:sp>
      <p:sp>
        <p:nvSpPr>
          <p:cNvPr id="15" name="Oval 14"/>
          <p:cNvSpPr/>
          <p:nvPr/>
        </p:nvSpPr>
        <p:spPr>
          <a:xfrm>
            <a:off x="7179754" y="24917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6164427" y="3268979"/>
            <a:ext cx="2670733" cy="731520"/>
          </a:xfrm>
          <a:prstGeom prst="rect">
            <a:avLst/>
          </a:prstGeom>
          <a:noFill/>
        </p:spPr>
        <p:txBody>
          <a:bodyPr wrap="square" anchor="t" lIns="0" rIns="0" tIns="0" bIns="0"/>
          <a:lstStyle/>
          <a:p>
            <a:pPr algn="ctr"/>
            <a:r>
              <a:rPr sz="1700" b="1" i="0">
                <a:solidFill>
                  <a:srgbClr val="03306E"/>
                </a:solidFill>
                <a:latin typeface="Calibri"/>
              </a:rPr>
              <a:t>Apply them</a:t>
            </a:r>
          </a:p>
        </p:txBody>
      </p:sp>
      <p:sp>
        <p:nvSpPr>
          <p:cNvPr id="17" name="Rounded Rectangle 16"/>
          <p:cNvSpPr/>
          <p:nvPr/>
        </p:nvSpPr>
        <p:spPr>
          <a:xfrm>
            <a:off x="6164427"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1587" y="4183380"/>
            <a:ext cx="2396413" cy="960119"/>
          </a:xfrm>
          <a:prstGeom prst="rect">
            <a:avLst/>
          </a:prstGeom>
          <a:noFill/>
        </p:spPr>
        <p:txBody>
          <a:bodyPr wrap="square" anchor="t" lIns="0" rIns="0" tIns="0" bIns="0"/>
          <a:lstStyle/>
          <a:p>
            <a:pPr algn="l"/>
            <a:r>
              <a:rPr sz="1800" b="0" i="0">
                <a:solidFill>
                  <a:srgbClr val="202122"/>
                </a:solidFill>
                <a:latin typeface="Calibri"/>
              </a:rPr>
              <a:t>Put the controls in place.</a:t>
            </a:r>
          </a:p>
        </p:txBody>
      </p:sp>
      <p:sp>
        <p:nvSpPr>
          <p:cNvPr id="19" name="Oval 18"/>
          <p:cNvSpPr/>
          <p:nvPr/>
        </p:nvSpPr>
        <p:spPr>
          <a:xfrm>
            <a:off x="9987648" y="249174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0" name="TextBox 19"/>
          <p:cNvSpPr txBox="1"/>
          <p:nvPr/>
        </p:nvSpPr>
        <p:spPr>
          <a:xfrm>
            <a:off x="8972321" y="3268979"/>
            <a:ext cx="2670733" cy="731520"/>
          </a:xfrm>
          <a:prstGeom prst="rect">
            <a:avLst/>
          </a:prstGeom>
          <a:noFill/>
        </p:spPr>
        <p:txBody>
          <a:bodyPr wrap="square" anchor="t" lIns="0" rIns="0" tIns="0" bIns="0"/>
          <a:lstStyle/>
          <a:p>
            <a:pPr algn="ctr"/>
            <a:r>
              <a:rPr sz="1700" b="1" i="0">
                <a:solidFill>
                  <a:srgbClr val="03306E"/>
                </a:solidFill>
                <a:latin typeface="Calibri"/>
              </a:rPr>
              <a:t>Comply</a:t>
            </a:r>
          </a:p>
        </p:txBody>
      </p:sp>
      <p:sp>
        <p:nvSpPr>
          <p:cNvPr id="21" name="Rounded Rectangle 20"/>
          <p:cNvSpPr/>
          <p:nvPr/>
        </p:nvSpPr>
        <p:spPr>
          <a:xfrm>
            <a:off x="8972321"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09481" y="4183380"/>
            <a:ext cx="2396413" cy="960119"/>
          </a:xfrm>
          <a:prstGeom prst="rect">
            <a:avLst/>
          </a:prstGeom>
          <a:noFill/>
        </p:spPr>
        <p:txBody>
          <a:bodyPr wrap="square" anchor="t" lIns="0" rIns="0" tIns="0" bIns="0"/>
          <a:lstStyle/>
          <a:p>
            <a:pPr algn="l"/>
            <a:r>
              <a:rPr sz="1800" b="0" i="0">
                <a:solidFill>
                  <a:srgbClr val="202122"/>
                </a:solidFill>
                <a:latin typeface="Calibri"/>
              </a:rPr>
              <a:t>Follow the law (e.g. DPA 2018) and organisational policy.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Give two reasons a DRP is important.</a:t>
            </a:r>
          </a:p>
        </p:txBody>
      </p:sp>
      <p:sp>
        <p:nvSpPr>
          <p:cNvPr id="8" name="Oval 7"/>
          <p:cNvSpPr/>
          <p:nvPr/>
        </p:nvSpPr>
        <p:spPr>
          <a:xfrm>
            <a:off x="548640" y="2814066"/>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comes after creating the DRP?</a:t>
            </a:r>
          </a:p>
        </p:txBody>
      </p:sp>
      <p:sp>
        <p:nvSpPr>
          <p:cNvPr id="10" name="Oval 9"/>
          <p:cNvSpPr/>
          <p:nvPr/>
        </p:nvSpPr>
        <p:spPr>
          <a:xfrm>
            <a:off x="548640" y="4009644"/>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Quarantining a virus is which type of control?</a:t>
            </a:r>
          </a:p>
        </p:txBody>
      </p:sp>
      <p:sp>
        <p:nvSpPr>
          <p:cNvPr id="12" name="Oval 11"/>
          <p:cNvSpPr/>
          <p:nvPr/>
        </p:nvSpPr>
        <p:spPr>
          <a:xfrm>
            <a:off x="548640" y="5205221"/>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Give a technical compensating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Give two reasons a DRP is important.</a:t>
            </a:r>
          </a:p>
          <a:p>
            <a:r>
              <a:rPr sz="1800" b="1">
                <a:solidFill>
                  <a:srgbClr val="03306E"/>
                </a:solidFill>
                <a:latin typeface="Calibri"/>
              </a:rPr>
              <a:t>Any two, e.g. minimises MTTR, limits damage, prepares alternatives, finds gaps.</a:t>
            </a:r>
          </a:p>
        </p:txBody>
      </p:sp>
      <p:sp>
        <p:nvSpPr>
          <p:cNvPr id="8" name="Oval 7"/>
          <p:cNvSpPr/>
          <p:nvPr/>
        </p:nvSpPr>
        <p:spPr>
          <a:xfrm>
            <a:off x="548640" y="2814066"/>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comes after creating the DRP?</a:t>
            </a:r>
          </a:p>
          <a:p>
            <a:r>
              <a:rPr sz="1800" b="1">
                <a:solidFill>
                  <a:srgbClr val="03306E"/>
                </a:solidFill>
                <a:latin typeface="Calibri"/>
              </a:rPr>
              <a:t>Getting it approved (sign-off).</a:t>
            </a:r>
          </a:p>
        </p:txBody>
      </p:sp>
      <p:sp>
        <p:nvSpPr>
          <p:cNvPr id="10" name="Oval 9"/>
          <p:cNvSpPr/>
          <p:nvPr/>
        </p:nvSpPr>
        <p:spPr>
          <a:xfrm>
            <a:off x="548640" y="4009644"/>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Quarantining a virus is which type of control?</a:t>
            </a:r>
          </a:p>
          <a:p>
            <a:r>
              <a:rPr sz="1800" b="1">
                <a:solidFill>
                  <a:srgbClr val="03306E"/>
                </a:solidFill>
                <a:latin typeface="Calibri"/>
              </a:rPr>
              <a:t>Corrective.</a:t>
            </a:r>
          </a:p>
        </p:txBody>
      </p:sp>
      <p:sp>
        <p:nvSpPr>
          <p:cNvPr id="12" name="Oval 11"/>
          <p:cNvSpPr/>
          <p:nvPr/>
        </p:nvSpPr>
        <p:spPr>
          <a:xfrm>
            <a:off x="548640" y="5205221"/>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Give a technical compensating control.</a:t>
            </a:r>
          </a:p>
          <a:p>
            <a:r>
              <a:rPr sz="1800" b="1">
                <a:solidFill>
                  <a:srgbClr val="03306E"/>
                </a:solidFill>
                <a:latin typeface="Calibri"/>
              </a:rPr>
              <a:t>Encryption.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Tabletop DR exercise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Security Controls and Disaster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FFFFFF"/>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Scenario: a burst pipe floods the ground floor server room of a small council office.</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Walk through the first four hours minute by minute.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Identify which controls worked, failed or were missing.</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List three amendments to the DRP.</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Actions follow a logical order</a:t>
            </a:r>
          </a:p>
          <a:p>
            <a:pPr marL="274320" indent="-274320">
              <a:spcAft>
                <a:spcPts val="810"/>
              </a:spcAft>
              <a:buClr>
                <a:srgbClr val="0645AD"/>
              </a:buClr>
              <a:buFont typeface="Arial"/>
              <a:buChar char="•"/>
            </a:pPr>
            <a:r>
              <a:rPr sz="1800" b="0">
                <a:solidFill>
                  <a:srgbClr val="202122"/>
                </a:solidFill>
                <a:latin typeface="Calibri"/>
              </a:rPr>
              <a:t>Controls classified correctly</a:t>
            </a:r>
          </a:p>
          <a:p>
            <a:pPr marL="274320" indent="-274320">
              <a:spcAft>
                <a:spcPts val="810"/>
              </a:spcAft>
              <a:buClr>
                <a:srgbClr val="0645AD"/>
              </a:buClr>
              <a:buFont typeface="Arial"/>
              <a:buChar char="•"/>
            </a:pPr>
            <a:r>
              <a:rPr sz="1800" b="0">
                <a:solidFill>
                  <a:srgbClr val="202122"/>
                </a:solidFill>
                <a:latin typeface="Calibri"/>
              </a:rPr>
              <a:t>Amendments are specific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CYBER SECURITY  ·  Cyber Security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must a DRP be tested?</a:t>
            </a:r>
          </a:p>
        </p:txBody>
      </p:sp>
      <p:sp>
        <p:nvSpPr>
          <p:cNvPr id="6" name="Oval 5"/>
          <p:cNvSpPr/>
          <p:nvPr/>
        </p:nvSpPr>
        <p:spPr>
          <a:xfrm>
            <a:off x="548640" y="26974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Name one preventative control for a server room.</a:t>
            </a:r>
          </a:p>
        </p:txBody>
      </p:sp>
      <p:sp>
        <p:nvSpPr>
          <p:cNvPr id="8" name="Oval 7"/>
          <p:cNvSpPr/>
          <p:nvPr/>
        </p:nvSpPr>
        <p:spPr>
          <a:xfrm>
            <a:off x="548640" y="365760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is a compensating control for?</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Cyber Security - Security Procedures and Controls</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https://lana6478.github.io/Digital-Suport-and-security-T-levle/#/02-occupational-specialisms/cyber-security/01-security-procedures-and-controls.md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Controls and Disaster Recovery</dc:title>
  <dc:subject>Digital Support and Security T Level: Cyber Security Content Area 1</dc:subject>
  <dc:creator>Samuel O'Connell</dc:creator>
  <cp:keywords>T Level; Digital Support and Security; lesson slides; 1.11 to 1.16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