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Security Controls and Disaster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1.11 to 1.16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purpose and importance of a disaster recovery plan.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stages of implementing a DRP.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Give physical, technical and procedural examples of preventative, corrective and compensating controls.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Select and apply controls to protect personal, physical and environmental security.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fire alarm goes off in the server room. What should happen in the next ten minutes, and who decides?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Why have a DRP?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A formal document for responding to natural disasters, power cuts, cyber attacks and other disruption.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Minimises MTTR and interruption to normal operations.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Limits damage and economic impact.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Sets up alternative ways of working in advance.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Reveals gaps, such as untrained staff.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A DRP written during a disaster is too late. The plan's value comes from deciding things calmly beforehand.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Implementing a DRP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2315" y="2869692"/>
            <a:ext cx="9627064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2275" y="25679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45180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Define 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22420"/>
            <a:ext cx="1467350" cy="1082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259580"/>
            <a:ext cx="1193030" cy="807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202122"/>
                </a:solidFill>
                <a:latin typeface="Calibri"/>
              </a:rPr>
              <a:t>Environmental, organisational, departmental, individual.</a:t>
            </a:r>
          </a:p>
        </p:txBody>
      </p:sp>
      <p:sp>
        <p:nvSpPr>
          <p:cNvPr id="11" name="Oval 10"/>
          <p:cNvSpPr/>
          <p:nvPr/>
        </p:nvSpPr>
        <p:spPr>
          <a:xfrm>
            <a:off x="2566786" y="25679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3150" y="3345180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Gather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3150" y="4122420"/>
            <a:ext cx="1467350" cy="1082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90310" y="4259580"/>
            <a:ext cx="1193030" cy="807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202122"/>
                </a:solidFill>
                <a:latin typeface="Calibri"/>
              </a:rPr>
              <a:t>Outage history, inventories, contacts.</a:t>
            </a:r>
          </a:p>
        </p:txBody>
      </p:sp>
      <p:sp>
        <p:nvSpPr>
          <p:cNvPr id="15" name="Oval 14"/>
          <p:cNvSpPr/>
          <p:nvPr/>
        </p:nvSpPr>
        <p:spPr>
          <a:xfrm>
            <a:off x="4171296" y="25679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57661" y="3345180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Risk assess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57661" y="4122420"/>
            <a:ext cx="1467350" cy="1082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894821" y="4259580"/>
            <a:ext cx="1193030" cy="807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202122"/>
                </a:solidFill>
                <a:latin typeface="Calibri"/>
              </a:rPr>
              <a:t>Likelihood and impact on business as usual.</a:t>
            </a:r>
          </a:p>
        </p:txBody>
      </p:sp>
      <p:sp>
        <p:nvSpPr>
          <p:cNvPr id="19" name="Oval 18"/>
          <p:cNvSpPr/>
          <p:nvPr/>
        </p:nvSpPr>
        <p:spPr>
          <a:xfrm>
            <a:off x="5775807" y="25679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2172" y="3345180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Create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62172" y="4122420"/>
            <a:ext cx="1467350" cy="1082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99332" y="4259580"/>
            <a:ext cx="1193030" cy="807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202122"/>
                </a:solidFill>
                <a:latin typeface="Calibri"/>
              </a:rPr>
              <a:t>Systems, staff roles, budget.</a:t>
            </a:r>
          </a:p>
        </p:txBody>
      </p:sp>
      <p:sp>
        <p:nvSpPr>
          <p:cNvPr id="23" name="Oval 22"/>
          <p:cNvSpPr/>
          <p:nvPr/>
        </p:nvSpPr>
        <p:spPr>
          <a:xfrm>
            <a:off x="7380318" y="25679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682" y="3345180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Approve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66682" y="4122420"/>
            <a:ext cx="1467350" cy="1082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03842" y="4259580"/>
            <a:ext cx="1193030" cy="807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202122"/>
                </a:solidFill>
                <a:latin typeface="Calibri"/>
              </a:rPr>
              <a:t>Sign-off.</a:t>
            </a:r>
          </a:p>
        </p:txBody>
      </p:sp>
      <p:sp>
        <p:nvSpPr>
          <p:cNvPr id="27" name="Oval 26"/>
          <p:cNvSpPr/>
          <p:nvPr/>
        </p:nvSpPr>
        <p:spPr>
          <a:xfrm>
            <a:off x="8984829" y="25679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1193" y="3345180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1193" y="4122420"/>
            <a:ext cx="1467350" cy="1082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708353" y="4259580"/>
            <a:ext cx="1193030" cy="807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202122"/>
                </a:solidFill>
                <a:latin typeface="Calibri"/>
              </a:rPr>
              <a:t>Scope, frequency, run, review, amend.</a:t>
            </a:r>
          </a:p>
        </p:txBody>
      </p:sp>
      <p:sp>
        <p:nvSpPr>
          <p:cNvPr id="31" name="Oval 30"/>
          <p:cNvSpPr/>
          <p:nvPr/>
        </p:nvSpPr>
        <p:spPr>
          <a:xfrm>
            <a:off x="10589339" y="25679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5704" y="3345180"/>
            <a:ext cx="146735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Improve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75704" y="4122420"/>
            <a:ext cx="1467350" cy="10820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312864" y="4259580"/>
            <a:ext cx="1193030" cy="807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202122"/>
                </a:solidFill>
                <a:latin typeface="Calibri"/>
              </a:rPr>
              <a:t>Audits and gap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Three control types in cyber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0054"/>
                <a:gridCol w="3014786"/>
                <a:gridCol w="3014786"/>
                <a:gridCol w="3014786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Procedural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Preventative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Locks, barriers, guards, biometrics, CCTV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Firewalls, allow and deny lists, sandboxing, hardening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Separation of duties, RBAC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Corrective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Sprinklers, gas suppression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Patching, disconnecting or quarantining infected systems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SOPs, invoking the DRP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Compensating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Segregation of duties, key-code access logs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Encryption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Awareness training, simulated attacks, monitoring SOPs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900" b="1" i="0">
                <a:solidFill>
                  <a:srgbClr val="03306E"/>
                </a:solidFill>
                <a:latin typeface="Cambria"/>
              </a:rPr>
              <a:t>Protecting personal, physical and environmental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79349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Review the 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Gather logs, security events and user reports.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Select controls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Preventative, corrective or compensating.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Apply them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Put the controls in place.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268979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Comply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404622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18338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Follow the law (e.g. DPA 2018) and organisational policy.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reasons a DRP is important.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comes after creating the DRP?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Quarantining a virus is which type of control?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a technical compensating control.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reasons a DRP is important.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two, e.g. minimises MTTR, limits damage, prepares alternatives, finds gaps.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comes after creating the DRP?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Getting it approved (sign-off).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Quarantining a virus is which type of control?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Corrective.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a technical compensating control.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Encryption.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Tabletop DR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Security Controls and Disaster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Scenario: a burst pipe floods the ground floor server room of a small council office.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Walk through the first four hours minute by minute.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which controls worked, failed or were missing.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three amendments to the DRP.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Actions follow a logical order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Controls classified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Amendments are specific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a DRP be tested?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preventative control for a server room.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compensating control for?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Security Procedures and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https://lana6478.github.io/Digital-Suport-and-security-T-levle/#/02-occupational-specialisms/cyber-security/01-security-procedures-and-controls.md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Controls and Disaster Recovery</dc:title>
  <dc:subject>Digital Support and Security T Level: Cyber Security Content Area 1</dc:subject>
  <dc:creator>Samuel O'Connell</dc:creator>
  <cp:keywords>T Level; Digital Support and Security; lesson slides; 1.11 to 1.16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