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defence in depth: if one layer fails, the next still protects the system.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Layered security so one failure doesn't compromise everything.</a:t>
            </a:r>
          </a:p>
          <a:p>
            <a:r>
              <a:t>2. To roll back if the patch causes problems.</a:t>
            </a:r>
          </a:p>
          <a:p>
            <a:r>
              <a:t>3. How far an attacker can move (lateral movement).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Never trusting a user or device by default, even inside the network.</a:t>
            </a:r>
          </a:p>
          <a:p>
            <a:r>
              <a:t>2. So logs survive if operational systems are compromised.</a:t>
            </a:r>
          </a:p>
          <a:p>
            <a:r>
              <a:t>3. Stolen data can't identify people.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In the registry.</a:t>
            </a:r>
          </a:p>
          <a:p>
            <a:r>
              <a:t>2. They show what's active now, including malware.</a:t>
            </a:r>
          </a:p>
          <a:p>
            <a:r>
              <a:t>3. APFS.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E0463A"/>
                </a:solidFill>
                <a:latin typeface="Calibri"/>
              </a:rPr>
              <a:t>CYBER SECURITY</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Secure Design and Layered Protection</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Cyber Security Content Area 1</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1.3, 1.4, 1.5, 1.6, 1.23</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Support and Security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Describe protection methods for hardware, operating systems, networks, software and cloud.</a:t>
            </a:r>
          </a:p>
        </p:txBody>
      </p:sp>
      <p:sp>
        <p:nvSpPr>
          <p:cNvPr id="9" name="Oval 8"/>
          <p:cNvSpPr/>
          <p:nvPr/>
        </p:nvSpPr>
        <p:spPr>
          <a:xfrm>
            <a:off x="548640" y="327469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Apply the five secure design aims to network infrastructure.</a:t>
            </a:r>
          </a:p>
        </p:txBody>
      </p:sp>
      <p:sp>
        <p:nvSpPr>
          <p:cNvPr id="11" name="Oval 10"/>
          <p:cNvSpPr/>
          <p:nvPr/>
        </p:nvSpPr>
        <p:spPr>
          <a:xfrm>
            <a:off x="548640" y="4314825"/>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Identify OS components that support an investigation.</a:t>
            </a:r>
          </a:p>
        </p:txBody>
      </p:sp>
      <p:sp>
        <p:nvSpPr>
          <p:cNvPr id="13" name="Oval 12"/>
          <p:cNvSpPr/>
          <p:nvPr/>
        </p:nvSpPr>
        <p:spPr>
          <a:xfrm>
            <a:off x="548640" y="5354954"/>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Explain core terms: CIA, IAAA, defence in depth, reliability and assurance.</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A castle has a moat, walls, a gate, guards and a keep. How is that like protecting a network?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Protection methods by layer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080"/>
              </a:spcAft>
            </a:pPr>
            <a:r>
              <a:rPr sz="1800" b="0">
                <a:solidFill>
                  <a:srgbClr val="202122"/>
                </a:solidFill>
                <a:latin typeface="Calibri"/>
              </a:rPr>
              <a:t>Defence in depth protects every layer so one failure doesn't expose everything.</a:t>
            </a:r>
          </a:p>
          <a:p>
            <a:pPr>
              <a:spcAft>
                <a:spcPts val="1080"/>
              </a:spcAft>
            </a:pPr>
            <a:r>
              <a:rPr sz="1800" b="1">
                <a:solidFill>
                  <a:srgbClr val="202122"/>
                </a:solidFill>
                <a:latin typeface="Calibri"/>
              </a:rPr>
              <a:t>Hardware:</a:t>
            </a:r>
            <a:r>
              <a:rPr sz="1800" b="0">
                <a:solidFill>
                  <a:srgbClr val="202122"/>
                </a:solidFill>
                <a:latin typeface="Calibri"/>
              </a:rPr>
              <a:t> physical controls such as locked cages, CCTV and key-card doors, plus device hardening.</a:t>
            </a:r>
          </a:p>
          <a:p>
            <a:pPr>
              <a:spcAft>
                <a:spcPts val="1080"/>
              </a:spcAft>
            </a:pPr>
            <a:r>
              <a:rPr sz="1800" b="1">
                <a:solidFill>
                  <a:srgbClr val="202122"/>
                </a:solidFill>
                <a:latin typeface="Calibri"/>
              </a:rPr>
              <a:t>Operating system:</a:t>
            </a:r>
            <a:r>
              <a:rPr sz="1800" b="0">
                <a:solidFill>
                  <a:srgbClr val="202122"/>
                </a:solidFill>
                <a:latin typeface="Calibri"/>
              </a:rPr>
              <a:t> install patches, with a system snapshot to roll back a bad update, and harden the OS by removing unneeded accounts, functions, apps and ports.</a:t>
            </a:r>
          </a:p>
          <a:p>
            <a:pPr>
              <a:spcAft>
                <a:spcPts val="1080"/>
              </a:spcAft>
            </a:pPr>
            <a:r>
              <a:rPr sz="1800" b="1">
                <a:solidFill>
                  <a:srgbClr val="202122"/>
                </a:solidFill>
                <a:latin typeface="Calibri"/>
              </a:rPr>
              <a:t>Network:</a:t>
            </a:r>
            <a:r>
              <a:rPr sz="1800" b="0">
                <a:solidFill>
                  <a:srgbClr val="202122"/>
                </a:solidFill>
                <a:latin typeface="Calibri"/>
              </a:rPr>
              <a:t> segmentation to limit how far an attacker can move, monitoring, hardening and firewalls.</a:t>
            </a:r>
          </a:p>
          <a:p>
            <a:pPr>
              <a:spcAft>
                <a:spcPts val="1080"/>
              </a:spcAft>
            </a:pPr>
            <a:r>
              <a:rPr sz="1800" b="1">
                <a:solidFill>
                  <a:srgbClr val="202122"/>
                </a:solidFill>
                <a:latin typeface="Calibri"/>
              </a:rPr>
              <a:t>Software:</a:t>
            </a:r>
            <a:r>
              <a:rPr sz="1800" b="0">
                <a:solidFill>
                  <a:srgbClr val="202122"/>
                </a:solidFill>
                <a:latin typeface="Calibri"/>
              </a:rPr>
              <a:t> anti-malware, single sign-on, MFA, privileged access management, application firewalls, vulnerability scanning and strong password policies.</a:t>
            </a:r>
          </a:p>
          <a:p>
            <a:pPr>
              <a:spcAft>
                <a:spcPts val="1080"/>
              </a:spcAft>
            </a:pPr>
            <a:r>
              <a:rPr sz="1800" b="1">
                <a:solidFill>
                  <a:srgbClr val="202122"/>
                </a:solidFill>
                <a:latin typeface="Calibri"/>
              </a:rPr>
              <a:t>Cloud:</a:t>
            </a:r>
            <a:r>
              <a:rPr sz="1800" b="0">
                <a:solidFill>
                  <a:srgbClr val="202122"/>
                </a:solidFill>
                <a:latin typeface="Calibri"/>
              </a:rPr>
              <a:t> audit logs, access controls and MFA, including location checks.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An attacker who phishes a password still faces MFA (software), can't reach servers from the guest VLAN (network), and triggers an alert in the cloud logs.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Protection methods by layer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graphicFrame>
        <p:nvGraphicFramePr>
          <p:cNvPr id="6" name="Table 5"/>
          <p:cNvGraphicFramePr>
            <a:graphicFrameLocks noGrp="1"/>
          </p:cNvGraphicFramePr>
          <p:nvPr/>
        </p:nvGraphicFramePr>
        <p:xfrm>
          <a:off x="548640" y="1600200"/>
          <a:ext cx="11094415" cy="4526280"/>
        </p:xfrm>
        <a:graphic>
          <a:graphicData uri="http://schemas.openxmlformats.org/drawingml/2006/table">
            <a:tbl>
              <a:tblPr firstRow="1" bandRow="1">
                <a:tableStyleId>{5C22544A-7EE6-4342-B048-85BDC9FD1C3A}</a:tableStyleId>
              </a:tblPr>
              <a:tblGrid>
                <a:gridCol w="2269312"/>
                <a:gridCol w="8825103"/>
              </a:tblGrid>
              <a:tr h="754380">
                <a:tc>
                  <a:txBody>
                    <a:bodyPr wrap="square"/>
                    <a:lstStyle/>
                    <a:p>
                      <a:r>
                        <a:rPr sz="1600" b="1">
                          <a:solidFill>
                            <a:srgbClr val="FFFFFF"/>
                          </a:solidFill>
                          <a:latin typeface="Calibri"/>
                        </a:rPr>
                        <a:t>Layer</a:t>
                      </a:r>
                    </a:p>
                  </a:txBody>
                  <a:tcPr marL="91440" marR="91440" anchor="ctr">
                    <a:solidFill>
                      <a:srgbClr val="03306E"/>
                    </a:solidFill>
                  </a:tcPr>
                </a:tc>
                <a:tc>
                  <a:txBody>
                    <a:bodyPr wrap="square"/>
                    <a:lstStyle/>
                    <a:p>
                      <a:r>
                        <a:rPr sz="1600" b="1">
                          <a:solidFill>
                            <a:srgbClr val="FFFFFF"/>
                          </a:solidFill>
                          <a:latin typeface="Calibri"/>
                        </a:rPr>
                        <a:t>Methods</a:t>
                      </a:r>
                    </a:p>
                  </a:txBody>
                  <a:tcPr marL="91440" marR="91440" anchor="ctr">
                    <a:solidFill>
                      <a:srgbClr val="03306E"/>
                    </a:solidFill>
                  </a:tcPr>
                </a:tc>
              </a:tr>
              <a:tr h="754380">
                <a:tc>
                  <a:txBody>
                    <a:bodyPr wrap="square"/>
                    <a:lstStyle/>
                    <a:p>
                      <a:r>
                        <a:rPr sz="1600" b="1">
                          <a:solidFill>
                            <a:srgbClr val="03306E"/>
                          </a:solidFill>
                          <a:latin typeface="Calibri"/>
                        </a:rPr>
                        <a:t>Hardware</a:t>
                      </a:r>
                    </a:p>
                  </a:txBody>
                  <a:tcPr marL="91440" marR="91440" anchor="ctr">
                    <a:solidFill>
                      <a:srgbClr val="FFFFFF"/>
                    </a:solidFill>
                  </a:tcPr>
                </a:tc>
                <a:tc>
                  <a:txBody>
                    <a:bodyPr wrap="square"/>
                    <a:lstStyle/>
                    <a:p>
                      <a:r>
                        <a:rPr sz="1600" b="0">
                          <a:solidFill>
                            <a:srgbClr val="202122"/>
                          </a:solidFill>
                          <a:latin typeface="Calibri"/>
                        </a:rPr>
                        <a:t>Hardware protection, device hardening, locked cages, CCTV, key-card doors</a:t>
                      </a:r>
                    </a:p>
                  </a:txBody>
                  <a:tcPr marL="91440" marR="91440" anchor="ctr">
                    <a:solidFill>
                      <a:srgbClr val="FFFFFF"/>
                    </a:solidFill>
                  </a:tcPr>
                </a:tc>
              </a:tr>
              <a:tr h="754380">
                <a:tc>
                  <a:txBody>
                    <a:bodyPr wrap="square"/>
                    <a:lstStyle/>
                    <a:p>
                      <a:r>
                        <a:rPr sz="1600" b="1">
                          <a:solidFill>
                            <a:srgbClr val="03306E"/>
                          </a:solidFill>
                          <a:latin typeface="Calibri"/>
                        </a:rPr>
                        <a:t>Operating system</a:t>
                      </a:r>
                    </a:p>
                  </a:txBody>
                  <a:tcPr marL="91440" marR="91440" anchor="ctr">
                    <a:solidFill>
                      <a:srgbClr val="EAF3FF"/>
                    </a:solidFill>
                  </a:tcPr>
                </a:tc>
                <a:tc>
                  <a:txBody>
                    <a:bodyPr wrap="square"/>
                    <a:lstStyle/>
                    <a:p>
                      <a:r>
                        <a:rPr sz="1600" b="0">
                          <a:solidFill>
                            <a:srgbClr val="202122"/>
                          </a:solidFill>
                          <a:latin typeface="Calibri"/>
                        </a:rPr>
                        <a:t>Patches with snapshot rollback, OS hardening</a:t>
                      </a:r>
                    </a:p>
                  </a:txBody>
                  <a:tcPr marL="91440" marR="91440" anchor="ctr">
                    <a:solidFill>
                      <a:srgbClr val="EAF3FF"/>
                    </a:solidFill>
                  </a:tcPr>
                </a:tc>
              </a:tr>
              <a:tr h="754380">
                <a:tc>
                  <a:txBody>
                    <a:bodyPr wrap="square"/>
                    <a:lstStyle/>
                    <a:p>
                      <a:r>
                        <a:rPr sz="1600" b="1">
                          <a:solidFill>
                            <a:srgbClr val="03306E"/>
                          </a:solidFill>
                          <a:latin typeface="Calibri"/>
                        </a:rPr>
                        <a:t>Network</a:t>
                      </a:r>
                    </a:p>
                  </a:txBody>
                  <a:tcPr marL="91440" marR="91440" anchor="ctr">
                    <a:solidFill>
                      <a:srgbClr val="FFFFFF"/>
                    </a:solidFill>
                  </a:tcPr>
                </a:tc>
                <a:tc>
                  <a:txBody>
                    <a:bodyPr wrap="square"/>
                    <a:lstStyle/>
                    <a:p>
                      <a:r>
                        <a:rPr sz="1600" b="0">
                          <a:solidFill>
                            <a:srgbClr val="202122"/>
                          </a:solidFill>
                          <a:latin typeface="Calibri"/>
                        </a:rPr>
                        <a:t>Segmentation to limit lateral movement, monitoring, network hardening, firewalls</a:t>
                      </a:r>
                    </a:p>
                  </a:txBody>
                  <a:tcPr marL="91440" marR="91440" anchor="ctr">
                    <a:solidFill>
                      <a:srgbClr val="FFFFFF"/>
                    </a:solidFill>
                  </a:tcPr>
                </a:tc>
              </a:tr>
              <a:tr h="754380">
                <a:tc>
                  <a:txBody>
                    <a:bodyPr wrap="square"/>
                    <a:lstStyle/>
                    <a:p>
                      <a:r>
                        <a:rPr sz="1600" b="1">
                          <a:solidFill>
                            <a:srgbClr val="03306E"/>
                          </a:solidFill>
                          <a:latin typeface="Calibri"/>
                        </a:rPr>
                        <a:t>Software</a:t>
                      </a:r>
                    </a:p>
                  </a:txBody>
                  <a:tcPr marL="91440" marR="91440" anchor="ctr">
                    <a:solidFill>
                      <a:srgbClr val="EAF3FF"/>
                    </a:solidFill>
                  </a:tcPr>
                </a:tc>
                <a:tc>
                  <a:txBody>
                    <a:bodyPr wrap="square"/>
                    <a:lstStyle/>
                    <a:p>
                      <a:r>
                        <a:rPr sz="1600" b="0">
                          <a:solidFill>
                            <a:srgbClr val="202122"/>
                          </a:solidFill>
                          <a:latin typeface="Calibri"/>
                        </a:rPr>
                        <a:t>Anti-malware, SSO, MFA, RMM, vulnerability scanning, PAM, application firewalls</a:t>
                      </a:r>
                    </a:p>
                  </a:txBody>
                  <a:tcPr marL="91440" marR="91440" anchor="ctr">
                    <a:solidFill>
                      <a:srgbClr val="EAF3FF"/>
                    </a:solidFill>
                  </a:tcPr>
                </a:tc>
              </a:tr>
              <a:tr h="754380">
                <a:tc>
                  <a:txBody>
                    <a:bodyPr wrap="square"/>
                    <a:lstStyle/>
                    <a:p>
                      <a:r>
                        <a:rPr sz="1600" b="1">
                          <a:solidFill>
                            <a:srgbClr val="03306E"/>
                          </a:solidFill>
                          <a:latin typeface="Calibri"/>
                        </a:rPr>
                        <a:t>Cloud</a:t>
                      </a:r>
                    </a:p>
                  </a:txBody>
                  <a:tcPr marL="91440" marR="91440" anchor="ctr">
                    <a:solidFill>
                      <a:srgbClr val="FFFFFF"/>
                    </a:solidFill>
                  </a:tcPr>
                </a:tc>
                <a:tc>
                  <a:txBody>
                    <a:bodyPr wrap="square"/>
                    <a:lstStyle/>
                    <a:p>
                      <a:r>
                        <a:rPr sz="1600" b="0">
                          <a:solidFill>
                            <a:srgbClr val="202122"/>
                          </a:solidFill>
                          <a:latin typeface="Calibri"/>
                        </a:rPr>
                        <a:t>Log auditing, access controls, MFA including a 'somewhere you are' factor</a:t>
                      </a:r>
                    </a:p>
                  </a:txBody>
                  <a:tcPr marL="91440" marR="91440"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Protection methods by layer</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defence in depth?</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take a snapshot before patching?</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network segmentation limit?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Five secure design aims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The NCSC's secure design principles have five aims.</a:t>
            </a:r>
          </a:p>
          <a:p>
            <a:pPr>
              <a:spcAft>
                <a:spcPts val="1140"/>
              </a:spcAft>
            </a:pPr>
            <a:r>
              <a:rPr sz="1900" b="1">
                <a:solidFill>
                  <a:srgbClr val="202122"/>
                </a:solidFill>
                <a:latin typeface="Calibri"/>
              </a:rPr>
              <a:t>Establish the context:</a:t>
            </a:r>
            <a:r>
              <a:rPr sz="1900" b="0">
                <a:solidFill>
                  <a:srgbClr val="202122"/>
                </a:solidFill>
                <a:latin typeface="Calibri"/>
              </a:rPr>
              <a:t> adopt zero trust, understand the requirements, users, suppliers and where sensitive data lives.</a:t>
            </a:r>
          </a:p>
          <a:p>
            <a:pPr>
              <a:spcAft>
                <a:spcPts val="1140"/>
              </a:spcAft>
            </a:pPr>
            <a:r>
              <a:rPr sz="1900" b="1">
                <a:solidFill>
                  <a:srgbClr val="202122"/>
                </a:solidFill>
                <a:latin typeface="Calibri"/>
              </a:rPr>
              <a:t>Make compromise difficult:</a:t>
            </a:r>
            <a:r>
              <a:rPr sz="1900" b="0">
                <a:solidFill>
                  <a:srgbClr val="202122"/>
                </a:solidFill>
                <a:latin typeface="Calibri"/>
              </a:rPr>
              <a:t> reduce the attack surface, use proven solutions and audit everything.</a:t>
            </a:r>
          </a:p>
          <a:p>
            <a:pPr>
              <a:spcAft>
                <a:spcPts val="1140"/>
              </a:spcAft>
            </a:pPr>
            <a:r>
              <a:rPr sz="1900" b="1">
                <a:solidFill>
                  <a:srgbClr val="202122"/>
                </a:solidFill>
                <a:latin typeface="Calibri"/>
              </a:rPr>
              <a:t>Make disruption difficult:</a:t>
            </a:r>
            <a:r>
              <a:rPr sz="1900" b="0">
                <a:solidFill>
                  <a:srgbClr val="202122"/>
                </a:solidFill>
                <a:latin typeface="Calibri"/>
              </a:rPr>
              <a:t> build in resilience and scalability and plan for supplier failure.</a:t>
            </a:r>
          </a:p>
          <a:p>
            <a:pPr>
              <a:spcAft>
                <a:spcPts val="1140"/>
              </a:spcAft>
            </a:pPr>
            <a:r>
              <a:rPr sz="1900" b="1">
                <a:solidFill>
                  <a:srgbClr val="202122"/>
                </a:solidFill>
                <a:latin typeface="Calibri"/>
              </a:rPr>
              <a:t>Make compromise detection easier:</a:t>
            </a:r>
            <a:r>
              <a:rPr sz="1900" b="0">
                <a:solidFill>
                  <a:srgbClr val="202122"/>
                </a:solidFill>
                <a:latin typeface="Calibri"/>
              </a:rPr>
              <a:t> collect logs, keep monitoring separate from operational systems, and learn what normal looks like.</a:t>
            </a:r>
          </a:p>
          <a:p>
            <a:pPr>
              <a:spcAft>
                <a:spcPts val="1140"/>
              </a:spcAft>
            </a:pPr>
            <a:r>
              <a:rPr sz="1900" b="1">
                <a:solidFill>
                  <a:srgbClr val="202122"/>
                </a:solidFill>
                <a:latin typeface="Calibri"/>
              </a:rPr>
              <a:t>Reduce the impact of compromise:</a:t>
            </a:r>
            <a:r>
              <a:rPr sz="1900" b="0">
                <a:solidFill>
                  <a:srgbClr val="202122"/>
                </a:solidFill>
                <a:latin typeface="Calibri"/>
              </a:rPr>
              <a:t> segment networks, separate duties, anonymise data and make recovery simple.</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Keeping logs on a separate server means an attacker who wipes the web server can't also wipe the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Five secure design aims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700" b="1" i="0">
                <a:solidFill>
                  <a:srgbClr val="03306E"/>
                </a:solidFill>
                <a:latin typeface="Calibri"/>
              </a:rPr>
              <a:t>Establish the context</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1900" b="0" i="0">
                <a:solidFill>
                  <a:srgbClr val="202122"/>
                </a:solidFill>
                <a:latin typeface="Calibri"/>
              </a:rPr>
              <a:t>Adopt zero trust, define acceptable risk, map where sensitive data lives.</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600" b="1" i="0">
                <a:solidFill>
                  <a:srgbClr val="03306E"/>
                </a:solidFill>
                <a:latin typeface="Calibri"/>
              </a:rPr>
              <a:t>Make compromise difficult</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Reduce the attack surface, use proven solutions, audit operations.</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600" b="1" i="0">
                <a:solidFill>
                  <a:srgbClr val="03306E"/>
                </a:solidFill>
                <a:latin typeface="Calibri"/>
              </a:rPr>
              <a:t>Make disruption difficult</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Build resilience and scalability, plan for third-party failure.</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700" b="1" i="0">
                <a:solidFill>
                  <a:srgbClr val="03306E"/>
                </a:solidFill>
                <a:latin typeface="Calibri"/>
              </a:rPr>
              <a:t>Make detection easier</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1800" b="0" i="0">
                <a:solidFill>
                  <a:srgbClr val="202122"/>
                </a:solidFill>
                <a:latin typeface="Calibri"/>
              </a:rPr>
              <a:t>Collect logs, keep monitoring separate from operations, learn what normal looks like.</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Reduce the impact</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Segment networks, test recovery, separate duties, anonymise data.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Five secure design aims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zero trust?</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keep monitoring separate from operational systems?</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How does anonymising data reduce impact?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Operating systems and investigation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260"/>
              </a:spcAft>
            </a:pPr>
            <a:r>
              <a:rPr sz="2100" b="0">
                <a:solidFill>
                  <a:srgbClr val="202122"/>
                </a:solidFill>
                <a:latin typeface="Calibri"/>
              </a:rPr>
              <a:t>Investigators need to know where operating systems store evidence.</a:t>
            </a:r>
          </a:p>
          <a:p>
            <a:pPr>
              <a:spcAft>
                <a:spcPts val="1260"/>
              </a:spcAft>
            </a:pPr>
            <a:r>
              <a:rPr sz="2100" b="0">
                <a:solidFill>
                  <a:srgbClr val="202122"/>
                </a:solidFill>
                <a:latin typeface="Calibri"/>
              </a:rPr>
              <a:t>Windows keeps configuration in the registry; Linux in configuration files; macOS in library and preference files. Logs record network traffic, logins and system events. The file system (NTFS, FAT32, exFAT, APFS or ext4, depending on the OS) records files and their timestamps. Running processes show what's happening right now, including any malware.</a:t>
            </a:r>
          </a:p>
          <a:p>
            <a:pPr>
              <a:spcAft>
                <a:spcPts val="1260"/>
              </a:spcAft>
            </a:pPr>
            <a:r>
              <a:rPr sz="2100" b="1">
                <a:solidFill>
                  <a:srgbClr val="202122"/>
                </a:solidFill>
                <a:latin typeface="Calibri"/>
              </a:rPr>
              <a:t>OS functions also help security:</a:t>
            </a:r>
            <a:r>
              <a:rPr sz="2100" b="0">
                <a:solidFill>
                  <a:srgbClr val="202122"/>
                </a:solidFill>
                <a:latin typeface="Calibri"/>
              </a:rPr>
              <a:t> zero trust, device management that requires signed drivers, and processor management that protects against side-channel attacks.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An investigator checks the Windows registry's Run keys and finds an unknown program set to start at every login: likely malware persistence.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Operating systems and investigation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OS types and functions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1">
                <a:solidFill>
                  <a:srgbClr val="202122"/>
                </a:solidFill>
                <a:latin typeface="Calibri"/>
              </a:rPr>
              <a:t>Client:</a:t>
            </a:r>
            <a:r>
              <a:rPr sz="2200" b="0">
                <a:solidFill>
                  <a:srgbClr val="202122"/>
                </a:solidFill>
                <a:latin typeface="Calibri"/>
              </a:rPr>
              <a:t> Windows, macOS, Linux</a:t>
            </a:r>
          </a:p>
          <a:p>
            <a:pPr marL="274320" indent="-274320">
              <a:spcAft>
                <a:spcPts val="990"/>
              </a:spcAft>
              <a:buClr>
                <a:srgbClr val="0645AD"/>
              </a:buClr>
              <a:buFont typeface="Arial"/>
              <a:buChar char="•"/>
            </a:pPr>
            <a:r>
              <a:rPr sz="2200" b="1">
                <a:solidFill>
                  <a:srgbClr val="202122"/>
                </a:solidFill>
                <a:latin typeface="Calibri"/>
              </a:rPr>
              <a:t>Mobile:</a:t>
            </a:r>
            <a:r>
              <a:rPr sz="2200" b="0">
                <a:solidFill>
                  <a:srgbClr val="202122"/>
                </a:solidFill>
                <a:latin typeface="Calibri"/>
              </a:rPr>
              <a:t> Android, iOS</a:t>
            </a:r>
          </a:p>
          <a:p>
            <a:pPr marL="274320" indent="-274320">
              <a:spcAft>
                <a:spcPts val="990"/>
              </a:spcAft>
              <a:buClr>
                <a:srgbClr val="0645AD"/>
              </a:buClr>
              <a:buFont typeface="Arial"/>
              <a:buChar char="•"/>
            </a:pPr>
            <a:r>
              <a:rPr sz="2200" b="1">
                <a:solidFill>
                  <a:srgbClr val="202122"/>
                </a:solidFill>
                <a:latin typeface="Calibri"/>
              </a:rPr>
              <a:t>Server:</a:t>
            </a:r>
            <a:r>
              <a:rPr sz="2200" b="0">
                <a:solidFill>
                  <a:srgbClr val="202122"/>
                </a:solidFill>
                <a:latin typeface="Calibri"/>
              </a:rPr>
              <a:t> Windows Server, Linux</a:t>
            </a:r>
          </a:p>
          <a:p>
            <a:pPr marL="274320" indent="-274320">
              <a:spcAft>
                <a:spcPts val="990"/>
              </a:spcAft>
              <a:buClr>
                <a:srgbClr val="0645AD"/>
              </a:buClr>
              <a:buFont typeface="Arial"/>
              <a:buChar char="•"/>
            </a:pPr>
            <a:r>
              <a:rPr sz="2200" b="1">
                <a:solidFill>
                  <a:srgbClr val="202122"/>
                </a:solidFill>
                <a:latin typeface="Calibri"/>
              </a:rPr>
              <a:t>Functions:</a:t>
            </a:r>
            <a:r>
              <a:rPr sz="2200" b="0">
                <a:solidFill>
                  <a:srgbClr val="202122"/>
                </a:solidFill>
                <a:latin typeface="Calibri"/>
              </a:rPr>
              <a:t> security, memory, processor, device and file management</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Useful evidence sources</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00"/>
              </a:spcAft>
              <a:buClr>
                <a:srgbClr val="0645AD"/>
              </a:buClr>
              <a:buFont typeface="Arial"/>
              <a:buChar char="•"/>
            </a:pPr>
            <a:r>
              <a:rPr sz="2000" b="0">
                <a:solidFill>
                  <a:srgbClr val="202122"/>
                </a:solidFill>
                <a:latin typeface="Calibri"/>
              </a:rPr>
              <a:t>Windows registry</a:t>
            </a:r>
          </a:p>
          <a:p>
            <a:pPr marL="274320" indent="-274320">
              <a:spcAft>
                <a:spcPts val="900"/>
              </a:spcAft>
              <a:buClr>
                <a:srgbClr val="0645AD"/>
              </a:buClr>
              <a:buFont typeface="Arial"/>
              <a:buChar char="•"/>
            </a:pPr>
            <a:r>
              <a:rPr sz="2000" b="0">
                <a:solidFill>
                  <a:srgbClr val="202122"/>
                </a:solidFill>
                <a:latin typeface="Calibri"/>
              </a:rPr>
              <a:t>Linux configuration files</a:t>
            </a:r>
          </a:p>
          <a:p>
            <a:pPr marL="274320" indent="-274320">
              <a:spcAft>
                <a:spcPts val="900"/>
              </a:spcAft>
              <a:buClr>
                <a:srgbClr val="0645AD"/>
              </a:buClr>
              <a:buFont typeface="Arial"/>
              <a:buChar char="•"/>
            </a:pPr>
            <a:r>
              <a:rPr sz="2000" b="0">
                <a:solidFill>
                  <a:srgbClr val="202122"/>
                </a:solidFill>
                <a:latin typeface="Calibri"/>
              </a:rPr>
              <a:t>macOS library and preference files</a:t>
            </a:r>
          </a:p>
          <a:p>
            <a:pPr marL="274320" indent="-274320">
              <a:spcAft>
                <a:spcPts val="900"/>
              </a:spcAft>
              <a:buClr>
                <a:srgbClr val="0645AD"/>
              </a:buClr>
              <a:buFont typeface="Arial"/>
              <a:buChar char="•"/>
            </a:pPr>
            <a:r>
              <a:rPr sz="2000" b="0">
                <a:solidFill>
                  <a:srgbClr val="202122"/>
                </a:solidFill>
                <a:latin typeface="Calibri"/>
              </a:rPr>
              <a:t>Network and traffic logs</a:t>
            </a:r>
          </a:p>
          <a:p>
            <a:pPr marL="274320" indent="-274320">
              <a:spcAft>
                <a:spcPts val="900"/>
              </a:spcAft>
              <a:buClr>
                <a:srgbClr val="0645AD"/>
              </a:buClr>
              <a:buFont typeface="Arial"/>
              <a:buChar char="•"/>
            </a:pPr>
            <a:r>
              <a:rPr sz="2000" b="1">
                <a:solidFill>
                  <a:srgbClr val="202122"/>
                </a:solidFill>
                <a:latin typeface="Calibri"/>
              </a:rPr>
              <a:t>File system:</a:t>
            </a:r>
            <a:r>
              <a:rPr sz="2000" b="0">
                <a:solidFill>
                  <a:srgbClr val="202122"/>
                </a:solidFill>
                <a:latin typeface="Calibri"/>
              </a:rPr>
              <a:t> NTFS, FAT32, exFAT, APFS, ext4</a:t>
            </a:r>
          </a:p>
          <a:p>
            <a:pPr marL="274320" indent="-274320">
              <a:spcAft>
                <a:spcPts val="900"/>
              </a:spcAft>
              <a:buClr>
                <a:srgbClr val="0645AD"/>
              </a:buClr>
              <a:buFont typeface="Arial"/>
              <a:buChar char="•"/>
            </a:pPr>
            <a:r>
              <a:rPr sz="2000" b="0">
                <a:solidFill>
                  <a:srgbClr val="202122"/>
                </a:solidFill>
                <a:latin typeface="Calibri"/>
              </a:rPr>
              <a:t>Running processes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Operating systems and investigation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Where does Windows store configuration?</a:t>
            </a:r>
          </a:p>
        </p:txBody>
      </p:sp>
      <p:sp>
        <p:nvSpPr>
          <p:cNvPr id="8" name="Oval 7"/>
          <p:cNvSpPr/>
          <p:nvPr/>
        </p:nvSpPr>
        <p:spPr>
          <a:xfrm>
            <a:off x="548640" y="31089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look at running processes?</a:t>
            </a:r>
          </a:p>
        </p:txBody>
      </p:sp>
      <p:sp>
        <p:nvSpPr>
          <p:cNvPr id="10" name="Oval 9"/>
          <p:cNvSpPr/>
          <p:nvPr/>
        </p:nvSpPr>
        <p:spPr>
          <a:xfrm>
            <a:off x="548640" y="45262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Name a file system used by macOS.</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Physical and virtual servers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Physical servers</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Applications run directly on hardware</a:t>
            </a:r>
          </a:p>
          <a:p>
            <a:pPr marL="274320" indent="-274320">
              <a:spcAft>
                <a:spcPts val="990"/>
              </a:spcAft>
              <a:buClr>
                <a:srgbClr val="0645AD"/>
              </a:buClr>
              <a:buFont typeface="Arial"/>
              <a:buChar char="•"/>
            </a:pPr>
            <a:r>
              <a:rPr sz="2200" b="0">
                <a:solidFill>
                  <a:srgbClr val="202122"/>
                </a:solidFill>
                <a:latin typeface="Calibri"/>
              </a:rPr>
              <a:t>Full access to hardware resources</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Virtualisation</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1">
                <a:solidFill>
                  <a:srgbClr val="202122"/>
                </a:solidFill>
                <a:latin typeface="Calibri"/>
              </a:rPr>
              <a:t>Virtual servers:</a:t>
            </a:r>
            <a:r>
              <a:rPr sz="2200" b="0">
                <a:solidFill>
                  <a:srgbClr val="202122"/>
                </a:solidFill>
                <a:latin typeface="Calibri"/>
              </a:rPr>
              <a:t> many isolated OS instances on one machine</a:t>
            </a:r>
          </a:p>
          <a:p>
            <a:pPr marL="274320" indent="-274320">
              <a:spcAft>
                <a:spcPts val="990"/>
              </a:spcAft>
              <a:buClr>
                <a:srgbClr val="0645AD"/>
              </a:buClr>
              <a:buFont typeface="Arial"/>
              <a:buChar char="•"/>
            </a:pPr>
            <a:r>
              <a:rPr sz="2200" b="1">
                <a:solidFill>
                  <a:srgbClr val="202122"/>
                </a:solidFill>
                <a:latin typeface="Calibri"/>
              </a:rPr>
              <a:t>Containers:</a:t>
            </a:r>
            <a:r>
              <a:rPr sz="2200" b="0">
                <a:solidFill>
                  <a:srgbClr val="202122"/>
                </a:solidFill>
                <a:latin typeface="Calibri"/>
              </a:rPr>
              <a:t> portable packages holding only what an app needs</a:t>
            </a:r>
          </a:p>
          <a:p>
            <a:pPr marL="274320" indent="-274320">
              <a:spcAft>
                <a:spcPts val="990"/>
              </a:spcAft>
              <a:buClr>
                <a:srgbClr val="0645AD"/>
              </a:buClr>
              <a:buFont typeface="Arial"/>
              <a:buChar char="•"/>
            </a:pPr>
            <a:r>
              <a:rPr sz="2200" b="0">
                <a:solidFill>
                  <a:srgbClr val="202122"/>
                </a:solidFill>
                <a:latin typeface="Calibri"/>
              </a:rPr>
              <a:t>Isolation adds security and portability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Key terms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Rounded Rectangle 5"/>
          <p:cNvSpPr/>
          <p:nvPr/>
        </p:nvSpPr>
        <p:spPr>
          <a:xfrm>
            <a:off x="548640" y="1600200"/>
            <a:ext cx="5432907" cy="13716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91640"/>
            <a:ext cx="4975707" cy="1188720"/>
          </a:xfrm>
          <a:prstGeom prst="rect">
            <a:avLst/>
          </a:prstGeom>
          <a:noFill/>
        </p:spPr>
        <p:txBody>
          <a:bodyPr wrap="square" anchor="ctr" lIns="0" rIns="0" tIns="0" bIns="0"/>
          <a:lstStyle/>
          <a:p>
            <a:pPr algn="l"/>
            <a:r>
              <a:rPr sz="1900" b="1" i="0">
                <a:solidFill>
                  <a:srgbClr val="03306E"/>
                </a:solidFill>
                <a:latin typeface="Calibri"/>
              </a:rPr>
              <a:t>Confidentiality</a:t>
            </a:r>
            <a:r>
              <a:rPr sz="1900">
                <a:solidFill>
                  <a:srgbClr val="202122"/>
                </a:solidFill>
                <a:latin typeface="Calibri"/>
              </a:rPr>
              <a:t>  access restricted to authorised users.</a:t>
            </a:r>
          </a:p>
        </p:txBody>
      </p:sp>
      <p:sp>
        <p:nvSpPr>
          <p:cNvPr id="8" name="Rounded Rectangle 7"/>
          <p:cNvSpPr/>
          <p:nvPr/>
        </p:nvSpPr>
        <p:spPr>
          <a:xfrm>
            <a:off x="6210147" y="1600200"/>
            <a:ext cx="5432907" cy="13716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38747" y="1691640"/>
            <a:ext cx="4975707" cy="1188720"/>
          </a:xfrm>
          <a:prstGeom prst="rect">
            <a:avLst/>
          </a:prstGeom>
          <a:noFill/>
        </p:spPr>
        <p:txBody>
          <a:bodyPr wrap="square" anchor="ctr" lIns="0" rIns="0" tIns="0" bIns="0"/>
          <a:lstStyle/>
          <a:p>
            <a:pPr algn="l"/>
            <a:r>
              <a:rPr sz="1900" b="1" i="0">
                <a:solidFill>
                  <a:srgbClr val="03306E"/>
                </a:solidFill>
                <a:latin typeface="Calibri"/>
              </a:rPr>
              <a:t>Integrity</a:t>
            </a:r>
            <a:r>
              <a:rPr sz="1900">
                <a:solidFill>
                  <a:srgbClr val="202122"/>
                </a:solidFill>
                <a:latin typeface="Calibri"/>
              </a:rPr>
              <a:t>  data cannot be changed without authorisation.</a:t>
            </a:r>
          </a:p>
        </p:txBody>
      </p:sp>
      <p:sp>
        <p:nvSpPr>
          <p:cNvPr id="10" name="Rounded Rectangle 9"/>
          <p:cNvSpPr/>
          <p:nvPr/>
        </p:nvSpPr>
        <p:spPr>
          <a:xfrm>
            <a:off x="548640" y="3200400"/>
            <a:ext cx="5432907" cy="13716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3291840"/>
            <a:ext cx="4975707" cy="1188720"/>
          </a:xfrm>
          <a:prstGeom prst="rect">
            <a:avLst/>
          </a:prstGeom>
          <a:noFill/>
        </p:spPr>
        <p:txBody>
          <a:bodyPr wrap="square" anchor="ctr" lIns="0" rIns="0" tIns="0" bIns="0"/>
          <a:lstStyle/>
          <a:p>
            <a:pPr algn="l"/>
            <a:r>
              <a:rPr sz="1900" b="1" i="0">
                <a:solidFill>
                  <a:srgbClr val="03306E"/>
                </a:solidFill>
                <a:latin typeface="Calibri"/>
              </a:rPr>
              <a:t>Availability</a:t>
            </a:r>
            <a:r>
              <a:rPr sz="1900">
                <a:solidFill>
                  <a:srgbClr val="202122"/>
                </a:solidFill>
                <a:latin typeface="Calibri"/>
              </a:rPr>
              <a:t>  authorised users can access data when needed.</a:t>
            </a:r>
          </a:p>
        </p:txBody>
      </p:sp>
      <p:sp>
        <p:nvSpPr>
          <p:cNvPr id="12" name="Rounded Rectangle 11"/>
          <p:cNvSpPr/>
          <p:nvPr/>
        </p:nvSpPr>
        <p:spPr>
          <a:xfrm>
            <a:off x="6210147" y="3200400"/>
            <a:ext cx="5432907" cy="13716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38747" y="3291840"/>
            <a:ext cx="4975707" cy="1188720"/>
          </a:xfrm>
          <a:prstGeom prst="rect">
            <a:avLst/>
          </a:prstGeom>
          <a:noFill/>
        </p:spPr>
        <p:txBody>
          <a:bodyPr wrap="square" anchor="ctr" lIns="0" rIns="0" tIns="0" bIns="0"/>
          <a:lstStyle/>
          <a:p>
            <a:pPr algn="l"/>
            <a:r>
              <a:rPr sz="1900" b="1" i="0">
                <a:solidFill>
                  <a:srgbClr val="03306E"/>
                </a:solidFill>
                <a:latin typeface="Calibri"/>
              </a:rPr>
              <a:t>IAAA</a:t>
            </a:r>
            <a:r>
              <a:rPr sz="1900">
                <a:solidFill>
                  <a:srgbClr val="202122"/>
                </a:solidFill>
                <a:latin typeface="Calibri"/>
              </a:rPr>
              <a:t>  identification, authentication, authorisation, accountability.</a:t>
            </a:r>
          </a:p>
        </p:txBody>
      </p:sp>
      <p:sp>
        <p:nvSpPr>
          <p:cNvPr id="14" name="Rounded Rectangle 13"/>
          <p:cNvSpPr/>
          <p:nvPr/>
        </p:nvSpPr>
        <p:spPr>
          <a:xfrm>
            <a:off x="548640" y="4800600"/>
            <a:ext cx="5432907" cy="13716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4892040"/>
            <a:ext cx="4975707" cy="1188720"/>
          </a:xfrm>
          <a:prstGeom prst="rect">
            <a:avLst/>
          </a:prstGeom>
          <a:noFill/>
        </p:spPr>
        <p:txBody>
          <a:bodyPr wrap="square" anchor="ctr" lIns="0" rIns="0" tIns="0" bIns="0"/>
          <a:lstStyle/>
          <a:p>
            <a:pPr algn="l"/>
            <a:r>
              <a:rPr sz="1900" b="1" i="0">
                <a:solidFill>
                  <a:srgbClr val="03306E"/>
                </a:solidFill>
                <a:latin typeface="Calibri"/>
              </a:rPr>
              <a:t>Defence in depth</a:t>
            </a:r>
            <a:r>
              <a:rPr sz="1900">
                <a:solidFill>
                  <a:srgbClr val="202122"/>
                </a:solidFill>
                <a:latin typeface="Calibri"/>
              </a:rPr>
              <a:t>  layered security so one failure does not compromise everything.</a:t>
            </a:r>
          </a:p>
        </p:txBody>
      </p:sp>
      <p:sp>
        <p:nvSpPr>
          <p:cNvPr id="16" name="Rounded Rectangle 15"/>
          <p:cNvSpPr/>
          <p:nvPr/>
        </p:nvSpPr>
        <p:spPr>
          <a:xfrm>
            <a:off x="6210147" y="4800600"/>
            <a:ext cx="5432907" cy="13716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38747" y="4892040"/>
            <a:ext cx="4975707" cy="1188720"/>
          </a:xfrm>
          <a:prstGeom prst="rect">
            <a:avLst/>
          </a:prstGeom>
          <a:noFill/>
        </p:spPr>
        <p:txBody>
          <a:bodyPr wrap="square" anchor="ctr" lIns="0" rIns="0" tIns="0" bIns="0"/>
          <a:lstStyle/>
          <a:p>
            <a:pPr algn="l"/>
            <a:r>
              <a:rPr sz="1900" b="1" i="0">
                <a:solidFill>
                  <a:srgbClr val="03306E"/>
                </a:solidFill>
                <a:latin typeface="Calibri"/>
              </a:rPr>
              <a:t>Assurance</a:t>
            </a:r>
            <a:r>
              <a:rPr sz="1900">
                <a:solidFill>
                  <a:srgbClr val="202122"/>
                </a:solidFill>
                <a:latin typeface="Calibri"/>
              </a:rPr>
              <a:t>  confirming that security requirements have actually been met.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2200" b="0" i="0">
                <a:solidFill>
                  <a:srgbClr val="202122"/>
                </a:solidFill>
                <a:latin typeface="Calibri"/>
              </a:rPr>
              <a:t>What does segmentation limit?</a:t>
            </a:r>
          </a:p>
        </p:txBody>
      </p:sp>
      <p:sp>
        <p:nvSpPr>
          <p:cNvPr id="8" name="Oval 7"/>
          <p:cNvSpPr/>
          <p:nvPr/>
        </p:nvSpPr>
        <p:spPr>
          <a:xfrm>
            <a:off x="548640" y="2574950"/>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2200" b="0" i="0">
                <a:solidFill>
                  <a:srgbClr val="202122"/>
                </a:solidFill>
                <a:latin typeface="Calibri"/>
              </a:rPr>
              <a:t>What is zero trust?</a:t>
            </a:r>
          </a:p>
        </p:txBody>
      </p:sp>
      <p:sp>
        <p:nvSpPr>
          <p:cNvPr id="10" name="Oval 9"/>
          <p:cNvSpPr/>
          <p:nvPr/>
        </p:nvSpPr>
        <p:spPr>
          <a:xfrm>
            <a:off x="548640" y="3531412"/>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2200" b="0" i="0">
                <a:solidFill>
                  <a:srgbClr val="202122"/>
                </a:solidFill>
                <a:latin typeface="Calibri"/>
              </a:rPr>
              <a:t>Where would you look for configuration evidence on a Windows PC?</a:t>
            </a:r>
          </a:p>
        </p:txBody>
      </p:sp>
      <p:sp>
        <p:nvSpPr>
          <p:cNvPr id="12" name="Oval 11"/>
          <p:cNvSpPr/>
          <p:nvPr/>
        </p:nvSpPr>
        <p:spPr>
          <a:xfrm>
            <a:off x="548640" y="4487875"/>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2200" b="0" i="0">
                <a:solidFill>
                  <a:srgbClr val="202122"/>
                </a:solidFill>
                <a:latin typeface="Calibri"/>
              </a:rPr>
              <a:t>What is a container?</a:t>
            </a:r>
          </a:p>
        </p:txBody>
      </p:sp>
      <p:sp>
        <p:nvSpPr>
          <p:cNvPr id="14" name="Oval 13"/>
          <p:cNvSpPr/>
          <p:nvPr/>
        </p:nvSpPr>
        <p:spPr>
          <a:xfrm>
            <a:off x="548640" y="5444337"/>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2200" b="0" i="0">
                <a:solidFill>
                  <a:srgbClr val="202122"/>
                </a:solidFill>
                <a:latin typeface="Calibri"/>
              </a:rPr>
              <a:t>Define defence in depth.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Oval 5"/>
          <p:cNvSpPr/>
          <p:nvPr/>
        </p:nvSpPr>
        <p:spPr>
          <a:xfrm>
            <a:off x="548640" y="1618488"/>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7" name="TextBox 6"/>
          <p:cNvSpPr txBox="1"/>
          <p:nvPr/>
        </p:nvSpPr>
        <p:spPr>
          <a:xfrm>
            <a:off x="1234440" y="1600200"/>
            <a:ext cx="10408615" cy="791870"/>
          </a:xfrm>
          <a:prstGeom prst="rect">
            <a:avLst/>
          </a:prstGeom>
          <a:noFill/>
        </p:spPr>
        <p:txBody>
          <a:bodyPr wrap="square" anchor="t" lIns="0" rIns="0" tIns="0" bIns="0"/>
          <a:lstStyle/>
          <a:p>
            <a:pPr algn="l"/>
            <a:r>
              <a:rPr sz="1800" b="0" i="0">
                <a:solidFill>
                  <a:srgbClr val="54595D"/>
                </a:solidFill>
                <a:latin typeface="Calibri"/>
              </a:rPr>
              <a:t>What does segmentation limit?</a:t>
            </a:r>
          </a:p>
          <a:p>
            <a:r>
              <a:rPr sz="1800" b="1">
                <a:solidFill>
                  <a:srgbClr val="03306E"/>
                </a:solidFill>
                <a:latin typeface="Calibri"/>
              </a:rPr>
              <a:t>Lateral movement of attackers or malware.</a:t>
            </a:r>
          </a:p>
        </p:txBody>
      </p:sp>
      <p:sp>
        <p:nvSpPr>
          <p:cNvPr id="8" name="Oval 7"/>
          <p:cNvSpPr/>
          <p:nvPr/>
        </p:nvSpPr>
        <p:spPr>
          <a:xfrm>
            <a:off x="548640" y="2574950"/>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234440" y="2556662"/>
            <a:ext cx="10408615" cy="791870"/>
          </a:xfrm>
          <a:prstGeom prst="rect">
            <a:avLst/>
          </a:prstGeom>
          <a:noFill/>
        </p:spPr>
        <p:txBody>
          <a:bodyPr wrap="square" anchor="t" lIns="0" rIns="0" tIns="0" bIns="0"/>
          <a:lstStyle/>
          <a:p>
            <a:pPr algn="l"/>
            <a:r>
              <a:rPr sz="1800" b="0" i="0">
                <a:solidFill>
                  <a:srgbClr val="54595D"/>
                </a:solidFill>
                <a:latin typeface="Calibri"/>
              </a:rPr>
              <a:t>What is zero trust?</a:t>
            </a:r>
          </a:p>
          <a:p>
            <a:r>
              <a:rPr sz="1800" b="1">
                <a:solidFill>
                  <a:srgbClr val="03306E"/>
                </a:solidFill>
                <a:latin typeface="Calibri"/>
              </a:rPr>
              <a:t>Never trusting any user or device by default, even inside the network.</a:t>
            </a:r>
          </a:p>
        </p:txBody>
      </p:sp>
      <p:sp>
        <p:nvSpPr>
          <p:cNvPr id="10" name="Oval 9"/>
          <p:cNvSpPr/>
          <p:nvPr/>
        </p:nvSpPr>
        <p:spPr>
          <a:xfrm>
            <a:off x="548640" y="3531412"/>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1" name="TextBox 10"/>
          <p:cNvSpPr txBox="1"/>
          <p:nvPr/>
        </p:nvSpPr>
        <p:spPr>
          <a:xfrm>
            <a:off x="1234440" y="3513124"/>
            <a:ext cx="10408615" cy="791870"/>
          </a:xfrm>
          <a:prstGeom prst="rect">
            <a:avLst/>
          </a:prstGeom>
          <a:noFill/>
        </p:spPr>
        <p:txBody>
          <a:bodyPr wrap="square" anchor="t" lIns="0" rIns="0" tIns="0" bIns="0"/>
          <a:lstStyle/>
          <a:p>
            <a:pPr algn="l"/>
            <a:r>
              <a:rPr sz="1800" b="0" i="0">
                <a:solidFill>
                  <a:srgbClr val="54595D"/>
                </a:solidFill>
                <a:latin typeface="Calibri"/>
              </a:rPr>
              <a:t>Where would you look for configuration evidence on a Windows PC?</a:t>
            </a:r>
          </a:p>
          <a:p>
            <a:r>
              <a:rPr sz="1800" b="1">
                <a:solidFill>
                  <a:srgbClr val="03306E"/>
                </a:solidFill>
                <a:latin typeface="Calibri"/>
              </a:rPr>
              <a:t>The registry.</a:t>
            </a:r>
          </a:p>
        </p:txBody>
      </p:sp>
      <p:sp>
        <p:nvSpPr>
          <p:cNvPr id="12" name="Oval 11"/>
          <p:cNvSpPr/>
          <p:nvPr/>
        </p:nvSpPr>
        <p:spPr>
          <a:xfrm>
            <a:off x="548640" y="4487875"/>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3" name="TextBox 12"/>
          <p:cNvSpPr txBox="1"/>
          <p:nvPr/>
        </p:nvSpPr>
        <p:spPr>
          <a:xfrm>
            <a:off x="1234440" y="4469587"/>
            <a:ext cx="10408615" cy="791870"/>
          </a:xfrm>
          <a:prstGeom prst="rect">
            <a:avLst/>
          </a:prstGeom>
          <a:noFill/>
        </p:spPr>
        <p:txBody>
          <a:bodyPr wrap="square" anchor="t" lIns="0" rIns="0" tIns="0" bIns="0"/>
          <a:lstStyle/>
          <a:p>
            <a:pPr algn="l"/>
            <a:r>
              <a:rPr sz="1800" b="0" i="0">
                <a:solidFill>
                  <a:srgbClr val="54595D"/>
                </a:solidFill>
                <a:latin typeface="Calibri"/>
              </a:rPr>
              <a:t>What is a container?</a:t>
            </a:r>
          </a:p>
          <a:p>
            <a:r>
              <a:rPr sz="1800" b="1">
                <a:solidFill>
                  <a:srgbClr val="03306E"/>
                </a:solidFill>
                <a:latin typeface="Calibri"/>
              </a:rPr>
              <a:t>An isolated, portable package holding only what an application needs to run.</a:t>
            </a:r>
          </a:p>
        </p:txBody>
      </p:sp>
      <p:sp>
        <p:nvSpPr>
          <p:cNvPr id="14" name="Oval 13"/>
          <p:cNvSpPr/>
          <p:nvPr/>
        </p:nvSpPr>
        <p:spPr>
          <a:xfrm>
            <a:off x="548640" y="5444337"/>
            <a:ext cx="411480" cy="41148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5" name="TextBox 14"/>
          <p:cNvSpPr txBox="1"/>
          <p:nvPr/>
        </p:nvSpPr>
        <p:spPr>
          <a:xfrm>
            <a:off x="1234440" y="5426049"/>
            <a:ext cx="10408615" cy="791870"/>
          </a:xfrm>
          <a:prstGeom prst="rect">
            <a:avLst/>
          </a:prstGeom>
          <a:noFill/>
        </p:spPr>
        <p:txBody>
          <a:bodyPr wrap="square" anchor="t" lIns="0" rIns="0" tIns="0" bIns="0"/>
          <a:lstStyle/>
          <a:p>
            <a:pPr algn="l"/>
            <a:r>
              <a:rPr sz="1800" b="0" i="0">
                <a:solidFill>
                  <a:srgbClr val="54595D"/>
                </a:solidFill>
                <a:latin typeface="Calibri"/>
              </a:rPr>
              <a:t>Define defence in depth.</a:t>
            </a:r>
          </a:p>
          <a:p>
            <a:r>
              <a:rPr sz="1800" b="1">
                <a:solidFill>
                  <a:srgbClr val="03306E"/>
                </a:solidFill>
                <a:latin typeface="Calibri"/>
              </a:rPr>
              <a:t>Layered security so a single failure does not compromise the whole system.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Layer up</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Support and Security T Level  ·  Secure Design and Layered Protection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16</a:t>
            </a:r>
          </a:p>
        </p:txBody>
      </p:sp>
      <p:sp>
        <p:nvSpPr>
          <p:cNvPr id="6" name="Rounded Rectangle 5"/>
          <p:cNvSpPr/>
          <p:nvPr/>
        </p:nvSpPr>
        <p:spPr>
          <a:xfrm>
            <a:off x="548640" y="1508760"/>
            <a:ext cx="2011680" cy="457200"/>
          </a:xfrm>
          <a:prstGeom prst="roundRect">
            <a:avLst>
              <a:gd name="adj" fmla="val 50000"/>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FFFFFF"/>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Draw a simple network for a GP surgery: reception PCs, a server, Wi-Fi and cloud records.</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Add at least one protection at each of the five layers.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Mark where logs would be collected.</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Explain how an attacker who phishes a receptionist would be stopped or detected.</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All five layers protected</a:t>
            </a:r>
          </a:p>
          <a:p>
            <a:pPr marL="274320" indent="-274320">
              <a:spcAft>
                <a:spcPts val="810"/>
              </a:spcAft>
              <a:buClr>
                <a:srgbClr val="0645AD"/>
              </a:buClr>
              <a:buFont typeface="Arial"/>
              <a:buChar char="•"/>
            </a:pPr>
            <a:r>
              <a:rPr sz="1800" b="0">
                <a:solidFill>
                  <a:srgbClr val="202122"/>
                </a:solidFill>
                <a:latin typeface="Calibri"/>
              </a:rPr>
              <a:t>Logging separate from operational systems</a:t>
            </a:r>
          </a:p>
          <a:p>
            <a:pPr marL="274320" indent="-274320">
              <a:spcAft>
                <a:spcPts val="810"/>
              </a:spcAft>
              <a:buClr>
                <a:srgbClr val="0645AD"/>
              </a:buClr>
              <a:buFont typeface="Arial"/>
              <a:buChar char="•"/>
            </a:pPr>
            <a:r>
              <a:rPr sz="1800" b="0">
                <a:solidFill>
                  <a:srgbClr val="202122"/>
                </a:solidFill>
                <a:latin typeface="Calibri"/>
              </a:rPr>
              <a:t>Attack path clearly explained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CYBER SECURITY  ·  Cyber Security Content Area 1</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Which secure design aim does network segmentation support?</a:t>
            </a:r>
          </a:p>
        </p:txBody>
      </p:sp>
      <p:sp>
        <p:nvSpPr>
          <p:cNvPr id="6" name="Oval 5"/>
          <p:cNvSpPr/>
          <p:nvPr/>
        </p:nvSpPr>
        <p:spPr>
          <a:xfrm>
            <a:off x="548640" y="269748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Name one file system and the OS that uses it.</a:t>
            </a:r>
          </a:p>
        </p:txBody>
      </p:sp>
      <p:sp>
        <p:nvSpPr>
          <p:cNvPr id="8" name="Oval 7"/>
          <p:cNvSpPr/>
          <p:nvPr/>
        </p:nvSpPr>
        <p:spPr>
          <a:xfrm>
            <a:off x="548640" y="3657600"/>
            <a:ext cx="502920" cy="502920"/>
          </a:xfrm>
          <a:prstGeom prst="ellipse">
            <a:avLst/>
          </a:prstGeom>
          <a:solidFill>
            <a:srgbClr val="E046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Why keep monitoring systems separate from operational ones?</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Cyber Security - Security Procedures and Controls</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https://lana6478.github.io/Digital-Suport-and-security-T-levle/#/02-occupational-specialisms/cyber-security/01-security-procedures-and-controls.md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Secure Design and Layered Protection</dc:title>
  <dc:subject>Digital Support and Security T Level: Cyber Security Content Area 1</dc:subject>
  <dc:creator>Samuel O'Connell</dc:creator>
  <cp:keywords>T Level; Digital Support and Security; lesson slides; 1.3, 1.4, 1.5, 1.6, 1.23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