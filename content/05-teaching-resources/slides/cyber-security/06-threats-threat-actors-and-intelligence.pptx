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Phishing is mass; spear phishing targets a specific person.</a:t>
            </a:r>
          </a:p>
          <a:p>
            <a:r>
              <a:t>2. Social engineering by phone call.</a:t>
            </a:r>
          </a:p>
          <a:p>
            <a:r>
              <a:t>3. Any two: spoofed address, poor writing, urgency, unexpected attachments.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malware is spotted through scan reports, slower devices or unusual behaviour.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Malware disguised as legitimate software.</a:t>
            </a:r>
          </a:p>
          <a:p>
            <a:r>
              <a:t>2. E.g. DDoS attacks, controlled by an attacker.</a:t>
            </a:r>
          </a:p>
          <a:p>
            <a:r>
              <a:t>3. E.g. slow performance, unusual behaviour, scan alerts.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intelligence gathers information to analyse and prioritise threats: finding unknown threats, revealing motivations and supporting fast mitigation decisions.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Financial gain.</a:t>
            </a:r>
          </a:p>
          <a:p>
            <a:r>
              <a:t>2. Current or former staff misusing their access.</a:t>
            </a:r>
          </a:p>
          <a:p>
            <a:r>
              <a:t>3. It reveals threats and motives so defences can be prioritised.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essential systems a country depends on, e.g. energy, water, healthcare.</a:t>
            </a:r>
          </a:p>
          <a:p>
            <a:r>
              <a:t>2. Disrupting it causes widespread harm.</a:t>
            </a:r>
          </a:p>
          <a:p>
            <a:r>
              <a:t>3. E.g. compromised patient records, delayed treatment.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E0463A"/>
                </a:solidFill>
                <a:latin typeface="Calibri"/>
              </a:rPr>
              <a:t>CYBER SECURITY</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Threats, Threat Actors and Threat Intelligence</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Cyber Security Content Areas 2 and 3</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2.2, 2.3, 3.8</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1900" b="0" i="0">
                <a:solidFill>
                  <a:srgbClr val="202122"/>
                </a:solidFill>
                <a:latin typeface="Calibri"/>
              </a:rPr>
              <a:t>Recognise social engineering, denial of service, malware and password attacks and their indicators.</a:t>
            </a:r>
          </a:p>
        </p:txBody>
      </p:sp>
      <p:sp>
        <p:nvSpPr>
          <p:cNvPr id="9" name="Oval 8"/>
          <p:cNvSpPr/>
          <p:nvPr/>
        </p:nvSpPr>
        <p:spPr>
          <a:xfrm>
            <a:off x="548640" y="327469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threat actors and their motivations.</a:t>
            </a:r>
          </a:p>
        </p:txBody>
      </p:sp>
      <p:sp>
        <p:nvSpPr>
          <p:cNvPr id="11" name="Oval 10"/>
          <p:cNvSpPr/>
          <p:nvPr/>
        </p:nvSpPr>
        <p:spPr>
          <a:xfrm>
            <a:off x="548640" y="431482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Explain the value of threat intelligence.</a:t>
            </a:r>
          </a:p>
        </p:txBody>
      </p:sp>
      <p:sp>
        <p:nvSpPr>
          <p:cNvPr id="13" name="Oval 12"/>
          <p:cNvSpPr/>
          <p:nvPr/>
        </p:nvSpPr>
        <p:spPr>
          <a:xfrm>
            <a:off x="548640" y="5354954"/>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Describe cyber security impacts on critical national infrastructure.</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Who do you think is most likely to attack a school's network: a nation state, a criminal gang or a student?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Social engineering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Social engineering attacks people rather than technology.</a:t>
            </a:r>
          </a:p>
          <a:p>
            <a:pPr>
              <a:spcAft>
                <a:spcPts val="1200"/>
              </a:spcAft>
            </a:pPr>
            <a:r>
              <a:rPr sz="2000" b="0">
                <a:solidFill>
                  <a:srgbClr val="202122"/>
                </a:solidFill>
                <a:latin typeface="Calibri"/>
              </a:rPr>
              <a:t>Phishing sends mass fraudulent messages. Warning signs: spoofed or misspelt addresses, poor writing, unexpected attachments and urgency. Spear phishing targets one person using personal details, so it's harder to spot.</a:t>
            </a:r>
          </a:p>
          <a:p>
            <a:pPr>
              <a:spcAft>
                <a:spcPts val="1200"/>
              </a:spcAft>
            </a:pPr>
            <a:r>
              <a:rPr sz="2000" b="0">
                <a:solidFill>
                  <a:srgbClr val="202122"/>
                </a:solidFill>
                <a:latin typeface="Calibri"/>
              </a:rPr>
              <a:t>Vishing uses phone calls, often impersonating HMRC or a bank. Smishing uses texts with suspicious links.</a:t>
            </a:r>
          </a:p>
          <a:p>
            <a:pPr>
              <a:spcAft>
                <a:spcPts val="1200"/>
              </a:spcAft>
            </a:pPr>
            <a:r>
              <a:rPr sz="2000" b="0">
                <a:solidFill>
                  <a:srgbClr val="202122"/>
                </a:solidFill>
                <a:latin typeface="Calibri"/>
              </a:rPr>
              <a:t>Shoulder surfing is watching someone type a password. Dumpster diving is searching bins for information. The defence is awareness training, a culture of checking, and MFA.</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email 'from the CEO' asks finance to urgently pay a new supplier. A quick phone call to the CEO's known number exposes the spear phishing attempt.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Social engineering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graphicFrame>
        <p:nvGraphicFramePr>
          <p:cNvPr id="6" name="Table 5"/>
          <p:cNvGraphicFramePr>
            <a:graphicFrameLocks noGrp="1"/>
          </p:cNvGraphicFramePr>
          <p:nvPr/>
        </p:nvGraphicFramePr>
        <p:xfrm>
          <a:off x="548640" y="1600200"/>
          <a:ext cx="11094414" cy="4526277"/>
        </p:xfrm>
        <a:graphic>
          <a:graphicData uri="http://schemas.openxmlformats.org/drawingml/2006/table">
            <a:tbl>
              <a:tblPr firstRow="1" bandRow="1">
                <a:tableStyleId>{5C22544A-7EE6-4342-B048-85BDC9FD1C3A}</a:tableStyleId>
              </a:tblPr>
              <a:tblGrid>
                <a:gridCol w="2322086"/>
                <a:gridCol w="4386164"/>
                <a:gridCol w="4386164"/>
              </a:tblGrid>
              <a:tr h="646611">
                <a:tc>
                  <a:txBody>
                    <a:bodyPr wrap="square"/>
                    <a:lstStyle/>
                    <a:p>
                      <a:r>
                        <a:rPr sz="1600" b="1">
                          <a:solidFill>
                            <a:srgbClr val="FFFFFF"/>
                          </a:solidFill>
                          <a:latin typeface="Calibri"/>
                        </a:rPr>
                        <a:t>Attack</a:t>
                      </a:r>
                    </a:p>
                  </a:txBody>
                  <a:tcPr marL="91440" marR="91440" anchor="ctr">
                    <a:solidFill>
                      <a:srgbClr val="03306E"/>
                    </a:solidFill>
                  </a:tcPr>
                </a:tc>
                <a:tc>
                  <a:txBody>
                    <a:bodyPr wrap="square"/>
                    <a:lstStyle/>
                    <a:p>
                      <a:r>
                        <a:rPr sz="1600" b="1">
                          <a:solidFill>
                            <a:srgbClr val="FFFFFF"/>
                          </a:solidFill>
                          <a:latin typeface="Calibri"/>
                        </a:rPr>
                        <a:t>How it works</a:t>
                      </a:r>
                    </a:p>
                  </a:txBody>
                  <a:tcPr marL="91440" marR="91440" anchor="ctr">
                    <a:solidFill>
                      <a:srgbClr val="03306E"/>
                    </a:solidFill>
                  </a:tcPr>
                </a:tc>
                <a:tc>
                  <a:txBody>
                    <a:bodyPr wrap="square"/>
                    <a:lstStyle/>
                    <a:p>
                      <a:r>
                        <a:rPr sz="1600" b="1">
                          <a:solidFill>
                            <a:srgbClr val="FFFFFF"/>
                          </a:solidFill>
                          <a:latin typeface="Calibri"/>
                        </a:rPr>
                        <a:t>Warning signs</a:t>
                      </a:r>
                    </a:p>
                  </a:txBody>
                  <a:tcPr marL="91440" marR="91440" anchor="ctr">
                    <a:solidFill>
                      <a:srgbClr val="03306E"/>
                    </a:solidFill>
                  </a:tcPr>
                </a:tc>
              </a:tr>
              <a:tr h="646611">
                <a:tc>
                  <a:txBody>
                    <a:bodyPr wrap="square"/>
                    <a:lstStyle/>
                    <a:p>
                      <a:r>
                        <a:rPr sz="1600" b="1">
                          <a:solidFill>
                            <a:srgbClr val="03306E"/>
                          </a:solidFill>
                          <a:latin typeface="Calibri"/>
                        </a:rPr>
                        <a:t>Phishing</a:t>
                      </a:r>
                    </a:p>
                  </a:txBody>
                  <a:tcPr marL="91440" marR="91440" anchor="ctr">
                    <a:solidFill>
                      <a:srgbClr val="FFFFFF"/>
                    </a:solidFill>
                  </a:tcPr>
                </a:tc>
                <a:tc>
                  <a:txBody>
                    <a:bodyPr wrap="square"/>
                    <a:lstStyle/>
                    <a:p>
                      <a:r>
                        <a:rPr sz="1600" b="0">
                          <a:solidFill>
                            <a:srgbClr val="202122"/>
                          </a:solidFill>
                          <a:latin typeface="Calibri"/>
                        </a:rPr>
                        <a:t>Mass fraudulent messages</a:t>
                      </a:r>
                    </a:p>
                  </a:txBody>
                  <a:tcPr marL="91440" marR="91440" anchor="ctr">
                    <a:solidFill>
                      <a:srgbClr val="FFFFFF"/>
                    </a:solidFill>
                  </a:tcPr>
                </a:tc>
                <a:tc>
                  <a:txBody>
                    <a:bodyPr wrap="square"/>
                    <a:lstStyle/>
                    <a:p>
                      <a:r>
                        <a:rPr sz="1600" b="0">
                          <a:solidFill>
                            <a:srgbClr val="202122"/>
                          </a:solidFill>
                          <a:latin typeface="Calibri"/>
                        </a:rPr>
                        <a:t>Spoofed domains, poor writing, urgency, attachments</a:t>
                      </a:r>
                    </a:p>
                  </a:txBody>
                  <a:tcPr marL="91440" marR="91440" anchor="ctr">
                    <a:solidFill>
                      <a:srgbClr val="FFFFFF"/>
                    </a:solidFill>
                  </a:tcPr>
                </a:tc>
              </a:tr>
              <a:tr h="646611">
                <a:tc>
                  <a:txBody>
                    <a:bodyPr wrap="square"/>
                    <a:lstStyle/>
                    <a:p>
                      <a:r>
                        <a:rPr sz="1600" b="1">
                          <a:solidFill>
                            <a:srgbClr val="03306E"/>
                          </a:solidFill>
                          <a:latin typeface="Calibri"/>
                        </a:rPr>
                        <a:t>Spear phishing</a:t>
                      </a:r>
                    </a:p>
                  </a:txBody>
                  <a:tcPr marL="91440" marR="91440" anchor="ctr">
                    <a:solidFill>
                      <a:srgbClr val="EAF3FF"/>
                    </a:solidFill>
                  </a:tcPr>
                </a:tc>
                <a:tc>
                  <a:txBody>
                    <a:bodyPr wrap="square"/>
                    <a:lstStyle/>
                    <a:p>
                      <a:r>
                        <a:rPr sz="1600" b="0">
                          <a:solidFill>
                            <a:srgbClr val="202122"/>
                          </a:solidFill>
                          <a:latin typeface="Calibri"/>
                        </a:rPr>
                        <a:t>Targeted at one person</a:t>
                      </a:r>
                    </a:p>
                  </a:txBody>
                  <a:tcPr marL="91440" marR="91440" anchor="ctr">
                    <a:solidFill>
                      <a:srgbClr val="EAF3FF"/>
                    </a:solidFill>
                  </a:tcPr>
                </a:tc>
                <a:tc>
                  <a:txBody>
                    <a:bodyPr wrap="square"/>
                    <a:lstStyle/>
                    <a:p>
                      <a:r>
                        <a:rPr sz="1600" b="0">
                          <a:solidFill>
                            <a:srgbClr val="202122"/>
                          </a:solidFill>
                          <a:latin typeface="Calibri"/>
                        </a:rPr>
                        <a:t>Personal details used to build trust</a:t>
                      </a:r>
                    </a:p>
                  </a:txBody>
                  <a:tcPr marL="91440" marR="91440" anchor="ctr">
                    <a:solidFill>
                      <a:srgbClr val="EAF3FF"/>
                    </a:solidFill>
                  </a:tcPr>
                </a:tc>
              </a:tr>
              <a:tr h="646611">
                <a:tc>
                  <a:txBody>
                    <a:bodyPr wrap="square"/>
                    <a:lstStyle/>
                    <a:p>
                      <a:r>
                        <a:rPr sz="1600" b="1">
                          <a:solidFill>
                            <a:srgbClr val="03306E"/>
                          </a:solidFill>
                          <a:latin typeface="Calibri"/>
                        </a:rPr>
                        <a:t>Vishing</a:t>
                      </a:r>
                    </a:p>
                  </a:txBody>
                  <a:tcPr marL="91440" marR="91440" anchor="ctr">
                    <a:solidFill>
                      <a:srgbClr val="FFFFFF"/>
                    </a:solidFill>
                  </a:tcPr>
                </a:tc>
                <a:tc>
                  <a:txBody>
                    <a:bodyPr wrap="square"/>
                    <a:lstStyle/>
                    <a:p>
                      <a:r>
                        <a:rPr sz="1600" b="0">
                          <a:solidFill>
                            <a:srgbClr val="202122"/>
                          </a:solidFill>
                          <a:latin typeface="Calibri"/>
                        </a:rPr>
                        <a:t>Fraudulent phone calls</a:t>
                      </a:r>
                    </a:p>
                  </a:txBody>
                  <a:tcPr marL="91440" marR="91440" anchor="ctr">
                    <a:solidFill>
                      <a:srgbClr val="FFFFFF"/>
                    </a:solidFill>
                  </a:tcPr>
                </a:tc>
                <a:tc>
                  <a:txBody>
                    <a:bodyPr wrap="square"/>
                    <a:lstStyle/>
                    <a:p>
                      <a:r>
                        <a:rPr sz="1600" b="0">
                          <a:solidFill>
                            <a:srgbClr val="202122"/>
                          </a:solidFill>
                          <a:latin typeface="Calibri"/>
                        </a:rPr>
                        <a:t>Pressure; claims to be HMRC or the bank</a:t>
                      </a:r>
                    </a:p>
                  </a:txBody>
                  <a:tcPr marL="91440" marR="91440" anchor="ctr">
                    <a:solidFill>
                      <a:srgbClr val="FFFFFF"/>
                    </a:solidFill>
                  </a:tcPr>
                </a:tc>
              </a:tr>
              <a:tr h="646611">
                <a:tc>
                  <a:txBody>
                    <a:bodyPr wrap="square"/>
                    <a:lstStyle/>
                    <a:p>
                      <a:r>
                        <a:rPr sz="1600" b="1">
                          <a:solidFill>
                            <a:srgbClr val="03306E"/>
                          </a:solidFill>
                          <a:latin typeface="Calibri"/>
                        </a:rPr>
                        <a:t>Smishing</a:t>
                      </a:r>
                    </a:p>
                  </a:txBody>
                  <a:tcPr marL="91440" marR="91440" anchor="ctr">
                    <a:solidFill>
                      <a:srgbClr val="EAF3FF"/>
                    </a:solidFill>
                  </a:tcPr>
                </a:tc>
                <a:tc>
                  <a:txBody>
                    <a:bodyPr wrap="square"/>
                    <a:lstStyle/>
                    <a:p>
                      <a:r>
                        <a:rPr sz="1600" b="0">
                          <a:solidFill>
                            <a:srgbClr val="202122"/>
                          </a:solidFill>
                          <a:latin typeface="Calibri"/>
                        </a:rPr>
                        <a:t>Fraudulent texts</a:t>
                      </a:r>
                    </a:p>
                  </a:txBody>
                  <a:tcPr marL="91440" marR="91440" anchor="ctr">
                    <a:solidFill>
                      <a:srgbClr val="EAF3FF"/>
                    </a:solidFill>
                  </a:tcPr>
                </a:tc>
                <a:tc>
                  <a:txBody>
                    <a:bodyPr wrap="square"/>
                    <a:lstStyle/>
                    <a:p>
                      <a:r>
                        <a:rPr sz="1600" b="0">
                          <a:solidFill>
                            <a:srgbClr val="202122"/>
                          </a:solidFill>
                          <a:latin typeface="Calibri"/>
                        </a:rPr>
                        <a:t>Suspicious links</a:t>
                      </a:r>
                    </a:p>
                  </a:txBody>
                  <a:tcPr marL="91440" marR="91440" anchor="ctr">
                    <a:solidFill>
                      <a:srgbClr val="EAF3FF"/>
                    </a:solidFill>
                  </a:tcPr>
                </a:tc>
              </a:tr>
              <a:tr h="646611">
                <a:tc>
                  <a:txBody>
                    <a:bodyPr wrap="square"/>
                    <a:lstStyle/>
                    <a:p>
                      <a:r>
                        <a:rPr sz="1600" b="1">
                          <a:solidFill>
                            <a:srgbClr val="03306E"/>
                          </a:solidFill>
                          <a:latin typeface="Calibri"/>
                        </a:rPr>
                        <a:t>Shoulder surfing</a:t>
                      </a:r>
                    </a:p>
                  </a:txBody>
                  <a:tcPr marL="91440" marR="91440" anchor="ctr">
                    <a:solidFill>
                      <a:srgbClr val="FFFFFF"/>
                    </a:solidFill>
                  </a:tcPr>
                </a:tc>
                <a:tc>
                  <a:txBody>
                    <a:bodyPr wrap="square"/>
                    <a:lstStyle/>
                    <a:p>
                      <a:r>
                        <a:rPr sz="1600" b="0">
                          <a:solidFill>
                            <a:srgbClr val="202122"/>
                          </a:solidFill>
                          <a:latin typeface="Calibri"/>
                        </a:rPr>
                        <a:t>Watching someone type credentials</a:t>
                      </a:r>
                    </a:p>
                  </a:txBody>
                  <a:tcPr marL="91440" marR="91440" anchor="ctr">
                    <a:solidFill>
                      <a:srgbClr val="FFFFFF"/>
                    </a:solidFill>
                  </a:tcPr>
                </a:tc>
                <a:tc>
                  <a:txBody>
                    <a:bodyPr wrap="square"/>
                    <a:lstStyle/>
                    <a:p>
                      <a:r>
                        <a:rPr sz="1600" b="0">
                          <a:solidFill>
                            <a:srgbClr val="202122"/>
                          </a:solidFill>
                          <a:latin typeface="Calibri"/>
                        </a:rPr>
                        <a:t>Someone standing too close</a:t>
                      </a:r>
                    </a:p>
                  </a:txBody>
                  <a:tcPr marL="91440" marR="91440" anchor="ctr">
                    <a:solidFill>
                      <a:srgbClr val="FFFFFF"/>
                    </a:solidFill>
                  </a:tcPr>
                </a:tc>
              </a:tr>
              <a:tr h="646611">
                <a:tc>
                  <a:txBody>
                    <a:bodyPr wrap="square"/>
                    <a:lstStyle/>
                    <a:p>
                      <a:r>
                        <a:rPr sz="1600" b="1">
                          <a:solidFill>
                            <a:srgbClr val="03306E"/>
                          </a:solidFill>
                          <a:latin typeface="Calibri"/>
                        </a:rPr>
                        <a:t>Dumpster diving</a:t>
                      </a:r>
                    </a:p>
                  </a:txBody>
                  <a:tcPr marL="91440" marR="91440" anchor="ctr">
                    <a:solidFill>
                      <a:srgbClr val="EAF3FF"/>
                    </a:solidFill>
                  </a:tcPr>
                </a:tc>
                <a:tc>
                  <a:txBody>
                    <a:bodyPr wrap="square"/>
                    <a:lstStyle/>
                    <a:p>
                      <a:r>
                        <a:rPr sz="1600" b="0">
                          <a:solidFill>
                            <a:srgbClr val="202122"/>
                          </a:solidFill>
                          <a:latin typeface="Calibri"/>
                        </a:rPr>
                        <a:t>Searching discarded paperwork</a:t>
                      </a:r>
                    </a:p>
                  </a:txBody>
                  <a:tcPr marL="91440" marR="91440" anchor="ctr">
                    <a:solidFill>
                      <a:srgbClr val="EAF3FF"/>
                    </a:solidFill>
                  </a:tcPr>
                </a:tc>
                <a:tc>
                  <a:txBody>
                    <a:bodyPr wrap="square"/>
                    <a:lstStyle/>
                    <a:p>
                      <a:r>
                        <a:rPr sz="1600" b="0">
                          <a:solidFill>
                            <a:srgbClr val="202122"/>
                          </a:solidFill>
                          <a:latin typeface="Calibri"/>
                        </a:rPr>
                        <a:t>Unshredded documents in bins</a:t>
                      </a:r>
                    </a:p>
                  </a:txBody>
                  <a:tcPr marL="91440" marR="91440" anchor="ctr">
                    <a:solidFill>
                      <a:srgbClr val="EAF3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Social engineering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phishing and spear phishing?</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vishing?</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two warning signs of phishing.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Malware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Malware is software designed to cause harm.</a:t>
            </a:r>
          </a:p>
          <a:p>
            <a:pPr>
              <a:spcAft>
                <a:spcPts val="1320"/>
              </a:spcAft>
            </a:pPr>
            <a:r>
              <a:rPr sz="2200" b="0">
                <a:solidFill>
                  <a:srgbClr val="202122"/>
                </a:solidFill>
                <a:latin typeface="Calibri"/>
              </a:rPr>
              <a:t>A virus spreads and damages data or software. Adware shows unwanted ads and changes browser settings. Ransomware blocks, deletes or encrypts data until a ransom is paid. A trojan disguises itself as legitimate software. A botnet is a network of infected devices controlled by an attacker, often used for DDoS attacks. Spyware hides and steals data.</a:t>
            </a:r>
          </a:p>
          <a:p>
            <a:pPr>
              <a:spcAft>
                <a:spcPts val="1320"/>
              </a:spcAft>
            </a:pPr>
            <a:r>
              <a:rPr sz="2200" b="0">
                <a:solidFill>
                  <a:srgbClr val="202122"/>
                </a:solidFill>
                <a:latin typeface="Calibri"/>
              </a:rPr>
              <a:t>Most malware is spotted through anti-malware scan reports, devices slowing down, or unusual behaviour such as unexpected network traffic.</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free 'PDF converter' (trojan) installs a keylogger (spyware) that captures banking passwords.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Malware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Virus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Spreads and damages data or software.</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Adware</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Unwanted ads, browser changes, slow performance.</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Ransomware</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Blocks, deletes or encrypts data for payment.</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Trojan</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Disguised as legitimate software.</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Botnet</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Network of compromised devices under attacker control.</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Spyware</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Hides and steals sensitive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Malware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trojan?</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 botnet used for?</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one sign of malware infection.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Other attacks and how to spot them</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3354125"/>
                <a:gridCol w="7740289"/>
              </a:tblGrid>
              <a:tr h="905256">
                <a:tc>
                  <a:txBody>
                    <a:bodyPr wrap="square"/>
                    <a:lstStyle/>
                    <a:p>
                      <a:r>
                        <a:rPr sz="1600" b="1">
                          <a:solidFill>
                            <a:srgbClr val="FFFFFF"/>
                          </a:solidFill>
                          <a:latin typeface="Calibri"/>
                        </a:rPr>
                        <a:t>Attack</a:t>
                      </a:r>
                    </a:p>
                  </a:txBody>
                  <a:tcPr marL="91440" marR="91440" anchor="ctr">
                    <a:solidFill>
                      <a:srgbClr val="03306E"/>
                    </a:solidFill>
                  </a:tcPr>
                </a:tc>
                <a:tc>
                  <a:txBody>
                    <a:bodyPr wrap="square"/>
                    <a:lstStyle/>
                    <a:p>
                      <a:r>
                        <a:rPr sz="1600" b="1">
                          <a:solidFill>
                            <a:srgbClr val="FFFFFF"/>
                          </a:solidFill>
                          <a:latin typeface="Calibri"/>
                        </a:rPr>
                        <a:t>Indicators</a:t>
                      </a:r>
                    </a:p>
                  </a:txBody>
                  <a:tcPr marL="91440" marR="91440" anchor="ctr">
                    <a:solidFill>
                      <a:srgbClr val="03306E"/>
                    </a:solidFill>
                  </a:tcPr>
                </a:tc>
              </a:tr>
              <a:tr h="905256">
                <a:tc>
                  <a:txBody>
                    <a:bodyPr wrap="square"/>
                    <a:lstStyle/>
                    <a:p>
                      <a:r>
                        <a:rPr sz="1600" b="1">
                          <a:solidFill>
                            <a:srgbClr val="03306E"/>
                          </a:solidFill>
                          <a:latin typeface="Calibri"/>
                        </a:rPr>
                        <a:t>DoS / DDoS</a:t>
                      </a:r>
                    </a:p>
                  </a:txBody>
                  <a:tcPr marL="91440" marR="91440" anchor="ctr">
                    <a:solidFill>
                      <a:srgbClr val="FFFFFF"/>
                    </a:solidFill>
                  </a:tcPr>
                </a:tc>
                <a:tc>
                  <a:txBody>
                    <a:bodyPr wrap="square"/>
                    <a:lstStyle/>
                    <a:p>
                      <a:r>
                        <a:rPr sz="1600" b="0">
                          <a:solidFill>
                            <a:srgbClr val="202122"/>
                          </a:solidFill>
                          <a:latin typeface="Calibri"/>
                        </a:rPr>
                        <a:t>Degraded performance, traffic spikes, repeated requests from one source, outages</a:t>
                      </a:r>
                    </a:p>
                  </a:txBody>
                  <a:tcPr marL="91440" marR="91440" anchor="ctr">
                    <a:solidFill>
                      <a:srgbClr val="FFFFFF"/>
                    </a:solidFill>
                  </a:tcPr>
                </a:tc>
              </a:tr>
              <a:tr h="905256">
                <a:tc>
                  <a:txBody>
                    <a:bodyPr wrap="square"/>
                    <a:lstStyle/>
                    <a:p>
                      <a:r>
                        <a:rPr sz="1600" b="1">
                          <a:solidFill>
                            <a:srgbClr val="03306E"/>
                          </a:solidFill>
                          <a:latin typeface="Calibri"/>
                        </a:rPr>
                        <a:t>Zero-day</a:t>
                      </a:r>
                    </a:p>
                  </a:txBody>
                  <a:tcPr marL="91440" marR="91440" anchor="ctr">
                    <a:solidFill>
                      <a:srgbClr val="EAF3FF"/>
                    </a:solidFill>
                  </a:tcPr>
                </a:tc>
                <a:tc>
                  <a:txBody>
                    <a:bodyPr wrap="square"/>
                    <a:lstStyle/>
                    <a:p>
                      <a:r>
                        <a:rPr sz="1600" b="0">
                          <a:solidFill>
                            <a:srgbClr val="202122"/>
                          </a:solidFill>
                          <a:latin typeface="Calibri"/>
                        </a:rPr>
                        <a:t>Vendor statistics, unusual scanning, ML-based monitoring, odd interaction patterns</a:t>
                      </a:r>
                    </a:p>
                  </a:txBody>
                  <a:tcPr marL="91440" marR="91440" anchor="ctr">
                    <a:solidFill>
                      <a:srgbClr val="EAF3FF"/>
                    </a:solidFill>
                  </a:tcPr>
                </a:tc>
              </a:tr>
              <a:tr h="905256">
                <a:tc>
                  <a:txBody>
                    <a:bodyPr wrap="square"/>
                    <a:lstStyle/>
                    <a:p>
                      <a:r>
                        <a:rPr sz="1600" b="1">
                          <a:solidFill>
                            <a:srgbClr val="03306E"/>
                          </a:solidFill>
                          <a:latin typeface="Calibri"/>
                        </a:rPr>
                        <a:t>Brute force / dictionary</a:t>
                      </a:r>
                    </a:p>
                  </a:txBody>
                  <a:tcPr marL="91440" marR="91440" anchor="ctr">
                    <a:solidFill>
                      <a:srgbClr val="FFFFFF"/>
                    </a:solidFill>
                  </a:tcPr>
                </a:tc>
                <a:tc>
                  <a:txBody>
                    <a:bodyPr wrap="square"/>
                    <a:lstStyle/>
                    <a:p>
                      <a:r>
                        <a:rPr sz="1600" b="0">
                          <a:solidFill>
                            <a:srgbClr val="202122"/>
                          </a:solidFill>
                          <a:latin typeface="Calibri"/>
                        </a:rPr>
                        <a:t>More network activity, repeated failed logins from one IP</a:t>
                      </a:r>
                    </a:p>
                  </a:txBody>
                  <a:tcPr marL="91440" marR="91440" anchor="ctr">
                    <a:solidFill>
                      <a:srgbClr val="FFFFFF"/>
                    </a:solidFill>
                  </a:tcPr>
                </a:tc>
              </a:tr>
              <a:tr h="905256">
                <a:tc>
                  <a:txBody>
                    <a:bodyPr wrap="square"/>
                    <a:lstStyle/>
                    <a:p>
                      <a:r>
                        <a:rPr sz="1600" b="1">
                          <a:solidFill>
                            <a:srgbClr val="03306E"/>
                          </a:solidFill>
                          <a:latin typeface="Calibri"/>
                        </a:rPr>
                        <a:t>Man in the middle</a:t>
                      </a:r>
                    </a:p>
                  </a:txBody>
                  <a:tcPr marL="91440" marR="91440" anchor="ctr">
                    <a:solidFill>
                      <a:srgbClr val="EAF3FF"/>
                    </a:solidFill>
                  </a:tcPr>
                </a:tc>
                <a:tc>
                  <a:txBody>
                    <a:bodyPr wrap="square"/>
                    <a:lstStyle/>
                    <a:p>
                      <a:r>
                        <a:rPr sz="1600" b="0">
                          <a:solidFill>
                            <a:srgbClr val="202122"/>
                          </a:solidFill>
                          <a:latin typeface="Calibri"/>
                        </a:rPr>
                        <a:t>Browser security warnings, repeated unexpected disconnections</a:t>
                      </a:r>
                    </a:p>
                  </a:txBody>
                  <a:tcPr marL="91440" marR="91440" anchor="ctr">
                    <a:solidFill>
                      <a:srgbClr val="EAF3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Threat actors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Threat actors have different motives, which shape how they attack.</a:t>
            </a:r>
          </a:p>
          <a:p>
            <a:pPr>
              <a:spcAft>
                <a:spcPts val="1200"/>
              </a:spcAft>
            </a:pPr>
            <a:r>
              <a:rPr sz="2000" b="0">
                <a:solidFill>
                  <a:srgbClr val="202122"/>
                </a:solidFill>
                <a:latin typeface="Calibri"/>
              </a:rPr>
              <a:t>Cyber criminals want money, using ransomware, phishing and malware. Insiders are current or former staff who misuse access out of revenge or for gain. Nation states seek political or military advantage, stealing data or damaging infrastructure. Terrorist groups want disruption for their cause. Hacktivists attack to expose what they see as wrongdoing. Script kiddies are inexperienced attackers using others' tools.</a:t>
            </a:r>
          </a:p>
          <a:p>
            <a:pPr>
              <a:spcAft>
                <a:spcPts val="1200"/>
              </a:spcAft>
            </a:pPr>
            <a:r>
              <a:rPr sz="2000" b="0">
                <a:solidFill>
                  <a:srgbClr val="202122"/>
                </a:solidFill>
                <a:latin typeface="Calibri"/>
              </a:rPr>
              <a:t>Threat intelligence gathers information about actors and their methods, helping organisations prioritise defences and respond faster.</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school is most likely to face criminals (ransomware) and insiders (students or staff), not nation states.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Threat actors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Cyber criminals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Financial gain through ransomware, social engineering and malware.</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Insiders</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Current or former staff misusing access for revenge or gain.</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Nation states</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Political gain: stealing data, damaging infrastructure.</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Terrorists</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Disruption for a cause.</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Hacktivists</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Exposing perceived wrongdoing.</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Script kiddies</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Inexperienced attackers looking for a challenge.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Threat actors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motivates cyber criminals?</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an insider threat?</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does threat intelligence help?</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Critical national infrastructure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Critical national infrastructure (CNI) is the systems a country depends on, which makes it a prime target for nation states and terrorists.</a:t>
            </a:r>
          </a:p>
          <a:p>
            <a:pPr>
              <a:spcAft>
                <a:spcPts val="1320"/>
              </a:spcAft>
            </a:pPr>
            <a:r>
              <a:rPr sz="2200" b="0">
                <a:solidFill>
                  <a:srgbClr val="202122"/>
                </a:solidFill>
                <a:latin typeface="Calibri"/>
              </a:rPr>
              <a:t>Attacks on energy can cause power cuts and surges; on water, loss of supply or treatment; on finance, failed payments; on healthcare, compromised records and delayed treatment; on communications, loss of service and eavesdropping; on transport, disrupted travel and emergency dispatch; on government and defence, weakened decision-making and capability. Supply chains for food and raw materials can also be hit.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In 2017 the WannaCry ransomware disrupted parts of the NHS, cancelling thousands of appointments: a real example of a CNI impact.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Critical national infrastructure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Energy and water</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Power cuts, surges, loss of gas or water supply, flooding.</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Finance</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Failed payments and interrupted transfers.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Healthcare</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Compromised patient records, disrupted treatment.</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Communications</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Service loss, eavesdropping, impersonation.</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600" b="1" i="0">
                <a:solidFill>
                  <a:srgbClr val="03306E"/>
                </a:solidFill>
                <a:latin typeface="Calibri"/>
              </a:rPr>
              <a:t>Government and defence</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Interrupted policy and reduced defence capability.</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800" b="1" i="0">
                <a:solidFill>
                  <a:srgbClr val="03306E"/>
                </a:solidFill>
                <a:latin typeface="Calibri"/>
              </a:rPr>
              <a:t>Transport and supply</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Disrupted travel, emergency dispatch, food and raw materials.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Critical national infrastructure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CNI?</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is CNI a target for nation states?</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one impact of an attack on healthcare.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What is the difference between vishing and smishing?</a:t>
            </a:r>
          </a:p>
        </p:txBody>
      </p:sp>
      <p:sp>
        <p:nvSpPr>
          <p:cNvPr id="8" name="Oval 7"/>
          <p:cNvSpPr/>
          <p:nvPr/>
        </p:nvSpPr>
        <p:spPr>
          <a:xfrm>
            <a:off x="548640" y="2574950"/>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Which malware disguises itself as legitimate software?</a:t>
            </a:r>
          </a:p>
        </p:txBody>
      </p:sp>
      <p:sp>
        <p:nvSpPr>
          <p:cNvPr id="10" name="Oval 9"/>
          <p:cNvSpPr/>
          <p:nvPr/>
        </p:nvSpPr>
        <p:spPr>
          <a:xfrm>
            <a:off x="548640" y="3531412"/>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Give one sign of a brute force attack.</a:t>
            </a:r>
          </a:p>
        </p:txBody>
      </p:sp>
      <p:sp>
        <p:nvSpPr>
          <p:cNvPr id="12" name="Oval 11"/>
          <p:cNvSpPr/>
          <p:nvPr/>
        </p:nvSpPr>
        <p:spPr>
          <a:xfrm>
            <a:off x="548640" y="4487875"/>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Which threat actor misuses authorised access?</a:t>
            </a:r>
          </a:p>
        </p:txBody>
      </p:sp>
      <p:sp>
        <p:nvSpPr>
          <p:cNvPr id="14" name="Oval 13"/>
          <p:cNvSpPr/>
          <p:nvPr/>
        </p:nvSpPr>
        <p:spPr>
          <a:xfrm>
            <a:off x="548640" y="5444337"/>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Give one impact of an attack on healthcare infrastructure.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What is the difference between vishing and smishing?</a:t>
            </a:r>
          </a:p>
          <a:p>
            <a:r>
              <a:rPr sz="1800" b="1">
                <a:solidFill>
                  <a:srgbClr val="03306E"/>
                </a:solidFill>
                <a:latin typeface="Calibri"/>
              </a:rPr>
              <a:t>Vishing is by phone call; smishing is by text message.</a:t>
            </a:r>
          </a:p>
        </p:txBody>
      </p:sp>
      <p:sp>
        <p:nvSpPr>
          <p:cNvPr id="8" name="Oval 7"/>
          <p:cNvSpPr/>
          <p:nvPr/>
        </p:nvSpPr>
        <p:spPr>
          <a:xfrm>
            <a:off x="548640" y="2574950"/>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Which malware disguises itself as legitimate software?</a:t>
            </a:r>
          </a:p>
          <a:p>
            <a:r>
              <a:rPr sz="1800" b="1">
                <a:solidFill>
                  <a:srgbClr val="03306E"/>
                </a:solidFill>
                <a:latin typeface="Calibri"/>
              </a:rPr>
              <a:t>A trojan.</a:t>
            </a:r>
          </a:p>
        </p:txBody>
      </p:sp>
      <p:sp>
        <p:nvSpPr>
          <p:cNvPr id="10" name="Oval 9"/>
          <p:cNvSpPr/>
          <p:nvPr/>
        </p:nvSpPr>
        <p:spPr>
          <a:xfrm>
            <a:off x="548640" y="3531412"/>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Give one sign of a brute force attack.</a:t>
            </a:r>
          </a:p>
          <a:p>
            <a:r>
              <a:rPr sz="1800" b="1">
                <a:solidFill>
                  <a:srgbClr val="03306E"/>
                </a:solidFill>
                <a:latin typeface="Calibri"/>
              </a:rPr>
              <a:t>Repeated failed logins from one IP address.</a:t>
            </a:r>
          </a:p>
        </p:txBody>
      </p:sp>
      <p:sp>
        <p:nvSpPr>
          <p:cNvPr id="12" name="Oval 11"/>
          <p:cNvSpPr/>
          <p:nvPr/>
        </p:nvSpPr>
        <p:spPr>
          <a:xfrm>
            <a:off x="548640" y="4487875"/>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Which threat actor misuses authorised access?</a:t>
            </a:r>
          </a:p>
          <a:p>
            <a:r>
              <a:rPr sz="1800" b="1">
                <a:solidFill>
                  <a:srgbClr val="03306E"/>
                </a:solidFill>
                <a:latin typeface="Calibri"/>
              </a:rPr>
              <a:t>An insider.</a:t>
            </a:r>
          </a:p>
        </p:txBody>
      </p:sp>
      <p:sp>
        <p:nvSpPr>
          <p:cNvPr id="14" name="Oval 13"/>
          <p:cNvSpPr/>
          <p:nvPr/>
        </p:nvSpPr>
        <p:spPr>
          <a:xfrm>
            <a:off x="548640" y="5444337"/>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Give one impact of an attack on healthcare infrastructure.</a:t>
            </a:r>
          </a:p>
          <a:p>
            <a:r>
              <a:rPr sz="1800" b="1">
                <a:solidFill>
                  <a:srgbClr val="03306E"/>
                </a:solidFill>
                <a:latin typeface="Calibri"/>
              </a:rPr>
              <a:t>Compromised patient records or disrupted treatment.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Threat profile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Threats, Threat Actors and Threat Intelligence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Rounded Rectangle 5"/>
          <p:cNvSpPr/>
          <p:nvPr/>
        </p:nvSpPr>
        <p:spPr>
          <a:xfrm>
            <a:off x="548640" y="1508760"/>
            <a:ext cx="2011680" cy="457200"/>
          </a:xfrm>
          <a:prstGeom prst="roundRect">
            <a:avLst>
              <a:gd name="adj" fmla="val 50000"/>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FFFFFF"/>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Choose an organisation: a hospital, a football club, or an online retailer.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Identify the three most likely threat actors and their motives.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For each actor, name the attack they would most likely use and its indicators.</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Rank the threats by likelihood and severity.</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Motives match the organisation</a:t>
            </a:r>
          </a:p>
          <a:p>
            <a:pPr marL="274320" indent="-274320">
              <a:spcAft>
                <a:spcPts val="810"/>
              </a:spcAft>
              <a:buClr>
                <a:srgbClr val="0645AD"/>
              </a:buClr>
              <a:buFont typeface="Arial"/>
              <a:buChar char="•"/>
            </a:pPr>
            <a:r>
              <a:rPr sz="1800" b="0">
                <a:solidFill>
                  <a:srgbClr val="202122"/>
                </a:solidFill>
                <a:latin typeface="Calibri"/>
              </a:rPr>
              <a:t>Indicators are specific</a:t>
            </a:r>
          </a:p>
          <a:p>
            <a:pPr marL="274320" indent="-274320">
              <a:spcAft>
                <a:spcPts val="810"/>
              </a:spcAft>
              <a:buClr>
                <a:srgbClr val="0645AD"/>
              </a:buClr>
              <a:buFont typeface="Arial"/>
              <a:buChar char="•"/>
            </a:pPr>
            <a:r>
              <a:rPr sz="1800" b="0">
                <a:solidFill>
                  <a:srgbClr val="202122"/>
                </a:solidFill>
                <a:latin typeface="Calibri"/>
              </a:rPr>
              <a:t>Ranking is justified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CYBER SECURITY  ·  Cyber Security Content Areas 2 and 3</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threat actor worries you most for a small business, and why?</a:t>
            </a:r>
          </a:p>
        </p:txBody>
      </p:sp>
      <p:sp>
        <p:nvSpPr>
          <p:cNvPr id="6" name="Oval 5"/>
          <p:cNvSpPr/>
          <p:nvPr/>
        </p:nvSpPr>
        <p:spPr>
          <a:xfrm>
            <a:off x="548640" y="26974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a zero-day attack?</a:t>
            </a:r>
          </a:p>
        </p:txBody>
      </p:sp>
      <p:sp>
        <p:nvSpPr>
          <p:cNvPr id="8" name="Oval 7"/>
          <p:cNvSpPr/>
          <p:nvPr/>
        </p:nvSpPr>
        <p:spPr>
          <a:xfrm>
            <a:off x="548640" y="365760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How does threat intelligence help defenders?</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Cyber Security - Propose Remediation Advice for a Security Risk Assessment</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https://lana6478.github.io/Digital-Suport-and-security-T-levle/#/02-occupational-specialisms/cyber-security/02-remediation-and-risk-assessment.md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Threats, Threat Actors and Threat Intelligence</dc:title>
  <dc:subject>Digital Support and Security T Level: Cyber Security Content Areas 2 and 3</dc:subject>
  <dc:creator>Samuel O'Connell</dc:creator>
  <cp:keywords>T Level; Digital Support and Security; lesson slides; 2.2, 2.3, 3.8</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