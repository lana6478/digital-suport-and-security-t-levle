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Critical systems: look for single points of failure and mission essential functions. Threat factors: environmental, manmade internal and manmade external.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E0463A"/>
                </a:solidFill>
                <a:latin typeface="Calibri"/>
              </a:rPr>
              <a:t>CYBER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Risk Analysis and Risk Response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Cyber Security Content Area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2.7, 2.10, 2.12 to 2.16, 2.18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Risk Analysis and Risk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the impacts of an exploited vulnerability and types of organisational risk.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Use RTO, RPO, MTBF, MTTD and MTTR to assess impact.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Carry out qualitative and quantitative threat analysis, including ALE.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Conduct a security risk assessment and choose a risk response.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A laptop worth 1,000 pounds is stolen twice a year. How much should the company spend each year to prevent it?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Impacts of an exploited vulnerability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Risk Analysis and Risk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600" b="1" i="0">
                <a:solidFill>
                  <a:srgbClr val="03306E"/>
                </a:solidFill>
                <a:latin typeface="Calibri"/>
              </a:rPr>
              <a:t>Property and resources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Damage to equipment and systems.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Financial loss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Direct costs and lost business.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Reputation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Loss of customer trust.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1" i="0">
                <a:solidFill>
                  <a:srgbClr val="03306E"/>
                </a:solidFill>
                <a:latin typeface="Calibri"/>
              </a:rPr>
              <a:t>Fines and prosecution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e.g. an ICO fine after a data breach.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6818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1178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Operations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Disrupted services.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7796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56396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0756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People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6396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Physical or psychological harm; identity theft.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Organisational risk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Risk Analysis and Risk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3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/>
                <a:gridCol w="3782186"/>
                <a:gridCol w="4538624"/>
              </a:tblGrid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Risk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Managed through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Compliance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Not following policy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Monitoring, compliance controls, exception reports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Safety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Harm to people, property or environment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Checks for human error, maintenance audits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Information security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Data lost, stolen or compromised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Access control, traffic monitoring, device management, training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Measures of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Risk Analysis and Risk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RTO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Time to recover to an acceptable state.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RPO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Tolerable amount of data loss.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MTBF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How often an asset is likely to fail.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MTTD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Mean Time To Detect: how efficient detection is.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6818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1178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MTTR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Mean Time To Repair a failed system.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Qualitative and quantitative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Risk Analysis and Risk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Qualitative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RAG rating of business risk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Fault tree analysis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FMECA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CRAMM:</a:t>
            </a:r>
            <a:r>
              <a:rPr sz="2200" b="0">
                <a:solidFill>
                  <a:srgbClr val="202122"/>
                </a:solidFill>
                <a:latin typeface="Calibri"/>
              </a:rPr>
              <a:t> scope, evaluate, recommend countermeasures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FAIR:</a:t>
            </a:r>
            <a:r>
              <a:rPr sz="2200" b="0">
                <a:solidFill>
                  <a:srgbClr val="202122"/>
                </a:solidFill>
                <a:latin typeface="Calibri"/>
              </a:rPr>
              <a:t> Factor Analysis of Information Risk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Quantitative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Cost overrun and resource use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SLE x ARO = ALE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Starter example:</a:t>
            </a:r>
            <a:r>
              <a:rPr sz="2200" b="0">
                <a:solidFill>
                  <a:srgbClr val="202122"/>
                </a:solidFill>
                <a:latin typeface="Calibri"/>
              </a:rPr>
              <a:t> 1,000 x 2 = 2,000 pounds a year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CVSS scores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Conducting a security risk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Risk Analysis and Risk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1416024" y="2717292"/>
            <a:ext cx="9359646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095984" y="241554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9278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Identify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70020"/>
            <a:ext cx="1734769" cy="1386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4107180"/>
            <a:ext cx="1460449" cy="1112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Find potential risks.</a:t>
            </a:r>
          </a:p>
        </p:txBody>
      </p:sp>
      <p:sp>
        <p:nvSpPr>
          <p:cNvPr id="11" name="Oval 10"/>
          <p:cNvSpPr/>
          <p:nvPr/>
        </p:nvSpPr>
        <p:spPr>
          <a:xfrm>
            <a:off x="2967913" y="241554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0569" y="319278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Score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20569" y="3970020"/>
            <a:ext cx="1734769" cy="1386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557729" y="4107180"/>
            <a:ext cx="1460449" cy="1112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Likelihood x severity = risk score and RAG rating.</a:t>
            </a:r>
          </a:p>
        </p:txBody>
      </p:sp>
      <p:sp>
        <p:nvSpPr>
          <p:cNvPr id="15" name="Oval 14"/>
          <p:cNvSpPr/>
          <p:nvPr/>
        </p:nvSpPr>
        <p:spPr>
          <a:xfrm>
            <a:off x="4839843" y="241554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2498" y="319278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Weigh up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2498" y="3970020"/>
            <a:ext cx="1734769" cy="1386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429658" y="4107180"/>
            <a:ext cx="1460449" cy="1112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Asset value against mitigation cost.</a:t>
            </a:r>
          </a:p>
        </p:txBody>
      </p:sp>
      <p:sp>
        <p:nvSpPr>
          <p:cNvPr id="19" name="Oval 18"/>
          <p:cNvSpPr/>
          <p:nvPr/>
        </p:nvSpPr>
        <p:spPr>
          <a:xfrm>
            <a:off x="6711772" y="241554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4427" y="319278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Control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4427" y="3970020"/>
            <a:ext cx="1734769" cy="1386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301587" y="4107180"/>
            <a:ext cx="1460449" cy="1112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A proportionate response.</a:t>
            </a:r>
          </a:p>
        </p:txBody>
      </p:sp>
      <p:sp>
        <p:nvSpPr>
          <p:cNvPr id="23" name="Oval 22"/>
          <p:cNvSpPr/>
          <p:nvPr/>
        </p:nvSpPr>
        <p:spPr>
          <a:xfrm>
            <a:off x="8583701" y="241554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36356" y="319278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Record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36356" y="3970020"/>
            <a:ext cx="1734769" cy="1386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173516" y="4107180"/>
            <a:ext cx="1460449" cy="1112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Document the findings.</a:t>
            </a:r>
          </a:p>
        </p:txBody>
      </p:sp>
      <p:sp>
        <p:nvSpPr>
          <p:cNvPr id="27" name="Oval 26"/>
          <p:cNvSpPr/>
          <p:nvPr/>
        </p:nvSpPr>
        <p:spPr>
          <a:xfrm>
            <a:off x="10455630" y="241554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08286" y="319278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Review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08286" y="3970020"/>
            <a:ext cx="1734769" cy="1386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045446" y="4107180"/>
            <a:ext cx="1460449" cy="1112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Test controls regularly and audit suppliers.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Risk responses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Risk Analysis and Risk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Accept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No further mitigation available, or residual risk remains.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Transfer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Pass the risk to another party, e.g. insurance.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Avoid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Change the project or system scope.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Mitigate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Reduce severity or likelihood with controls.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Risk Analysis and Risk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the formula for ALE?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does MTTD measure?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a single point of failure?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risk type covers not following policy?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Buying insurance is which risk response?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Risk Analysis and Risk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10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the formula for ALE?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SLE x ARO = ALE.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does MTTD measure?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How quickly threats are detected, on average.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a single point of failure?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 component whose failure would stop the whole system.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risk type covers not following policy?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Compliance risk.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Buying insurance is which risk response?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Transfer.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Risk assess a LAN device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Risk Analysis and Risk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Choose a device: a network printer, a wireless access point or a file server.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Identify five risks and score each for likelihood and severity.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Calculate the ALE for one risk using realistic figures.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Choose a response for each risk and explain how you would review 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Scores lead to RAG ratings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ALE calculation is correct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Responses are proportionate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If SLE is 5,000 and ARO is 0.5, what is the ALE?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When is accepting a risk sensible?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is a mission essential function?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Cyber Security - Propose Remediation Advice for a Security Risk Assessment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https://lana6478.github.io/Digital-Suport-and-security-T-levle/#/02-occupational-specialisms/cyber-security/02-remediation-and-risk-assessment.md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Risk Analysis and Risk Response</dc:title>
  <dc:subject>Digital Support and Security T Level: Cyber Security Content Area 2</dc:subject>
  <dc:creator>Samuel O'Connell</dc:creator>
  <cp:keywords>T Level; Digital Support and Security; lesson slides; 2.7, 2.10, 2.12 to 2.16, 2.18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