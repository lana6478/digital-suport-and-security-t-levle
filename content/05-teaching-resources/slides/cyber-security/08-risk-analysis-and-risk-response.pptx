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 systems: look for single points of failure and mission essential functions. Threat factors: environmental, manmade internal and manmade external.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The average time to detect a threat.</a:t>
            </a:r>
          </a:p>
          <a:p>
            <a:r>
              <a:t>2. RPO.</a:t>
            </a:r>
          </a:p>
          <a:p>
            <a:r>
              <a:t>3. Less time for attackers to cause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SLE x ARO.</a:t>
            </a:r>
          </a:p>
          <a:p>
            <a:r>
              <a:t>2. E.g. RAG rating, fault tree analysis, FMECA, CRAMM, FAIR.</a:t>
            </a:r>
          </a:p>
          <a:p>
            <a:r>
              <a:t>3. If the control costs less than the ALE it saves, it's worth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Likelihood x severity.</a:t>
            </a:r>
          </a:p>
          <a:p>
            <a:r>
              <a:t>2. So the response is proportionate.</a:t>
            </a:r>
          </a:p>
          <a:p>
            <a:r>
              <a:t>3. They can be a route in for attackers.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The risk that remains after controls are applied.</a:t>
            </a:r>
          </a:p>
          <a:p>
            <a:r>
              <a:t>2. Transfer.</a:t>
            </a:r>
          </a:p>
          <a:p>
            <a:r>
              <a:t>3. Avoid.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CYBER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Risk Analysis and Risk Response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Cyber Security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2.7, 2.10, 2.12 to 2.16, 2.18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impacts of an exploited vulnerability and types of organisational risk.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Use RTO, RPO, MTBF, MTTD and MTTR to assess impact.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Carry out qualitative and quantitative threat analysis, including ALE.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Conduct a security risk assessment and choose a risk response.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laptop worth 1,000 pounds is stolen twice a year. How much should the company spend each year to prevent it?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Impacts of an exploited vulnerability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Property and resources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Damage to equipment and systems.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Financial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Direct costs and lost business.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Reputation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Loss of customer trust.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1" i="0">
                <a:solidFill>
                  <a:srgbClr val="03306E"/>
                </a:solidFill>
                <a:latin typeface="Calibri"/>
              </a:rPr>
              <a:t>Fines and prosecution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e.g. an ICO fine after a data breach.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Operations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Disrupted services.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People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Physical or psychological harm; identity theft.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Organisational risk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3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3782186"/>
                <a:gridCol w="4538624"/>
              </a:tblGrid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Managed through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Not following policy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Monitoring, compliance controls, exception reports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Safety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Harm to people, property or environment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Checks for human error, maintenance audits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Information security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Data lost, stolen or compromised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Access control, traffic monitoring, device management, training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Measures of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Five time-based measures describe a threat's impact.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202122"/>
                </a:solidFill>
                <a:latin typeface="Calibri"/>
              </a:rPr>
              <a:t>RTO (Recovery Time Objective):</a:t>
            </a:r>
            <a:r>
              <a:rPr sz="2000" b="0">
                <a:solidFill>
                  <a:srgbClr val="202122"/>
                </a:solidFill>
                <a:latin typeface="Calibri"/>
              </a:rPr>
              <a:t> how quickly a system must be back to an acceptable state.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202122"/>
                </a:solidFill>
                <a:latin typeface="Calibri"/>
              </a:rPr>
              <a:t>RPO (Recovery Point Objective):</a:t>
            </a:r>
            <a:r>
              <a:rPr sz="2000" b="0">
                <a:solidFill>
                  <a:srgbClr val="202122"/>
                </a:solidFill>
                <a:latin typeface="Calibri"/>
              </a:rPr>
              <a:t> how much data loss is tolerable, which sets backup frequency.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202122"/>
                </a:solidFill>
                <a:latin typeface="Calibri"/>
              </a:rPr>
              <a:t>MTBF (Mean Time Between Failures):</a:t>
            </a:r>
            <a:r>
              <a:rPr sz="2000" b="0">
                <a:solidFill>
                  <a:srgbClr val="202122"/>
                </a:solidFill>
                <a:latin typeface="Calibri"/>
              </a:rPr>
              <a:t> how often an asset is likely to fail.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202122"/>
                </a:solidFill>
                <a:latin typeface="Calibri"/>
              </a:rPr>
              <a:t>MTTD (Mean Time To Detect):</a:t>
            </a:r>
            <a:r>
              <a:rPr sz="2000" b="0">
                <a:solidFill>
                  <a:srgbClr val="202122"/>
                </a:solidFill>
                <a:latin typeface="Calibri"/>
              </a:rPr>
              <a:t> how long, on average, before a threat is noticed. Attackers can do a lot of damage while undetected, so a lower MTTD is better.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202122"/>
                </a:solidFill>
                <a:latin typeface="Calibri"/>
              </a:rPr>
              <a:t>MTTR (Mean Time To Repair):</a:t>
            </a:r>
            <a:r>
              <a:rPr sz="2000" b="0">
                <a:solidFill>
                  <a:srgbClr val="202122"/>
                </a:solidFill>
                <a:latin typeface="Calibri"/>
              </a:rPr>
              <a:t> how long, on average, to restore a failed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If an attacker sits unnoticed for 200 days (MTTD), they have months to steal data. Better monitoring cuts that to hours.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Measures of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Time to recover to an acceptable state.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Tolerable amount of data loss.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MTBF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How often an asset is likely to fail.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MTTD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Mean Time To Detect: how efficient detection 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MTTR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Mean Time To Repair a failed system.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Measures of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MTTD measure?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measure sets backup frequency?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is a low MTTD important?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Qualitative and quantitative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Qualitative analysis describes risk in words, such as a RAG (red, amber, green) rating. It's quick and easy to communicate. Tools include fault tree analysis, FMECA, CRAMM (scope, evaluate, recommend countermeasures) and FAIR.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Quantitative analysis uses numbers. Single Loss Expectancy (SLE) is the cost of one incident. Annual Rate of Occurrence (ARO) is how many times a year it's expected. SLE multiplied by ARO gives Annual Loss Expectancy (ALE), the expected yearly cost. CVSS scores are also quantitative.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Comparing ALE with the cost of a control shows whether the control is worth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laptop theft costs 1,200 pounds (SLE) and happens twice a year (ARO). ALE = 2,400 pounds, so spending 600 pounds a year on locks and tracking is justified.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Qualitative and quantitative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Qualitative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RAG rating of business risk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Fault tree analysis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FMECA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CRAMM:</a:t>
            </a:r>
            <a:r>
              <a:rPr sz="2200" b="0">
                <a:solidFill>
                  <a:srgbClr val="202122"/>
                </a:solidFill>
                <a:latin typeface="Calibri"/>
              </a:rPr>
              <a:t> scope, evaluate, recommend countermeasures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FAIR:</a:t>
            </a:r>
            <a:r>
              <a:rPr sz="2200" b="0">
                <a:solidFill>
                  <a:srgbClr val="202122"/>
                </a:solidFill>
                <a:latin typeface="Calibri"/>
              </a:rPr>
              <a:t> Factor Analysis of Information Risk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Quantitative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Cost overrun and resource use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SLE x ARO = ALE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Starter example:</a:t>
            </a:r>
            <a:r>
              <a:rPr sz="2200" b="0">
                <a:solidFill>
                  <a:srgbClr val="202122"/>
                </a:solidFill>
                <a:latin typeface="Calibri"/>
              </a:rPr>
              <a:t> 1,000 x 2 = 2,000 pounds a year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CVSS scores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Qualitative and quantitative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the formula for ALE?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Give one qualitative tool.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How does ALE help decide on a control?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Conducting a security risk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A security risk assessment follows six steps.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Identify potential risks to the asset. Score each with a matrix: likelihood multiplied by severity gives a risk score and RAG rating. Weigh the value of the asset against the cost of mitigation. Control the risk with a proportionate response. Record the findings clearly. Review and test the controls regularly.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Regular internal and external audits keep assessments current and should include third-party suppliers, who can be a route in for attackers.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network printer stores scanned documents. Risks: default admin password, unencrypted storage. Controls: change the password, enable encryption, put it on a separate VLAN.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Conducting a security risk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6024" y="2717292"/>
            <a:ext cx="9359646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5984" y="24155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Identify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Find potential risks.</a:t>
            </a:r>
          </a:p>
        </p:txBody>
      </p:sp>
      <p:sp>
        <p:nvSpPr>
          <p:cNvPr id="11" name="Oval 10"/>
          <p:cNvSpPr/>
          <p:nvPr/>
        </p:nvSpPr>
        <p:spPr>
          <a:xfrm>
            <a:off x="2967913" y="24155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0569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0569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57729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Likelihood x severity = risk score and RAG rating.</a:t>
            </a:r>
          </a:p>
        </p:txBody>
      </p:sp>
      <p:sp>
        <p:nvSpPr>
          <p:cNvPr id="15" name="Oval 14"/>
          <p:cNvSpPr/>
          <p:nvPr/>
        </p:nvSpPr>
        <p:spPr>
          <a:xfrm>
            <a:off x="4839843" y="24155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2498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Weigh 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2498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29658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Asset value against mitigation cost.</a:t>
            </a:r>
          </a:p>
        </p:txBody>
      </p:sp>
      <p:sp>
        <p:nvSpPr>
          <p:cNvPr id="19" name="Oval 18"/>
          <p:cNvSpPr/>
          <p:nvPr/>
        </p:nvSpPr>
        <p:spPr>
          <a:xfrm>
            <a:off x="6711772" y="24155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4427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4427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01587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A proportionate response.</a:t>
            </a:r>
          </a:p>
        </p:txBody>
      </p:sp>
      <p:sp>
        <p:nvSpPr>
          <p:cNvPr id="23" name="Oval 22"/>
          <p:cNvSpPr/>
          <p:nvPr/>
        </p:nvSpPr>
        <p:spPr>
          <a:xfrm>
            <a:off x="8583701" y="24155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6356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6356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73516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Document the findings.</a:t>
            </a:r>
          </a:p>
        </p:txBody>
      </p:sp>
      <p:sp>
        <p:nvSpPr>
          <p:cNvPr id="27" name="Oval 26"/>
          <p:cNvSpPr/>
          <p:nvPr/>
        </p:nvSpPr>
        <p:spPr>
          <a:xfrm>
            <a:off x="10455630" y="24155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8286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Review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08286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45446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Test controls regularly and audit suppliers.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Conducting a security risk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How is a risk score calculated?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weigh asset value against mitigation cost?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include suppliers in audits?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Risk responses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There are four ways to respond to a risk.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202122"/>
                </a:solidFill>
                <a:latin typeface="Calibri"/>
              </a:rPr>
              <a:t>Accept:</a:t>
            </a:r>
            <a:r>
              <a:rPr sz="2000" b="0">
                <a:solidFill>
                  <a:srgbClr val="202122"/>
                </a:solidFill>
                <a:latin typeface="Calibri"/>
              </a:rPr>
              <a:t> no further mitigation is possible or worthwhile, or some residual risk remains after controls. The risk is documented and monitored.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202122"/>
                </a:solidFill>
                <a:latin typeface="Calibri"/>
              </a:rPr>
              <a:t>Transfer:</a:t>
            </a:r>
            <a:r>
              <a:rPr sz="2000" b="0">
                <a:solidFill>
                  <a:srgbClr val="202122"/>
                </a:solidFill>
                <a:latin typeface="Calibri"/>
              </a:rPr>
              <a:t> pass the financial risk to another party, such as an insurer or a managed service provider.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202122"/>
                </a:solidFill>
                <a:latin typeface="Calibri"/>
              </a:rPr>
              <a:t>Avoid:</a:t>
            </a:r>
            <a:r>
              <a:rPr sz="2000" b="0">
                <a:solidFill>
                  <a:srgbClr val="202122"/>
                </a:solidFill>
                <a:latin typeface="Calibri"/>
              </a:rPr>
              <a:t> change the project or system so the risk disappears.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202122"/>
                </a:solidFill>
                <a:latin typeface="Calibri"/>
              </a:rPr>
              <a:t>Mitigate:</a:t>
            </a:r>
            <a:r>
              <a:rPr sz="2000" b="0">
                <a:solidFill>
                  <a:srgbClr val="202122"/>
                </a:solidFill>
                <a:latin typeface="Calibri"/>
              </a:rPr>
              <a:t> reduce the likelihood or severity with controls.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Most risks are mitigated first, and whatever residual risk remains is accepted or transferred.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An organisation mitigates ransomware with backups and MFA, transfers the remaining cost with insurance, and accepts the small residual risk.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Risk responses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Accept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No further mitigation available, or residual risk remains.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Transfer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Pass the risk to another party, e.g. insurance.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Avoid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Change the project or system scope.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Mitigate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Reduce severity or likelihood with controls.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Risk responses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residual risk?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Outsourcing email security to a specialist is which response?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response changes the project so the risk disappears?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formula for ALE?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MTTD measure?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single point of failure?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risk type covers not following policy?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Buying insurance is which risk response?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formula for ALE?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SLE x ARO = ALE.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MTTD measure?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How quickly threats are detected, on average.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single point of failure?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component whose failure would stop the whole system.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risk type covers not following policy?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Compliance risk.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Buying insurance is which risk response?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Transfer.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Risk assess a LAN device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a device: a network printer, a wireless access point or a file server.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Identify five risks and score each for likelihood and severity.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Calculate the ALE for one risk using realistic figures.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a response for each risk and explain how you would review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Scores lead to RAG ratings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ALE calculation is correct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Responses are proportionate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If SLE is 5,000 and ARO is 0.5, what is the ALE?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When is accepting a risk sensible?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a mission essential function?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Cyber Security - Propose Remediation Advice for a Security Risk Assessment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https://lana6478.github.io/Digital-Suport-and-security-T-levle/#/02-occupational-specialisms/cyber-security/02-remediation-and-risk-assessment.md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 Analysis and Risk Response</dc:title>
  <dc:subject>Digital Support and Security T Level: Cyber Security Content Area 2</dc:subject>
  <dc:creator>Samuel O'Connell</dc:creator>
  <cp:keywords>T Level; Digital Support and Security; lesson slides; 2.7, 2.10, 2.12 to 2.16, 2.18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