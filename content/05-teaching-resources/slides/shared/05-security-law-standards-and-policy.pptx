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changes should go through a change procedure: approved, documented and periodically audited. Students must explain the security impact of not following each policy.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Using personal devices for work.</a:t>
            </a:r>
          </a:p>
          <a:p>
            <a:r>
              <a:t>2. Reporting injuries, diseases and dangerous occurrences.</a:t>
            </a:r>
          </a:p>
          <a:p>
            <a:r>
              <a:t>3. So changes are approved, documented and audited.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Any three: fair/lawful/transparent, specified purpose, minimised, accurate, not kept too long, secure.</a:t>
            </a:r>
          </a:p>
          <a:p>
            <a:r>
              <a:t>2. Any two: informed, access, rectify, erase, restrict, portability, object.</a:t>
            </a:r>
          </a:p>
          <a:p>
            <a:r>
              <a:t>3. Unauthorised access; access with intent to commit further offences; unauthorised acts that impair a computer.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certifiable information security management standard.</a:t>
            </a:r>
          </a:p>
          <a:p>
            <a:r>
              <a:t>2. PCI DSS.</a:t>
            </a:r>
          </a:p>
          <a:p>
            <a:r>
              <a:t>3. The NCSC.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E.g. legal compliance, protecting data, defending against cybercrime.</a:t>
            </a:r>
          </a:p>
          <a:p>
            <a:r>
              <a:t>2. E.g. privacy, preventing identity theft and prejudice.</a:t>
            </a:r>
          </a:p>
          <a:p>
            <a:r>
              <a:t>3. The Data Protection Act 2018.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4EA1FF"/>
                </a:solidFill>
                <a:latin typeface="Calibri"/>
              </a:rPr>
              <a:t>OCCUPATIONAL SPECIALISMS</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Security Law, Standards and Policy</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Specialism Content Area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Policies, legislation, standards and the importance of cyber security (1.23 to 1.31)</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Explain the purpose of organisational digital use and health and safety policies.</a:t>
            </a:r>
          </a:p>
        </p:txBody>
      </p:sp>
      <p:sp>
        <p:nvSpPr>
          <p:cNvPr id="9" name="Oval 8"/>
          <p:cNvSpPr/>
          <p:nvPr/>
        </p:nvSpPr>
        <p:spPr>
          <a:xfrm>
            <a:off x="548640" y="327469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Describe UK GDPR, the Data Protection Act 2018 and the Computer Misuse Act.</a:t>
            </a:r>
          </a:p>
        </p:txBody>
      </p:sp>
      <p:sp>
        <p:nvSpPr>
          <p:cNvPr id="11" name="Oval 10"/>
          <p:cNvSpPr/>
          <p:nvPr/>
        </p:nvSpPr>
        <p:spPr>
          <a:xfrm>
            <a:off x="548640" y="431482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Describe ISO 27001, PCI DSS, NCSC 10 Steps and OWASP.</a:t>
            </a:r>
          </a:p>
        </p:txBody>
      </p:sp>
      <p:sp>
        <p:nvSpPr>
          <p:cNvPr id="13" name="Oval 12"/>
          <p:cNvSpPr/>
          <p:nvPr/>
        </p:nvSpPr>
        <p:spPr>
          <a:xfrm>
            <a:off x="548640" y="5354954"/>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why cyber security matters to organisations and society.</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company lets staff work from home on their own laptops. What rules would you want in 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Policies that reduce risk</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Policies turn good security into everyday rules.</a:t>
            </a:r>
          </a:p>
          <a:p>
            <a:pPr>
              <a:spcAft>
                <a:spcPts val="1260"/>
              </a:spcAft>
            </a:pPr>
            <a:r>
              <a:rPr sz="2100" b="0">
                <a:solidFill>
                  <a:srgbClr val="202122"/>
                </a:solidFill>
                <a:latin typeface="Calibri"/>
              </a:rPr>
              <a:t>A digital use policy covers network and internet use and monitoring, bring your own device (BYOD), working from home (including a DSE assessment), password renewal and keeping software updated.</a:t>
            </a:r>
          </a:p>
          <a:p>
            <a:pPr>
              <a:spcAft>
                <a:spcPts val="1260"/>
              </a:spcAft>
            </a:pPr>
            <a:r>
              <a:rPr sz="2100" b="0">
                <a:solidFill>
                  <a:srgbClr val="202122"/>
                </a:solidFill>
                <a:latin typeface="Calibri"/>
              </a:rPr>
              <a:t>A health and safety policy covers lone working, manual handling, working at height, fire safety and reporting incidents under RIDDOR 2013.</a:t>
            </a:r>
          </a:p>
          <a:p>
            <a:pPr>
              <a:spcAft>
                <a:spcPts val="1260"/>
              </a:spcAft>
            </a:pPr>
            <a:r>
              <a:rPr sz="2100" b="0">
                <a:solidFill>
                  <a:srgbClr val="202122"/>
                </a:solidFill>
                <a:latin typeface="Calibri"/>
              </a:rPr>
              <a:t>A change procedure means every change is approved, documented and audited.</a:t>
            </a:r>
          </a:p>
          <a:p>
            <a:pPr>
              <a:spcAft>
                <a:spcPts val="1260"/>
              </a:spcAft>
            </a:pPr>
            <a:r>
              <a:rPr sz="2100" b="0">
                <a:solidFill>
                  <a:srgbClr val="202122"/>
                </a:solidFill>
                <a:latin typeface="Calibri"/>
              </a:rPr>
              <a:t>You must be able to explain each policy's purpose and what could happen if it's ignored.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Ignoring the BYOD policy by storing client files on a personal phone risks a data breach if the phone is lost: a privacy impact.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Policies that reduce risk</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Digital use policy</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Network and internet usage and monitoring</a:t>
            </a:r>
          </a:p>
          <a:p>
            <a:pPr marL="274320" indent="-274320">
              <a:spcAft>
                <a:spcPts val="990"/>
              </a:spcAft>
              <a:buClr>
                <a:srgbClr val="0645AD"/>
              </a:buClr>
              <a:buFont typeface="Arial"/>
              <a:buChar char="•"/>
            </a:pPr>
            <a:r>
              <a:rPr sz="2200" b="0">
                <a:solidFill>
                  <a:srgbClr val="202122"/>
                </a:solidFill>
                <a:latin typeface="Calibri"/>
              </a:rPr>
              <a:t>Bring your own device (BYOD)</a:t>
            </a:r>
          </a:p>
          <a:p>
            <a:pPr marL="274320" indent="-274320">
              <a:spcAft>
                <a:spcPts val="990"/>
              </a:spcAft>
              <a:buClr>
                <a:srgbClr val="0645AD"/>
              </a:buClr>
              <a:buFont typeface="Arial"/>
              <a:buChar char="•"/>
            </a:pPr>
            <a:r>
              <a:rPr sz="2200" b="0">
                <a:solidFill>
                  <a:srgbClr val="202122"/>
                </a:solidFill>
                <a:latin typeface="Calibri"/>
              </a:rPr>
              <a:t>Working from home, with a DSE assessment</a:t>
            </a:r>
          </a:p>
          <a:p>
            <a:pPr marL="274320" indent="-274320">
              <a:spcAft>
                <a:spcPts val="990"/>
              </a:spcAft>
              <a:buClr>
                <a:srgbClr val="0645AD"/>
              </a:buClr>
              <a:buFont typeface="Arial"/>
              <a:buChar char="•"/>
            </a:pPr>
            <a:r>
              <a:rPr sz="2200" b="0">
                <a:solidFill>
                  <a:srgbClr val="202122"/>
                </a:solidFill>
                <a:latin typeface="Calibri"/>
              </a:rPr>
              <a:t>Password renewal</a:t>
            </a:r>
          </a:p>
          <a:p>
            <a:pPr marL="274320" indent="-274320">
              <a:spcAft>
                <a:spcPts val="990"/>
              </a:spcAft>
              <a:buClr>
                <a:srgbClr val="0645AD"/>
              </a:buClr>
              <a:buFont typeface="Arial"/>
              <a:buChar char="•"/>
            </a:pPr>
            <a:r>
              <a:rPr sz="2200" b="0">
                <a:solidFill>
                  <a:srgbClr val="202122"/>
                </a:solidFill>
                <a:latin typeface="Calibri"/>
              </a:rPr>
              <a:t>Software update discipline</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Health and safety policy</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Lone working</a:t>
            </a:r>
          </a:p>
          <a:p>
            <a:pPr marL="274320" indent="-274320">
              <a:spcAft>
                <a:spcPts val="990"/>
              </a:spcAft>
              <a:buClr>
                <a:srgbClr val="0645AD"/>
              </a:buClr>
              <a:buFont typeface="Arial"/>
              <a:buChar char="•"/>
            </a:pPr>
            <a:r>
              <a:rPr sz="2200" b="0">
                <a:solidFill>
                  <a:srgbClr val="202122"/>
                </a:solidFill>
                <a:latin typeface="Calibri"/>
              </a:rPr>
              <a:t>Manual handling</a:t>
            </a:r>
          </a:p>
          <a:p>
            <a:pPr marL="274320" indent="-274320">
              <a:spcAft>
                <a:spcPts val="990"/>
              </a:spcAft>
              <a:buClr>
                <a:srgbClr val="0645AD"/>
              </a:buClr>
              <a:buFont typeface="Arial"/>
              <a:buChar char="•"/>
            </a:pPr>
            <a:r>
              <a:rPr sz="2200" b="0">
                <a:solidFill>
                  <a:srgbClr val="202122"/>
                </a:solidFill>
                <a:latin typeface="Calibri"/>
              </a:rPr>
              <a:t>Working at height</a:t>
            </a:r>
          </a:p>
          <a:p>
            <a:pPr marL="274320" indent="-274320">
              <a:spcAft>
                <a:spcPts val="990"/>
              </a:spcAft>
              <a:buClr>
                <a:srgbClr val="0645AD"/>
              </a:buClr>
              <a:buFont typeface="Arial"/>
              <a:buChar char="•"/>
            </a:pPr>
            <a:r>
              <a:rPr sz="2200" b="0">
                <a:solidFill>
                  <a:srgbClr val="202122"/>
                </a:solidFill>
                <a:latin typeface="Calibri"/>
              </a:rPr>
              <a:t>Fire safety</a:t>
            </a:r>
          </a:p>
          <a:p>
            <a:pPr marL="274320" indent="-274320">
              <a:spcAft>
                <a:spcPts val="990"/>
              </a:spcAft>
              <a:buClr>
                <a:srgbClr val="0645AD"/>
              </a:buClr>
              <a:buFont typeface="Arial"/>
              <a:buChar char="•"/>
            </a:pPr>
            <a:r>
              <a:rPr sz="2200" b="0">
                <a:solidFill>
                  <a:srgbClr val="202122"/>
                </a:solidFill>
                <a:latin typeface="Calibri"/>
              </a:rPr>
              <a:t>RIDDOR 2013 reporting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Policies that reduce risk</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 BYOD policy cover?</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RIDDOR used for?</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have a change procedure?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UK GDPR standardises how personal data is used, stored and transferred.</a:t>
            </a:r>
          </a:p>
          <a:p>
            <a:pPr>
              <a:spcAft>
                <a:spcPts val="1260"/>
              </a:spcAft>
            </a:pPr>
            <a:r>
              <a:rPr sz="2100" b="0">
                <a:solidFill>
                  <a:srgbClr val="202122"/>
                </a:solidFill>
                <a:latin typeface="Calibri"/>
              </a:rPr>
              <a:t>The Data Protection Act 2018 is the UK's version: personal data must be used fairly, lawfully and transparently, for specified purposes, kept only as long as needed, kept accurate and kept secure. Individuals have rights to be informed, access, correct, erase and restrict their data, move it and object to its use.</a:t>
            </a:r>
          </a:p>
          <a:p>
            <a:pPr>
              <a:spcAft>
                <a:spcPts val="1260"/>
              </a:spcAft>
            </a:pPr>
            <a:r>
              <a:rPr sz="2100" b="0">
                <a:solidFill>
                  <a:srgbClr val="202122"/>
                </a:solidFill>
                <a:latin typeface="Calibri"/>
              </a:rPr>
              <a:t>The Computer Misuse Act 1990 makes it a crime to access systems without permission, to do so intending further crimes, or to impair a computer's operation, for example with malware.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technician who restores a deleted customer file for a colleague who isn't entitled to see it breaks data protection law, even with good intentions.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UK GDPR</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Standardises how personal data is used, stored and transferred.</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600" b="1" i="0">
                <a:solidFill>
                  <a:srgbClr val="03306E"/>
                </a:solidFill>
                <a:latin typeface="Calibri"/>
              </a:rPr>
              <a:t>Data Protection Act 2018</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The UK's implementation: fair, lawful, transparent, limited, accurate, secure.</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600" b="1" i="0">
                <a:solidFill>
                  <a:srgbClr val="03306E"/>
                </a:solidFill>
                <a:latin typeface="Calibri"/>
              </a:rPr>
              <a:t>Computer Misuse Act 1990</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Unauthorised access; access with intent; acts impairing a computer's operation.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Key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three data protection principles.</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Name two individual rights under DPA 2018.</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are the three CMA offences?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Standards and best practice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Standards give organisations a proven framework to follow.</a:t>
            </a:r>
          </a:p>
          <a:p>
            <a:pPr>
              <a:spcAft>
                <a:spcPts val="1140"/>
              </a:spcAft>
            </a:pPr>
            <a:r>
              <a:rPr sz="1900" b="0">
                <a:solidFill>
                  <a:srgbClr val="202122"/>
                </a:solidFill>
                <a:latin typeface="Calibri"/>
              </a:rPr>
              <a:t>ISO 27001 is the international standard for an information security management system. Organisations can be certified against it, which reassures customers.</a:t>
            </a:r>
          </a:p>
          <a:p>
            <a:pPr>
              <a:spcAft>
                <a:spcPts val="1140"/>
              </a:spcAft>
            </a:pPr>
            <a:r>
              <a:rPr sz="1900" b="1">
                <a:solidFill>
                  <a:srgbClr val="202122"/>
                </a:solidFill>
                <a:latin typeface="Calibri"/>
              </a:rPr>
              <a:t>PCI DSS protects card payments:</a:t>
            </a:r>
            <a:r>
              <a:rPr sz="1900" b="0">
                <a:solidFill>
                  <a:srgbClr val="202122"/>
                </a:solidFill>
                <a:latin typeface="Calibri"/>
              </a:rPr>
              <a:t> a secure network, protected cardholder data, vulnerability management, strong access control, regular testing and a security policy.</a:t>
            </a:r>
          </a:p>
          <a:p>
            <a:pPr>
              <a:spcAft>
                <a:spcPts val="1140"/>
              </a:spcAft>
            </a:pPr>
            <a:r>
              <a:rPr sz="1900" b="0">
                <a:solidFill>
                  <a:srgbClr val="202122"/>
                </a:solidFill>
                <a:latin typeface="Calibri"/>
              </a:rPr>
              <a:t>The NCSC's 10 Steps to Cyber Security is practical government guidance covering users, devices, networks and incident management.</a:t>
            </a:r>
          </a:p>
          <a:p>
            <a:pPr>
              <a:spcAft>
                <a:spcPts val="1140"/>
              </a:spcAft>
            </a:pPr>
            <a:r>
              <a:rPr sz="1900" b="0">
                <a:solidFill>
                  <a:srgbClr val="202122"/>
                </a:solidFill>
                <a:latin typeface="Calibri"/>
              </a:rPr>
              <a:t>OWASP shares free tools and guidance on secure software.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shop taking card payments must follow PCI DSS; a cloud provider may get ISO 27001 certification to win contracts.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Standards and best practice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graphicFrame>
        <p:nvGraphicFramePr>
          <p:cNvPr id="6" name="Table 5"/>
          <p:cNvGraphicFramePr>
            <a:graphicFrameLocks noGrp="1"/>
          </p:cNvGraphicFramePr>
          <p:nvPr/>
        </p:nvGraphicFramePr>
        <p:xfrm>
          <a:off x="548640" y="1600200"/>
          <a:ext cx="11094415" cy="4526280"/>
        </p:xfrm>
        <a:graphic>
          <a:graphicData uri="http://schemas.openxmlformats.org/drawingml/2006/table">
            <a:tbl>
              <a:tblPr firstRow="1" bandRow="1">
                <a:tableStyleId>{5C22544A-7EE6-4342-B048-85BDC9FD1C3A}</a:tableStyleId>
              </a:tblPr>
              <a:tblGrid>
                <a:gridCol w="3074356"/>
                <a:gridCol w="8020059"/>
              </a:tblGrid>
              <a:tr h="905256">
                <a:tc>
                  <a:txBody>
                    <a:bodyPr wrap="square"/>
                    <a:lstStyle/>
                    <a:p>
                      <a:r>
                        <a:rPr sz="1600" b="1">
                          <a:solidFill>
                            <a:srgbClr val="FFFFFF"/>
                          </a:solidFill>
                          <a:latin typeface="Calibri"/>
                        </a:rPr>
                        <a:t>Standard</a:t>
                      </a:r>
                    </a:p>
                  </a:txBody>
                  <a:tcPr marL="91440" marR="91440" anchor="ctr">
                    <a:solidFill>
                      <a:srgbClr val="03306E"/>
                    </a:solidFill>
                  </a:tcPr>
                </a:tc>
                <a:tc>
                  <a:txBody>
                    <a:bodyPr wrap="square"/>
                    <a:lstStyle/>
                    <a:p>
                      <a:r>
                        <a:rPr sz="1600" b="1">
                          <a:solidFill>
                            <a:srgbClr val="FFFFFF"/>
                          </a:solidFill>
                          <a:latin typeface="Calibri"/>
                        </a:rPr>
                        <a:t>What it does</a:t>
                      </a:r>
                    </a:p>
                  </a:txBody>
                  <a:tcPr marL="91440" marR="91440" anchor="ctr">
                    <a:solidFill>
                      <a:srgbClr val="03306E"/>
                    </a:solidFill>
                  </a:tcPr>
                </a:tc>
              </a:tr>
              <a:tr h="905256">
                <a:tc>
                  <a:txBody>
                    <a:bodyPr wrap="square"/>
                    <a:lstStyle/>
                    <a:p>
                      <a:r>
                        <a:rPr sz="1600" b="1">
                          <a:solidFill>
                            <a:srgbClr val="03306E"/>
                          </a:solidFill>
                          <a:latin typeface="Calibri"/>
                        </a:rPr>
                        <a:t>ISO 27001</a:t>
                      </a:r>
                    </a:p>
                  </a:txBody>
                  <a:tcPr marL="91440" marR="91440" anchor="ctr">
                    <a:solidFill>
                      <a:srgbClr val="FFFFFF"/>
                    </a:solidFill>
                  </a:tcPr>
                </a:tc>
                <a:tc>
                  <a:txBody>
                    <a:bodyPr wrap="square"/>
                    <a:lstStyle/>
                    <a:p>
                      <a:r>
                        <a:rPr sz="1600" b="0">
                          <a:solidFill>
                            <a:srgbClr val="202122"/>
                          </a:solidFill>
                          <a:latin typeface="Calibri"/>
                        </a:rPr>
                        <a:t>Certifiable information security management standard</a:t>
                      </a:r>
                    </a:p>
                  </a:txBody>
                  <a:tcPr marL="91440" marR="91440" anchor="ctr">
                    <a:solidFill>
                      <a:srgbClr val="FFFFFF"/>
                    </a:solidFill>
                  </a:tcPr>
                </a:tc>
              </a:tr>
              <a:tr h="905256">
                <a:tc>
                  <a:txBody>
                    <a:bodyPr wrap="square"/>
                    <a:lstStyle/>
                    <a:p>
                      <a:r>
                        <a:rPr sz="1600" b="1">
                          <a:solidFill>
                            <a:srgbClr val="03306E"/>
                          </a:solidFill>
                          <a:latin typeface="Calibri"/>
                        </a:rPr>
                        <a:t>PCI DSS</a:t>
                      </a:r>
                    </a:p>
                  </a:txBody>
                  <a:tcPr marL="91440" marR="91440" anchor="ctr">
                    <a:solidFill>
                      <a:srgbClr val="EAF3FF"/>
                    </a:solidFill>
                  </a:tcPr>
                </a:tc>
                <a:tc>
                  <a:txBody>
                    <a:bodyPr wrap="square"/>
                    <a:lstStyle/>
                    <a:p>
                      <a:r>
                        <a:rPr sz="1600" b="0">
                          <a:solidFill>
                            <a:srgbClr val="202122"/>
                          </a:solidFill>
                          <a:latin typeface="Calibri"/>
                        </a:rPr>
                        <a:t>Protects card payments: secure network, cardholder data, access control, monitoring</a:t>
                      </a:r>
                    </a:p>
                  </a:txBody>
                  <a:tcPr marL="91440" marR="91440" anchor="ctr">
                    <a:solidFill>
                      <a:srgbClr val="EAF3FF"/>
                    </a:solidFill>
                  </a:tcPr>
                </a:tc>
              </a:tr>
              <a:tr h="905256">
                <a:tc>
                  <a:txBody>
                    <a:bodyPr wrap="square"/>
                    <a:lstStyle/>
                    <a:p>
                      <a:r>
                        <a:rPr sz="1600" b="1">
                          <a:solidFill>
                            <a:srgbClr val="03306E"/>
                          </a:solidFill>
                          <a:latin typeface="Calibri"/>
                        </a:rPr>
                        <a:t>NCSC 10 Steps</a:t>
                      </a:r>
                    </a:p>
                  </a:txBody>
                  <a:tcPr marL="91440" marR="91440" anchor="ctr">
                    <a:solidFill>
                      <a:srgbClr val="FFFFFF"/>
                    </a:solidFill>
                  </a:tcPr>
                </a:tc>
                <a:tc>
                  <a:txBody>
                    <a:bodyPr wrap="square"/>
                    <a:lstStyle/>
                    <a:p>
                      <a:r>
                        <a:rPr sz="1600" b="0">
                          <a:solidFill>
                            <a:srgbClr val="202122"/>
                          </a:solidFill>
                          <a:latin typeface="Calibri"/>
                        </a:rPr>
                        <a:t>User education, home working, secure config, removable media, privileges, incidents, monitoring, malware, network, risk</a:t>
                      </a:r>
                    </a:p>
                  </a:txBody>
                  <a:tcPr marL="91440" marR="91440" anchor="ctr">
                    <a:solidFill>
                      <a:srgbClr val="FFFFFF"/>
                    </a:solidFill>
                  </a:tcPr>
                </a:tc>
              </a:tr>
              <a:tr h="905256">
                <a:tc>
                  <a:txBody>
                    <a:bodyPr wrap="square"/>
                    <a:lstStyle/>
                    <a:p>
                      <a:r>
                        <a:rPr sz="1600" b="1">
                          <a:solidFill>
                            <a:srgbClr val="03306E"/>
                          </a:solidFill>
                          <a:latin typeface="Calibri"/>
                        </a:rPr>
                        <a:t>OWASP</a:t>
                      </a:r>
                    </a:p>
                  </a:txBody>
                  <a:tcPr marL="91440" marR="91440" anchor="ctr">
                    <a:solidFill>
                      <a:srgbClr val="EAF3FF"/>
                    </a:solidFill>
                  </a:tcPr>
                </a:tc>
                <a:tc>
                  <a:txBody>
                    <a:bodyPr wrap="square"/>
                    <a:lstStyle/>
                    <a:p>
                      <a:r>
                        <a:rPr sz="1600" b="0">
                          <a:solidFill>
                            <a:srgbClr val="202122"/>
                          </a:solidFill>
                          <a:latin typeface="Calibri"/>
                        </a:rPr>
                        <a:t>Shares security tools, education and a community to improve software security</a:t>
                      </a:r>
                    </a:p>
                  </a:txBody>
                  <a:tcPr marL="91440" marR="91440" anchor="ctr">
                    <a:solidFill>
                      <a:srgbClr val="EAF3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Standards and best practice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ISO 27001?</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standard applies to card payments?</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Who publishes the 10 Steps to Cyber Security?</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Why cyber security matters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For organisations, cyber security protects systems, devices, cloud services, and personal and commercially sensitive data. It keeps them legally compliant and defends against cybercrime, which can cost money, customers and reputation.</a:t>
            </a:r>
          </a:p>
          <a:p>
            <a:pPr>
              <a:spcAft>
                <a:spcPts val="1320"/>
              </a:spcAft>
            </a:pPr>
            <a:r>
              <a:rPr sz="2200" b="0">
                <a:solidFill>
                  <a:srgbClr val="202122"/>
                </a:solidFill>
                <a:latin typeface="Calibri"/>
              </a:rPr>
              <a:t>For society, protecting data preserves people's privacy, prevents prejudice and unfair treatment, supports equal opportunity and prevents identity theft.</a:t>
            </a:r>
          </a:p>
          <a:p>
            <a:pPr>
              <a:spcAft>
                <a:spcPts val="1320"/>
              </a:spcAft>
            </a:pPr>
            <a:r>
              <a:rPr sz="2200" b="0">
                <a:solidFill>
                  <a:srgbClr val="202122"/>
                </a:solidFill>
                <a:latin typeface="Calibri"/>
              </a:rPr>
              <a:t>Data protection law gives individuals rights over their data. Good security is how organisations respect those rights in practice.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When a retailer is breached, customers face phishing and identity theft, and the retailer faces fines and lost sales: both society and the organisation lose.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Why cyber security matters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To organisations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Protect systems, devices and cloud availability</a:t>
            </a:r>
          </a:p>
          <a:p>
            <a:pPr marL="274320" indent="-274320">
              <a:spcAft>
                <a:spcPts val="990"/>
              </a:spcAft>
              <a:buClr>
                <a:srgbClr val="0645AD"/>
              </a:buClr>
              <a:buFont typeface="Arial"/>
              <a:buChar char="•"/>
            </a:pPr>
            <a:r>
              <a:rPr sz="2200" b="0">
                <a:solidFill>
                  <a:srgbClr val="202122"/>
                </a:solidFill>
                <a:latin typeface="Calibri"/>
              </a:rPr>
              <a:t>Protect personal and commercial data</a:t>
            </a:r>
          </a:p>
          <a:p>
            <a:pPr marL="274320" indent="-274320">
              <a:spcAft>
                <a:spcPts val="990"/>
              </a:spcAft>
              <a:buClr>
                <a:srgbClr val="0645AD"/>
              </a:buClr>
              <a:buFont typeface="Arial"/>
              <a:buChar char="•"/>
            </a:pPr>
            <a:r>
              <a:rPr sz="2200" b="0">
                <a:solidFill>
                  <a:srgbClr val="202122"/>
                </a:solidFill>
                <a:latin typeface="Calibri"/>
              </a:rPr>
              <a:t>Enforce password policy</a:t>
            </a:r>
          </a:p>
          <a:p>
            <a:pPr marL="274320" indent="-274320">
              <a:spcAft>
                <a:spcPts val="990"/>
              </a:spcAft>
              <a:buClr>
                <a:srgbClr val="0645AD"/>
              </a:buClr>
              <a:buFont typeface="Arial"/>
              <a:buChar char="•"/>
            </a:pPr>
            <a:r>
              <a:rPr sz="2200" b="0">
                <a:solidFill>
                  <a:srgbClr val="202122"/>
                </a:solidFill>
                <a:latin typeface="Calibri"/>
              </a:rPr>
              <a:t>Comply with the law</a:t>
            </a:r>
          </a:p>
          <a:p>
            <a:pPr marL="274320" indent="-274320">
              <a:spcAft>
                <a:spcPts val="990"/>
              </a:spcAft>
              <a:buClr>
                <a:srgbClr val="0645AD"/>
              </a:buClr>
              <a:buFont typeface="Arial"/>
              <a:buChar char="•"/>
            </a:pPr>
            <a:r>
              <a:rPr sz="2200" b="0">
                <a:solidFill>
                  <a:srgbClr val="202122"/>
                </a:solidFill>
                <a:latin typeface="Calibri"/>
              </a:rPr>
              <a:t>Defend against cybercrime</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To society</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Protect privacy</a:t>
            </a:r>
          </a:p>
          <a:p>
            <a:pPr marL="274320" indent="-274320">
              <a:spcAft>
                <a:spcPts val="990"/>
              </a:spcAft>
              <a:buClr>
                <a:srgbClr val="0645AD"/>
              </a:buClr>
              <a:buFont typeface="Arial"/>
              <a:buChar char="•"/>
            </a:pPr>
            <a:r>
              <a:rPr sz="2200" b="0">
                <a:solidFill>
                  <a:srgbClr val="202122"/>
                </a:solidFill>
                <a:latin typeface="Calibri"/>
              </a:rPr>
              <a:t>Prevent prejudice and ensure equal opportunity</a:t>
            </a:r>
          </a:p>
          <a:p>
            <a:pPr marL="274320" indent="-274320">
              <a:spcAft>
                <a:spcPts val="990"/>
              </a:spcAft>
              <a:buClr>
                <a:srgbClr val="0645AD"/>
              </a:buClr>
              <a:buFont typeface="Arial"/>
              <a:buChar char="•"/>
            </a:pPr>
            <a:r>
              <a:rPr sz="2200" b="0">
                <a:solidFill>
                  <a:srgbClr val="202122"/>
                </a:solidFill>
                <a:latin typeface="Calibri"/>
              </a:rPr>
              <a:t>Prevent identity theft</a:t>
            </a:r>
          </a:p>
          <a:p>
            <a:pPr marL="274320" indent="-274320">
              <a:spcAft>
                <a:spcPts val="990"/>
              </a:spcAft>
              <a:buClr>
                <a:srgbClr val="0645AD"/>
              </a:buClr>
              <a:buFont typeface="Arial"/>
              <a:buChar char="•"/>
            </a:pPr>
            <a:r>
              <a:rPr sz="2200" b="1">
                <a:solidFill>
                  <a:srgbClr val="202122"/>
                </a:solidFill>
                <a:latin typeface="Calibri"/>
              </a:rPr>
              <a:t>DPA 2018 rights:</a:t>
            </a:r>
            <a:r>
              <a:rPr sz="2200" b="0">
                <a:solidFill>
                  <a:srgbClr val="202122"/>
                </a:solidFill>
                <a:latin typeface="Calibri"/>
              </a:rPr>
              <a:t> be informed, access, correct, erase, restrict, port, object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Why cyber security matters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Give one reason cyber security matters to organisations.</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How does cyber security protect society?</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law gives individuals rights over their data?</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Which Act makes unauthorised access to a computer a crime?</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standard protects card payments?</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What is ISO 27001?</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Name three rights individuals have under DPA 2018.</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does RIDDOR cover?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Which Act makes unauthorised access to a computer a crime?</a:t>
            </a:r>
          </a:p>
          <a:p>
            <a:r>
              <a:rPr sz="1800" b="1">
                <a:solidFill>
                  <a:srgbClr val="03306E"/>
                </a:solidFill>
                <a:latin typeface="Calibri"/>
              </a:rPr>
              <a:t>The Computer Misuse Act 1990.</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standard protects card payments?</a:t>
            </a:r>
          </a:p>
          <a:p>
            <a:r>
              <a:rPr sz="1800" b="1">
                <a:solidFill>
                  <a:srgbClr val="03306E"/>
                </a:solidFill>
                <a:latin typeface="Calibri"/>
              </a:rPr>
              <a:t>PCI DSS.</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What is ISO 27001?</a:t>
            </a:r>
          </a:p>
          <a:p>
            <a:r>
              <a:rPr sz="1800" b="1">
                <a:solidFill>
                  <a:srgbClr val="03306E"/>
                </a:solidFill>
                <a:latin typeface="Calibri"/>
              </a:rPr>
              <a:t>A certifiable information security management standard.</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Name three rights individuals have under DPA 2018.</a:t>
            </a:r>
          </a:p>
          <a:p>
            <a:r>
              <a:rPr sz="1800" b="1">
                <a:solidFill>
                  <a:srgbClr val="03306E"/>
                </a:solidFill>
                <a:latin typeface="Calibri"/>
              </a:rPr>
              <a:t>Any three of: be informed, access, rectify, erase, restrict, portability, object.</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does RIDDOR cover?</a:t>
            </a:r>
          </a:p>
          <a:p>
            <a:r>
              <a:rPr sz="1800" b="1">
                <a:solidFill>
                  <a:srgbClr val="03306E"/>
                </a:solidFill>
                <a:latin typeface="Calibri"/>
              </a:rPr>
              <a:t>Reporting of injuries, diseases and dangerous occurrences.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Write a BYOD policy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Security Law, Standards and Policy</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Rounded Rectangle 5"/>
          <p:cNvSpPr/>
          <p:nvPr/>
        </p:nvSpPr>
        <p:spPr>
          <a:xfrm>
            <a:off x="548640" y="1508760"/>
            <a:ext cx="2011680" cy="457200"/>
          </a:xfrm>
          <a:prstGeom prst="roundRect">
            <a:avLst>
              <a:gd name="adj" fmla="val 50000"/>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Write a one-page BYOD policy for a 50-person company.</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Include at least six rules.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Link each rule to a law, standard or NCSC step.</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State the security impact if staff ignore each rule.</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Rules are clear and enforceable</a:t>
            </a:r>
          </a:p>
          <a:p>
            <a:pPr marL="274320" indent="-274320">
              <a:spcAft>
                <a:spcPts val="810"/>
              </a:spcAft>
              <a:buClr>
                <a:srgbClr val="0645AD"/>
              </a:buClr>
              <a:buFont typeface="Arial"/>
              <a:buChar char="•"/>
            </a:pPr>
            <a:r>
              <a:rPr sz="1800" b="0">
                <a:solidFill>
                  <a:srgbClr val="202122"/>
                </a:solidFill>
                <a:latin typeface="Calibri"/>
              </a:rPr>
              <a:t>Each rule is linked to legislation or a standard</a:t>
            </a:r>
          </a:p>
          <a:p>
            <a:pPr marL="274320" indent="-274320">
              <a:spcAft>
                <a:spcPts val="810"/>
              </a:spcAft>
              <a:buClr>
                <a:srgbClr val="0645AD"/>
              </a:buClr>
              <a:buFont typeface="Arial"/>
              <a:buChar char="•"/>
            </a:pPr>
            <a:r>
              <a:rPr sz="1800" b="0">
                <a:solidFill>
                  <a:srgbClr val="202122"/>
                </a:solidFill>
                <a:latin typeface="Calibri"/>
              </a:rPr>
              <a:t>Impacts are specific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does a company need a change procedure?</a:t>
            </a:r>
          </a:p>
        </p:txBody>
      </p:sp>
      <p:sp>
        <p:nvSpPr>
          <p:cNvPr id="6" name="Oval 5"/>
          <p:cNvSpPr/>
          <p:nvPr/>
        </p:nvSpPr>
        <p:spPr>
          <a:xfrm>
            <a:off x="548640" y="26974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Which standard would a web developer use to improve software security?</a:t>
            </a:r>
          </a:p>
        </p:txBody>
      </p:sp>
      <p:sp>
        <p:nvSpPr>
          <p:cNvPr id="8" name="Oval 7"/>
          <p:cNvSpPr/>
          <p:nvPr/>
        </p:nvSpPr>
        <p:spPr>
          <a:xfrm>
            <a:off x="548640" y="365760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Give one reason cyber security matters to society.</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Security Procedures and Controls, on your specialism's page</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https://lana6478.github.io/Digital-Suport-and-security-T-levle/#/02-occupational-specialisms/00-overview.md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Law, Standards and Policy</dc:title>
  <dc:subject>Digital Support and Security T Level: Specialism Content Area 1</dc:subject>
  <dc:creator>Samuel O'Connell</dc:creator>
  <cp:keywords>T Level; Digital Support and Security; lesson slides; Policies, legislation, standards and the importance of cyber security (1.23 to 1.31)</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