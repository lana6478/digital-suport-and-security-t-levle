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Vulnerabilities in critical systems: unauthorised physical access to ports, weak account control, single points of failure, open USB and network ports, unsecured wireless.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Risk assessment in context: apply HSE guidance, run a PESTLE analysis of the project, identify internal and external risk, quantify impact on asset value, and record findings with correct technical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4EA1FF"/>
                </a:solidFill>
                <a:latin typeface="Calibri"/>
              </a:rPr>
              <a:t>OCCUPATIONAL SPECIALISMS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Risk Management and Threat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Impacts, risk process, threat analysis, risk response, penetration testing (1.9 to 1.21)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the impacts of realised threats and common critical-system vulnerabilities.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Apply the five-step risk management process.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Use qualitative and quantitative threat analysis tools.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Choose a risk response and describe the penetration testing process.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Name three things that could stop a company's network working tomorrow. Which is most likely? Which would hurt most?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Impacts of realised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Danger to life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Health and safety breaches.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breaches and identity theft.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Property and resources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Physical damage.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Economic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Financial loss.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Reputational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Damage to the brand.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Legal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Fines and prosecution.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risk management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1603217" y="2839212"/>
            <a:ext cx="8985260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283177" y="25374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1469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091939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422910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Risks, threats and vulnerabilities.</a:t>
            </a:r>
          </a:p>
        </p:txBody>
      </p:sp>
      <p:sp>
        <p:nvSpPr>
          <p:cNvPr id="11" name="Oval 10"/>
          <p:cNvSpPr/>
          <p:nvPr/>
        </p:nvSpPr>
        <p:spPr>
          <a:xfrm>
            <a:off x="3529492" y="25374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94955" y="331469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Probability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94955" y="4091939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932115" y="422910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How likely: high, medium or low.</a:t>
            </a:r>
          </a:p>
        </p:txBody>
      </p:sp>
      <p:sp>
        <p:nvSpPr>
          <p:cNvPr id="15" name="Oval 14"/>
          <p:cNvSpPr/>
          <p:nvPr/>
        </p:nvSpPr>
        <p:spPr>
          <a:xfrm>
            <a:off x="5775807" y="25374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1270" y="331469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Impact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1270" y="4091939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178430" y="422910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Extent of possible damage, e.g. asset value.</a:t>
            </a:r>
          </a:p>
        </p:txBody>
      </p:sp>
      <p:sp>
        <p:nvSpPr>
          <p:cNvPr id="19" name="Oval 18"/>
          <p:cNvSpPr/>
          <p:nvPr/>
        </p:nvSpPr>
        <p:spPr>
          <a:xfrm>
            <a:off x="8022122" y="25374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87585" y="331469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Prioritise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87585" y="4091939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7424745" y="422910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Rank by probability x impact; assign an owner.</a:t>
            </a:r>
          </a:p>
        </p:txBody>
      </p:sp>
      <p:sp>
        <p:nvSpPr>
          <p:cNvPr id="23" name="Oval 22"/>
          <p:cNvSpPr/>
          <p:nvPr/>
        </p:nvSpPr>
        <p:spPr>
          <a:xfrm>
            <a:off x="10268437" y="25374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33900" y="3314699"/>
            <a:ext cx="2109155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Mitigate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33900" y="4091939"/>
            <a:ext cx="2109155" cy="114300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671060" y="4229100"/>
            <a:ext cx="1834835" cy="868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202122"/>
                </a:solidFill>
                <a:latin typeface="Calibri"/>
              </a:rPr>
              <a:t>Reduce the probability or the impact.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Analysing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Qualitative (non-numeric)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RAG rating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Red:</a:t>
            </a:r>
            <a:r>
              <a:rPr sz="2200" b="0">
                <a:solidFill>
                  <a:srgbClr val="202122"/>
                </a:solidFill>
                <a:latin typeface="Calibri"/>
              </a:rPr>
              <a:t> high risk, act immediately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Amber:</a:t>
            </a:r>
            <a:r>
              <a:rPr sz="2200" b="0">
                <a:solidFill>
                  <a:srgbClr val="202122"/>
                </a:solidFill>
                <a:latin typeface="Calibri"/>
              </a:rPr>
              <a:t> moderate, watch closely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Green:</a:t>
            </a:r>
            <a:r>
              <a:rPr sz="2200" b="0">
                <a:solidFill>
                  <a:srgbClr val="202122"/>
                </a:solidFill>
                <a:latin typeface="Calibri"/>
              </a:rPr>
              <a:t> low, no immediate 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Quantitative (numeric) and tools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Numbers for effects such as cost overrun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Annualised Loss Expectancy (ALE)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Fault tree and impact analysis, FMECA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CRAMM, SWOT analysis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Risk register with a RAG rating per risk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Threat assessment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Environmental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Extreme weather, natural disaster, pests, humidity, air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Manmade internal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Malicious or accidental staff and contractor actions.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Manmade external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Malware, hacking, social engineering, third parties, terrorism.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Technological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202122"/>
                </a:solidFill>
                <a:latin typeface="Calibri"/>
              </a:rPr>
              <a:t>Disk, RAM or power failure, misconfiguration, software corruption, change.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Political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Changes in legislation.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Four risk responses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Accept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The impact is judged acceptable.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60020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6461607" y="182880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5967" y="180136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Avoid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7" y="246888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Change the scope to sidestep the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Mitigate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Reduce the probability or impact.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4023360"/>
            <a:ext cx="5410047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6461607" y="4251960"/>
            <a:ext cx="457200" cy="45720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5967" y="4224528"/>
            <a:ext cx="4404207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Transfer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7" y="4892040"/>
            <a:ext cx="4952847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Contractually pass the risk to someone else, e.g. insurance or outsourcing.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penetration testing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6024" y="2496312"/>
            <a:ext cx="9359646" cy="36576"/>
          </a:xfrm>
          <a:prstGeom prst="rect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1095984" y="21945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718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Engage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40"/>
            <a:ext cx="1734769" cy="10058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85800" y="3886200"/>
            <a:ext cx="1460449" cy="7315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Agree scope with the customer.</a:t>
            </a:r>
          </a:p>
        </p:txBody>
      </p:sp>
      <p:sp>
        <p:nvSpPr>
          <p:cNvPr id="11" name="Oval 10"/>
          <p:cNvSpPr/>
          <p:nvPr/>
        </p:nvSpPr>
        <p:spPr>
          <a:xfrm>
            <a:off x="2967913" y="21945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20569" y="29718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Gather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20569" y="3749040"/>
            <a:ext cx="1734769" cy="10058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2557729" y="3886200"/>
            <a:ext cx="1460449" cy="7315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Collect information about the target.</a:t>
            </a:r>
          </a:p>
        </p:txBody>
      </p:sp>
      <p:sp>
        <p:nvSpPr>
          <p:cNvPr id="15" name="Oval 14"/>
          <p:cNvSpPr/>
          <p:nvPr/>
        </p:nvSpPr>
        <p:spPr>
          <a:xfrm>
            <a:off x="4839843" y="21945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2498" y="29718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Scan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2498" y="3749040"/>
            <a:ext cx="1734769" cy="10058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429658" y="3886200"/>
            <a:ext cx="1460449" cy="7315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Discover hosts and services.</a:t>
            </a:r>
          </a:p>
        </p:txBody>
      </p:sp>
      <p:sp>
        <p:nvSpPr>
          <p:cNvPr id="19" name="Oval 18"/>
          <p:cNvSpPr/>
          <p:nvPr/>
        </p:nvSpPr>
        <p:spPr>
          <a:xfrm>
            <a:off x="6711772" y="21945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4427" y="29718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Test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4427" y="3749040"/>
            <a:ext cx="1734769" cy="10058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01587" y="3886200"/>
            <a:ext cx="1460449" cy="7315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Look for vulnerabilities.</a:t>
            </a:r>
          </a:p>
        </p:txBody>
      </p:sp>
      <p:sp>
        <p:nvSpPr>
          <p:cNvPr id="23" name="Oval 22"/>
          <p:cNvSpPr/>
          <p:nvPr/>
        </p:nvSpPr>
        <p:spPr>
          <a:xfrm>
            <a:off x="8583701" y="21945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36356" y="29718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Exploit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36356" y="3749040"/>
            <a:ext cx="1734769" cy="10058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173516" y="3886200"/>
            <a:ext cx="1460449" cy="7315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Attempt access, within agreed limits.</a:t>
            </a:r>
          </a:p>
        </p:txBody>
      </p:sp>
      <p:sp>
        <p:nvSpPr>
          <p:cNvPr id="27" name="Oval 26"/>
          <p:cNvSpPr/>
          <p:nvPr/>
        </p:nvSpPr>
        <p:spPr>
          <a:xfrm>
            <a:off x="10455630" y="2194560"/>
            <a:ext cx="640080" cy="6400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8286" y="2971800"/>
            <a:ext cx="1734769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/>
            <a:r>
              <a:rPr sz="1700" b="1" i="0">
                <a:solidFill>
                  <a:srgbClr val="03306E"/>
                </a:solidFill>
                <a:latin typeface="Calibri"/>
              </a:rPr>
              <a:t>Review and 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286" y="3749040"/>
            <a:ext cx="1734769" cy="1005839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045446" y="3886200"/>
            <a:ext cx="1460449" cy="73151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0">
                <a:solidFill>
                  <a:srgbClr val="202122"/>
                </a:solidFill>
                <a:latin typeface="Calibri"/>
              </a:rPr>
              <a:t>Analyse results and fix.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0292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A mitigation strategy weighs the response, user profile, cost and benefit, owner, escalation route and contingency, then is monitored for continuous improvement.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the five steps of the risk management process.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red RAG rating mean?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Buying cyber insurance is which risk response?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Give one technological threat factor.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must happen before a penetration test starts?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Name the five steps of the risk management process.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Identify, probability, impact, prioritise, mitigate.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red RAG rating mean?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High risk needing immediate action.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Buying cyber insurance is which risk response?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Transfer.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Give one technological threat factor.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E.g. disk failure, misconfiguration, software corruption.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must happen before a penetration test starts?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Customer engagement to agree scope and permission.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Build a risk register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Risk Management and Threat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Scenario: a company is introducing bring your own device (BYOD) for 50 staff.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at least six risks across the threat factor types.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Rate each for probability and impact, then give a RAG rating.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Choose a response and owner for each risk.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At least four threat factor types covered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RAG ratings follow from the scores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Every risk has a response and an owner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SPECIALISMS  ·  Specialism Content Area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difference between qualitative and quantitative analysis?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When would you accept a risk?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4EA1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must a penetration tester have written permission?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Security Procedures and Controls, on your specialism's page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https://lana6478.github.io/Digital-Suport-and-security-T-levle/#/02-occupational-specialisms/00-overview.md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Threat Assessment</dc:title>
  <dc:subject>Digital Support and Security T Level: Specialism Content Area 1</dc:subject>
  <dc:creator>Samuel O'Connell</dc:creator>
  <cp:keywords>T Level; Digital Support and Security; lesson slides; Impacts, risk process, threat analysis, risk response, penetration testing (1.9 to 1.21)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