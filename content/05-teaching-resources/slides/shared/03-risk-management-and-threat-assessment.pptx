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Vulnerabilities in critical systems: unauthorised physical access to ports, weak account control, single points of failure, open USB and network ports, unsecured wireless.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Answers:</a:t>
            </a:r>
          </a:p>
          <a:p>
            <a:r>
              <a:t>1. Identify, probability, impact, prioritise, mitigate.</a:t>
            </a:r>
          </a:p>
          <a:p>
            <a:r>
              <a:t>2. By probability multiplied by impact.</a:t>
            </a:r>
          </a:p>
          <a:p>
            <a:r>
              <a:t>3. So someone is responsible for managing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Answers:</a:t>
            </a:r>
          </a:p>
          <a:p>
            <a:r>
              <a:t>1. High risk needing immediate action.</a:t>
            </a:r>
          </a:p>
          <a:p>
            <a:r>
              <a:t>2. The expected cost of a risk per year.</a:t>
            </a:r>
          </a:p>
          <a:p>
            <a:r>
              <a:t>3. In a risk register.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Risk assessment in context: apply HSE guidance, run a PESTLE analysis of the project, identify internal and external risk, quantify impact on asset value, and record findings with correct technical terms.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Answers:</a:t>
            </a:r>
          </a:p>
          <a:p>
            <a:r>
              <a:t>1. Transfer.</a:t>
            </a:r>
          </a:p>
          <a:p>
            <a:r>
              <a:t>2. When it's small or too expensive to reduce.</a:t>
            </a:r>
          </a:p>
          <a:p>
            <a:r>
              <a:t>3. Changing plans so the risk no longer applies.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Answers:</a:t>
            </a:r>
          </a:p>
          <a:p>
            <a:r>
              <a:t>1. Scope, rules and written permission.</a:t>
            </a:r>
          </a:p>
          <a:p>
            <a:r>
              <a:t>2. To prove the risk is real.</a:t>
            </a:r>
          </a:p>
          <a:p>
            <a:r>
              <a:t>3. The Computer Misuse Act 1990.</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students a few minutes to answer on mini whiteboards or paper, then reveal the answers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through any answers the class found difficult.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answer on a sticky note or in the chat before leaving.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3306E"/>
        </a:solidFill>
        <a:effectLst/>
      </p:bgPr>
    </p:bg>
    <p:spTree>
      <p:nvGrpSpPr>
        <p:cNvPr id="1" name=""/>
        <p:cNvGrpSpPr/>
        <p:nvPr/>
      </p:nvGrpSpPr>
      <p:grpSpPr/>
      <p:sp>
        <p:nvSpPr>
          <p:cNvPr id="2" name="Oval 1"/>
          <p:cNvSpPr/>
          <p:nvPr/>
        </p:nvSpPr>
        <p:spPr>
          <a:xfrm>
            <a:off x="8595360" y="1005840"/>
            <a:ext cx="3291840" cy="3291840"/>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val 2"/>
          <p:cNvSpPr/>
          <p:nvPr/>
        </p:nvSpPr>
        <p:spPr>
          <a:xfrm>
            <a:off x="9966960" y="3200400"/>
            <a:ext cx="2377440" cy="237744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8138160" y="4023360"/>
            <a:ext cx="1371600" cy="1371600"/>
          </a:xfrm>
          <a:prstGeom prst="ellipse">
            <a:avLst/>
          </a:prstGeom>
          <a:solidFill>
            <a:srgbClr val="A9C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914400"/>
            <a:ext cx="7315200" cy="365760"/>
          </a:xfrm>
          <a:prstGeom prst="rect">
            <a:avLst/>
          </a:prstGeom>
          <a:noFill/>
        </p:spPr>
        <p:txBody>
          <a:bodyPr wrap="square" anchor="t" lIns="0" rIns="0" tIns="0" bIns="0"/>
          <a:lstStyle/>
          <a:p>
            <a:pPr algn="l"/>
            <a:r>
              <a:rPr sz="1400" b="1" i="0">
                <a:solidFill>
                  <a:srgbClr val="4EA1FF"/>
                </a:solidFill>
                <a:latin typeface="Calibri"/>
              </a:rPr>
              <a:t>OCCUPATIONAL SPECIALISMS</a:t>
            </a:r>
          </a:p>
        </p:txBody>
      </p:sp>
      <p:sp>
        <p:nvSpPr>
          <p:cNvPr id="6" name="TextBox 5"/>
          <p:cNvSpPr txBox="1"/>
          <p:nvPr/>
        </p:nvSpPr>
        <p:spPr>
          <a:xfrm>
            <a:off x="548640" y="1371600"/>
            <a:ext cx="7315200" cy="2286000"/>
          </a:xfrm>
          <a:prstGeom prst="rect">
            <a:avLst/>
          </a:prstGeom>
          <a:noFill/>
        </p:spPr>
        <p:txBody>
          <a:bodyPr wrap="square" anchor="b" lIns="0" rIns="0" tIns="0" bIns="0"/>
          <a:lstStyle/>
          <a:p>
            <a:pPr algn="l"/>
            <a:r>
              <a:rPr sz="4400" b="1" i="0">
                <a:solidFill>
                  <a:srgbClr val="FFFFFF"/>
                </a:solidFill>
                <a:latin typeface="Cambria"/>
              </a:rPr>
              <a:t>Risk Management and Threat Assessment</a:t>
            </a:r>
          </a:p>
        </p:txBody>
      </p:sp>
      <p:sp>
        <p:nvSpPr>
          <p:cNvPr id="7" name="TextBox 6"/>
          <p:cNvSpPr txBox="1"/>
          <p:nvPr/>
        </p:nvSpPr>
        <p:spPr>
          <a:xfrm>
            <a:off x="548640" y="3840480"/>
            <a:ext cx="7315200" cy="457200"/>
          </a:xfrm>
          <a:prstGeom prst="rect">
            <a:avLst/>
          </a:prstGeom>
          <a:noFill/>
        </p:spPr>
        <p:txBody>
          <a:bodyPr wrap="square" anchor="t" lIns="0" rIns="0" tIns="0" bIns="0"/>
          <a:lstStyle/>
          <a:p>
            <a:pPr algn="l"/>
            <a:r>
              <a:rPr sz="1800" b="0" i="0">
                <a:solidFill>
                  <a:srgbClr val="A9C8F0"/>
                </a:solidFill>
                <a:latin typeface="Calibri"/>
              </a:rPr>
              <a:t>Specialism Content Area 1</a:t>
            </a:r>
          </a:p>
        </p:txBody>
      </p:sp>
      <p:sp>
        <p:nvSpPr>
          <p:cNvPr id="8" name="TextBox 7"/>
          <p:cNvSpPr txBox="1"/>
          <p:nvPr/>
        </p:nvSpPr>
        <p:spPr>
          <a:xfrm>
            <a:off x="548640" y="4297680"/>
            <a:ext cx="7315200" cy="457200"/>
          </a:xfrm>
          <a:prstGeom prst="rect">
            <a:avLst/>
          </a:prstGeom>
          <a:noFill/>
        </p:spPr>
        <p:txBody>
          <a:bodyPr wrap="square" anchor="t" lIns="0" rIns="0" tIns="0" bIns="0"/>
          <a:lstStyle/>
          <a:p>
            <a:pPr algn="l"/>
            <a:r>
              <a:rPr sz="1400" b="0" i="0">
                <a:solidFill>
                  <a:srgbClr val="A9C8F0"/>
                </a:solidFill>
                <a:latin typeface="Calibri"/>
              </a:rPr>
              <a:t>Specification reference: Impacts, risk process, threat analysis, risk response, penetration testing (1.9 to 1.21)</a:t>
            </a:r>
          </a:p>
        </p:txBody>
      </p:sp>
      <p:sp>
        <p:nvSpPr>
          <p:cNvPr id="9" name="TextBox 8"/>
          <p:cNvSpPr txBox="1"/>
          <p:nvPr/>
        </p:nvSpPr>
        <p:spPr>
          <a:xfrm>
            <a:off x="548640" y="5760720"/>
            <a:ext cx="7498079" cy="640080"/>
          </a:xfrm>
          <a:prstGeom prst="rect">
            <a:avLst/>
          </a:prstGeom>
          <a:noFill/>
        </p:spPr>
        <p:txBody>
          <a:bodyPr wrap="square" anchor="t" lIns="0" rIns="0" tIns="0" bIns="0"/>
          <a:lstStyle/>
          <a:p>
            <a:pPr algn="l"/>
            <a:r>
              <a:rPr sz="1100" b="0" i="0">
                <a:solidFill>
                  <a:srgbClr val="A9C8F0"/>
                </a:solidFill>
                <a:latin typeface="Calibri"/>
              </a:rPr>
              <a:t>Digital Support and Security T Level  ·  Lesson slides</a:t>
            </a:r>
          </a:p>
          <a:p>
            <a:pPr algn="l"/>
            <a:r>
              <a:rPr sz="1100" b="0" i="0">
                <a:solidFill>
                  <a:srgbClr val="A9C8F0"/>
                </a:solidFill>
                <a:latin typeface="Calibri"/>
              </a:rPr>
              <a:t>Unofficial teaching resource. Check the official Pearson specification for assessment detail.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OCCUPATIONAL SPECIALISMS  ·  Specialism Content Area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Learning objectives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Risk Management and Threat Assessment</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2</a:t>
            </a:r>
          </a:p>
        </p:txBody>
      </p:sp>
      <p:sp>
        <p:nvSpPr>
          <p:cNvPr id="6" name="TextBox 5"/>
          <p:cNvSpPr txBox="1"/>
          <p:nvPr/>
        </p:nvSpPr>
        <p:spPr>
          <a:xfrm>
            <a:off x="548640" y="1508760"/>
            <a:ext cx="6766560" cy="365760"/>
          </a:xfrm>
          <a:prstGeom prst="rect">
            <a:avLst/>
          </a:prstGeom>
          <a:noFill/>
        </p:spPr>
        <p:txBody>
          <a:bodyPr wrap="square" anchor="t" lIns="0" rIns="0" tIns="0" bIns="0"/>
          <a:lstStyle/>
          <a:p>
            <a:pPr algn="l"/>
            <a:r>
              <a:rPr sz="1600" b="0" i="1">
                <a:solidFill>
                  <a:srgbClr val="54595D"/>
                </a:solidFill>
                <a:latin typeface="Calibri"/>
              </a:rPr>
              <a:t>By the end of this lesson you should be able to:</a:t>
            </a:r>
          </a:p>
        </p:txBody>
      </p:sp>
      <p:sp>
        <p:nvSpPr>
          <p:cNvPr id="7" name="Oval 6"/>
          <p:cNvSpPr/>
          <p:nvPr/>
        </p:nvSpPr>
        <p:spPr>
          <a:xfrm>
            <a:off x="548640" y="2234565"/>
            <a:ext cx="457200" cy="45720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1</a:t>
            </a:r>
          </a:p>
        </p:txBody>
      </p:sp>
      <p:sp>
        <p:nvSpPr>
          <p:cNvPr id="8" name="TextBox 7"/>
          <p:cNvSpPr txBox="1"/>
          <p:nvPr/>
        </p:nvSpPr>
        <p:spPr>
          <a:xfrm>
            <a:off x="1234440" y="2011680"/>
            <a:ext cx="6035040" cy="902969"/>
          </a:xfrm>
          <a:prstGeom prst="rect">
            <a:avLst/>
          </a:prstGeom>
          <a:noFill/>
        </p:spPr>
        <p:txBody>
          <a:bodyPr wrap="square" anchor="ctr" lIns="0" rIns="0" tIns="0" bIns="0"/>
          <a:lstStyle/>
          <a:p>
            <a:pPr algn="l"/>
            <a:r>
              <a:rPr sz="2000" b="0" i="0">
                <a:solidFill>
                  <a:srgbClr val="202122"/>
                </a:solidFill>
                <a:latin typeface="Calibri"/>
              </a:rPr>
              <a:t>Describe the impacts of realised threats and common critical-system vulnerabilities.</a:t>
            </a:r>
          </a:p>
        </p:txBody>
      </p:sp>
      <p:sp>
        <p:nvSpPr>
          <p:cNvPr id="9" name="Oval 8"/>
          <p:cNvSpPr/>
          <p:nvPr/>
        </p:nvSpPr>
        <p:spPr>
          <a:xfrm>
            <a:off x="548640" y="3274695"/>
            <a:ext cx="457200" cy="45720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2</a:t>
            </a:r>
          </a:p>
        </p:txBody>
      </p:sp>
      <p:sp>
        <p:nvSpPr>
          <p:cNvPr id="10" name="TextBox 9"/>
          <p:cNvSpPr txBox="1"/>
          <p:nvPr/>
        </p:nvSpPr>
        <p:spPr>
          <a:xfrm>
            <a:off x="1234440" y="3051810"/>
            <a:ext cx="6035040" cy="902969"/>
          </a:xfrm>
          <a:prstGeom prst="rect">
            <a:avLst/>
          </a:prstGeom>
          <a:noFill/>
        </p:spPr>
        <p:txBody>
          <a:bodyPr wrap="square" anchor="ctr" lIns="0" rIns="0" tIns="0" bIns="0"/>
          <a:lstStyle/>
          <a:p>
            <a:pPr algn="l"/>
            <a:r>
              <a:rPr sz="2000" b="0" i="0">
                <a:solidFill>
                  <a:srgbClr val="202122"/>
                </a:solidFill>
                <a:latin typeface="Calibri"/>
              </a:rPr>
              <a:t>Apply the five-step risk management process.</a:t>
            </a:r>
          </a:p>
        </p:txBody>
      </p:sp>
      <p:sp>
        <p:nvSpPr>
          <p:cNvPr id="11" name="Oval 10"/>
          <p:cNvSpPr/>
          <p:nvPr/>
        </p:nvSpPr>
        <p:spPr>
          <a:xfrm>
            <a:off x="548640" y="4314825"/>
            <a:ext cx="457200" cy="45720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3</a:t>
            </a:r>
          </a:p>
        </p:txBody>
      </p:sp>
      <p:sp>
        <p:nvSpPr>
          <p:cNvPr id="12" name="TextBox 11"/>
          <p:cNvSpPr txBox="1"/>
          <p:nvPr/>
        </p:nvSpPr>
        <p:spPr>
          <a:xfrm>
            <a:off x="1234440" y="4091939"/>
            <a:ext cx="6035040" cy="902969"/>
          </a:xfrm>
          <a:prstGeom prst="rect">
            <a:avLst/>
          </a:prstGeom>
          <a:noFill/>
        </p:spPr>
        <p:txBody>
          <a:bodyPr wrap="square" anchor="ctr" lIns="0" rIns="0" tIns="0" bIns="0"/>
          <a:lstStyle/>
          <a:p>
            <a:pPr algn="l"/>
            <a:r>
              <a:rPr sz="2000" b="0" i="0">
                <a:solidFill>
                  <a:srgbClr val="202122"/>
                </a:solidFill>
                <a:latin typeface="Calibri"/>
              </a:rPr>
              <a:t>Use qualitative and quantitative threat analysis tools.</a:t>
            </a:r>
          </a:p>
        </p:txBody>
      </p:sp>
      <p:sp>
        <p:nvSpPr>
          <p:cNvPr id="13" name="Oval 12"/>
          <p:cNvSpPr/>
          <p:nvPr/>
        </p:nvSpPr>
        <p:spPr>
          <a:xfrm>
            <a:off x="548640" y="5354954"/>
            <a:ext cx="457200" cy="45720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4</a:t>
            </a:r>
          </a:p>
        </p:txBody>
      </p:sp>
      <p:sp>
        <p:nvSpPr>
          <p:cNvPr id="14" name="TextBox 13"/>
          <p:cNvSpPr txBox="1"/>
          <p:nvPr/>
        </p:nvSpPr>
        <p:spPr>
          <a:xfrm>
            <a:off x="1234440" y="5132069"/>
            <a:ext cx="6035040" cy="902969"/>
          </a:xfrm>
          <a:prstGeom prst="rect">
            <a:avLst/>
          </a:prstGeom>
          <a:noFill/>
        </p:spPr>
        <p:txBody>
          <a:bodyPr wrap="square" anchor="ctr" lIns="0" rIns="0" tIns="0" bIns="0"/>
          <a:lstStyle/>
          <a:p>
            <a:pPr algn="l"/>
            <a:r>
              <a:rPr sz="2000" b="0" i="0">
                <a:solidFill>
                  <a:srgbClr val="202122"/>
                </a:solidFill>
                <a:latin typeface="Calibri"/>
              </a:rPr>
              <a:t>Choose a risk response and describe the penetration testing process.</a:t>
            </a:r>
          </a:p>
        </p:txBody>
      </p:sp>
      <p:sp>
        <p:nvSpPr>
          <p:cNvPr id="15" name="Rounded Rectangle 14"/>
          <p:cNvSpPr/>
          <p:nvPr/>
        </p:nvSpPr>
        <p:spPr>
          <a:xfrm>
            <a:off x="7772400" y="1508760"/>
            <a:ext cx="3867912" cy="4526280"/>
          </a:xfrm>
          <a:prstGeom prst="roundRect">
            <a:avLst>
              <a:gd name="adj" fmla="val 8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046720" y="1737360"/>
            <a:ext cx="3291840" cy="365760"/>
          </a:xfrm>
          <a:prstGeom prst="rect">
            <a:avLst/>
          </a:prstGeom>
          <a:noFill/>
        </p:spPr>
        <p:txBody>
          <a:bodyPr wrap="square" anchor="t" lIns="0" rIns="0" tIns="0" bIns="0"/>
          <a:lstStyle/>
          <a:p>
            <a:pPr algn="l"/>
            <a:r>
              <a:rPr sz="1300" b="1" i="0">
                <a:solidFill>
                  <a:srgbClr val="0645AD"/>
                </a:solidFill>
                <a:latin typeface="Calibri"/>
              </a:rPr>
              <a:t>STARTER</a:t>
            </a:r>
          </a:p>
        </p:txBody>
      </p:sp>
      <p:sp>
        <p:nvSpPr>
          <p:cNvPr id="17" name="TextBox 16"/>
          <p:cNvSpPr txBox="1"/>
          <p:nvPr/>
        </p:nvSpPr>
        <p:spPr>
          <a:xfrm>
            <a:off x="8046720" y="2194560"/>
            <a:ext cx="3291840" cy="3657600"/>
          </a:xfrm>
          <a:prstGeom prst="rect">
            <a:avLst/>
          </a:prstGeom>
          <a:noFill/>
        </p:spPr>
        <p:txBody>
          <a:bodyPr wrap="square" anchor="t" lIns="0" rIns="0" tIns="0" bIns="0"/>
          <a:lstStyle/>
          <a:p>
            <a:pPr algn="l"/>
            <a:r>
              <a:rPr sz="2200" b="0" i="0">
                <a:solidFill>
                  <a:srgbClr val="03306E"/>
                </a:solidFill>
                <a:latin typeface="Cambria"/>
              </a:rPr>
              <a:t>Name three things that could stop a company's network working tomorrow. Which is most likely? Which would hurt most?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OCCUPATIONAL SPECIALISMS  ·  Specialism Content Area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Impacts of realised threats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Risk Management and Threat Assessment</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3</a:t>
            </a:r>
          </a:p>
        </p:txBody>
      </p:sp>
      <p:sp>
        <p:nvSpPr>
          <p:cNvPr id="6" name="Rounded Rectangle 5"/>
          <p:cNvSpPr/>
          <p:nvPr/>
        </p:nvSpPr>
        <p:spPr>
          <a:xfrm>
            <a:off x="548640" y="1600200"/>
            <a:ext cx="3515258"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777240" y="1828800"/>
            <a:ext cx="457200" cy="45720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1</a:t>
            </a:r>
          </a:p>
        </p:txBody>
      </p:sp>
      <p:sp>
        <p:nvSpPr>
          <p:cNvPr id="8" name="TextBox 7"/>
          <p:cNvSpPr txBox="1"/>
          <p:nvPr/>
        </p:nvSpPr>
        <p:spPr>
          <a:xfrm>
            <a:off x="1371600" y="1801368"/>
            <a:ext cx="2509418" cy="512064"/>
          </a:xfrm>
          <a:prstGeom prst="rect">
            <a:avLst/>
          </a:prstGeom>
          <a:noFill/>
        </p:spPr>
        <p:txBody>
          <a:bodyPr wrap="square" anchor="ctr" lIns="0" rIns="0" tIns="0" bIns="0"/>
          <a:lstStyle/>
          <a:p>
            <a:pPr algn="l"/>
            <a:r>
              <a:rPr sz="1900" b="1" i="0">
                <a:solidFill>
                  <a:srgbClr val="03306E"/>
                </a:solidFill>
                <a:latin typeface="Calibri"/>
              </a:rPr>
              <a:t>Danger to life</a:t>
            </a:r>
          </a:p>
        </p:txBody>
      </p:sp>
      <p:sp>
        <p:nvSpPr>
          <p:cNvPr id="9" name="TextBox 8"/>
          <p:cNvSpPr txBox="1"/>
          <p:nvPr/>
        </p:nvSpPr>
        <p:spPr>
          <a:xfrm>
            <a:off x="777240" y="2468880"/>
            <a:ext cx="3058058" cy="1143000"/>
          </a:xfrm>
          <a:prstGeom prst="rect">
            <a:avLst/>
          </a:prstGeom>
          <a:noFill/>
        </p:spPr>
        <p:txBody>
          <a:bodyPr wrap="square" anchor="t" lIns="0" rIns="0" tIns="0" bIns="0"/>
          <a:lstStyle/>
          <a:p>
            <a:pPr algn="l"/>
            <a:r>
              <a:rPr sz="2000" b="0" i="0">
                <a:solidFill>
                  <a:srgbClr val="202122"/>
                </a:solidFill>
                <a:latin typeface="Calibri"/>
              </a:rPr>
              <a:t>Health and safety breaches.</a:t>
            </a:r>
          </a:p>
        </p:txBody>
      </p:sp>
      <p:sp>
        <p:nvSpPr>
          <p:cNvPr id="10" name="Rounded Rectangle 9"/>
          <p:cNvSpPr/>
          <p:nvPr/>
        </p:nvSpPr>
        <p:spPr>
          <a:xfrm>
            <a:off x="4338218" y="1600200"/>
            <a:ext cx="3515258"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4566818" y="1828800"/>
            <a:ext cx="457200" cy="45720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2</a:t>
            </a:r>
          </a:p>
        </p:txBody>
      </p:sp>
      <p:sp>
        <p:nvSpPr>
          <p:cNvPr id="12" name="TextBox 11"/>
          <p:cNvSpPr txBox="1"/>
          <p:nvPr/>
        </p:nvSpPr>
        <p:spPr>
          <a:xfrm>
            <a:off x="5161178" y="1801368"/>
            <a:ext cx="2509418" cy="512064"/>
          </a:xfrm>
          <a:prstGeom prst="rect">
            <a:avLst/>
          </a:prstGeom>
          <a:noFill/>
        </p:spPr>
        <p:txBody>
          <a:bodyPr wrap="square" anchor="ctr" lIns="0" rIns="0" tIns="0" bIns="0"/>
          <a:lstStyle/>
          <a:p>
            <a:pPr algn="l"/>
            <a:r>
              <a:rPr sz="1900" b="1" i="0">
                <a:solidFill>
                  <a:srgbClr val="03306E"/>
                </a:solidFill>
                <a:latin typeface="Calibri"/>
              </a:rPr>
              <a:t>Privacy</a:t>
            </a:r>
          </a:p>
        </p:txBody>
      </p:sp>
      <p:sp>
        <p:nvSpPr>
          <p:cNvPr id="13" name="TextBox 12"/>
          <p:cNvSpPr txBox="1"/>
          <p:nvPr/>
        </p:nvSpPr>
        <p:spPr>
          <a:xfrm>
            <a:off x="4566818" y="2468880"/>
            <a:ext cx="3058058" cy="1143000"/>
          </a:xfrm>
          <a:prstGeom prst="rect">
            <a:avLst/>
          </a:prstGeom>
          <a:noFill/>
        </p:spPr>
        <p:txBody>
          <a:bodyPr wrap="square" anchor="t" lIns="0" rIns="0" tIns="0" bIns="0"/>
          <a:lstStyle/>
          <a:p>
            <a:pPr algn="l"/>
            <a:r>
              <a:rPr sz="2000" b="0" i="0">
                <a:solidFill>
                  <a:srgbClr val="202122"/>
                </a:solidFill>
                <a:latin typeface="Calibri"/>
              </a:rPr>
              <a:t>Data breaches and identity theft.</a:t>
            </a:r>
          </a:p>
        </p:txBody>
      </p:sp>
      <p:sp>
        <p:nvSpPr>
          <p:cNvPr id="14" name="Rounded Rectangle 13"/>
          <p:cNvSpPr/>
          <p:nvPr/>
        </p:nvSpPr>
        <p:spPr>
          <a:xfrm>
            <a:off x="8127796" y="1600200"/>
            <a:ext cx="3515258"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8356396" y="1828800"/>
            <a:ext cx="457200" cy="45720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3</a:t>
            </a:r>
          </a:p>
        </p:txBody>
      </p:sp>
      <p:sp>
        <p:nvSpPr>
          <p:cNvPr id="16" name="TextBox 15"/>
          <p:cNvSpPr txBox="1"/>
          <p:nvPr/>
        </p:nvSpPr>
        <p:spPr>
          <a:xfrm>
            <a:off x="8950756" y="1801368"/>
            <a:ext cx="2509418" cy="512064"/>
          </a:xfrm>
          <a:prstGeom prst="rect">
            <a:avLst/>
          </a:prstGeom>
          <a:noFill/>
        </p:spPr>
        <p:txBody>
          <a:bodyPr wrap="square" anchor="ctr" lIns="0" rIns="0" tIns="0" bIns="0"/>
          <a:lstStyle/>
          <a:p>
            <a:pPr algn="l"/>
            <a:r>
              <a:rPr sz="1600" b="1" i="0">
                <a:solidFill>
                  <a:srgbClr val="03306E"/>
                </a:solidFill>
                <a:latin typeface="Calibri"/>
              </a:rPr>
              <a:t>Property and resources</a:t>
            </a:r>
          </a:p>
        </p:txBody>
      </p:sp>
      <p:sp>
        <p:nvSpPr>
          <p:cNvPr id="17" name="TextBox 16"/>
          <p:cNvSpPr txBox="1"/>
          <p:nvPr/>
        </p:nvSpPr>
        <p:spPr>
          <a:xfrm>
            <a:off x="8356396" y="2468880"/>
            <a:ext cx="3058058" cy="1143000"/>
          </a:xfrm>
          <a:prstGeom prst="rect">
            <a:avLst/>
          </a:prstGeom>
          <a:noFill/>
        </p:spPr>
        <p:txBody>
          <a:bodyPr wrap="square" anchor="t" lIns="0" rIns="0" tIns="0" bIns="0"/>
          <a:lstStyle/>
          <a:p>
            <a:pPr algn="l"/>
            <a:r>
              <a:rPr sz="2000" b="0" i="0">
                <a:solidFill>
                  <a:srgbClr val="202122"/>
                </a:solidFill>
                <a:latin typeface="Calibri"/>
              </a:rPr>
              <a:t>Physical damage.</a:t>
            </a:r>
          </a:p>
        </p:txBody>
      </p:sp>
      <p:sp>
        <p:nvSpPr>
          <p:cNvPr id="18" name="Rounded Rectangle 17"/>
          <p:cNvSpPr/>
          <p:nvPr/>
        </p:nvSpPr>
        <p:spPr>
          <a:xfrm>
            <a:off x="548640" y="4023360"/>
            <a:ext cx="3515258"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777240" y="4251960"/>
            <a:ext cx="457200" cy="45720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4</a:t>
            </a:r>
          </a:p>
        </p:txBody>
      </p:sp>
      <p:sp>
        <p:nvSpPr>
          <p:cNvPr id="20" name="TextBox 19"/>
          <p:cNvSpPr txBox="1"/>
          <p:nvPr/>
        </p:nvSpPr>
        <p:spPr>
          <a:xfrm>
            <a:off x="1371600" y="4224528"/>
            <a:ext cx="2509418" cy="512064"/>
          </a:xfrm>
          <a:prstGeom prst="rect">
            <a:avLst/>
          </a:prstGeom>
          <a:noFill/>
        </p:spPr>
        <p:txBody>
          <a:bodyPr wrap="square" anchor="ctr" lIns="0" rIns="0" tIns="0" bIns="0"/>
          <a:lstStyle/>
          <a:p>
            <a:pPr algn="l"/>
            <a:r>
              <a:rPr sz="1900" b="1" i="0">
                <a:solidFill>
                  <a:srgbClr val="03306E"/>
                </a:solidFill>
                <a:latin typeface="Calibri"/>
              </a:rPr>
              <a:t>Economic</a:t>
            </a:r>
          </a:p>
        </p:txBody>
      </p:sp>
      <p:sp>
        <p:nvSpPr>
          <p:cNvPr id="21" name="TextBox 20"/>
          <p:cNvSpPr txBox="1"/>
          <p:nvPr/>
        </p:nvSpPr>
        <p:spPr>
          <a:xfrm>
            <a:off x="777240" y="4892040"/>
            <a:ext cx="3058058" cy="1143000"/>
          </a:xfrm>
          <a:prstGeom prst="rect">
            <a:avLst/>
          </a:prstGeom>
          <a:noFill/>
        </p:spPr>
        <p:txBody>
          <a:bodyPr wrap="square" anchor="t" lIns="0" rIns="0" tIns="0" bIns="0"/>
          <a:lstStyle/>
          <a:p>
            <a:pPr algn="l"/>
            <a:r>
              <a:rPr sz="2000" b="0" i="0">
                <a:solidFill>
                  <a:srgbClr val="202122"/>
                </a:solidFill>
                <a:latin typeface="Calibri"/>
              </a:rPr>
              <a:t>Financial loss.</a:t>
            </a:r>
          </a:p>
        </p:txBody>
      </p:sp>
      <p:sp>
        <p:nvSpPr>
          <p:cNvPr id="22" name="Rounded Rectangle 21"/>
          <p:cNvSpPr/>
          <p:nvPr/>
        </p:nvSpPr>
        <p:spPr>
          <a:xfrm>
            <a:off x="4338218" y="4023360"/>
            <a:ext cx="3515258"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4566818" y="4251960"/>
            <a:ext cx="457200" cy="45720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5</a:t>
            </a:r>
          </a:p>
        </p:txBody>
      </p:sp>
      <p:sp>
        <p:nvSpPr>
          <p:cNvPr id="24" name="TextBox 23"/>
          <p:cNvSpPr txBox="1"/>
          <p:nvPr/>
        </p:nvSpPr>
        <p:spPr>
          <a:xfrm>
            <a:off x="5161178" y="4224528"/>
            <a:ext cx="2509418" cy="512064"/>
          </a:xfrm>
          <a:prstGeom prst="rect">
            <a:avLst/>
          </a:prstGeom>
          <a:noFill/>
        </p:spPr>
        <p:txBody>
          <a:bodyPr wrap="square" anchor="ctr" lIns="0" rIns="0" tIns="0" bIns="0"/>
          <a:lstStyle/>
          <a:p>
            <a:pPr algn="l"/>
            <a:r>
              <a:rPr sz="1900" b="1" i="0">
                <a:solidFill>
                  <a:srgbClr val="03306E"/>
                </a:solidFill>
                <a:latin typeface="Calibri"/>
              </a:rPr>
              <a:t>Reputational</a:t>
            </a:r>
          </a:p>
        </p:txBody>
      </p:sp>
      <p:sp>
        <p:nvSpPr>
          <p:cNvPr id="25" name="TextBox 24"/>
          <p:cNvSpPr txBox="1"/>
          <p:nvPr/>
        </p:nvSpPr>
        <p:spPr>
          <a:xfrm>
            <a:off x="4566818" y="4892040"/>
            <a:ext cx="3058058" cy="1143000"/>
          </a:xfrm>
          <a:prstGeom prst="rect">
            <a:avLst/>
          </a:prstGeom>
          <a:noFill/>
        </p:spPr>
        <p:txBody>
          <a:bodyPr wrap="square" anchor="t" lIns="0" rIns="0" tIns="0" bIns="0"/>
          <a:lstStyle/>
          <a:p>
            <a:pPr algn="l"/>
            <a:r>
              <a:rPr sz="2000" b="0" i="0">
                <a:solidFill>
                  <a:srgbClr val="202122"/>
                </a:solidFill>
                <a:latin typeface="Calibri"/>
              </a:rPr>
              <a:t>Damage to the brand.</a:t>
            </a:r>
          </a:p>
        </p:txBody>
      </p:sp>
      <p:sp>
        <p:nvSpPr>
          <p:cNvPr id="26" name="Rounded Rectangle 25"/>
          <p:cNvSpPr/>
          <p:nvPr/>
        </p:nvSpPr>
        <p:spPr>
          <a:xfrm>
            <a:off x="8127796" y="4023360"/>
            <a:ext cx="3515258"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8356396" y="4251960"/>
            <a:ext cx="457200" cy="45720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6</a:t>
            </a:r>
          </a:p>
        </p:txBody>
      </p:sp>
      <p:sp>
        <p:nvSpPr>
          <p:cNvPr id="28" name="TextBox 27"/>
          <p:cNvSpPr txBox="1"/>
          <p:nvPr/>
        </p:nvSpPr>
        <p:spPr>
          <a:xfrm>
            <a:off x="8950756" y="4224528"/>
            <a:ext cx="2509418" cy="512064"/>
          </a:xfrm>
          <a:prstGeom prst="rect">
            <a:avLst/>
          </a:prstGeom>
          <a:noFill/>
        </p:spPr>
        <p:txBody>
          <a:bodyPr wrap="square" anchor="ctr" lIns="0" rIns="0" tIns="0" bIns="0"/>
          <a:lstStyle/>
          <a:p>
            <a:pPr algn="l"/>
            <a:r>
              <a:rPr sz="1900" b="1" i="0">
                <a:solidFill>
                  <a:srgbClr val="03306E"/>
                </a:solidFill>
                <a:latin typeface="Calibri"/>
              </a:rPr>
              <a:t>Legal</a:t>
            </a:r>
          </a:p>
        </p:txBody>
      </p:sp>
      <p:sp>
        <p:nvSpPr>
          <p:cNvPr id="29" name="TextBox 28"/>
          <p:cNvSpPr txBox="1"/>
          <p:nvPr/>
        </p:nvSpPr>
        <p:spPr>
          <a:xfrm>
            <a:off x="8356396" y="4892040"/>
            <a:ext cx="3058058" cy="1143000"/>
          </a:xfrm>
          <a:prstGeom prst="rect">
            <a:avLst/>
          </a:prstGeom>
          <a:noFill/>
        </p:spPr>
        <p:txBody>
          <a:bodyPr wrap="square" anchor="t" lIns="0" rIns="0" tIns="0" bIns="0"/>
          <a:lstStyle/>
          <a:p>
            <a:pPr algn="l"/>
            <a:r>
              <a:rPr sz="2000" b="0" i="0">
                <a:solidFill>
                  <a:srgbClr val="202122"/>
                </a:solidFill>
                <a:latin typeface="Calibri"/>
              </a:rPr>
              <a:t>Fines and prosecution.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OCCUPATIONAL SPECIALISMS  ·  Specialism Content Area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The risk management process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Risk Management and Threat Assessment</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4</a:t>
            </a:r>
          </a:p>
        </p:txBody>
      </p:sp>
      <p:sp>
        <p:nvSpPr>
          <p:cNvPr id="6" name="TextBox 5"/>
          <p:cNvSpPr txBox="1"/>
          <p:nvPr/>
        </p:nvSpPr>
        <p:spPr>
          <a:xfrm>
            <a:off x="548640" y="1554480"/>
            <a:ext cx="6720840" cy="4617720"/>
          </a:xfrm>
          <a:prstGeom prst="rect">
            <a:avLst/>
          </a:prstGeom>
          <a:noFill/>
        </p:spPr>
        <p:txBody>
          <a:bodyPr wrap="square" lIns="0" rIns="0" tIns="0" bIns="0">
            <a:spAutoFit/>
          </a:bodyPr>
          <a:lstStyle/>
          <a:p>
            <a:pPr>
              <a:spcAft>
                <a:spcPts val="1140"/>
              </a:spcAft>
            </a:pPr>
            <a:r>
              <a:rPr sz="1900" b="0">
                <a:solidFill>
                  <a:srgbClr val="202122"/>
                </a:solidFill>
                <a:latin typeface="Calibri"/>
              </a:rPr>
              <a:t>Risk management is a five-step cycle.</a:t>
            </a:r>
          </a:p>
          <a:p>
            <a:pPr>
              <a:spcAft>
                <a:spcPts val="1140"/>
              </a:spcAft>
            </a:pPr>
            <a:r>
              <a:rPr sz="1900" b="0">
                <a:solidFill>
                  <a:srgbClr val="202122"/>
                </a:solidFill>
                <a:latin typeface="Calibri"/>
              </a:rPr>
              <a:t>Identify the risks, threats and vulnerabilities to systems and data.</a:t>
            </a:r>
          </a:p>
          <a:p>
            <a:pPr>
              <a:spcAft>
                <a:spcPts val="1140"/>
              </a:spcAft>
            </a:pPr>
            <a:r>
              <a:rPr sz="1900" b="1">
                <a:solidFill>
                  <a:srgbClr val="202122"/>
                </a:solidFill>
                <a:latin typeface="Calibri"/>
              </a:rPr>
              <a:t>Assess probability:</a:t>
            </a:r>
            <a:r>
              <a:rPr sz="1900" b="0">
                <a:solidFill>
                  <a:srgbClr val="202122"/>
                </a:solidFill>
                <a:latin typeface="Calibri"/>
              </a:rPr>
              <a:t> how likely is each one? High, medium or low.</a:t>
            </a:r>
          </a:p>
          <a:p>
            <a:pPr>
              <a:spcAft>
                <a:spcPts val="1140"/>
              </a:spcAft>
            </a:pPr>
            <a:r>
              <a:rPr sz="1900" b="1">
                <a:solidFill>
                  <a:srgbClr val="202122"/>
                </a:solidFill>
                <a:latin typeface="Calibri"/>
              </a:rPr>
              <a:t>Assess impact:</a:t>
            </a:r>
            <a:r>
              <a:rPr sz="1900" b="0">
                <a:solidFill>
                  <a:srgbClr val="202122"/>
                </a:solidFill>
                <a:latin typeface="Calibri"/>
              </a:rPr>
              <a:t> how much damage would it do, for example to the value of assets?</a:t>
            </a:r>
          </a:p>
          <a:p>
            <a:pPr>
              <a:spcAft>
                <a:spcPts val="1140"/>
              </a:spcAft>
            </a:pPr>
            <a:r>
              <a:rPr sz="1900" b="1">
                <a:solidFill>
                  <a:srgbClr val="202122"/>
                </a:solidFill>
                <a:latin typeface="Calibri"/>
              </a:rPr>
              <a:t>Prioritise:</a:t>
            </a:r>
            <a:r>
              <a:rPr sz="1900" b="0">
                <a:solidFill>
                  <a:srgbClr val="202122"/>
                </a:solidFill>
                <a:latin typeface="Calibri"/>
              </a:rPr>
              <a:t> rank risks by probability multiplied by impact, and give each an owner who is responsible for it.</a:t>
            </a:r>
          </a:p>
          <a:p>
            <a:pPr>
              <a:spcAft>
                <a:spcPts val="1140"/>
              </a:spcAft>
            </a:pPr>
            <a:r>
              <a:rPr sz="1900" b="1">
                <a:solidFill>
                  <a:srgbClr val="202122"/>
                </a:solidFill>
                <a:latin typeface="Calibri"/>
              </a:rPr>
              <a:t>Mitigate:</a:t>
            </a:r>
            <a:r>
              <a:rPr sz="1900" b="0">
                <a:solidFill>
                  <a:srgbClr val="202122"/>
                </a:solidFill>
                <a:latin typeface="Calibri"/>
              </a:rPr>
              <a:t> put controls in place to reduce the probability or the impact, starting with the highest priority. Then keep reviewing, because new risks appear all the time.</a:t>
            </a:r>
          </a:p>
        </p:txBody>
      </p:sp>
      <p:sp>
        <p:nvSpPr>
          <p:cNvPr id="7" name="Rounded Rectangle 6"/>
          <p:cNvSpPr/>
          <p:nvPr/>
        </p:nvSpPr>
        <p:spPr>
          <a:xfrm>
            <a:off x="7772400" y="1554480"/>
            <a:ext cx="3867912" cy="4526280"/>
          </a:xfrm>
          <a:prstGeom prst="roundRect">
            <a:avLst>
              <a:gd name="adj" fmla="val 8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046720" y="1828800"/>
            <a:ext cx="548640" cy="54864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202122"/>
                </a:solidFill>
                <a:latin typeface="Calibri"/>
              </a:rPr>
              <a:t>e.g.</a:t>
            </a:r>
          </a:p>
        </p:txBody>
      </p:sp>
      <p:sp>
        <p:nvSpPr>
          <p:cNvPr id="9" name="TextBox 8"/>
          <p:cNvSpPr txBox="1"/>
          <p:nvPr/>
        </p:nvSpPr>
        <p:spPr>
          <a:xfrm>
            <a:off x="8046720" y="2560320"/>
            <a:ext cx="3291840" cy="365760"/>
          </a:xfrm>
          <a:prstGeom prst="rect">
            <a:avLst/>
          </a:prstGeom>
          <a:noFill/>
        </p:spPr>
        <p:txBody>
          <a:bodyPr wrap="square" anchor="t" lIns="0" rIns="0" tIns="0" bIns="0"/>
          <a:lstStyle/>
          <a:p>
            <a:pPr algn="l"/>
            <a:r>
              <a:rPr sz="1300" b="1" i="0">
                <a:solidFill>
                  <a:srgbClr val="A9C8F0"/>
                </a:solidFill>
                <a:latin typeface="Calibri"/>
              </a:rPr>
              <a:t>EXAMPLE</a:t>
            </a:r>
          </a:p>
        </p:txBody>
      </p:sp>
      <p:sp>
        <p:nvSpPr>
          <p:cNvPr id="10" name="TextBox 9"/>
          <p:cNvSpPr txBox="1"/>
          <p:nvPr/>
        </p:nvSpPr>
        <p:spPr>
          <a:xfrm>
            <a:off x="8046720" y="2971800"/>
            <a:ext cx="3291840" cy="2971800"/>
          </a:xfrm>
          <a:prstGeom prst="rect">
            <a:avLst/>
          </a:prstGeom>
          <a:noFill/>
        </p:spPr>
        <p:txBody>
          <a:bodyPr wrap="square" anchor="t" lIns="0" rIns="0" tIns="0" bIns="0"/>
          <a:lstStyle/>
          <a:p>
            <a:pPr algn="l"/>
            <a:r>
              <a:rPr sz="1900" b="0" i="0">
                <a:solidFill>
                  <a:srgbClr val="FFFFFF"/>
                </a:solidFill>
                <a:latin typeface="Cambria"/>
              </a:rPr>
              <a:t>Risk: a laptop with customer data is stolen. Probability medium, impact high, so priority high. Owner: IT manager. Mitigation: full disk encryption on all laptops.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OCCUPATIONAL SPECIALISMS  ·  Specialism Content Area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The risk management process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Risk Management and Threat Assessment</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5</a:t>
            </a:r>
          </a:p>
        </p:txBody>
      </p:sp>
      <p:sp>
        <p:nvSpPr>
          <p:cNvPr id="6" name="Rectangle 5"/>
          <p:cNvSpPr/>
          <p:nvPr/>
        </p:nvSpPr>
        <p:spPr>
          <a:xfrm>
            <a:off x="1603217" y="2839212"/>
            <a:ext cx="8985260" cy="36576"/>
          </a:xfrm>
          <a:prstGeom prst="rect">
            <a:avLst/>
          </a:prstGeom>
          <a:solidFill>
            <a:srgbClr val="A9C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283177" y="2537460"/>
            <a:ext cx="640080" cy="64008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202122"/>
                </a:solidFill>
                <a:latin typeface="Calibri"/>
              </a:rPr>
              <a:t>1</a:t>
            </a:r>
          </a:p>
        </p:txBody>
      </p:sp>
      <p:sp>
        <p:nvSpPr>
          <p:cNvPr id="8" name="TextBox 7"/>
          <p:cNvSpPr txBox="1"/>
          <p:nvPr/>
        </p:nvSpPr>
        <p:spPr>
          <a:xfrm>
            <a:off x="548640" y="3314699"/>
            <a:ext cx="2109155" cy="731520"/>
          </a:xfrm>
          <a:prstGeom prst="rect">
            <a:avLst/>
          </a:prstGeom>
          <a:noFill/>
        </p:spPr>
        <p:txBody>
          <a:bodyPr wrap="square" anchor="t" lIns="0" rIns="0" tIns="0" bIns="0"/>
          <a:lstStyle/>
          <a:p>
            <a:pPr algn="ctr"/>
            <a:r>
              <a:rPr sz="1700" b="1" i="0">
                <a:solidFill>
                  <a:srgbClr val="03306E"/>
                </a:solidFill>
                <a:latin typeface="Calibri"/>
              </a:rPr>
              <a:t>Identify</a:t>
            </a:r>
          </a:p>
        </p:txBody>
      </p:sp>
      <p:sp>
        <p:nvSpPr>
          <p:cNvPr id="9" name="Rounded Rectangle 8"/>
          <p:cNvSpPr/>
          <p:nvPr/>
        </p:nvSpPr>
        <p:spPr>
          <a:xfrm>
            <a:off x="548640" y="4091939"/>
            <a:ext cx="2109155" cy="114300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85800" y="4229100"/>
            <a:ext cx="1834835" cy="868680"/>
          </a:xfrm>
          <a:prstGeom prst="rect">
            <a:avLst/>
          </a:prstGeom>
          <a:noFill/>
        </p:spPr>
        <p:txBody>
          <a:bodyPr wrap="square" anchor="t" lIns="0" rIns="0" tIns="0" bIns="0"/>
          <a:lstStyle/>
          <a:p>
            <a:pPr algn="l"/>
            <a:r>
              <a:rPr sz="1600" b="0" i="0">
                <a:solidFill>
                  <a:srgbClr val="202122"/>
                </a:solidFill>
                <a:latin typeface="Calibri"/>
              </a:rPr>
              <a:t>Risks, threats and vulnerabilities.</a:t>
            </a:r>
          </a:p>
        </p:txBody>
      </p:sp>
      <p:sp>
        <p:nvSpPr>
          <p:cNvPr id="11" name="Oval 10"/>
          <p:cNvSpPr/>
          <p:nvPr/>
        </p:nvSpPr>
        <p:spPr>
          <a:xfrm>
            <a:off x="3529492" y="2537460"/>
            <a:ext cx="640080" cy="64008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202122"/>
                </a:solidFill>
                <a:latin typeface="Calibri"/>
              </a:rPr>
              <a:t>2</a:t>
            </a:r>
          </a:p>
        </p:txBody>
      </p:sp>
      <p:sp>
        <p:nvSpPr>
          <p:cNvPr id="12" name="TextBox 11"/>
          <p:cNvSpPr txBox="1"/>
          <p:nvPr/>
        </p:nvSpPr>
        <p:spPr>
          <a:xfrm>
            <a:off x="2794955" y="3314699"/>
            <a:ext cx="2109155" cy="731520"/>
          </a:xfrm>
          <a:prstGeom prst="rect">
            <a:avLst/>
          </a:prstGeom>
          <a:noFill/>
        </p:spPr>
        <p:txBody>
          <a:bodyPr wrap="square" anchor="t" lIns="0" rIns="0" tIns="0" bIns="0"/>
          <a:lstStyle/>
          <a:p>
            <a:pPr algn="ctr"/>
            <a:r>
              <a:rPr sz="1700" b="1" i="0">
                <a:solidFill>
                  <a:srgbClr val="03306E"/>
                </a:solidFill>
                <a:latin typeface="Calibri"/>
              </a:rPr>
              <a:t>Probability</a:t>
            </a:r>
          </a:p>
        </p:txBody>
      </p:sp>
      <p:sp>
        <p:nvSpPr>
          <p:cNvPr id="13" name="Rounded Rectangle 12"/>
          <p:cNvSpPr/>
          <p:nvPr/>
        </p:nvSpPr>
        <p:spPr>
          <a:xfrm>
            <a:off x="2794955" y="4091939"/>
            <a:ext cx="2109155" cy="114300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2932115" y="4229100"/>
            <a:ext cx="1834835" cy="868680"/>
          </a:xfrm>
          <a:prstGeom prst="rect">
            <a:avLst/>
          </a:prstGeom>
          <a:noFill/>
        </p:spPr>
        <p:txBody>
          <a:bodyPr wrap="square" anchor="t" lIns="0" rIns="0" tIns="0" bIns="0"/>
          <a:lstStyle/>
          <a:p>
            <a:pPr algn="l"/>
            <a:r>
              <a:rPr sz="1600" b="0" i="0">
                <a:solidFill>
                  <a:srgbClr val="202122"/>
                </a:solidFill>
                <a:latin typeface="Calibri"/>
              </a:rPr>
              <a:t>How likely: high, medium or low.</a:t>
            </a:r>
          </a:p>
        </p:txBody>
      </p:sp>
      <p:sp>
        <p:nvSpPr>
          <p:cNvPr id="15" name="Oval 14"/>
          <p:cNvSpPr/>
          <p:nvPr/>
        </p:nvSpPr>
        <p:spPr>
          <a:xfrm>
            <a:off x="5775807" y="2537460"/>
            <a:ext cx="640080" cy="64008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202122"/>
                </a:solidFill>
                <a:latin typeface="Calibri"/>
              </a:rPr>
              <a:t>3</a:t>
            </a:r>
          </a:p>
        </p:txBody>
      </p:sp>
      <p:sp>
        <p:nvSpPr>
          <p:cNvPr id="16" name="TextBox 15"/>
          <p:cNvSpPr txBox="1"/>
          <p:nvPr/>
        </p:nvSpPr>
        <p:spPr>
          <a:xfrm>
            <a:off x="5041270" y="3314699"/>
            <a:ext cx="2109155" cy="731520"/>
          </a:xfrm>
          <a:prstGeom prst="rect">
            <a:avLst/>
          </a:prstGeom>
          <a:noFill/>
        </p:spPr>
        <p:txBody>
          <a:bodyPr wrap="square" anchor="t" lIns="0" rIns="0" tIns="0" bIns="0"/>
          <a:lstStyle/>
          <a:p>
            <a:pPr algn="ctr"/>
            <a:r>
              <a:rPr sz="1700" b="1" i="0">
                <a:solidFill>
                  <a:srgbClr val="03306E"/>
                </a:solidFill>
                <a:latin typeface="Calibri"/>
              </a:rPr>
              <a:t>Impact</a:t>
            </a:r>
          </a:p>
        </p:txBody>
      </p:sp>
      <p:sp>
        <p:nvSpPr>
          <p:cNvPr id="17" name="Rounded Rectangle 16"/>
          <p:cNvSpPr/>
          <p:nvPr/>
        </p:nvSpPr>
        <p:spPr>
          <a:xfrm>
            <a:off x="5041270" y="4091939"/>
            <a:ext cx="2109155" cy="114300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178430" y="4229100"/>
            <a:ext cx="1834835" cy="868680"/>
          </a:xfrm>
          <a:prstGeom prst="rect">
            <a:avLst/>
          </a:prstGeom>
          <a:noFill/>
        </p:spPr>
        <p:txBody>
          <a:bodyPr wrap="square" anchor="t" lIns="0" rIns="0" tIns="0" bIns="0"/>
          <a:lstStyle/>
          <a:p>
            <a:pPr algn="l"/>
            <a:r>
              <a:rPr sz="1600" b="0" i="0">
                <a:solidFill>
                  <a:srgbClr val="202122"/>
                </a:solidFill>
                <a:latin typeface="Calibri"/>
              </a:rPr>
              <a:t>Extent of possible damage, e.g. asset value.</a:t>
            </a:r>
          </a:p>
        </p:txBody>
      </p:sp>
      <p:sp>
        <p:nvSpPr>
          <p:cNvPr id="19" name="Oval 18"/>
          <p:cNvSpPr/>
          <p:nvPr/>
        </p:nvSpPr>
        <p:spPr>
          <a:xfrm>
            <a:off x="8022122" y="2537460"/>
            <a:ext cx="640080" cy="64008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202122"/>
                </a:solidFill>
                <a:latin typeface="Calibri"/>
              </a:rPr>
              <a:t>4</a:t>
            </a:r>
          </a:p>
        </p:txBody>
      </p:sp>
      <p:sp>
        <p:nvSpPr>
          <p:cNvPr id="20" name="TextBox 19"/>
          <p:cNvSpPr txBox="1"/>
          <p:nvPr/>
        </p:nvSpPr>
        <p:spPr>
          <a:xfrm>
            <a:off x="7287585" y="3314699"/>
            <a:ext cx="2109155" cy="731520"/>
          </a:xfrm>
          <a:prstGeom prst="rect">
            <a:avLst/>
          </a:prstGeom>
          <a:noFill/>
        </p:spPr>
        <p:txBody>
          <a:bodyPr wrap="square" anchor="t" lIns="0" rIns="0" tIns="0" bIns="0"/>
          <a:lstStyle/>
          <a:p>
            <a:pPr algn="ctr"/>
            <a:r>
              <a:rPr sz="1700" b="1" i="0">
                <a:solidFill>
                  <a:srgbClr val="03306E"/>
                </a:solidFill>
                <a:latin typeface="Calibri"/>
              </a:rPr>
              <a:t>Prioritise</a:t>
            </a:r>
          </a:p>
        </p:txBody>
      </p:sp>
      <p:sp>
        <p:nvSpPr>
          <p:cNvPr id="21" name="Rounded Rectangle 20"/>
          <p:cNvSpPr/>
          <p:nvPr/>
        </p:nvSpPr>
        <p:spPr>
          <a:xfrm>
            <a:off x="7287585" y="4091939"/>
            <a:ext cx="2109155" cy="114300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7424745" y="4229100"/>
            <a:ext cx="1834835" cy="868680"/>
          </a:xfrm>
          <a:prstGeom prst="rect">
            <a:avLst/>
          </a:prstGeom>
          <a:noFill/>
        </p:spPr>
        <p:txBody>
          <a:bodyPr wrap="square" anchor="t" lIns="0" rIns="0" tIns="0" bIns="0"/>
          <a:lstStyle/>
          <a:p>
            <a:pPr algn="l"/>
            <a:r>
              <a:rPr sz="1600" b="0" i="0">
                <a:solidFill>
                  <a:srgbClr val="202122"/>
                </a:solidFill>
                <a:latin typeface="Calibri"/>
              </a:rPr>
              <a:t>Rank by probability x impact; assign an owner.</a:t>
            </a:r>
          </a:p>
        </p:txBody>
      </p:sp>
      <p:sp>
        <p:nvSpPr>
          <p:cNvPr id="23" name="Oval 22"/>
          <p:cNvSpPr/>
          <p:nvPr/>
        </p:nvSpPr>
        <p:spPr>
          <a:xfrm>
            <a:off x="10268437" y="2537460"/>
            <a:ext cx="640080" cy="64008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202122"/>
                </a:solidFill>
                <a:latin typeface="Calibri"/>
              </a:rPr>
              <a:t>5</a:t>
            </a:r>
          </a:p>
        </p:txBody>
      </p:sp>
      <p:sp>
        <p:nvSpPr>
          <p:cNvPr id="24" name="TextBox 23"/>
          <p:cNvSpPr txBox="1"/>
          <p:nvPr/>
        </p:nvSpPr>
        <p:spPr>
          <a:xfrm>
            <a:off x="9533900" y="3314699"/>
            <a:ext cx="2109155" cy="731520"/>
          </a:xfrm>
          <a:prstGeom prst="rect">
            <a:avLst/>
          </a:prstGeom>
          <a:noFill/>
        </p:spPr>
        <p:txBody>
          <a:bodyPr wrap="square" anchor="t" lIns="0" rIns="0" tIns="0" bIns="0"/>
          <a:lstStyle/>
          <a:p>
            <a:pPr algn="ctr"/>
            <a:r>
              <a:rPr sz="1700" b="1" i="0">
                <a:solidFill>
                  <a:srgbClr val="03306E"/>
                </a:solidFill>
                <a:latin typeface="Calibri"/>
              </a:rPr>
              <a:t>Mitigate</a:t>
            </a:r>
          </a:p>
        </p:txBody>
      </p:sp>
      <p:sp>
        <p:nvSpPr>
          <p:cNvPr id="25" name="Rounded Rectangle 24"/>
          <p:cNvSpPr/>
          <p:nvPr/>
        </p:nvSpPr>
        <p:spPr>
          <a:xfrm>
            <a:off x="9533900" y="4091939"/>
            <a:ext cx="2109155" cy="114300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9671060" y="4229100"/>
            <a:ext cx="1834835" cy="868680"/>
          </a:xfrm>
          <a:prstGeom prst="rect">
            <a:avLst/>
          </a:prstGeom>
          <a:noFill/>
        </p:spPr>
        <p:txBody>
          <a:bodyPr wrap="square" anchor="t" lIns="0" rIns="0" tIns="0" bIns="0"/>
          <a:lstStyle/>
          <a:p>
            <a:pPr algn="l"/>
            <a:r>
              <a:rPr sz="1600" b="0" i="0">
                <a:solidFill>
                  <a:srgbClr val="202122"/>
                </a:solidFill>
                <a:latin typeface="Calibri"/>
              </a:rPr>
              <a:t>Reduce the probability or the impact.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OCCUPATIONAL SPECIALISMS  ·  Specialism Content Area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Quick check: The risk management process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Risk Management and Threat Assessment</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6</a:t>
            </a:r>
          </a:p>
        </p:txBody>
      </p:sp>
      <p:sp>
        <p:nvSpPr>
          <p:cNvPr id="6" name="Oval 5"/>
          <p:cNvSpPr/>
          <p:nvPr/>
        </p:nvSpPr>
        <p:spPr>
          <a:xfrm>
            <a:off x="548640" y="1691640"/>
            <a:ext cx="502920" cy="50292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1</a:t>
            </a:r>
          </a:p>
        </p:txBody>
      </p:sp>
      <p:sp>
        <p:nvSpPr>
          <p:cNvPr id="7" name="TextBox 6"/>
          <p:cNvSpPr txBox="1"/>
          <p:nvPr/>
        </p:nvSpPr>
        <p:spPr>
          <a:xfrm>
            <a:off x="1371600" y="1645920"/>
            <a:ext cx="10271455" cy="1188720"/>
          </a:xfrm>
          <a:prstGeom prst="rect">
            <a:avLst/>
          </a:prstGeom>
          <a:noFill/>
        </p:spPr>
        <p:txBody>
          <a:bodyPr wrap="square" anchor="t" lIns="0" rIns="0" tIns="0" bIns="0"/>
          <a:lstStyle/>
          <a:p>
            <a:pPr algn="l"/>
            <a:r>
              <a:rPr sz="2400" b="0" i="0">
                <a:solidFill>
                  <a:srgbClr val="202122"/>
                </a:solidFill>
                <a:latin typeface="Calibri"/>
              </a:rPr>
              <a:t>Name the five steps.</a:t>
            </a:r>
          </a:p>
        </p:txBody>
      </p:sp>
      <p:sp>
        <p:nvSpPr>
          <p:cNvPr id="8" name="Oval 7"/>
          <p:cNvSpPr/>
          <p:nvPr/>
        </p:nvSpPr>
        <p:spPr>
          <a:xfrm>
            <a:off x="548640" y="3108960"/>
            <a:ext cx="502920" cy="50292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2</a:t>
            </a:r>
          </a:p>
        </p:txBody>
      </p:sp>
      <p:sp>
        <p:nvSpPr>
          <p:cNvPr id="9" name="TextBox 8"/>
          <p:cNvSpPr txBox="1"/>
          <p:nvPr/>
        </p:nvSpPr>
        <p:spPr>
          <a:xfrm>
            <a:off x="1371600" y="3063240"/>
            <a:ext cx="10271455" cy="1188720"/>
          </a:xfrm>
          <a:prstGeom prst="rect">
            <a:avLst/>
          </a:prstGeom>
          <a:noFill/>
        </p:spPr>
        <p:txBody>
          <a:bodyPr wrap="square" anchor="t" lIns="0" rIns="0" tIns="0" bIns="0"/>
          <a:lstStyle/>
          <a:p>
            <a:pPr algn="l"/>
            <a:r>
              <a:rPr sz="2400" b="0" i="0">
                <a:solidFill>
                  <a:srgbClr val="202122"/>
                </a:solidFill>
                <a:latin typeface="Calibri"/>
              </a:rPr>
              <a:t>How are risks prioritised?</a:t>
            </a:r>
          </a:p>
        </p:txBody>
      </p:sp>
      <p:sp>
        <p:nvSpPr>
          <p:cNvPr id="10" name="Oval 9"/>
          <p:cNvSpPr/>
          <p:nvPr/>
        </p:nvSpPr>
        <p:spPr>
          <a:xfrm>
            <a:off x="548640" y="4526280"/>
            <a:ext cx="502920" cy="50292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3</a:t>
            </a:r>
          </a:p>
        </p:txBody>
      </p:sp>
      <p:sp>
        <p:nvSpPr>
          <p:cNvPr id="11" name="TextBox 10"/>
          <p:cNvSpPr txBox="1"/>
          <p:nvPr/>
        </p:nvSpPr>
        <p:spPr>
          <a:xfrm>
            <a:off x="1371600" y="4480560"/>
            <a:ext cx="10271455" cy="1188720"/>
          </a:xfrm>
          <a:prstGeom prst="rect">
            <a:avLst/>
          </a:prstGeom>
          <a:noFill/>
        </p:spPr>
        <p:txBody>
          <a:bodyPr wrap="square" anchor="t" lIns="0" rIns="0" tIns="0" bIns="0"/>
          <a:lstStyle/>
          <a:p>
            <a:pPr algn="l"/>
            <a:r>
              <a:rPr sz="2400" b="0" i="0">
                <a:solidFill>
                  <a:srgbClr val="202122"/>
                </a:solidFill>
                <a:latin typeface="Calibri"/>
              </a:rPr>
              <a:t>Why give each risk an owner?</a:t>
            </a:r>
          </a:p>
        </p:txBody>
      </p:sp>
      <p:sp>
        <p:nvSpPr>
          <p:cNvPr id="12" name="TextBox 11"/>
          <p:cNvSpPr txBox="1"/>
          <p:nvPr/>
        </p:nvSpPr>
        <p:spPr>
          <a:xfrm>
            <a:off x="548640" y="5852160"/>
            <a:ext cx="11094415" cy="365760"/>
          </a:xfrm>
          <a:prstGeom prst="rect">
            <a:avLst/>
          </a:prstGeom>
          <a:noFill/>
        </p:spPr>
        <p:txBody>
          <a:bodyPr wrap="square" anchor="t" lIns="0" rIns="0" tIns="0" bIns="0"/>
          <a:lstStyle/>
          <a:p>
            <a:pPr algn="l"/>
            <a:r>
              <a:rPr sz="1300" b="0" i="1">
                <a:solidFill>
                  <a:srgbClr val="54595D"/>
                </a:solidFill>
                <a:latin typeface="Calibri"/>
              </a:rPr>
              <a:t>Answer on mini whiteboards or in your book. Answers are in the speaker notes.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OCCUPATIONAL SPECIALISMS  ·  Specialism Content Area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Analysing threats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Risk Management and Threat Assessment</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7</a:t>
            </a:r>
          </a:p>
        </p:txBody>
      </p:sp>
      <p:sp>
        <p:nvSpPr>
          <p:cNvPr id="6" name="TextBox 5"/>
          <p:cNvSpPr txBox="1"/>
          <p:nvPr/>
        </p:nvSpPr>
        <p:spPr>
          <a:xfrm>
            <a:off x="548640" y="1554480"/>
            <a:ext cx="6720840" cy="4617720"/>
          </a:xfrm>
          <a:prstGeom prst="rect">
            <a:avLst/>
          </a:prstGeom>
          <a:noFill/>
        </p:spPr>
        <p:txBody>
          <a:bodyPr wrap="square" lIns="0" rIns="0" tIns="0" bIns="0">
            <a:spAutoFit/>
          </a:bodyPr>
          <a:lstStyle/>
          <a:p>
            <a:pPr>
              <a:spcAft>
                <a:spcPts val="1260"/>
              </a:spcAft>
            </a:pPr>
            <a:r>
              <a:rPr sz="2100" b="0">
                <a:solidFill>
                  <a:srgbClr val="202122"/>
                </a:solidFill>
                <a:latin typeface="Calibri"/>
              </a:rPr>
              <a:t>Threats can be analysed in words or in numbers.</a:t>
            </a:r>
          </a:p>
          <a:p>
            <a:pPr>
              <a:spcAft>
                <a:spcPts val="1260"/>
              </a:spcAft>
            </a:pPr>
            <a:r>
              <a:rPr sz="2100" b="0">
                <a:solidFill>
                  <a:srgbClr val="202122"/>
                </a:solidFill>
                <a:latin typeface="Calibri"/>
              </a:rPr>
              <a:t>Qualitative analysis uses descriptions, most commonly a RAG rating: red means high risk and immediate action; amber means moderate risk, watched closely; green means low risk with no immediate action.</a:t>
            </a:r>
          </a:p>
          <a:p>
            <a:pPr>
              <a:spcAft>
                <a:spcPts val="1260"/>
              </a:spcAft>
            </a:pPr>
            <a:r>
              <a:rPr sz="2100" b="0">
                <a:solidFill>
                  <a:srgbClr val="202122"/>
                </a:solidFill>
                <a:latin typeface="Calibri"/>
              </a:rPr>
              <a:t>Quantitative analysis puts numbers on risk, such as the cost or resources an incident would consume. Annualised Loss Expectancy (ALE) estimates how much a risk costs per year.</a:t>
            </a:r>
          </a:p>
          <a:p>
            <a:pPr>
              <a:spcAft>
                <a:spcPts val="1260"/>
              </a:spcAft>
            </a:pPr>
            <a:r>
              <a:rPr sz="2100" b="0">
                <a:solidFill>
                  <a:srgbClr val="202122"/>
                </a:solidFill>
                <a:latin typeface="Calibri"/>
              </a:rPr>
              <a:t>Other tools include fault tree analysis, impact analysis, FMECA, CRAMM and SWOT. Results are recorded in a risk register with each risk's RAG rating.</a:t>
            </a:r>
          </a:p>
        </p:txBody>
      </p:sp>
      <p:sp>
        <p:nvSpPr>
          <p:cNvPr id="7" name="Rounded Rectangle 6"/>
          <p:cNvSpPr/>
          <p:nvPr/>
        </p:nvSpPr>
        <p:spPr>
          <a:xfrm>
            <a:off x="7772400" y="1554480"/>
            <a:ext cx="3867912" cy="4526280"/>
          </a:xfrm>
          <a:prstGeom prst="roundRect">
            <a:avLst>
              <a:gd name="adj" fmla="val 8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046720" y="1828800"/>
            <a:ext cx="548640" cy="54864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202122"/>
                </a:solidFill>
                <a:latin typeface="Calibri"/>
              </a:rPr>
              <a:t>e.g.</a:t>
            </a:r>
          </a:p>
        </p:txBody>
      </p:sp>
      <p:sp>
        <p:nvSpPr>
          <p:cNvPr id="9" name="TextBox 8"/>
          <p:cNvSpPr txBox="1"/>
          <p:nvPr/>
        </p:nvSpPr>
        <p:spPr>
          <a:xfrm>
            <a:off x="8046720" y="2560320"/>
            <a:ext cx="3291840" cy="365760"/>
          </a:xfrm>
          <a:prstGeom prst="rect">
            <a:avLst/>
          </a:prstGeom>
          <a:noFill/>
        </p:spPr>
        <p:txBody>
          <a:bodyPr wrap="square" anchor="t" lIns="0" rIns="0" tIns="0" bIns="0"/>
          <a:lstStyle/>
          <a:p>
            <a:pPr algn="l"/>
            <a:r>
              <a:rPr sz="1300" b="1" i="0">
                <a:solidFill>
                  <a:srgbClr val="A9C8F0"/>
                </a:solidFill>
                <a:latin typeface="Calibri"/>
              </a:rPr>
              <a:t>EXAMPLE</a:t>
            </a:r>
          </a:p>
        </p:txBody>
      </p:sp>
      <p:sp>
        <p:nvSpPr>
          <p:cNvPr id="10" name="TextBox 9"/>
          <p:cNvSpPr txBox="1"/>
          <p:nvPr/>
        </p:nvSpPr>
        <p:spPr>
          <a:xfrm>
            <a:off x="8046720" y="2971800"/>
            <a:ext cx="3291840" cy="2971800"/>
          </a:xfrm>
          <a:prstGeom prst="rect">
            <a:avLst/>
          </a:prstGeom>
          <a:noFill/>
        </p:spPr>
        <p:txBody>
          <a:bodyPr wrap="square" anchor="t" lIns="0" rIns="0" tIns="0" bIns="0"/>
          <a:lstStyle/>
          <a:p>
            <a:pPr algn="l"/>
            <a:r>
              <a:rPr sz="1900" b="0" i="0">
                <a:solidFill>
                  <a:srgbClr val="FFFFFF"/>
                </a:solidFill>
                <a:latin typeface="Cambria"/>
              </a:rPr>
              <a:t>Two laptop thefts a year at 1,500 pounds each gives an ALE of 3,000 pounds a year: spending 500 pounds on cable locks is easily justified.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OCCUPATIONAL SPECIALISMS  ·  Specialism Content Area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Analysing threats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Risk Management and Threat Assessment</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8</a:t>
            </a:r>
          </a:p>
        </p:txBody>
      </p:sp>
      <p:sp>
        <p:nvSpPr>
          <p:cNvPr id="6" name="Rounded Rectangle 5"/>
          <p:cNvSpPr/>
          <p:nvPr/>
        </p:nvSpPr>
        <p:spPr>
          <a:xfrm>
            <a:off x="548640" y="1600200"/>
            <a:ext cx="5364327" cy="640080"/>
          </a:xfrm>
          <a:prstGeom prst="roundRect">
            <a:avLst>
              <a:gd name="adj" fmla="val 15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1600200"/>
            <a:ext cx="4907127" cy="640080"/>
          </a:xfrm>
          <a:prstGeom prst="rect">
            <a:avLst/>
          </a:prstGeom>
          <a:noFill/>
        </p:spPr>
        <p:txBody>
          <a:bodyPr wrap="square" anchor="ctr" lIns="0" rIns="0" tIns="0" bIns="0"/>
          <a:lstStyle/>
          <a:p>
            <a:pPr algn="l"/>
            <a:r>
              <a:rPr sz="2000" b="1" i="0">
                <a:solidFill>
                  <a:srgbClr val="FFFFFF"/>
                </a:solidFill>
                <a:latin typeface="Calibri"/>
              </a:rPr>
              <a:t>Qualitative (non-numeric)</a:t>
            </a:r>
          </a:p>
        </p:txBody>
      </p:sp>
      <p:sp>
        <p:nvSpPr>
          <p:cNvPr id="8" name="Rounded Rectangle 7"/>
          <p:cNvSpPr/>
          <p:nvPr/>
        </p:nvSpPr>
        <p:spPr>
          <a:xfrm>
            <a:off x="548640" y="2377440"/>
            <a:ext cx="5364327" cy="3794760"/>
          </a:xfrm>
          <a:prstGeom prst="roundRect">
            <a:avLst>
              <a:gd name="adj" fmla="val 4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22959" y="2606040"/>
            <a:ext cx="4815687" cy="3337560"/>
          </a:xfrm>
          <a:prstGeom prst="rect">
            <a:avLst/>
          </a:prstGeom>
          <a:noFill/>
        </p:spPr>
        <p:txBody>
          <a:bodyPr wrap="square" lIns="0" rIns="0" tIns="0" bIns="0">
            <a:spAutoFit/>
          </a:bodyPr>
          <a:lstStyle/>
          <a:p>
            <a:pPr marL="274320" indent="-274320">
              <a:spcAft>
                <a:spcPts val="990"/>
              </a:spcAft>
              <a:buClr>
                <a:srgbClr val="0645AD"/>
              </a:buClr>
              <a:buFont typeface="Arial"/>
              <a:buChar char="•"/>
            </a:pPr>
            <a:r>
              <a:rPr sz="2200" b="0">
                <a:solidFill>
                  <a:srgbClr val="202122"/>
                </a:solidFill>
                <a:latin typeface="Calibri"/>
              </a:rPr>
              <a:t>RAG rating</a:t>
            </a:r>
          </a:p>
          <a:p>
            <a:pPr marL="274320" indent="-274320">
              <a:spcAft>
                <a:spcPts val="990"/>
              </a:spcAft>
              <a:buClr>
                <a:srgbClr val="0645AD"/>
              </a:buClr>
              <a:buFont typeface="Arial"/>
              <a:buChar char="•"/>
            </a:pPr>
            <a:r>
              <a:rPr sz="2200" b="1">
                <a:solidFill>
                  <a:srgbClr val="202122"/>
                </a:solidFill>
                <a:latin typeface="Calibri"/>
              </a:rPr>
              <a:t>Red:</a:t>
            </a:r>
            <a:r>
              <a:rPr sz="2200" b="0">
                <a:solidFill>
                  <a:srgbClr val="202122"/>
                </a:solidFill>
                <a:latin typeface="Calibri"/>
              </a:rPr>
              <a:t> high risk, act immediately</a:t>
            </a:r>
          </a:p>
          <a:p>
            <a:pPr marL="274320" indent="-274320">
              <a:spcAft>
                <a:spcPts val="990"/>
              </a:spcAft>
              <a:buClr>
                <a:srgbClr val="0645AD"/>
              </a:buClr>
              <a:buFont typeface="Arial"/>
              <a:buChar char="•"/>
            </a:pPr>
            <a:r>
              <a:rPr sz="2200" b="1">
                <a:solidFill>
                  <a:srgbClr val="202122"/>
                </a:solidFill>
                <a:latin typeface="Calibri"/>
              </a:rPr>
              <a:t>Amber:</a:t>
            </a:r>
            <a:r>
              <a:rPr sz="2200" b="0">
                <a:solidFill>
                  <a:srgbClr val="202122"/>
                </a:solidFill>
                <a:latin typeface="Calibri"/>
              </a:rPr>
              <a:t> moderate, watch closely</a:t>
            </a:r>
          </a:p>
          <a:p>
            <a:pPr marL="274320" indent="-274320">
              <a:spcAft>
                <a:spcPts val="990"/>
              </a:spcAft>
              <a:buClr>
                <a:srgbClr val="0645AD"/>
              </a:buClr>
              <a:buFont typeface="Arial"/>
              <a:buChar char="•"/>
            </a:pPr>
            <a:r>
              <a:rPr sz="2200" b="1">
                <a:solidFill>
                  <a:srgbClr val="202122"/>
                </a:solidFill>
                <a:latin typeface="Calibri"/>
              </a:rPr>
              <a:t>Green:</a:t>
            </a:r>
            <a:r>
              <a:rPr sz="2200" b="0">
                <a:solidFill>
                  <a:srgbClr val="202122"/>
                </a:solidFill>
                <a:latin typeface="Calibri"/>
              </a:rPr>
              <a:t> low, no immediate action</a:t>
            </a:r>
          </a:p>
        </p:txBody>
      </p:sp>
      <p:sp>
        <p:nvSpPr>
          <p:cNvPr id="10" name="Rounded Rectangle 9"/>
          <p:cNvSpPr/>
          <p:nvPr/>
        </p:nvSpPr>
        <p:spPr>
          <a:xfrm>
            <a:off x="6278727" y="1600200"/>
            <a:ext cx="5364327" cy="640080"/>
          </a:xfrm>
          <a:prstGeom prst="roundRect">
            <a:avLst>
              <a:gd name="adj" fmla="val 15000"/>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07327" y="1600200"/>
            <a:ext cx="4907127" cy="640080"/>
          </a:xfrm>
          <a:prstGeom prst="rect">
            <a:avLst/>
          </a:prstGeom>
          <a:noFill/>
        </p:spPr>
        <p:txBody>
          <a:bodyPr wrap="square" anchor="ctr" lIns="0" rIns="0" tIns="0" bIns="0"/>
          <a:lstStyle/>
          <a:p>
            <a:pPr algn="l"/>
            <a:r>
              <a:rPr sz="2000" b="1" i="0">
                <a:solidFill>
                  <a:srgbClr val="FFFFFF"/>
                </a:solidFill>
                <a:latin typeface="Calibri"/>
              </a:rPr>
              <a:t>Quantitative (numeric) and tools</a:t>
            </a:r>
          </a:p>
        </p:txBody>
      </p:sp>
      <p:sp>
        <p:nvSpPr>
          <p:cNvPr id="12" name="Rounded Rectangle 11"/>
          <p:cNvSpPr/>
          <p:nvPr/>
        </p:nvSpPr>
        <p:spPr>
          <a:xfrm>
            <a:off x="6278727" y="2377440"/>
            <a:ext cx="5364327" cy="3794760"/>
          </a:xfrm>
          <a:prstGeom prst="roundRect">
            <a:avLst>
              <a:gd name="adj" fmla="val 4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553047" y="2606040"/>
            <a:ext cx="4815687" cy="3337560"/>
          </a:xfrm>
          <a:prstGeom prst="rect">
            <a:avLst/>
          </a:prstGeom>
          <a:noFill/>
        </p:spPr>
        <p:txBody>
          <a:bodyPr wrap="square" lIns="0" rIns="0" tIns="0" bIns="0">
            <a:spAutoFit/>
          </a:bodyPr>
          <a:lstStyle/>
          <a:p>
            <a:pPr marL="274320" indent="-274320">
              <a:spcAft>
                <a:spcPts val="945"/>
              </a:spcAft>
              <a:buClr>
                <a:srgbClr val="0645AD"/>
              </a:buClr>
              <a:buFont typeface="Arial"/>
              <a:buChar char="•"/>
            </a:pPr>
            <a:r>
              <a:rPr sz="2100" b="0">
                <a:solidFill>
                  <a:srgbClr val="202122"/>
                </a:solidFill>
                <a:latin typeface="Calibri"/>
              </a:rPr>
              <a:t>Numbers for effects such as cost overrun</a:t>
            </a:r>
          </a:p>
          <a:p>
            <a:pPr marL="274320" indent="-274320">
              <a:spcAft>
                <a:spcPts val="945"/>
              </a:spcAft>
              <a:buClr>
                <a:srgbClr val="0645AD"/>
              </a:buClr>
              <a:buFont typeface="Arial"/>
              <a:buChar char="•"/>
            </a:pPr>
            <a:r>
              <a:rPr sz="2100" b="0">
                <a:solidFill>
                  <a:srgbClr val="202122"/>
                </a:solidFill>
                <a:latin typeface="Calibri"/>
              </a:rPr>
              <a:t>Annualised Loss Expectancy (ALE)</a:t>
            </a:r>
          </a:p>
          <a:p>
            <a:pPr marL="274320" indent="-274320">
              <a:spcAft>
                <a:spcPts val="945"/>
              </a:spcAft>
              <a:buClr>
                <a:srgbClr val="0645AD"/>
              </a:buClr>
              <a:buFont typeface="Arial"/>
              <a:buChar char="•"/>
            </a:pPr>
            <a:r>
              <a:rPr sz="2100" b="0">
                <a:solidFill>
                  <a:srgbClr val="202122"/>
                </a:solidFill>
                <a:latin typeface="Calibri"/>
              </a:rPr>
              <a:t>Fault tree and impact analysis, FMECA</a:t>
            </a:r>
          </a:p>
          <a:p>
            <a:pPr marL="274320" indent="-274320">
              <a:spcAft>
                <a:spcPts val="945"/>
              </a:spcAft>
              <a:buClr>
                <a:srgbClr val="0645AD"/>
              </a:buClr>
              <a:buFont typeface="Arial"/>
              <a:buChar char="•"/>
            </a:pPr>
            <a:r>
              <a:rPr sz="2100" b="0">
                <a:solidFill>
                  <a:srgbClr val="202122"/>
                </a:solidFill>
                <a:latin typeface="Calibri"/>
              </a:rPr>
              <a:t>CRAMM, SWOT analysis</a:t>
            </a:r>
          </a:p>
          <a:p>
            <a:pPr marL="274320" indent="-274320">
              <a:spcAft>
                <a:spcPts val="945"/>
              </a:spcAft>
              <a:buClr>
                <a:srgbClr val="0645AD"/>
              </a:buClr>
              <a:buFont typeface="Arial"/>
              <a:buChar char="•"/>
            </a:pPr>
            <a:r>
              <a:rPr sz="2100" b="0">
                <a:solidFill>
                  <a:srgbClr val="202122"/>
                </a:solidFill>
                <a:latin typeface="Calibri"/>
              </a:rPr>
              <a:t>Risk register with a RAG rating per risk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OCCUPATIONAL SPECIALISMS  ·  Specialism Content Area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Quick check: Analysing threats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Risk Management and Threat Assessment</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9</a:t>
            </a:r>
          </a:p>
        </p:txBody>
      </p:sp>
      <p:sp>
        <p:nvSpPr>
          <p:cNvPr id="6" name="Oval 5"/>
          <p:cNvSpPr/>
          <p:nvPr/>
        </p:nvSpPr>
        <p:spPr>
          <a:xfrm>
            <a:off x="548640" y="1691640"/>
            <a:ext cx="502920" cy="50292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1</a:t>
            </a:r>
          </a:p>
        </p:txBody>
      </p:sp>
      <p:sp>
        <p:nvSpPr>
          <p:cNvPr id="7" name="TextBox 6"/>
          <p:cNvSpPr txBox="1"/>
          <p:nvPr/>
        </p:nvSpPr>
        <p:spPr>
          <a:xfrm>
            <a:off x="1371600" y="1645920"/>
            <a:ext cx="10271455" cy="1188720"/>
          </a:xfrm>
          <a:prstGeom prst="rect">
            <a:avLst/>
          </a:prstGeom>
          <a:noFill/>
        </p:spPr>
        <p:txBody>
          <a:bodyPr wrap="square" anchor="t" lIns="0" rIns="0" tIns="0" bIns="0"/>
          <a:lstStyle/>
          <a:p>
            <a:pPr algn="l"/>
            <a:r>
              <a:rPr sz="2400" b="0" i="0">
                <a:solidFill>
                  <a:srgbClr val="202122"/>
                </a:solidFill>
                <a:latin typeface="Calibri"/>
              </a:rPr>
              <a:t>What does a red RAG rating mean?</a:t>
            </a:r>
          </a:p>
        </p:txBody>
      </p:sp>
      <p:sp>
        <p:nvSpPr>
          <p:cNvPr id="8" name="Oval 7"/>
          <p:cNvSpPr/>
          <p:nvPr/>
        </p:nvSpPr>
        <p:spPr>
          <a:xfrm>
            <a:off x="548640" y="3108960"/>
            <a:ext cx="502920" cy="50292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2</a:t>
            </a:r>
          </a:p>
        </p:txBody>
      </p:sp>
      <p:sp>
        <p:nvSpPr>
          <p:cNvPr id="9" name="TextBox 8"/>
          <p:cNvSpPr txBox="1"/>
          <p:nvPr/>
        </p:nvSpPr>
        <p:spPr>
          <a:xfrm>
            <a:off x="1371600" y="3063240"/>
            <a:ext cx="10271455" cy="1188720"/>
          </a:xfrm>
          <a:prstGeom prst="rect">
            <a:avLst/>
          </a:prstGeom>
          <a:noFill/>
        </p:spPr>
        <p:txBody>
          <a:bodyPr wrap="square" anchor="t" lIns="0" rIns="0" tIns="0" bIns="0"/>
          <a:lstStyle/>
          <a:p>
            <a:pPr algn="l"/>
            <a:r>
              <a:rPr sz="2400" b="0" i="0">
                <a:solidFill>
                  <a:srgbClr val="202122"/>
                </a:solidFill>
                <a:latin typeface="Calibri"/>
              </a:rPr>
              <a:t>What does ALE estimate?</a:t>
            </a:r>
          </a:p>
        </p:txBody>
      </p:sp>
      <p:sp>
        <p:nvSpPr>
          <p:cNvPr id="10" name="Oval 9"/>
          <p:cNvSpPr/>
          <p:nvPr/>
        </p:nvSpPr>
        <p:spPr>
          <a:xfrm>
            <a:off x="548640" y="4526280"/>
            <a:ext cx="502920" cy="50292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3</a:t>
            </a:r>
          </a:p>
        </p:txBody>
      </p:sp>
      <p:sp>
        <p:nvSpPr>
          <p:cNvPr id="11" name="TextBox 10"/>
          <p:cNvSpPr txBox="1"/>
          <p:nvPr/>
        </p:nvSpPr>
        <p:spPr>
          <a:xfrm>
            <a:off x="1371600" y="4480560"/>
            <a:ext cx="10271455" cy="1188720"/>
          </a:xfrm>
          <a:prstGeom prst="rect">
            <a:avLst/>
          </a:prstGeom>
          <a:noFill/>
        </p:spPr>
        <p:txBody>
          <a:bodyPr wrap="square" anchor="t" lIns="0" rIns="0" tIns="0" bIns="0"/>
          <a:lstStyle/>
          <a:p>
            <a:pPr algn="l"/>
            <a:r>
              <a:rPr sz="2400" b="0" i="0">
                <a:solidFill>
                  <a:srgbClr val="202122"/>
                </a:solidFill>
                <a:latin typeface="Calibri"/>
              </a:rPr>
              <a:t>Where are risks and their ratings recorded?</a:t>
            </a:r>
          </a:p>
        </p:txBody>
      </p:sp>
      <p:sp>
        <p:nvSpPr>
          <p:cNvPr id="12" name="TextBox 11"/>
          <p:cNvSpPr txBox="1"/>
          <p:nvPr/>
        </p:nvSpPr>
        <p:spPr>
          <a:xfrm>
            <a:off x="548640" y="5852160"/>
            <a:ext cx="11094415" cy="365760"/>
          </a:xfrm>
          <a:prstGeom prst="rect">
            <a:avLst/>
          </a:prstGeom>
          <a:noFill/>
        </p:spPr>
        <p:txBody>
          <a:bodyPr wrap="square" anchor="t" lIns="0" rIns="0" tIns="0" bIns="0"/>
          <a:lstStyle/>
          <a:p>
            <a:pPr algn="l"/>
            <a:r>
              <a:rPr sz="1300" b="0" i="1">
                <a:solidFill>
                  <a:srgbClr val="54595D"/>
                </a:solidFill>
                <a:latin typeface="Calibri"/>
              </a:rPr>
              <a:t>Answer on mini whiteboards or in your book. Answers are in the speaker notes.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OCCUPATIONAL SPECIALISMS  ·  Specialism Content Area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Threat assessment factors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Risk Management and Threat Assessment</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10</a:t>
            </a:r>
          </a:p>
        </p:txBody>
      </p:sp>
      <p:sp>
        <p:nvSpPr>
          <p:cNvPr id="6" name="Rounded Rectangle 5"/>
          <p:cNvSpPr/>
          <p:nvPr/>
        </p:nvSpPr>
        <p:spPr>
          <a:xfrm>
            <a:off x="548640" y="1600200"/>
            <a:ext cx="3515258"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777240" y="1828800"/>
            <a:ext cx="457200" cy="45720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1</a:t>
            </a:r>
          </a:p>
        </p:txBody>
      </p:sp>
      <p:sp>
        <p:nvSpPr>
          <p:cNvPr id="8" name="TextBox 7"/>
          <p:cNvSpPr txBox="1"/>
          <p:nvPr/>
        </p:nvSpPr>
        <p:spPr>
          <a:xfrm>
            <a:off x="1371600" y="1801368"/>
            <a:ext cx="2509418" cy="512064"/>
          </a:xfrm>
          <a:prstGeom prst="rect">
            <a:avLst/>
          </a:prstGeom>
          <a:noFill/>
        </p:spPr>
        <p:txBody>
          <a:bodyPr wrap="square" anchor="ctr" lIns="0" rIns="0" tIns="0" bIns="0"/>
          <a:lstStyle/>
          <a:p>
            <a:pPr algn="l"/>
            <a:r>
              <a:rPr sz="1900" b="1" i="0">
                <a:solidFill>
                  <a:srgbClr val="03306E"/>
                </a:solidFill>
                <a:latin typeface="Calibri"/>
              </a:rPr>
              <a:t>Environmental</a:t>
            </a:r>
          </a:p>
        </p:txBody>
      </p:sp>
      <p:sp>
        <p:nvSpPr>
          <p:cNvPr id="9" name="TextBox 8"/>
          <p:cNvSpPr txBox="1"/>
          <p:nvPr/>
        </p:nvSpPr>
        <p:spPr>
          <a:xfrm>
            <a:off x="777240" y="2468880"/>
            <a:ext cx="3058058" cy="1143000"/>
          </a:xfrm>
          <a:prstGeom prst="rect">
            <a:avLst/>
          </a:prstGeom>
          <a:noFill/>
        </p:spPr>
        <p:txBody>
          <a:bodyPr wrap="square" anchor="t" lIns="0" rIns="0" tIns="0" bIns="0"/>
          <a:lstStyle/>
          <a:p>
            <a:pPr algn="l"/>
            <a:r>
              <a:rPr sz="2000" b="0" i="0">
                <a:solidFill>
                  <a:srgbClr val="202122"/>
                </a:solidFill>
                <a:latin typeface="Calibri"/>
              </a:rPr>
              <a:t>Extreme weather, natural disaster, pests, humidity, air quality.</a:t>
            </a:r>
          </a:p>
        </p:txBody>
      </p:sp>
      <p:sp>
        <p:nvSpPr>
          <p:cNvPr id="10" name="Rounded Rectangle 9"/>
          <p:cNvSpPr/>
          <p:nvPr/>
        </p:nvSpPr>
        <p:spPr>
          <a:xfrm>
            <a:off x="4338218" y="1600200"/>
            <a:ext cx="3515258"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4566818" y="1828800"/>
            <a:ext cx="457200" cy="45720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2</a:t>
            </a:r>
          </a:p>
        </p:txBody>
      </p:sp>
      <p:sp>
        <p:nvSpPr>
          <p:cNvPr id="12" name="TextBox 11"/>
          <p:cNvSpPr txBox="1"/>
          <p:nvPr/>
        </p:nvSpPr>
        <p:spPr>
          <a:xfrm>
            <a:off x="5161178" y="1801368"/>
            <a:ext cx="2509418" cy="512064"/>
          </a:xfrm>
          <a:prstGeom prst="rect">
            <a:avLst/>
          </a:prstGeom>
          <a:noFill/>
        </p:spPr>
        <p:txBody>
          <a:bodyPr wrap="square" anchor="ctr" lIns="0" rIns="0" tIns="0" bIns="0"/>
          <a:lstStyle/>
          <a:p>
            <a:pPr algn="l"/>
            <a:r>
              <a:rPr sz="1900" b="1" i="0">
                <a:solidFill>
                  <a:srgbClr val="03306E"/>
                </a:solidFill>
                <a:latin typeface="Calibri"/>
              </a:rPr>
              <a:t>Manmade internal</a:t>
            </a:r>
          </a:p>
        </p:txBody>
      </p:sp>
      <p:sp>
        <p:nvSpPr>
          <p:cNvPr id="13" name="TextBox 12"/>
          <p:cNvSpPr txBox="1"/>
          <p:nvPr/>
        </p:nvSpPr>
        <p:spPr>
          <a:xfrm>
            <a:off x="4566818" y="2468880"/>
            <a:ext cx="3058058" cy="1143000"/>
          </a:xfrm>
          <a:prstGeom prst="rect">
            <a:avLst/>
          </a:prstGeom>
          <a:noFill/>
        </p:spPr>
        <p:txBody>
          <a:bodyPr wrap="square" anchor="t" lIns="0" rIns="0" tIns="0" bIns="0"/>
          <a:lstStyle/>
          <a:p>
            <a:pPr algn="l"/>
            <a:r>
              <a:rPr sz="2000" b="0" i="0">
                <a:solidFill>
                  <a:srgbClr val="202122"/>
                </a:solidFill>
                <a:latin typeface="Calibri"/>
              </a:rPr>
              <a:t>Malicious or accidental staff and contractor actions.</a:t>
            </a:r>
          </a:p>
        </p:txBody>
      </p:sp>
      <p:sp>
        <p:nvSpPr>
          <p:cNvPr id="14" name="Rounded Rectangle 13"/>
          <p:cNvSpPr/>
          <p:nvPr/>
        </p:nvSpPr>
        <p:spPr>
          <a:xfrm>
            <a:off x="8127796" y="1600200"/>
            <a:ext cx="3515258"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8356396" y="1828800"/>
            <a:ext cx="457200" cy="45720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3</a:t>
            </a:r>
          </a:p>
        </p:txBody>
      </p:sp>
      <p:sp>
        <p:nvSpPr>
          <p:cNvPr id="16" name="TextBox 15"/>
          <p:cNvSpPr txBox="1"/>
          <p:nvPr/>
        </p:nvSpPr>
        <p:spPr>
          <a:xfrm>
            <a:off x="8950756" y="1801368"/>
            <a:ext cx="2509418" cy="512064"/>
          </a:xfrm>
          <a:prstGeom prst="rect">
            <a:avLst/>
          </a:prstGeom>
          <a:noFill/>
        </p:spPr>
        <p:txBody>
          <a:bodyPr wrap="square" anchor="ctr" lIns="0" rIns="0" tIns="0" bIns="0"/>
          <a:lstStyle/>
          <a:p>
            <a:pPr algn="l"/>
            <a:r>
              <a:rPr sz="1900" b="1" i="0">
                <a:solidFill>
                  <a:srgbClr val="03306E"/>
                </a:solidFill>
                <a:latin typeface="Calibri"/>
              </a:rPr>
              <a:t>Manmade external</a:t>
            </a:r>
          </a:p>
        </p:txBody>
      </p:sp>
      <p:sp>
        <p:nvSpPr>
          <p:cNvPr id="17" name="TextBox 16"/>
          <p:cNvSpPr txBox="1"/>
          <p:nvPr/>
        </p:nvSpPr>
        <p:spPr>
          <a:xfrm>
            <a:off x="8356396" y="2468880"/>
            <a:ext cx="3058058" cy="1143000"/>
          </a:xfrm>
          <a:prstGeom prst="rect">
            <a:avLst/>
          </a:prstGeom>
          <a:noFill/>
        </p:spPr>
        <p:txBody>
          <a:bodyPr wrap="square" anchor="t" lIns="0" rIns="0" tIns="0" bIns="0"/>
          <a:lstStyle/>
          <a:p>
            <a:pPr algn="l"/>
            <a:r>
              <a:rPr sz="2000" b="0" i="0">
                <a:solidFill>
                  <a:srgbClr val="202122"/>
                </a:solidFill>
                <a:latin typeface="Calibri"/>
              </a:rPr>
              <a:t>Malware, hacking, social engineering, third parties, terrorism.</a:t>
            </a:r>
          </a:p>
        </p:txBody>
      </p:sp>
      <p:sp>
        <p:nvSpPr>
          <p:cNvPr id="18" name="Rounded Rectangle 17"/>
          <p:cNvSpPr/>
          <p:nvPr/>
        </p:nvSpPr>
        <p:spPr>
          <a:xfrm>
            <a:off x="548640" y="4023360"/>
            <a:ext cx="3515258"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777240" y="4251960"/>
            <a:ext cx="457200" cy="45720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4</a:t>
            </a:r>
          </a:p>
        </p:txBody>
      </p:sp>
      <p:sp>
        <p:nvSpPr>
          <p:cNvPr id="20" name="TextBox 19"/>
          <p:cNvSpPr txBox="1"/>
          <p:nvPr/>
        </p:nvSpPr>
        <p:spPr>
          <a:xfrm>
            <a:off x="1371600" y="4224528"/>
            <a:ext cx="2509418" cy="512064"/>
          </a:xfrm>
          <a:prstGeom prst="rect">
            <a:avLst/>
          </a:prstGeom>
          <a:noFill/>
        </p:spPr>
        <p:txBody>
          <a:bodyPr wrap="square" anchor="ctr" lIns="0" rIns="0" tIns="0" bIns="0"/>
          <a:lstStyle/>
          <a:p>
            <a:pPr algn="l"/>
            <a:r>
              <a:rPr sz="1900" b="1" i="0">
                <a:solidFill>
                  <a:srgbClr val="03306E"/>
                </a:solidFill>
                <a:latin typeface="Calibri"/>
              </a:rPr>
              <a:t>Technological</a:t>
            </a:r>
          </a:p>
        </p:txBody>
      </p:sp>
      <p:sp>
        <p:nvSpPr>
          <p:cNvPr id="21" name="TextBox 20"/>
          <p:cNvSpPr txBox="1"/>
          <p:nvPr/>
        </p:nvSpPr>
        <p:spPr>
          <a:xfrm>
            <a:off x="777240" y="4892040"/>
            <a:ext cx="3058058" cy="1143000"/>
          </a:xfrm>
          <a:prstGeom prst="rect">
            <a:avLst/>
          </a:prstGeom>
          <a:noFill/>
        </p:spPr>
        <p:txBody>
          <a:bodyPr wrap="square" anchor="t" lIns="0" rIns="0" tIns="0" bIns="0"/>
          <a:lstStyle/>
          <a:p>
            <a:pPr algn="l"/>
            <a:r>
              <a:rPr sz="1900" b="0" i="0">
                <a:solidFill>
                  <a:srgbClr val="202122"/>
                </a:solidFill>
                <a:latin typeface="Calibri"/>
              </a:rPr>
              <a:t>Disk, RAM or power failure, misconfiguration, software corruption, change.</a:t>
            </a:r>
          </a:p>
        </p:txBody>
      </p:sp>
      <p:sp>
        <p:nvSpPr>
          <p:cNvPr id="22" name="Rounded Rectangle 21"/>
          <p:cNvSpPr/>
          <p:nvPr/>
        </p:nvSpPr>
        <p:spPr>
          <a:xfrm>
            <a:off x="4338218" y="4023360"/>
            <a:ext cx="3515258"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4566818" y="4251960"/>
            <a:ext cx="457200" cy="45720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5</a:t>
            </a:r>
          </a:p>
        </p:txBody>
      </p:sp>
      <p:sp>
        <p:nvSpPr>
          <p:cNvPr id="24" name="TextBox 23"/>
          <p:cNvSpPr txBox="1"/>
          <p:nvPr/>
        </p:nvSpPr>
        <p:spPr>
          <a:xfrm>
            <a:off x="5161178" y="4224528"/>
            <a:ext cx="2509418" cy="512064"/>
          </a:xfrm>
          <a:prstGeom prst="rect">
            <a:avLst/>
          </a:prstGeom>
          <a:noFill/>
        </p:spPr>
        <p:txBody>
          <a:bodyPr wrap="square" anchor="ctr" lIns="0" rIns="0" tIns="0" bIns="0"/>
          <a:lstStyle/>
          <a:p>
            <a:pPr algn="l"/>
            <a:r>
              <a:rPr sz="1900" b="1" i="0">
                <a:solidFill>
                  <a:srgbClr val="03306E"/>
                </a:solidFill>
                <a:latin typeface="Calibri"/>
              </a:rPr>
              <a:t>Political</a:t>
            </a:r>
          </a:p>
        </p:txBody>
      </p:sp>
      <p:sp>
        <p:nvSpPr>
          <p:cNvPr id="25" name="TextBox 24"/>
          <p:cNvSpPr txBox="1"/>
          <p:nvPr/>
        </p:nvSpPr>
        <p:spPr>
          <a:xfrm>
            <a:off x="4566818" y="4892040"/>
            <a:ext cx="3058058" cy="1143000"/>
          </a:xfrm>
          <a:prstGeom prst="rect">
            <a:avLst/>
          </a:prstGeom>
          <a:noFill/>
        </p:spPr>
        <p:txBody>
          <a:bodyPr wrap="square" anchor="t" lIns="0" rIns="0" tIns="0" bIns="0"/>
          <a:lstStyle/>
          <a:p>
            <a:pPr algn="l"/>
            <a:r>
              <a:rPr sz="2000" b="0" i="0">
                <a:solidFill>
                  <a:srgbClr val="202122"/>
                </a:solidFill>
                <a:latin typeface="Calibri"/>
              </a:rPr>
              <a:t>Changes in legislation.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OCCUPATIONAL SPECIALISMS  ·  Specialism Content Area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Four risk responses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Risk Management and Threat Assessment</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11</a:t>
            </a:r>
          </a:p>
        </p:txBody>
      </p:sp>
      <p:sp>
        <p:nvSpPr>
          <p:cNvPr id="6" name="TextBox 5"/>
          <p:cNvSpPr txBox="1"/>
          <p:nvPr/>
        </p:nvSpPr>
        <p:spPr>
          <a:xfrm>
            <a:off x="548640" y="1554480"/>
            <a:ext cx="6720840" cy="4617720"/>
          </a:xfrm>
          <a:prstGeom prst="rect">
            <a:avLst/>
          </a:prstGeom>
          <a:noFill/>
        </p:spPr>
        <p:txBody>
          <a:bodyPr wrap="square" lIns="0" rIns="0" tIns="0" bIns="0">
            <a:spAutoFit/>
          </a:bodyPr>
          <a:lstStyle/>
          <a:p>
            <a:pPr>
              <a:spcAft>
                <a:spcPts val="1140"/>
              </a:spcAft>
            </a:pPr>
            <a:r>
              <a:rPr sz="1900" b="0">
                <a:solidFill>
                  <a:srgbClr val="202122"/>
                </a:solidFill>
                <a:latin typeface="Calibri"/>
              </a:rPr>
              <a:t>Once a risk is understood, there are four ways to respond.</a:t>
            </a:r>
          </a:p>
          <a:p>
            <a:pPr>
              <a:spcAft>
                <a:spcPts val="1140"/>
              </a:spcAft>
            </a:pPr>
            <a:r>
              <a:rPr sz="1900" b="1">
                <a:solidFill>
                  <a:srgbClr val="202122"/>
                </a:solidFill>
                <a:latin typeface="Calibri"/>
              </a:rPr>
              <a:t>Accept:</a:t>
            </a:r>
            <a:r>
              <a:rPr sz="1900" b="0">
                <a:solidFill>
                  <a:srgbClr val="202122"/>
                </a:solidFill>
                <a:latin typeface="Calibri"/>
              </a:rPr>
              <a:t> the risk is small or too expensive to fix, so you live with it and monitor it.</a:t>
            </a:r>
          </a:p>
          <a:p>
            <a:pPr>
              <a:spcAft>
                <a:spcPts val="1140"/>
              </a:spcAft>
            </a:pPr>
            <a:r>
              <a:rPr sz="1900" b="1">
                <a:solidFill>
                  <a:srgbClr val="202122"/>
                </a:solidFill>
                <a:latin typeface="Calibri"/>
              </a:rPr>
              <a:t>Avoid:</a:t>
            </a:r>
            <a:r>
              <a:rPr sz="1900" b="0">
                <a:solidFill>
                  <a:srgbClr val="202122"/>
                </a:solidFill>
                <a:latin typeface="Calibri"/>
              </a:rPr>
              <a:t> change the plan so the risk no longer applies, for example by not storing card details at all.</a:t>
            </a:r>
          </a:p>
          <a:p>
            <a:pPr>
              <a:spcAft>
                <a:spcPts val="1140"/>
              </a:spcAft>
            </a:pPr>
            <a:r>
              <a:rPr sz="1900" b="1">
                <a:solidFill>
                  <a:srgbClr val="202122"/>
                </a:solidFill>
                <a:latin typeface="Calibri"/>
              </a:rPr>
              <a:t>Mitigate:</a:t>
            </a:r>
            <a:r>
              <a:rPr sz="1900" b="0">
                <a:solidFill>
                  <a:srgbClr val="202122"/>
                </a:solidFill>
                <a:latin typeface="Calibri"/>
              </a:rPr>
              <a:t> reduce the likelihood or impact with controls, the most common response.</a:t>
            </a:r>
          </a:p>
          <a:p>
            <a:pPr>
              <a:spcAft>
                <a:spcPts val="1140"/>
              </a:spcAft>
            </a:pPr>
            <a:r>
              <a:rPr sz="1900" b="1">
                <a:solidFill>
                  <a:srgbClr val="202122"/>
                </a:solidFill>
                <a:latin typeface="Calibri"/>
              </a:rPr>
              <a:t>Transfer:</a:t>
            </a:r>
            <a:r>
              <a:rPr sz="1900" b="0">
                <a:solidFill>
                  <a:srgbClr val="202122"/>
                </a:solidFill>
                <a:latin typeface="Calibri"/>
              </a:rPr>
              <a:t> pass the financial risk to another party through a contract, such as insurance or outsourcing to a specialist provider.</a:t>
            </a:r>
          </a:p>
          <a:p>
            <a:pPr>
              <a:spcAft>
                <a:spcPts val="1140"/>
              </a:spcAft>
            </a:pPr>
            <a:r>
              <a:rPr sz="1900" b="0">
                <a:solidFill>
                  <a:srgbClr val="202122"/>
                </a:solidFill>
                <a:latin typeface="Calibri"/>
              </a:rPr>
              <a:t>A mitigation strategy weighs the response, the users, cost against benefit, who owns it and how to escalate.</a:t>
            </a:r>
          </a:p>
        </p:txBody>
      </p:sp>
      <p:sp>
        <p:nvSpPr>
          <p:cNvPr id="7" name="Rounded Rectangle 6"/>
          <p:cNvSpPr/>
          <p:nvPr/>
        </p:nvSpPr>
        <p:spPr>
          <a:xfrm>
            <a:off x="7772400" y="1554480"/>
            <a:ext cx="3867912" cy="4526280"/>
          </a:xfrm>
          <a:prstGeom prst="roundRect">
            <a:avLst>
              <a:gd name="adj" fmla="val 8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046720" y="1828800"/>
            <a:ext cx="548640" cy="54864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202122"/>
                </a:solidFill>
                <a:latin typeface="Calibri"/>
              </a:rPr>
              <a:t>e.g.</a:t>
            </a:r>
          </a:p>
        </p:txBody>
      </p:sp>
      <p:sp>
        <p:nvSpPr>
          <p:cNvPr id="9" name="TextBox 8"/>
          <p:cNvSpPr txBox="1"/>
          <p:nvPr/>
        </p:nvSpPr>
        <p:spPr>
          <a:xfrm>
            <a:off x="8046720" y="2560320"/>
            <a:ext cx="3291840" cy="365760"/>
          </a:xfrm>
          <a:prstGeom prst="rect">
            <a:avLst/>
          </a:prstGeom>
          <a:noFill/>
        </p:spPr>
        <p:txBody>
          <a:bodyPr wrap="square" anchor="t" lIns="0" rIns="0" tIns="0" bIns="0"/>
          <a:lstStyle/>
          <a:p>
            <a:pPr algn="l"/>
            <a:r>
              <a:rPr sz="1300" b="1" i="0">
                <a:solidFill>
                  <a:srgbClr val="A9C8F0"/>
                </a:solidFill>
                <a:latin typeface="Calibri"/>
              </a:rPr>
              <a:t>EXAMPLE</a:t>
            </a:r>
          </a:p>
        </p:txBody>
      </p:sp>
      <p:sp>
        <p:nvSpPr>
          <p:cNvPr id="10" name="TextBox 9"/>
          <p:cNvSpPr txBox="1"/>
          <p:nvPr/>
        </p:nvSpPr>
        <p:spPr>
          <a:xfrm>
            <a:off x="8046720" y="2971800"/>
            <a:ext cx="3291840" cy="2971800"/>
          </a:xfrm>
          <a:prstGeom prst="rect">
            <a:avLst/>
          </a:prstGeom>
          <a:noFill/>
        </p:spPr>
        <p:txBody>
          <a:bodyPr wrap="square" anchor="t" lIns="0" rIns="0" tIns="0" bIns="0"/>
          <a:lstStyle/>
          <a:p>
            <a:pPr algn="l"/>
            <a:r>
              <a:rPr sz="1900" b="0" i="0">
                <a:solidFill>
                  <a:srgbClr val="FFFFFF"/>
                </a:solidFill>
                <a:latin typeface="Cambria"/>
              </a:rPr>
              <a:t>An online shop avoids card data risk by using a payment provider, mitigates phishing with training and MFA, and transfers breach costs with cyber insurance.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OCCUPATIONAL SPECIALISMS  ·  Specialism Content Area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Four risk responses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Risk Management and Threat Assessment</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12</a:t>
            </a:r>
          </a:p>
        </p:txBody>
      </p:sp>
      <p:sp>
        <p:nvSpPr>
          <p:cNvPr id="6" name="Rounded Rectangle 5"/>
          <p:cNvSpPr/>
          <p:nvPr/>
        </p:nvSpPr>
        <p:spPr>
          <a:xfrm>
            <a:off x="548640" y="1600200"/>
            <a:ext cx="5410047"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777240" y="1828800"/>
            <a:ext cx="457200" cy="45720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1</a:t>
            </a:r>
          </a:p>
        </p:txBody>
      </p:sp>
      <p:sp>
        <p:nvSpPr>
          <p:cNvPr id="8" name="TextBox 7"/>
          <p:cNvSpPr txBox="1"/>
          <p:nvPr/>
        </p:nvSpPr>
        <p:spPr>
          <a:xfrm>
            <a:off x="1371600" y="1801368"/>
            <a:ext cx="4404207" cy="512064"/>
          </a:xfrm>
          <a:prstGeom prst="rect">
            <a:avLst/>
          </a:prstGeom>
          <a:noFill/>
        </p:spPr>
        <p:txBody>
          <a:bodyPr wrap="square" anchor="ctr" lIns="0" rIns="0" tIns="0" bIns="0"/>
          <a:lstStyle/>
          <a:p>
            <a:pPr algn="l"/>
            <a:r>
              <a:rPr sz="1900" b="1" i="0">
                <a:solidFill>
                  <a:srgbClr val="03306E"/>
                </a:solidFill>
                <a:latin typeface="Calibri"/>
              </a:rPr>
              <a:t>Accept</a:t>
            </a:r>
          </a:p>
        </p:txBody>
      </p:sp>
      <p:sp>
        <p:nvSpPr>
          <p:cNvPr id="9" name="TextBox 8"/>
          <p:cNvSpPr txBox="1"/>
          <p:nvPr/>
        </p:nvSpPr>
        <p:spPr>
          <a:xfrm>
            <a:off x="777240" y="2468880"/>
            <a:ext cx="4952847" cy="1143000"/>
          </a:xfrm>
          <a:prstGeom prst="rect">
            <a:avLst/>
          </a:prstGeom>
          <a:noFill/>
        </p:spPr>
        <p:txBody>
          <a:bodyPr wrap="square" anchor="t" lIns="0" rIns="0" tIns="0" bIns="0"/>
          <a:lstStyle/>
          <a:p>
            <a:pPr algn="l"/>
            <a:r>
              <a:rPr sz="2000" b="0" i="0">
                <a:solidFill>
                  <a:srgbClr val="202122"/>
                </a:solidFill>
                <a:latin typeface="Calibri"/>
              </a:rPr>
              <a:t>The impact is judged acceptable.</a:t>
            </a:r>
          </a:p>
        </p:txBody>
      </p:sp>
      <p:sp>
        <p:nvSpPr>
          <p:cNvPr id="10" name="Rounded Rectangle 9"/>
          <p:cNvSpPr/>
          <p:nvPr/>
        </p:nvSpPr>
        <p:spPr>
          <a:xfrm>
            <a:off x="6233007" y="1600200"/>
            <a:ext cx="5410047"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6461607" y="1828800"/>
            <a:ext cx="457200" cy="45720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2</a:t>
            </a:r>
          </a:p>
        </p:txBody>
      </p:sp>
      <p:sp>
        <p:nvSpPr>
          <p:cNvPr id="12" name="TextBox 11"/>
          <p:cNvSpPr txBox="1"/>
          <p:nvPr/>
        </p:nvSpPr>
        <p:spPr>
          <a:xfrm>
            <a:off x="7055967" y="1801368"/>
            <a:ext cx="4404207" cy="512064"/>
          </a:xfrm>
          <a:prstGeom prst="rect">
            <a:avLst/>
          </a:prstGeom>
          <a:noFill/>
        </p:spPr>
        <p:txBody>
          <a:bodyPr wrap="square" anchor="ctr" lIns="0" rIns="0" tIns="0" bIns="0"/>
          <a:lstStyle/>
          <a:p>
            <a:pPr algn="l"/>
            <a:r>
              <a:rPr sz="1900" b="1" i="0">
                <a:solidFill>
                  <a:srgbClr val="03306E"/>
                </a:solidFill>
                <a:latin typeface="Calibri"/>
              </a:rPr>
              <a:t>Avoid</a:t>
            </a:r>
          </a:p>
        </p:txBody>
      </p:sp>
      <p:sp>
        <p:nvSpPr>
          <p:cNvPr id="13" name="TextBox 12"/>
          <p:cNvSpPr txBox="1"/>
          <p:nvPr/>
        </p:nvSpPr>
        <p:spPr>
          <a:xfrm>
            <a:off x="6461607" y="2468880"/>
            <a:ext cx="4952847" cy="1143000"/>
          </a:xfrm>
          <a:prstGeom prst="rect">
            <a:avLst/>
          </a:prstGeom>
          <a:noFill/>
        </p:spPr>
        <p:txBody>
          <a:bodyPr wrap="square" anchor="t" lIns="0" rIns="0" tIns="0" bIns="0"/>
          <a:lstStyle/>
          <a:p>
            <a:pPr algn="l"/>
            <a:r>
              <a:rPr sz="2000" b="0" i="0">
                <a:solidFill>
                  <a:srgbClr val="202122"/>
                </a:solidFill>
                <a:latin typeface="Calibri"/>
              </a:rPr>
              <a:t>Change the scope to sidestep the risk.</a:t>
            </a:r>
          </a:p>
        </p:txBody>
      </p:sp>
      <p:sp>
        <p:nvSpPr>
          <p:cNvPr id="14" name="Rounded Rectangle 13"/>
          <p:cNvSpPr/>
          <p:nvPr/>
        </p:nvSpPr>
        <p:spPr>
          <a:xfrm>
            <a:off x="548640" y="4023360"/>
            <a:ext cx="5410047"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777240" y="4251960"/>
            <a:ext cx="457200" cy="45720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3</a:t>
            </a:r>
          </a:p>
        </p:txBody>
      </p:sp>
      <p:sp>
        <p:nvSpPr>
          <p:cNvPr id="16" name="TextBox 15"/>
          <p:cNvSpPr txBox="1"/>
          <p:nvPr/>
        </p:nvSpPr>
        <p:spPr>
          <a:xfrm>
            <a:off x="1371600" y="4224528"/>
            <a:ext cx="4404207" cy="512064"/>
          </a:xfrm>
          <a:prstGeom prst="rect">
            <a:avLst/>
          </a:prstGeom>
          <a:noFill/>
        </p:spPr>
        <p:txBody>
          <a:bodyPr wrap="square" anchor="ctr" lIns="0" rIns="0" tIns="0" bIns="0"/>
          <a:lstStyle/>
          <a:p>
            <a:pPr algn="l"/>
            <a:r>
              <a:rPr sz="1900" b="1" i="0">
                <a:solidFill>
                  <a:srgbClr val="03306E"/>
                </a:solidFill>
                <a:latin typeface="Calibri"/>
              </a:rPr>
              <a:t>Mitigate</a:t>
            </a:r>
          </a:p>
        </p:txBody>
      </p:sp>
      <p:sp>
        <p:nvSpPr>
          <p:cNvPr id="17" name="TextBox 16"/>
          <p:cNvSpPr txBox="1"/>
          <p:nvPr/>
        </p:nvSpPr>
        <p:spPr>
          <a:xfrm>
            <a:off x="777240" y="4892040"/>
            <a:ext cx="4952847" cy="1143000"/>
          </a:xfrm>
          <a:prstGeom prst="rect">
            <a:avLst/>
          </a:prstGeom>
          <a:noFill/>
        </p:spPr>
        <p:txBody>
          <a:bodyPr wrap="square" anchor="t" lIns="0" rIns="0" tIns="0" bIns="0"/>
          <a:lstStyle/>
          <a:p>
            <a:pPr algn="l"/>
            <a:r>
              <a:rPr sz="2000" b="0" i="0">
                <a:solidFill>
                  <a:srgbClr val="202122"/>
                </a:solidFill>
                <a:latin typeface="Calibri"/>
              </a:rPr>
              <a:t>Reduce the probability or impact.</a:t>
            </a:r>
          </a:p>
        </p:txBody>
      </p:sp>
      <p:sp>
        <p:nvSpPr>
          <p:cNvPr id="18" name="Rounded Rectangle 17"/>
          <p:cNvSpPr/>
          <p:nvPr/>
        </p:nvSpPr>
        <p:spPr>
          <a:xfrm>
            <a:off x="6233007" y="4023360"/>
            <a:ext cx="5410047"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6461607" y="4251960"/>
            <a:ext cx="457200" cy="45720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4</a:t>
            </a:r>
          </a:p>
        </p:txBody>
      </p:sp>
      <p:sp>
        <p:nvSpPr>
          <p:cNvPr id="20" name="TextBox 19"/>
          <p:cNvSpPr txBox="1"/>
          <p:nvPr/>
        </p:nvSpPr>
        <p:spPr>
          <a:xfrm>
            <a:off x="7055967" y="4224528"/>
            <a:ext cx="4404207" cy="512064"/>
          </a:xfrm>
          <a:prstGeom prst="rect">
            <a:avLst/>
          </a:prstGeom>
          <a:noFill/>
        </p:spPr>
        <p:txBody>
          <a:bodyPr wrap="square" anchor="ctr" lIns="0" rIns="0" tIns="0" bIns="0"/>
          <a:lstStyle/>
          <a:p>
            <a:pPr algn="l"/>
            <a:r>
              <a:rPr sz="1900" b="1" i="0">
                <a:solidFill>
                  <a:srgbClr val="03306E"/>
                </a:solidFill>
                <a:latin typeface="Calibri"/>
              </a:rPr>
              <a:t>Transfer</a:t>
            </a:r>
          </a:p>
        </p:txBody>
      </p:sp>
      <p:sp>
        <p:nvSpPr>
          <p:cNvPr id="21" name="TextBox 20"/>
          <p:cNvSpPr txBox="1"/>
          <p:nvPr/>
        </p:nvSpPr>
        <p:spPr>
          <a:xfrm>
            <a:off x="6461607" y="4892040"/>
            <a:ext cx="4952847" cy="1143000"/>
          </a:xfrm>
          <a:prstGeom prst="rect">
            <a:avLst/>
          </a:prstGeom>
          <a:noFill/>
        </p:spPr>
        <p:txBody>
          <a:bodyPr wrap="square" anchor="t" lIns="0" rIns="0" tIns="0" bIns="0"/>
          <a:lstStyle/>
          <a:p>
            <a:pPr algn="l"/>
            <a:r>
              <a:rPr sz="2000" b="0" i="0">
                <a:solidFill>
                  <a:srgbClr val="202122"/>
                </a:solidFill>
                <a:latin typeface="Calibri"/>
              </a:rPr>
              <a:t>Contractually pass the risk to someone else, e.g. insurance or outsourcing.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OCCUPATIONAL SPECIALISMS  ·  Specialism Content Area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Quick check: Four risk responses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Risk Management and Threat Assessment</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13</a:t>
            </a:r>
          </a:p>
        </p:txBody>
      </p:sp>
      <p:sp>
        <p:nvSpPr>
          <p:cNvPr id="6" name="Oval 5"/>
          <p:cNvSpPr/>
          <p:nvPr/>
        </p:nvSpPr>
        <p:spPr>
          <a:xfrm>
            <a:off x="548640" y="1691640"/>
            <a:ext cx="502920" cy="50292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1</a:t>
            </a:r>
          </a:p>
        </p:txBody>
      </p:sp>
      <p:sp>
        <p:nvSpPr>
          <p:cNvPr id="7" name="TextBox 6"/>
          <p:cNvSpPr txBox="1"/>
          <p:nvPr/>
        </p:nvSpPr>
        <p:spPr>
          <a:xfrm>
            <a:off x="1371600" y="1645920"/>
            <a:ext cx="10271455" cy="1188720"/>
          </a:xfrm>
          <a:prstGeom prst="rect">
            <a:avLst/>
          </a:prstGeom>
          <a:noFill/>
        </p:spPr>
        <p:txBody>
          <a:bodyPr wrap="square" anchor="t" lIns="0" rIns="0" tIns="0" bIns="0"/>
          <a:lstStyle/>
          <a:p>
            <a:pPr algn="l"/>
            <a:r>
              <a:rPr sz="2400" b="0" i="0">
                <a:solidFill>
                  <a:srgbClr val="202122"/>
                </a:solidFill>
                <a:latin typeface="Calibri"/>
              </a:rPr>
              <a:t>Buying cyber insurance is which response?</a:t>
            </a:r>
          </a:p>
        </p:txBody>
      </p:sp>
      <p:sp>
        <p:nvSpPr>
          <p:cNvPr id="8" name="Oval 7"/>
          <p:cNvSpPr/>
          <p:nvPr/>
        </p:nvSpPr>
        <p:spPr>
          <a:xfrm>
            <a:off x="548640" y="3108960"/>
            <a:ext cx="502920" cy="50292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2</a:t>
            </a:r>
          </a:p>
        </p:txBody>
      </p:sp>
      <p:sp>
        <p:nvSpPr>
          <p:cNvPr id="9" name="TextBox 8"/>
          <p:cNvSpPr txBox="1"/>
          <p:nvPr/>
        </p:nvSpPr>
        <p:spPr>
          <a:xfrm>
            <a:off x="1371600" y="3063240"/>
            <a:ext cx="10271455" cy="1188720"/>
          </a:xfrm>
          <a:prstGeom prst="rect">
            <a:avLst/>
          </a:prstGeom>
          <a:noFill/>
        </p:spPr>
        <p:txBody>
          <a:bodyPr wrap="square" anchor="t" lIns="0" rIns="0" tIns="0" bIns="0"/>
          <a:lstStyle/>
          <a:p>
            <a:pPr algn="l"/>
            <a:r>
              <a:rPr sz="2400" b="0" i="0">
                <a:solidFill>
                  <a:srgbClr val="202122"/>
                </a:solidFill>
                <a:latin typeface="Calibri"/>
              </a:rPr>
              <a:t>When might you accept a risk?</a:t>
            </a:r>
          </a:p>
        </p:txBody>
      </p:sp>
      <p:sp>
        <p:nvSpPr>
          <p:cNvPr id="10" name="Oval 9"/>
          <p:cNvSpPr/>
          <p:nvPr/>
        </p:nvSpPr>
        <p:spPr>
          <a:xfrm>
            <a:off x="548640" y="4526280"/>
            <a:ext cx="502920" cy="50292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3</a:t>
            </a:r>
          </a:p>
        </p:txBody>
      </p:sp>
      <p:sp>
        <p:nvSpPr>
          <p:cNvPr id="11" name="TextBox 10"/>
          <p:cNvSpPr txBox="1"/>
          <p:nvPr/>
        </p:nvSpPr>
        <p:spPr>
          <a:xfrm>
            <a:off x="1371600" y="4480560"/>
            <a:ext cx="10271455" cy="1188720"/>
          </a:xfrm>
          <a:prstGeom prst="rect">
            <a:avLst/>
          </a:prstGeom>
          <a:noFill/>
        </p:spPr>
        <p:txBody>
          <a:bodyPr wrap="square" anchor="t" lIns="0" rIns="0" tIns="0" bIns="0"/>
          <a:lstStyle/>
          <a:p>
            <a:pPr algn="l"/>
            <a:r>
              <a:rPr sz="2400" b="0" i="0">
                <a:solidFill>
                  <a:srgbClr val="202122"/>
                </a:solidFill>
                <a:latin typeface="Calibri"/>
              </a:rPr>
              <a:t>What is avoiding a risk?</a:t>
            </a:r>
          </a:p>
        </p:txBody>
      </p:sp>
      <p:sp>
        <p:nvSpPr>
          <p:cNvPr id="12" name="TextBox 11"/>
          <p:cNvSpPr txBox="1"/>
          <p:nvPr/>
        </p:nvSpPr>
        <p:spPr>
          <a:xfrm>
            <a:off x="548640" y="5852160"/>
            <a:ext cx="11094415" cy="365760"/>
          </a:xfrm>
          <a:prstGeom prst="rect">
            <a:avLst/>
          </a:prstGeom>
          <a:noFill/>
        </p:spPr>
        <p:txBody>
          <a:bodyPr wrap="square" anchor="t" lIns="0" rIns="0" tIns="0" bIns="0"/>
          <a:lstStyle/>
          <a:p>
            <a:pPr algn="l"/>
            <a:r>
              <a:rPr sz="1300" b="0" i="1">
                <a:solidFill>
                  <a:srgbClr val="54595D"/>
                </a:solidFill>
                <a:latin typeface="Calibri"/>
              </a:rPr>
              <a:t>Answer on mini whiteboards or in your book. Answers are in the speaker notes.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OCCUPATIONAL SPECIALISMS  ·  Specialism Content Area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The penetration testing process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Risk Management and Threat Assessment</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14</a:t>
            </a:r>
          </a:p>
        </p:txBody>
      </p:sp>
      <p:sp>
        <p:nvSpPr>
          <p:cNvPr id="6" name="TextBox 5"/>
          <p:cNvSpPr txBox="1"/>
          <p:nvPr/>
        </p:nvSpPr>
        <p:spPr>
          <a:xfrm>
            <a:off x="548640" y="1554480"/>
            <a:ext cx="6720840" cy="4617720"/>
          </a:xfrm>
          <a:prstGeom prst="rect">
            <a:avLst/>
          </a:prstGeom>
          <a:noFill/>
        </p:spPr>
        <p:txBody>
          <a:bodyPr wrap="square" lIns="0" rIns="0" tIns="0" bIns="0">
            <a:spAutoFit/>
          </a:bodyPr>
          <a:lstStyle/>
          <a:p>
            <a:pPr>
              <a:spcAft>
                <a:spcPts val="1260"/>
              </a:spcAft>
            </a:pPr>
            <a:r>
              <a:rPr sz="2100" b="0">
                <a:solidFill>
                  <a:srgbClr val="202122"/>
                </a:solidFill>
                <a:latin typeface="Calibri"/>
              </a:rPr>
              <a:t>A penetration test is an authorised, simulated attack to find weaknesses before real attackers do.</a:t>
            </a:r>
          </a:p>
          <a:p>
            <a:pPr>
              <a:spcAft>
                <a:spcPts val="1260"/>
              </a:spcAft>
            </a:pPr>
            <a:r>
              <a:rPr sz="2100" b="1">
                <a:solidFill>
                  <a:srgbClr val="202122"/>
                </a:solidFill>
                <a:latin typeface="Calibri"/>
              </a:rPr>
              <a:t>It starts with customer engagement:</a:t>
            </a:r>
            <a:r>
              <a:rPr sz="2100" b="0">
                <a:solidFill>
                  <a:srgbClr val="202122"/>
                </a:solidFill>
                <a:latin typeface="Calibri"/>
              </a:rPr>
              <a:t> agreeing the scope, rules and written permission. Testers then gather information about the target, discover and scan hosts and services, test for vulnerabilities, and carefully exploit some to prove the risk is real, within the agreed limits.</a:t>
            </a:r>
          </a:p>
          <a:p>
            <a:pPr>
              <a:spcAft>
                <a:spcPts val="1260"/>
              </a:spcAft>
            </a:pPr>
            <a:r>
              <a:rPr sz="2100" b="0">
                <a:solidFill>
                  <a:srgbClr val="202122"/>
                </a:solidFill>
                <a:latin typeface="Calibri"/>
              </a:rPr>
              <a:t>Finally they analyse and report the findings, and the organisation acts on them.</a:t>
            </a:r>
          </a:p>
          <a:p>
            <a:pPr>
              <a:spcAft>
                <a:spcPts val="1260"/>
              </a:spcAft>
            </a:pPr>
            <a:r>
              <a:rPr sz="2100" b="0">
                <a:solidFill>
                  <a:srgbClr val="202122"/>
                </a:solidFill>
                <a:latin typeface="Calibri"/>
              </a:rPr>
              <a:t>Without written permission, the same activities would break the Computer Misuse Act.</a:t>
            </a:r>
          </a:p>
        </p:txBody>
      </p:sp>
      <p:sp>
        <p:nvSpPr>
          <p:cNvPr id="7" name="Rounded Rectangle 6"/>
          <p:cNvSpPr/>
          <p:nvPr/>
        </p:nvSpPr>
        <p:spPr>
          <a:xfrm>
            <a:off x="7772400" y="1554480"/>
            <a:ext cx="3867912" cy="4526280"/>
          </a:xfrm>
          <a:prstGeom prst="roundRect">
            <a:avLst>
              <a:gd name="adj" fmla="val 8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046720" y="1828800"/>
            <a:ext cx="548640" cy="54864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202122"/>
                </a:solidFill>
                <a:latin typeface="Calibri"/>
              </a:rPr>
              <a:t>e.g.</a:t>
            </a:r>
          </a:p>
        </p:txBody>
      </p:sp>
      <p:sp>
        <p:nvSpPr>
          <p:cNvPr id="9" name="TextBox 8"/>
          <p:cNvSpPr txBox="1"/>
          <p:nvPr/>
        </p:nvSpPr>
        <p:spPr>
          <a:xfrm>
            <a:off x="8046720" y="2560320"/>
            <a:ext cx="3291840" cy="365760"/>
          </a:xfrm>
          <a:prstGeom prst="rect">
            <a:avLst/>
          </a:prstGeom>
          <a:noFill/>
        </p:spPr>
        <p:txBody>
          <a:bodyPr wrap="square" anchor="t" lIns="0" rIns="0" tIns="0" bIns="0"/>
          <a:lstStyle/>
          <a:p>
            <a:pPr algn="l"/>
            <a:r>
              <a:rPr sz="1300" b="1" i="0">
                <a:solidFill>
                  <a:srgbClr val="A9C8F0"/>
                </a:solidFill>
                <a:latin typeface="Calibri"/>
              </a:rPr>
              <a:t>EXAMPLE</a:t>
            </a:r>
          </a:p>
        </p:txBody>
      </p:sp>
      <p:sp>
        <p:nvSpPr>
          <p:cNvPr id="10" name="TextBox 9"/>
          <p:cNvSpPr txBox="1"/>
          <p:nvPr/>
        </p:nvSpPr>
        <p:spPr>
          <a:xfrm>
            <a:off x="8046720" y="2971800"/>
            <a:ext cx="3291840" cy="2971800"/>
          </a:xfrm>
          <a:prstGeom prst="rect">
            <a:avLst/>
          </a:prstGeom>
          <a:noFill/>
        </p:spPr>
        <p:txBody>
          <a:bodyPr wrap="square" anchor="t" lIns="0" rIns="0" tIns="0" bIns="0"/>
          <a:lstStyle/>
          <a:p>
            <a:pPr algn="l"/>
            <a:r>
              <a:rPr sz="1900" b="0" i="0">
                <a:solidFill>
                  <a:srgbClr val="FFFFFF"/>
                </a:solidFill>
                <a:latin typeface="Cambria"/>
              </a:rPr>
              <a:t>A wireless pen test finds the guest Wi-Fi can reach the staff file server. The fix: separate the guest network onto its own VLAN.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OCCUPATIONAL SPECIALISMS  ·  Specialism Content Area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The penetration testing process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Risk Management and Threat Assessment</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15</a:t>
            </a:r>
          </a:p>
        </p:txBody>
      </p:sp>
      <p:sp>
        <p:nvSpPr>
          <p:cNvPr id="6" name="Rectangle 5"/>
          <p:cNvSpPr/>
          <p:nvPr/>
        </p:nvSpPr>
        <p:spPr>
          <a:xfrm>
            <a:off x="1416024" y="2496312"/>
            <a:ext cx="9359646" cy="36576"/>
          </a:xfrm>
          <a:prstGeom prst="rect">
            <a:avLst/>
          </a:prstGeom>
          <a:solidFill>
            <a:srgbClr val="A9C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095984" y="2194560"/>
            <a:ext cx="640080" cy="64008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202122"/>
                </a:solidFill>
                <a:latin typeface="Calibri"/>
              </a:rPr>
              <a:t>1</a:t>
            </a:r>
          </a:p>
        </p:txBody>
      </p:sp>
      <p:sp>
        <p:nvSpPr>
          <p:cNvPr id="8" name="TextBox 7"/>
          <p:cNvSpPr txBox="1"/>
          <p:nvPr/>
        </p:nvSpPr>
        <p:spPr>
          <a:xfrm>
            <a:off x="548640" y="2971800"/>
            <a:ext cx="1734769" cy="731520"/>
          </a:xfrm>
          <a:prstGeom prst="rect">
            <a:avLst/>
          </a:prstGeom>
          <a:noFill/>
        </p:spPr>
        <p:txBody>
          <a:bodyPr wrap="square" anchor="t" lIns="0" rIns="0" tIns="0" bIns="0"/>
          <a:lstStyle/>
          <a:p>
            <a:pPr algn="ctr"/>
            <a:r>
              <a:rPr sz="1700" b="1" i="0">
                <a:solidFill>
                  <a:srgbClr val="03306E"/>
                </a:solidFill>
                <a:latin typeface="Calibri"/>
              </a:rPr>
              <a:t>Engage</a:t>
            </a:r>
          </a:p>
        </p:txBody>
      </p:sp>
      <p:sp>
        <p:nvSpPr>
          <p:cNvPr id="9" name="Rounded Rectangle 8"/>
          <p:cNvSpPr/>
          <p:nvPr/>
        </p:nvSpPr>
        <p:spPr>
          <a:xfrm>
            <a:off x="548640" y="3749040"/>
            <a:ext cx="1734769" cy="1005839"/>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85800" y="3886200"/>
            <a:ext cx="1460449" cy="731519"/>
          </a:xfrm>
          <a:prstGeom prst="rect">
            <a:avLst/>
          </a:prstGeom>
          <a:noFill/>
        </p:spPr>
        <p:txBody>
          <a:bodyPr wrap="square" anchor="t" lIns="0" rIns="0" tIns="0" bIns="0"/>
          <a:lstStyle/>
          <a:p>
            <a:pPr algn="l"/>
            <a:r>
              <a:rPr sz="1300" b="0" i="0">
                <a:solidFill>
                  <a:srgbClr val="202122"/>
                </a:solidFill>
                <a:latin typeface="Calibri"/>
              </a:rPr>
              <a:t>Agree scope with the customer.</a:t>
            </a:r>
          </a:p>
        </p:txBody>
      </p:sp>
      <p:sp>
        <p:nvSpPr>
          <p:cNvPr id="11" name="Oval 10"/>
          <p:cNvSpPr/>
          <p:nvPr/>
        </p:nvSpPr>
        <p:spPr>
          <a:xfrm>
            <a:off x="2967913" y="2194560"/>
            <a:ext cx="640080" cy="64008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202122"/>
                </a:solidFill>
                <a:latin typeface="Calibri"/>
              </a:rPr>
              <a:t>2</a:t>
            </a:r>
          </a:p>
        </p:txBody>
      </p:sp>
      <p:sp>
        <p:nvSpPr>
          <p:cNvPr id="12" name="TextBox 11"/>
          <p:cNvSpPr txBox="1"/>
          <p:nvPr/>
        </p:nvSpPr>
        <p:spPr>
          <a:xfrm>
            <a:off x="2420569" y="2971800"/>
            <a:ext cx="1734769" cy="731520"/>
          </a:xfrm>
          <a:prstGeom prst="rect">
            <a:avLst/>
          </a:prstGeom>
          <a:noFill/>
        </p:spPr>
        <p:txBody>
          <a:bodyPr wrap="square" anchor="t" lIns="0" rIns="0" tIns="0" bIns="0"/>
          <a:lstStyle/>
          <a:p>
            <a:pPr algn="ctr"/>
            <a:r>
              <a:rPr sz="1700" b="1" i="0">
                <a:solidFill>
                  <a:srgbClr val="03306E"/>
                </a:solidFill>
                <a:latin typeface="Calibri"/>
              </a:rPr>
              <a:t>Gather</a:t>
            </a:r>
          </a:p>
        </p:txBody>
      </p:sp>
      <p:sp>
        <p:nvSpPr>
          <p:cNvPr id="13" name="Rounded Rectangle 12"/>
          <p:cNvSpPr/>
          <p:nvPr/>
        </p:nvSpPr>
        <p:spPr>
          <a:xfrm>
            <a:off x="2420569" y="3749040"/>
            <a:ext cx="1734769" cy="1005839"/>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2557729" y="3886200"/>
            <a:ext cx="1460449" cy="731519"/>
          </a:xfrm>
          <a:prstGeom prst="rect">
            <a:avLst/>
          </a:prstGeom>
          <a:noFill/>
        </p:spPr>
        <p:txBody>
          <a:bodyPr wrap="square" anchor="t" lIns="0" rIns="0" tIns="0" bIns="0"/>
          <a:lstStyle/>
          <a:p>
            <a:pPr algn="l"/>
            <a:r>
              <a:rPr sz="1300" b="0" i="0">
                <a:solidFill>
                  <a:srgbClr val="202122"/>
                </a:solidFill>
                <a:latin typeface="Calibri"/>
              </a:rPr>
              <a:t>Collect information about the target.</a:t>
            </a:r>
          </a:p>
        </p:txBody>
      </p:sp>
      <p:sp>
        <p:nvSpPr>
          <p:cNvPr id="15" name="Oval 14"/>
          <p:cNvSpPr/>
          <p:nvPr/>
        </p:nvSpPr>
        <p:spPr>
          <a:xfrm>
            <a:off x="4839843" y="2194560"/>
            <a:ext cx="640080" cy="64008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202122"/>
                </a:solidFill>
                <a:latin typeface="Calibri"/>
              </a:rPr>
              <a:t>3</a:t>
            </a:r>
          </a:p>
        </p:txBody>
      </p:sp>
      <p:sp>
        <p:nvSpPr>
          <p:cNvPr id="16" name="TextBox 15"/>
          <p:cNvSpPr txBox="1"/>
          <p:nvPr/>
        </p:nvSpPr>
        <p:spPr>
          <a:xfrm>
            <a:off x="4292498" y="2971800"/>
            <a:ext cx="1734769" cy="731520"/>
          </a:xfrm>
          <a:prstGeom prst="rect">
            <a:avLst/>
          </a:prstGeom>
          <a:noFill/>
        </p:spPr>
        <p:txBody>
          <a:bodyPr wrap="square" anchor="t" lIns="0" rIns="0" tIns="0" bIns="0"/>
          <a:lstStyle/>
          <a:p>
            <a:pPr algn="ctr"/>
            <a:r>
              <a:rPr sz="1700" b="1" i="0">
                <a:solidFill>
                  <a:srgbClr val="03306E"/>
                </a:solidFill>
                <a:latin typeface="Calibri"/>
              </a:rPr>
              <a:t>Scan</a:t>
            </a:r>
          </a:p>
        </p:txBody>
      </p:sp>
      <p:sp>
        <p:nvSpPr>
          <p:cNvPr id="17" name="Rounded Rectangle 16"/>
          <p:cNvSpPr/>
          <p:nvPr/>
        </p:nvSpPr>
        <p:spPr>
          <a:xfrm>
            <a:off x="4292498" y="3749040"/>
            <a:ext cx="1734769" cy="1005839"/>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4429658" y="3886200"/>
            <a:ext cx="1460449" cy="731519"/>
          </a:xfrm>
          <a:prstGeom prst="rect">
            <a:avLst/>
          </a:prstGeom>
          <a:noFill/>
        </p:spPr>
        <p:txBody>
          <a:bodyPr wrap="square" anchor="t" lIns="0" rIns="0" tIns="0" bIns="0"/>
          <a:lstStyle/>
          <a:p>
            <a:pPr algn="l"/>
            <a:r>
              <a:rPr sz="1300" b="0" i="0">
                <a:solidFill>
                  <a:srgbClr val="202122"/>
                </a:solidFill>
                <a:latin typeface="Calibri"/>
              </a:rPr>
              <a:t>Discover hosts and services.</a:t>
            </a:r>
          </a:p>
        </p:txBody>
      </p:sp>
      <p:sp>
        <p:nvSpPr>
          <p:cNvPr id="19" name="Oval 18"/>
          <p:cNvSpPr/>
          <p:nvPr/>
        </p:nvSpPr>
        <p:spPr>
          <a:xfrm>
            <a:off x="6711772" y="2194560"/>
            <a:ext cx="640080" cy="64008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202122"/>
                </a:solidFill>
                <a:latin typeface="Calibri"/>
              </a:rPr>
              <a:t>4</a:t>
            </a:r>
          </a:p>
        </p:txBody>
      </p:sp>
      <p:sp>
        <p:nvSpPr>
          <p:cNvPr id="20" name="TextBox 19"/>
          <p:cNvSpPr txBox="1"/>
          <p:nvPr/>
        </p:nvSpPr>
        <p:spPr>
          <a:xfrm>
            <a:off x="6164427" y="2971800"/>
            <a:ext cx="1734769" cy="731520"/>
          </a:xfrm>
          <a:prstGeom prst="rect">
            <a:avLst/>
          </a:prstGeom>
          <a:noFill/>
        </p:spPr>
        <p:txBody>
          <a:bodyPr wrap="square" anchor="t" lIns="0" rIns="0" tIns="0" bIns="0"/>
          <a:lstStyle/>
          <a:p>
            <a:pPr algn="ctr"/>
            <a:r>
              <a:rPr sz="1700" b="1" i="0">
                <a:solidFill>
                  <a:srgbClr val="03306E"/>
                </a:solidFill>
                <a:latin typeface="Calibri"/>
              </a:rPr>
              <a:t>Test</a:t>
            </a:r>
          </a:p>
        </p:txBody>
      </p:sp>
      <p:sp>
        <p:nvSpPr>
          <p:cNvPr id="21" name="Rounded Rectangle 20"/>
          <p:cNvSpPr/>
          <p:nvPr/>
        </p:nvSpPr>
        <p:spPr>
          <a:xfrm>
            <a:off x="6164427" y="3749040"/>
            <a:ext cx="1734769" cy="1005839"/>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01587" y="3886200"/>
            <a:ext cx="1460449" cy="731519"/>
          </a:xfrm>
          <a:prstGeom prst="rect">
            <a:avLst/>
          </a:prstGeom>
          <a:noFill/>
        </p:spPr>
        <p:txBody>
          <a:bodyPr wrap="square" anchor="t" lIns="0" rIns="0" tIns="0" bIns="0"/>
          <a:lstStyle/>
          <a:p>
            <a:pPr algn="l"/>
            <a:r>
              <a:rPr sz="1300" b="0" i="0">
                <a:solidFill>
                  <a:srgbClr val="202122"/>
                </a:solidFill>
                <a:latin typeface="Calibri"/>
              </a:rPr>
              <a:t>Look for vulnerabilities.</a:t>
            </a:r>
          </a:p>
        </p:txBody>
      </p:sp>
      <p:sp>
        <p:nvSpPr>
          <p:cNvPr id="23" name="Oval 22"/>
          <p:cNvSpPr/>
          <p:nvPr/>
        </p:nvSpPr>
        <p:spPr>
          <a:xfrm>
            <a:off x="8583701" y="2194560"/>
            <a:ext cx="640080" cy="64008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202122"/>
                </a:solidFill>
                <a:latin typeface="Calibri"/>
              </a:rPr>
              <a:t>5</a:t>
            </a:r>
          </a:p>
        </p:txBody>
      </p:sp>
      <p:sp>
        <p:nvSpPr>
          <p:cNvPr id="24" name="TextBox 23"/>
          <p:cNvSpPr txBox="1"/>
          <p:nvPr/>
        </p:nvSpPr>
        <p:spPr>
          <a:xfrm>
            <a:off x="8036356" y="2971800"/>
            <a:ext cx="1734769" cy="731520"/>
          </a:xfrm>
          <a:prstGeom prst="rect">
            <a:avLst/>
          </a:prstGeom>
          <a:noFill/>
        </p:spPr>
        <p:txBody>
          <a:bodyPr wrap="square" anchor="t" lIns="0" rIns="0" tIns="0" bIns="0"/>
          <a:lstStyle/>
          <a:p>
            <a:pPr algn="ctr"/>
            <a:r>
              <a:rPr sz="1700" b="1" i="0">
                <a:solidFill>
                  <a:srgbClr val="03306E"/>
                </a:solidFill>
                <a:latin typeface="Calibri"/>
              </a:rPr>
              <a:t>Exploit</a:t>
            </a:r>
          </a:p>
        </p:txBody>
      </p:sp>
      <p:sp>
        <p:nvSpPr>
          <p:cNvPr id="25" name="Rounded Rectangle 24"/>
          <p:cNvSpPr/>
          <p:nvPr/>
        </p:nvSpPr>
        <p:spPr>
          <a:xfrm>
            <a:off x="8036356" y="3749040"/>
            <a:ext cx="1734769" cy="1005839"/>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173516" y="3886200"/>
            <a:ext cx="1460449" cy="731519"/>
          </a:xfrm>
          <a:prstGeom prst="rect">
            <a:avLst/>
          </a:prstGeom>
          <a:noFill/>
        </p:spPr>
        <p:txBody>
          <a:bodyPr wrap="square" anchor="t" lIns="0" rIns="0" tIns="0" bIns="0"/>
          <a:lstStyle/>
          <a:p>
            <a:pPr algn="l"/>
            <a:r>
              <a:rPr sz="1300" b="0" i="0">
                <a:solidFill>
                  <a:srgbClr val="202122"/>
                </a:solidFill>
                <a:latin typeface="Calibri"/>
              </a:rPr>
              <a:t>Attempt access, within agreed limits.</a:t>
            </a:r>
          </a:p>
        </p:txBody>
      </p:sp>
      <p:sp>
        <p:nvSpPr>
          <p:cNvPr id="27" name="Oval 26"/>
          <p:cNvSpPr/>
          <p:nvPr/>
        </p:nvSpPr>
        <p:spPr>
          <a:xfrm>
            <a:off x="10455630" y="2194560"/>
            <a:ext cx="640080" cy="64008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202122"/>
                </a:solidFill>
                <a:latin typeface="Calibri"/>
              </a:rPr>
              <a:t>6</a:t>
            </a:r>
          </a:p>
        </p:txBody>
      </p:sp>
      <p:sp>
        <p:nvSpPr>
          <p:cNvPr id="28" name="TextBox 27"/>
          <p:cNvSpPr txBox="1"/>
          <p:nvPr/>
        </p:nvSpPr>
        <p:spPr>
          <a:xfrm>
            <a:off x="9908286" y="2971800"/>
            <a:ext cx="1734769" cy="731520"/>
          </a:xfrm>
          <a:prstGeom prst="rect">
            <a:avLst/>
          </a:prstGeom>
          <a:noFill/>
        </p:spPr>
        <p:txBody>
          <a:bodyPr wrap="square" anchor="t" lIns="0" rIns="0" tIns="0" bIns="0"/>
          <a:lstStyle/>
          <a:p>
            <a:pPr algn="ctr"/>
            <a:r>
              <a:rPr sz="1700" b="1" i="0">
                <a:solidFill>
                  <a:srgbClr val="03306E"/>
                </a:solidFill>
                <a:latin typeface="Calibri"/>
              </a:rPr>
              <a:t>Review and act</a:t>
            </a:r>
          </a:p>
        </p:txBody>
      </p:sp>
      <p:sp>
        <p:nvSpPr>
          <p:cNvPr id="29" name="Rounded Rectangle 28"/>
          <p:cNvSpPr/>
          <p:nvPr/>
        </p:nvSpPr>
        <p:spPr>
          <a:xfrm>
            <a:off x="9908286" y="3749040"/>
            <a:ext cx="1734769" cy="1005839"/>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045446" y="3886200"/>
            <a:ext cx="1460449" cy="731519"/>
          </a:xfrm>
          <a:prstGeom prst="rect">
            <a:avLst/>
          </a:prstGeom>
          <a:noFill/>
        </p:spPr>
        <p:txBody>
          <a:bodyPr wrap="square" anchor="t" lIns="0" rIns="0" tIns="0" bIns="0"/>
          <a:lstStyle/>
          <a:p>
            <a:pPr algn="l"/>
            <a:r>
              <a:rPr sz="1300" b="0" i="0">
                <a:solidFill>
                  <a:srgbClr val="202122"/>
                </a:solidFill>
                <a:latin typeface="Calibri"/>
              </a:rPr>
              <a:t>Analyse results and fix.</a:t>
            </a:r>
          </a:p>
        </p:txBody>
      </p:sp>
      <p:sp>
        <p:nvSpPr>
          <p:cNvPr id="31" name="TextBox 30"/>
          <p:cNvSpPr txBox="1"/>
          <p:nvPr/>
        </p:nvSpPr>
        <p:spPr>
          <a:xfrm>
            <a:off x="548640" y="5029200"/>
            <a:ext cx="11094415" cy="548640"/>
          </a:xfrm>
          <a:prstGeom prst="rect">
            <a:avLst/>
          </a:prstGeom>
          <a:noFill/>
        </p:spPr>
        <p:txBody>
          <a:bodyPr wrap="square" anchor="t" lIns="0" rIns="0" tIns="0" bIns="0"/>
          <a:lstStyle/>
          <a:p>
            <a:pPr algn="l"/>
            <a:r>
              <a:rPr sz="1600" b="0" i="1">
                <a:solidFill>
                  <a:srgbClr val="54595D"/>
                </a:solidFill>
                <a:latin typeface="Calibri"/>
              </a:rPr>
              <a:t>A mitigation strategy weighs the response, user profile, cost and benefit, owner, escalation route and contingency, then is monitored for continuous improvement.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OCCUPATIONAL SPECIALISMS  ·  Specialism Content Area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Quick check: The penetration testing process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Risk Management and Threat Assessment</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16</a:t>
            </a:r>
          </a:p>
        </p:txBody>
      </p:sp>
      <p:sp>
        <p:nvSpPr>
          <p:cNvPr id="6" name="Oval 5"/>
          <p:cNvSpPr/>
          <p:nvPr/>
        </p:nvSpPr>
        <p:spPr>
          <a:xfrm>
            <a:off x="548640" y="1691640"/>
            <a:ext cx="502920" cy="50292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1</a:t>
            </a:r>
          </a:p>
        </p:txBody>
      </p:sp>
      <p:sp>
        <p:nvSpPr>
          <p:cNvPr id="7" name="TextBox 6"/>
          <p:cNvSpPr txBox="1"/>
          <p:nvPr/>
        </p:nvSpPr>
        <p:spPr>
          <a:xfrm>
            <a:off x="1371600" y="1645920"/>
            <a:ext cx="10271455" cy="1188720"/>
          </a:xfrm>
          <a:prstGeom prst="rect">
            <a:avLst/>
          </a:prstGeom>
          <a:noFill/>
        </p:spPr>
        <p:txBody>
          <a:bodyPr wrap="square" anchor="t" lIns="0" rIns="0" tIns="0" bIns="0"/>
          <a:lstStyle/>
          <a:p>
            <a:pPr algn="l"/>
            <a:r>
              <a:rPr sz="2400" b="0" i="0">
                <a:solidFill>
                  <a:srgbClr val="202122"/>
                </a:solidFill>
                <a:latin typeface="Calibri"/>
              </a:rPr>
              <a:t>What must be agreed before a pen test starts?</a:t>
            </a:r>
          </a:p>
        </p:txBody>
      </p:sp>
      <p:sp>
        <p:nvSpPr>
          <p:cNvPr id="8" name="Oval 7"/>
          <p:cNvSpPr/>
          <p:nvPr/>
        </p:nvSpPr>
        <p:spPr>
          <a:xfrm>
            <a:off x="548640" y="3108960"/>
            <a:ext cx="502920" cy="50292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2</a:t>
            </a:r>
          </a:p>
        </p:txBody>
      </p:sp>
      <p:sp>
        <p:nvSpPr>
          <p:cNvPr id="9" name="TextBox 8"/>
          <p:cNvSpPr txBox="1"/>
          <p:nvPr/>
        </p:nvSpPr>
        <p:spPr>
          <a:xfrm>
            <a:off x="1371600" y="3063240"/>
            <a:ext cx="10271455" cy="1188720"/>
          </a:xfrm>
          <a:prstGeom prst="rect">
            <a:avLst/>
          </a:prstGeom>
          <a:noFill/>
        </p:spPr>
        <p:txBody>
          <a:bodyPr wrap="square" anchor="t" lIns="0" rIns="0" tIns="0" bIns="0"/>
          <a:lstStyle/>
          <a:p>
            <a:pPr algn="l"/>
            <a:r>
              <a:rPr sz="2400" b="0" i="0">
                <a:solidFill>
                  <a:srgbClr val="202122"/>
                </a:solidFill>
                <a:latin typeface="Calibri"/>
              </a:rPr>
              <a:t>Why exploit vulnerabilities during a test?</a:t>
            </a:r>
          </a:p>
        </p:txBody>
      </p:sp>
      <p:sp>
        <p:nvSpPr>
          <p:cNvPr id="10" name="Oval 9"/>
          <p:cNvSpPr/>
          <p:nvPr/>
        </p:nvSpPr>
        <p:spPr>
          <a:xfrm>
            <a:off x="548640" y="4526280"/>
            <a:ext cx="502920" cy="50292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3</a:t>
            </a:r>
          </a:p>
        </p:txBody>
      </p:sp>
      <p:sp>
        <p:nvSpPr>
          <p:cNvPr id="11" name="TextBox 10"/>
          <p:cNvSpPr txBox="1"/>
          <p:nvPr/>
        </p:nvSpPr>
        <p:spPr>
          <a:xfrm>
            <a:off x="1371600" y="4480560"/>
            <a:ext cx="10271455" cy="1188720"/>
          </a:xfrm>
          <a:prstGeom prst="rect">
            <a:avLst/>
          </a:prstGeom>
          <a:noFill/>
        </p:spPr>
        <p:txBody>
          <a:bodyPr wrap="square" anchor="t" lIns="0" rIns="0" tIns="0" bIns="0"/>
          <a:lstStyle/>
          <a:p>
            <a:pPr algn="l"/>
            <a:r>
              <a:rPr sz="2400" b="0" i="0">
                <a:solidFill>
                  <a:srgbClr val="202122"/>
                </a:solidFill>
                <a:latin typeface="Calibri"/>
              </a:rPr>
              <a:t>Which law would unauthorised testing break?</a:t>
            </a:r>
          </a:p>
        </p:txBody>
      </p:sp>
      <p:sp>
        <p:nvSpPr>
          <p:cNvPr id="12" name="TextBox 11"/>
          <p:cNvSpPr txBox="1"/>
          <p:nvPr/>
        </p:nvSpPr>
        <p:spPr>
          <a:xfrm>
            <a:off x="548640" y="5852160"/>
            <a:ext cx="11094415" cy="365760"/>
          </a:xfrm>
          <a:prstGeom prst="rect">
            <a:avLst/>
          </a:prstGeom>
          <a:noFill/>
        </p:spPr>
        <p:txBody>
          <a:bodyPr wrap="square" anchor="t" lIns="0" rIns="0" tIns="0" bIns="0"/>
          <a:lstStyle/>
          <a:p>
            <a:pPr algn="l"/>
            <a:r>
              <a:rPr sz="1300" b="0" i="1">
                <a:solidFill>
                  <a:srgbClr val="54595D"/>
                </a:solidFill>
                <a:latin typeface="Calibri"/>
              </a:rPr>
              <a:t>Answer on mini whiteboards or in your book. Answers are in the speaker notes.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OCCUPATIONAL SPECIALISMS  ·  Specialism Content Area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Check your understanding</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Risk Management and Threat Assessment</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17</a:t>
            </a:r>
          </a:p>
        </p:txBody>
      </p:sp>
      <p:sp>
        <p:nvSpPr>
          <p:cNvPr id="6" name="Oval 5"/>
          <p:cNvSpPr/>
          <p:nvPr/>
        </p:nvSpPr>
        <p:spPr>
          <a:xfrm>
            <a:off x="548640" y="1618488"/>
            <a:ext cx="411480" cy="41148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1</a:t>
            </a:r>
          </a:p>
        </p:txBody>
      </p:sp>
      <p:sp>
        <p:nvSpPr>
          <p:cNvPr id="7" name="TextBox 6"/>
          <p:cNvSpPr txBox="1"/>
          <p:nvPr/>
        </p:nvSpPr>
        <p:spPr>
          <a:xfrm>
            <a:off x="1234440" y="1600200"/>
            <a:ext cx="10408615" cy="791870"/>
          </a:xfrm>
          <a:prstGeom prst="rect">
            <a:avLst/>
          </a:prstGeom>
          <a:noFill/>
        </p:spPr>
        <p:txBody>
          <a:bodyPr wrap="square" anchor="t" lIns="0" rIns="0" tIns="0" bIns="0"/>
          <a:lstStyle/>
          <a:p>
            <a:pPr algn="l"/>
            <a:r>
              <a:rPr sz="2200" b="0" i="0">
                <a:solidFill>
                  <a:srgbClr val="202122"/>
                </a:solidFill>
                <a:latin typeface="Calibri"/>
              </a:rPr>
              <a:t>Name the five steps of the risk management process.</a:t>
            </a:r>
          </a:p>
        </p:txBody>
      </p:sp>
      <p:sp>
        <p:nvSpPr>
          <p:cNvPr id="8" name="Oval 7"/>
          <p:cNvSpPr/>
          <p:nvPr/>
        </p:nvSpPr>
        <p:spPr>
          <a:xfrm>
            <a:off x="548640" y="2574950"/>
            <a:ext cx="411480" cy="41148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2</a:t>
            </a:r>
          </a:p>
        </p:txBody>
      </p:sp>
      <p:sp>
        <p:nvSpPr>
          <p:cNvPr id="9" name="TextBox 8"/>
          <p:cNvSpPr txBox="1"/>
          <p:nvPr/>
        </p:nvSpPr>
        <p:spPr>
          <a:xfrm>
            <a:off x="1234440" y="2556662"/>
            <a:ext cx="10408615" cy="791870"/>
          </a:xfrm>
          <a:prstGeom prst="rect">
            <a:avLst/>
          </a:prstGeom>
          <a:noFill/>
        </p:spPr>
        <p:txBody>
          <a:bodyPr wrap="square" anchor="t" lIns="0" rIns="0" tIns="0" bIns="0"/>
          <a:lstStyle/>
          <a:p>
            <a:pPr algn="l"/>
            <a:r>
              <a:rPr sz="2200" b="0" i="0">
                <a:solidFill>
                  <a:srgbClr val="202122"/>
                </a:solidFill>
                <a:latin typeface="Calibri"/>
              </a:rPr>
              <a:t>What does a red RAG rating mean?</a:t>
            </a:r>
          </a:p>
        </p:txBody>
      </p:sp>
      <p:sp>
        <p:nvSpPr>
          <p:cNvPr id="10" name="Oval 9"/>
          <p:cNvSpPr/>
          <p:nvPr/>
        </p:nvSpPr>
        <p:spPr>
          <a:xfrm>
            <a:off x="548640" y="3531412"/>
            <a:ext cx="411480" cy="41148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3</a:t>
            </a:r>
          </a:p>
        </p:txBody>
      </p:sp>
      <p:sp>
        <p:nvSpPr>
          <p:cNvPr id="11" name="TextBox 10"/>
          <p:cNvSpPr txBox="1"/>
          <p:nvPr/>
        </p:nvSpPr>
        <p:spPr>
          <a:xfrm>
            <a:off x="1234440" y="3513124"/>
            <a:ext cx="10408615" cy="791870"/>
          </a:xfrm>
          <a:prstGeom prst="rect">
            <a:avLst/>
          </a:prstGeom>
          <a:noFill/>
        </p:spPr>
        <p:txBody>
          <a:bodyPr wrap="square" anchor="t" lIns="0" rIns="0" tIns="0" bIns="0"/>
          <a:lstStyle/>
          <a:p>
            <a:pPr algn="l"/>
            <a:r>
              <a:rPr sz="2200" b="0" i="0">
                <a:solidFill>
                  <a:srgbClr val="202122"/>
                </a:solidFill>
                <a:latin typeface="Calibri"/>
              </a:rPr>
              <a:t>Buying cyber insurance is which risk response?</a:t>
            </a:r>
          </a:p>
        </p:txBody>
      </p:sp>
      <p:sp>
        <p:nvSpPr>
          <p:cNvPr id="12" name="Oval 11"/>
          <p:cNvSpPr/>
          <p:nvPr/>
        </p:nvSpPr>
        <p:spPr>
          <a:xfrm>
            <a:off x="548640" y="4487875"/>
            <a:ext cx="411480" cy="41148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4</a:t>
            </a:r>
          </a:p>
        </p:txBody>
      </p:sp>
      <p:sp>
        <p:nvSpPr>
          <p:cNvPr id="13" name="TextBox 12"/>
          <p:cNvSpPr txBox="1"/>
          <p:nvPr/>
        </p:nvSpPr>
        <p:spPr>
          <a:xfrm>
            <a:off x="1234440" y="4469587"/>
            <a:ext cx="10408615" cy="791870"/>
          </a:xfrm>
          <a:prstGeom prst="rect">
            <a:avLst/>
          </a:prstGeom>
          <a:noFill/>
        </p:spPr>
        <p:txBody>
          <a:bodyPr wrap="square" anchor="t" lIns="0" rIns="0" tIns="0" bIns="0"/>
          <a:lstStyle/>
          <a:p>
            <a:pPr algn="l"/>
            <a:r>
              <a:rPr sz="2200" b="0" i="0">
                <a:solidFill>
                  <a:srgbClr val="202122"/>
                </a:solidFill>
                <a:latin typeface="Calibri"/>
              </a:rPr>
              <a:t>Give one technological threat factor.</a:t>
            </a:r>
          </a:p>
        </p:txBody>
      </p:sp>
      <p:sp>
        <p:nvSpPr>
          <p:cNvPr id="14" name="Oval 13"/>
          <p:cNvSpPr/>
          <p:nvPr/>
        </p:nvSpPr>
        <p:spPr>
          <a:xfrm>
            <a:off x="548640" y="5444337"/>
            <a:ext cx="411480" cy="41148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5</a:t>
            </a:r>
          </a:p>
        </p:txBody>
      </p:sp>
      <p:sp>
        <p:nvSpPr>
          <p:cNvPr id="15" name="TextBox 14"/>
          <p:cNvSpPr txBox="1"/>
          <p:nvPr/>
        </p:nvSpPr>
        <p:spPr>
          <a:xfrm>
            <a:off x="1234440" y="5426049"/>
            <a:ext cx="10408615" cy="791870"/>
          </a:xfrm>
          <a:prstGeom prst="rect">
            <a:avLst/>
          </a:prstGeom>
          <a:noFill/>
        </p:spPr>
        <p:txBody>
          <a:bodyPr wrap="square" anchor="t" lIns="0" rIns="0" tIns="0" bIns="0"/>
          <a:lstStyle/>
          <a:p>
            <a:pPr algn="l"/>
            <a:r>
              <a:rPr sz="2200" b="0" i="0">
                <a:solidFill>
                  <a:srgbClr val="202122"/>
                </a:solidFill>
                <a:latin typeface="Calibri"/>
              </a:rPr>
              <a:t>What must happen before a penetration test starts?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OCCUPATIONAL SPECIALISMS  ·  Specialism Content Area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Answers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Risk Management and Threat Assessment</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18</a:t>
            </a:r>
          </a:p>
        </p:txBody>
      </p:sp>
      <p:sp>
        <p:nvSpPr>
          <p:cNvPr id="6" name="Oval 5"/>
          <p:cNvSpPr/>
          <p:nvPr/>
        </p:nvSpPr>
        <p:spPr>
          <a:xfrm>
            <a:off x="548640" y="1618488"/>
            <a:ext cx="411480" cy="41148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1</a:t>
            </a:r>
          </a:p>
        </p:txBody>
      </p:sp>
      <p:sp>
        <p:nvSpPr>
          <p:cNvPr id="7" name="TextBox 6"/>
          <p:cNvSpPr txBox="1"/>
          <p:nvPr/>
        </p:nvSpPr>
        <p:spPr>
          <a:xfrm>
            <a:off x="1234440" y="1600200"/>
            <a:ext cx="10408615" cy="791870"/>
          </a:xfrm>
          <a:prstGeom prst="rect">
            <a:avLst/>
          </a:prstGeom>
          <a:noFill/>
        </p:spPr>
        <p:txBody>
          <a:bodyPr wrap="square" anchor="t" lIns="0" rIns="0" tIns="0" bIns="0"/>
          <a:lstStyle/>
          <a:p>
            <a:pPr algn="l"/>
            <a:r>
              <a:rPr sz="1800" b="0" i="0">
                <a:solidFill>
                  <a:srgbClr val="54595D"/>
                </a:solidFill>
                <a:latin typeface="Calibri"/>
              </a:rPr>
              <a:t>Name the five steps of the risk management process.</a:t>
            </a:r>
          </a:p>
          <a:p>
            <a:r>
              <a:rPr sz="1800" b="1">
                <a:solidFill>
                  <a:srgbClr val="03306E"/>
                </a:solidFill>
                <a:latin typeface="Calibri"/>
              </a:rPr>
              <a:t>Identify, probability, impact, prioritise, mitigate.</a:t>
            </a:r>
          </a:p>
        </p:txBody>
      </p:sp>
      <p:sp>
        <p:nvSpPr>
          <p:cNvPr id="8" name="Oval 7"/>
          <p:cNvSpPr/>
          <p:nvPr/>
        </p:nvSpPr>
        <p:spPr>
          <a:xfrm>
            <a:off x="548640" y="2574950"/>
            <a:ext cx="411480" cy="41148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2</a:t>
            </a:r>
          </a:p>
        </p:txBody>
      </p:sp>
      <p:sp>
        <p:nvSpPr>
          <p:cNvPr id="9" name="TextBox 8"/>
          <p:cNvSpPr txBox="1"/>
          <p:nvPr/>
        </p:nvSpPr>
        <p:spPr>
          <a:xfrm>
            <a:off x="1234440" y="2556662"/>
            <a:ext cx="10408615" cy="791870"/>
          </a:xfrm>
          <a:prstGeom prst="rect">
            <a:avLst/>
          </a:prstGeom>
          <a:noFill/>
        </p:spPr>
        <p:txBody>
          <a:bodyPr wrap="square" anchor="t" lIns="0" rIns="0" tIns="0" bIns="0"/>
          <a:lstStyle/>
          <a:p>
            <a:pPr algn="l"/>
            <a:r>
              <a:rPr sz="1800" b="0" i="0">
                <a:solidFill>
                  <a:srgbClr val="54595D"/>
                </a:solidFill>
                <a:latin typeface="Calibri"/>
              </a:rPr>
              <a:t>What does a red RAG rating mean?</a:t>
            </a:r>
          </a:p>
          <a:p>
            <a:r>
              <a:rPr sz="1800" b="1">
                <a:solidFill>
                  <a:srgbClr val="03306E"/>
                </a:solidFill>
                <a:latin typeface="Calibri"/>
              </a:rPr>
              <a:t>High risk needing immediate action.</a:t>
            </a:r>
          </a:p>
        </p:txBody>
      </p:sp>
      <p:sp>
        <p:nvSpPr>
          <p:cNvPr id="10" name="Oval 9"/>
          <p:cNvSpPr/>
          <p:nvPr/>
        </p:nvSpPr>
        <p:spPr>
          <a:xfrm>
            <a:off x="548640" y="3531412"/>
            <a:ext cx="411480" cy="41148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3</a:t>
            </a:r>
          </a:p>
        </p:txBody>
      </p:sp>
      <p:sp>
        <p:nvSpPr>
          <p:cNvPr id="11" name="TextBox 10"/>
          <p:cNvSpPr txBox="1"/>
          <p:nvPr/>
        </p:nvSpPr>
        <p:spPr>
          <a:xfrm>
            <a:off x="1234440" y="3513124"/>
            <a:ext cx="10408615" cy="791870"/>
          </a:xfrm>
          <a:prstGeom prst="rect">
            <a:avLst/>
          </a:prstGeom>
          <a:noFill/>
        </p:spPr>
        <p:txBody>
          <a:bodyPr wrap="square" anchor="t" lIns="0" rIns="0" tIns="0" bIns="0"/>
          <a:lstStyle/>
          <a:p>
            <a:pPr algn="l"/>
            <a:r>
              <a:rPr sz="1800" b="0" i="0">
                <a:solidFill>
                  <a:srgbClr val="54595D"/>
                </a:solidFill>
                <a:latin typeface="Calibri"/>
              </a:rPr>
              <a:t>Buying cyber insurance is which risk response?</a:t>
            </a:r>
          </a:p>
          <a:p>
            <a:r>
              <a:rPr sz="1800" b="1">
                <a:solidFill>
                  <a:srgbClr val="03306E"/>
                </a:solidFill>
                <a:latin typeface="Calibri"/>
              </a:rPr>
              <a:t>Transfer.</a:t>
            </a:r>
          </a:p>
        </p:txBody>
      </p:sp>
      <p:sp>
        <p:nvSpPr>
          <p:cNvPr id="12" name="Oval 11"/>
          <p:cNvSpPr/>
          <p:nvPr/>
        </p:nvSpPr>
        <p:spPr>
          <a:xfrm>
            <a:off x="548640" y="4487875"/>
            <a:ext cx="411480" cy="41148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4</a:t>
            </a:r>
          </a:p>
        </p:txBody>
      </p:sp>
      <p:sp>
        <p:nvSpPr>
          <p:cNvPr id="13" name="TextBox 12"/>
          <p:cNvSpPr txBox="1"/>
          <p:nvPr/>
        </p:nvSpPr>
        <p:spPr>
          <a:xfrm>
            <a:off x="1234440" y="4469587"/>
            <a:ext cx="10408615" cy="791870"/>
          </a:xfrm>
          <a:prstGeom prst="rect">
            <a:avLst/>
          </a:prstGeom>
          <a:noFill/>
        </p:spPr>
        <p:txBody>
          <a:bodyPr wrap="square" anchor="t" lIns="0" rIns="0" tIns="0" bIns="0"/>
          <a:lstStyle/>
          <a:p>
            <a:pPr algn="l"/>
            <a:r>
              <a:rPr sz="1800" b="0" i="0">
                <a:solidFill>
                  <a:srgbClr val="54595D"/>
                </a:solidFill>
                <a:latin typeface="Calibri"/>
              </a:rPr>
              <a:t>Give one technological threat factor.</a:t>
            </a:r>
          </a:p>
          <a:p>
            <a:r>
              <a:rPr sz="1800" b="1">
                <a:solidFill>
                  <a:srgbClr val="03306E"/>
                </a:solidFill>
                <a:latin typeface="Calibri"/>
              </a:rPr>
              <a:t>E.g. disk failure, misconfiguration, software corruption.</a:t>
            </a:r>
          </a:p>
        </p:txBody>
      </p:sp>
      <p:sp>
        <p:nvSpPr>
          <p:cNvPr id="14" name="Oval 13"/>
          <p:cNvSpPr/>
          <p:nvPr/>
        </p:nvSpPr>
        <p:spPr>
          <a:xfrm>
            <a:off x="548640" y="5444337"/>
            <a:ext cx="411480" cy="41148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5</a:t>
            </a:r>
          </a:p>
        </p:txBody>
      </p:sp>
      <p:sp>
        <p:nvSpPr>
          <p:cNvPr id="15" name="TextBox 14"/>
          <p:cNvSpPr txBox="1"/>
          <p:nvPr/>
        </p:nvSpPr>
        <p:spPr>
          <a:xfrm>
            <a:off x="1234440" y="5426049"/>
            <a:ext cx="10408615" cy="791870"/>
          </a:xfrm>
          <a:prstGeom prst="rect">
            <a:avLst/>
          </a:prstGeom>
          <a:noFill/>
        </p:spPr>
        <p:txBody>
          <a:bodyPr wrap="square" anchor="t" lIns="0" rIns="0" tIns="0" bIns="0"/>
          <a:lstStyle/>
          <a:p>
            <a:pPr algn="l"/>
            <a:r>
              <a:rPr sz="1800" b="0" i="0">
                <a:solidFill>
                  <a:srgbClr val="54595D"/>
                </a:solidFill>
                <a:latin typeface="Calibri"/>
              </a:rPr>
              <a:t>What must happen before a penetration test starts?</a:t>
            </a:r>
          </a:p>
          <a:p>
            <a:r>
              <a:rPr sz="1800" b="1">
                <a:solidFill>
                  <a:srgbClr val="03306E"/>
                </a:solidFill>
                <a:latin typeface="Calibri"/>
              </a:rPr>
              <a:t>Customer engagement to agree scope and permission.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OCCUPATIONAL SPECIALISMS  ·  Specialism Content Area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Activity: Build a risk register</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Risk Management and Threat Assessment</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19</a:t>
            </a:r>
          </a:p>
        </p:txBody>
      </p:sp>
      <p:sp>
        <p:nvSpPr>
          <p:cNvPr id="6" name="Rounded Rectangle 5"/>
          <p:cNvSpPr/>
          <p:nvPr/>
        </p:nvSpPr>
        <p:spPr>
          <a:xfrm>
            <a:off x="548640" y="1508760"/>
            <a:ext cx="2011680" cy="457200"/>
          </a:xfrm>
          <a:prstGeom prst="roundRect">
            <a:avLst>
              <a:gd name="adj" fmla="val 50000"/>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1508760"/>
            <a:ext cx="2011680" cy="457200"/>
          </a:xfrm>
          <a:prstGeom prst="rect">
            <a:avLst/>
          </a:prstGeom>
          <a:noFill/>
        </p:spPr>
        <p:txBody>
          <a:bodyPr wrap="square" anchor="ctr" lIns="0" rIns="0" tIns="0" bIns="0"/>
          <a:lstStyle/>
          <a:p>
            <a:pPr algn="ctr"/>
            <a:r>
              <a:rPr sz="1400" b="1" i="0">
                <a:solidFill>
                  <a:srgbClr val="202122"/>
                </a:solidFill>
                <a:latin typeface="Calibri"/>
              </a:rPr>
              <a:t>30 minutes</a:t>
            </a:r>
          </a:p>
        </p:txBody>
      </p:sp>
      <p:sp>
        <p:nvSpPr>
          <p:cNvPr id="8" name="TextBox 7"/>
          <p:cNvSpPr txBox="1"/>
          <p:nvPr/>
        </p:nvSpPr>
        <p:spPr>
          <a:xfrm>
            <a:off x="2743200" y="1508760"/>
            <a:ext cx="4754880" cy="457200"/>
          </a:xfrm>
          <a:prstGeom prst="rect">
            <a:avLst/>
          </a:prstGeom>
          <a:noFill/>
        </p:spPr>
        <p:txBody>
          <a:bodyPr wrap="square" anchor="ctr" lIns="0" rIns="0" tIns="0" bIns="0"/>
          <a:lstStyle/>
          <a:p>
            <a:pPr algn="l"/>
            <a:r>
              <a:rPr sz="1400" b="0" i="1">
                <a:solidFill>
                  <a:srgbClr val="54595D"/>
                </a:solidFill>
                <a:latin typeface="Calibri"/>
              </a:rPr>
              <a:t>Small groups</a:t>
            </a:r>
          </a:p>
        </p:txBody>
      </p:sp>
      <p:sp>
        <p:nvSpPr>
          <p:cNvPr id="9" name="Oval 8"/>
          <p:cNvSpPr/>
          <p:nvPr/>
        </p:nvSpPr>
        <p:spPr>
          <a:xfrm>
            <a:off x="548640" y="2482596"/>
            <a:ext cx="384048" cy="384048"/>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1</a:t>
            </a:r>
          </a:p>
        </p:txBody>
      </p:sp>
      <p:sp>
        <p:nvSpPr>
          <p:cNvPr id="10" name="TextBox 9"/>
          <p:cNvSpPr txBox="1"/>
          <p:nvPr/>
        </p:nvSpPr>
        <p:spPr>
          <a:xfrm>
            <a:off x="1143000" y="2240280"/>
            <a:ext cx="5943600" cy="868680"/>
          </a:xfrm>
          <a:prstGeom prst="rect">
            <a:avLst/>
          </a:prstGeom>
          <a:noFill/>
        </p:spPr>
        <p:txBody>
          <a:bodyPr wrap="square" anchor="ctr" lIns="0" rIns="0" tIns="0" bIns="0"/>
          <a:lstStyle/>
          <a:p>
            <a:pPr algn="l"/>
            <a:r>
              <a:rPr sz="1700" b="0" i="0">
                <a:solidFill>
                  <a:srgbClr val="202122"/>
                </a:solidFill>
                <a:latin typeface="Calibri"/>
              </a:rPr>
              <a:t>Scenario: a company is introducing bring your own device (BYOD) for 50 staff.</a:t>
            </a:r>
          </a:p>
        </p:txBody>
      </p:sp>
      <p:sp>
        <p:nvSpPr>
          <p:cNvPr id="11" name="Oval 10"/>
          <p:cNvSpPr/>
          <p:nvPr/>
        </p:nvSpPr>
        <p:spPr>
          <a:xfrm>
            <a:off x="548640" y="3461004"/>
            <a:ext cx="384048" cy="384048"/>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2</a:t>
            </a:r>
          </a:p>
        </p:txBody>
      </p:sp>
      <p:sp>
        <p:nvSpPr>
          <p:cNvPr id="12" name="TextBox 11"/>
          <p:cNvSpPr txBox="1"/>
          <p:nvPr/>
        </p:nvSpPr>
        <p:spPr>
          <a:xfrm>
            <a:off x="1143000" y="3218688"/>
            <a:ext cx="5943600" cy="868680"/>
          </a:xfrm>
          <a:prstGeom prst="rect">
            <a:avLst/>
          </a:prstGeom>
          <a:noFill/>
        </p:spPr>
        <p:txBody>
          <a:bodyPr wrap="square" anchor="ctr" lIns="0" rIns="0" tIns="0" bIns="0"/>
          <a:lstStyle/>
          <a:p>
            <a:pPr algn="l"/>
            <a:r>
              <a:rPr sz="1700" b="0" i="0">
                <a:solidFill>
                  <a:srgbClr val="202122"/>
                </a:solidFill>
                <a:latin typeface="Calibri"/>
              </a:rPr>
              <a:t>Identify at least six risks across the threat factor types.</a:t>
            </a:r>
          </a:p>
        </p:txBody>
      </p:sp>
      <p:sp>
        <p:nvSpPr>
          <p:cNvPr id="13" name="Oval 12"/>
          <p:cNvSpPr/>
          <p:nvPr/>
        </p:nvSpPr>
        <p:spPr>
          <a:xfrm>
            <a:off x="548640" y="4439412"/>
            <a:ext cx="384048" cy="384048"/>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3</a:t>
            </a:r>
          </a:p>
        </p:txBody>
      </p:sp>
      <p:sp>
        <p:nvSpPr>
          <p:cNvPr id="14" name="TextBox 13"/>
          <p:cNvSpPr txBox="1"/>
          <p:nvPr/>
        </p:nvSpPr>
        <p:spPr>
          <a:xfrm>
            <a:off x="1143000" y="4197096"/>
            <a:ext cx="5943600" cy="868680"/>
          </a:xfrm>
          <a:prstGeom prst="rect">
            <a:avLst/>
          </a:prstGeom>
          <a:noFill/>
        </p:spPr>
        <p:txBody>
          <a:bodyPr wrap="square" anchor="ctr" lIns="0" rIns="0" tIns="0" bIns="0"/>
          <a:lstStyle/>
          <a:p>
            <a:pPr algn="l"/>
            <a:r>
              <a:rPr sz="1700" b="0" i="0">
                <a:solidFill>
                  <a:srgbClr val="202122"/>
                </a:solidFill>
                <a:latin typeface="Calibri"/>
              </a:rPr>
              <a:t>Rate each for probability and impact, then give a RAG rating.</a:t>
            </a:r>
          </a:p>
        </p:txBody>
      </p:sp>
      <p:sp>
        <p:nvSpPr>
          <p:cNvPr id="15" name="Oval 14"/>
          <p:cNvSpPr/>
          <p:nvPr/>
        </p:nvSpPr>
        <p:spPr>
          <a:xfrm>
            <a:off x="548640" y="5417820"/>
            <a:ext cx="384048" cy="384048"/>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4</a:t>
            </a:r>
          </a:p>
        </p:txBody>
      </p:sp>
      <p:sp>
        <p:nvSpPr>
          <p:cNvPr id="16" name="TextBox 15"/>
          <p:cNvSpPr txBox="1"/>
          <p:nvPr/>
        </p:nvSpPr>
        <p:spPr>
          <a:xfrm>
            <a:off x="1143000" y="5175504"/>
            <a:ext cx="5943600" cy="868680"/>
          </a:xfrm>
          <a:prstGeom prst="rect">
            <a:avLst/>
          </a:prstGeom>
          <a:noFill/>
        </p:spPr>
        <p:txBody>
          <a:bodyPr wrap="square" anchor="ctr" lIns="0" rIns="0" tIns="0" bIns="0"/>
          <a:lstStyle/>
          <a:p>
            <a:pPr algn="l"/>
            <a:r>
              <a:rPr sz="1700" b="0" i="0">
                <a:solidFill>
                  <a:srgbClr val="202122"/>
                </a:solidFill>
                <a:latin typeface="Calibri"/>
              </a:rPr>
              <a:t>Choose a response and owner for each risk.</a:t>
            </a:r>
          </a:p>
        </p:txBody>
      </p:sp>
      <p:sp>
        <p:nvSpPr>
          <p:cNvPr id="17" name="Rounded Rectangle 16"/>
          <p:cNvSpPr/>
          <p:nvPr/>
        </p:nvSpPr>
        <p:spPr>
          <a:xfrm>
            <a:off x="7772400" y="1508760"/>
            <a:ext cx="3867912" cy="4572000"/>
          </a:xfrm>
          <a:prstGeom prst="roundRect">
            <a:avLst>
              <a:gd name="adj" fmla="val 8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046720" y="1737360"/>
            <a:ext cx="3291840" cy="365760"/>
          </a:xfrm>
          <a:prstGeom prst="rect">
            <a:avLst/>
          </a:prstGeom>
          <a:noFill/>
        </p:spPr>
        <p:txBody>
          <a:bodyPr wrap="square" anchor="t" lIns="0" rIns="0" tIns="0" bIns="0"/>
          <a:lstStyle/>
          <a:p>
            <a:pPr algn="l"/>
            <a:r>
              <a:rPr sz="1300" b="1" i="0">
                <a:solidFill>
                  <a:srgbClr val="0645AD"/>
                </a:solidFill>
                <a:latin typeface="Calibri"/>
              </a:rPr>
              <a:t>SUCCESS CRITERIA</a:t>
            </a:r>
          </a:p>
        </p:txBody>
      </p:sp>
      <p:sp>
        <p:nvSpPr>
          <p:cNvPr id="19" name="TextBox 18"/>
          <p:cNvSpPr txBox="1"/>
          <p:nvPr/>
        </p:nvSpPr>
        <p:spPr>
          <a:xfrm>
            <a:off x="8046720" y="2240280"/>
            <a:ext cx="3337560" cy="3657600"/>
          </a:xfrm>
          <a:prstGeom prst="rect">
            <a:avLst/>
          </a:prstGeom>
          <a:noFill/>
        </p:spPr>
        <p:txBody>
          <a:bodyPr wrap="square" lIns="0" rIns="0" tIns="0" bIns="0">
            <a:spAutoFit/>
          </a:bodyPr>
          <a:lstStyle/>
          <a:p>
            <a:pPr marL="274320" indent="-274320">
              <a:spcAft>
                <a:spcPts val="810"/>
              </a:spcAft>
              <a:buClr>
                <a:srgbClr val="0645AD"/>
              </a:buClr>
              <a:buFont typeface="Arial"/>
              <a:buChar char="•"/>
            </a:pPr>
            <a:r>
              <a:rPr sz="1800" b="0">
                <a:solidFill>
                  <a:srgbClr val="202122"/>
                </a:solidFill>
                <a:latin typeface="Calibri"/>
              </a:rPr>
              <a:t>At least four threat factor types covered</a:t>
            </a:r>
          </a:p>
          <a:p>
            <a:pPr marL="274320" indent="-274320">
              <a:spcAft>
                <a:spcPts val="810"/>
              </a:spcAft>
              <a:buClr>
                <a:srgbClr val="0645AD"/>
              </a:buClr>
              <a:buFont typeface="Arial"/>
              <a:buChar char="•"/>
            </a:pPr>
            <a:r>
              <a:rPr sz="1800" b="0">
                <a:solidFill>
                  <a:srgbClr val="202122"/>
                </a:solidFill>
                <a:latin typeface="Calibri"/>
              </a:rPr>
              <a:t>RAG ratings follow from the scores</a:t>
            </a:r>
          </a:p>
          <a:p>
            <a:pPr marL="274320" indent="-274320">
              <a:spcAft>
                <a:spcPts val="810"/>
              </a:spcAft>
              <a:buClr>
                <a:srgbClr val="0645AD"/>
              </a:buClr>
              <a:buFont typeface="Arial"/>
              <a:buChar char="•"/>
            </a:pPr>
            <a:r>
              <a:rPr sz="1800" b="0">
                <a:solidFill>
                  <a:srgbClr val="202122"/>
                </a:solidFill>
                <a:latin typeface="Calibri"/>
              </a:rPr>
              <a:t>Every risk has a response and an owner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3306E"/>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A9C8F0"/>
                </a:solidFill>
                <a:latin typeface="Calibri"/>
              </a:rPr>
              <a:t>OCCUPATIONAL SPECIALISMS  ·  Specialism Content Area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FFFFFF"/>
                </a:solidFill>
                <a:latin typeface="Cambria"/>
              </a:rPr>
              <a:t>Exit ticket</a:t>
            </a:r>
          </a:p>
        </p:txBody>
      </p:sp>
      <p:sp>
        <p:nvSpPr>
          <p:cNvPr id="4" name="Oval 3"/>
          <p:cNvSpPr/>
          <p:nvPr/>
        </p:nvSpPr>
        <p:spPr>
          <a:xfrm>
            <a:off x="548640" y="1737360"/>
            <a:ext cx="502920" cy="50292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202122"/>
                </a:solidFill>
                <a:latin typeface="Calibri"/>
              </a:rPr>
              <a:t>1</a:t>
            </a:r>
          </a:p>
        </p:txBody>
      </p:sp>
      <p:sp>
        <p:nvSpPr>
          <p:cNvPr id="5" name="TextBox 4"/>
          <p:cNvSpPr txBox="1"/>
          <p:nvPr/>
        </p:nvSpPr>
        <p:spPr>
          <a:xfrm>
            <a:off x="1325880" y="1645920"/>
            <a:ext cx="6583680" cy="822960"/>
          </a:xfrm>
          <a:prstGeom prst="rect">
            <a:avLst/>
          </a:prstGeom>
          <a:noFill/>
        </p:spPr>
        <p:txBody>
          <a:bodyPr wrap="square" anchor="ctr" lIns="0" rIns="0" tIns="0" bIns="0"/>
          <a:lstStyle/>
          <a:p>
            <a:pPr algn="l"/>
            <a:r>
              <a:rPr sz="2000" b="0" i="0">
                <a:solidFill>
                  <a:srgbClr val="FFFFFF"/>
                </a:solidFill>
                <a:latin typeface="Calibri"/>
              </a:rPr>
              <a:t>What is the difference between qualitative and quantitative analysis?</a:t>
            </a:r>
          </a:p>
        </p:txBody>
      </p:sp>
      <p:sp>
        <p:nvSpPr>
          <p:cNvPr id="6" name="Oval 5"/>
          <p:cNvSpPr/>
          <p:nvPr/>
        </p:nvSpPr>
        <p:spPr>
          <a:xfrm>
            <a:off x="548640" y="2697480"/>
            <a:ext cx="502920" cy="50292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202122"/>
                </a:solidFill>
                <a:latin typeface="Calibri"/>
              </a:rPr>
              <a:t>2</a:t>
            </a:r>
          </a:p>
        </p:txBody>
      </p:sp>
      <p:sp>
        <p:nvSpPr>
          <p:cNvPr id="7" name="TextBox 6"/>
          <p:cNvSpPr txBox="1"/>
          <p:nvPr/>
        </p:nvSpPr>
        <p:spPr>
          <a:xfrm>
            <a:off x="1325880" y="2606040"/>
            <a:ext cx="6583680" cy="822960"/>
          </a:xfrm>
          <a:prstGeom prst="rect">
            <a:avLst/>
          </a:prstGeom>
          <a:noFill/>
        </p:spPr>
        <p:txBody>
          <a:bodyPr wrap="square" anchor="ctr" lIns="0" rIns="0" tIns="0" bIns="0"/>
          <a:lstStyle/>
          <a:p>
            <a:pPr algn="l"/>
            <a:r>
              <a:rPr sz="2000" b="0" i="0">
                <a:solidFill>
                  <a:srgbClr val="FFFFFF"/>
                </a:solidFill>
                <a:latin typeface="Calibri"/>
              </a:rPr>
              <a:t>When would you accept a risk?</a:t>
            </a:r>
          </a:p>
        </p:txBody>
      </p:sp>
      <p:sp>
        <p:nvSpPr>
          <p:cNvPr id="8" name="Oval 7"/>
          <p:cNvSpPr/>
          <p:nvPr/>
        </p:nvSpPr>
        <p:spPr>
          <a:xfrm>
            <a:off x="548640" y="3657600"/>
            <a:ext cx="502920" cy="50292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202122"/>
                </a:solidFill>
                <a:latin typeface="Calibri"/>
              </a:rPr>
              <a:t>3</a:t>
            </a:r>
          </a:p>
        </p:txBody>
      </p:sp>
      <p:sp>
        <p:nvSpPr>
          <p:cNvPr id="9" name="TextBox 8"/>
          <p:cNvSpPr txBox="1"/>
          <p:nvPr/>
        </p:nvSpPr>
        <p:spPr>
          <a:xfrm>
            <a:off x="1325880" y="3566160"/>
            <a:ext cx="6583680" cy="822960"/>
          </a:xfrm>
          <a:prstGeom prst="rect">
            <a:avLst/>
          </a:prstGeom>
          <a:noFill/>
        </p:spPr>
        <p:txBody>
          <a:bodyPr wrap="square" anchor="ctr" lIns="0" rIns="0" tIns="0" bIns="0"/>
          <a:lstStyle/>
          <a:p>
            <a:pPr algn="l"/>
            <a:r>
              <a:rPr sz="2000" b="0" i="0">
                <a:solidFill>
                  <a:srgbClr val="FFFFFF"/>
                </a:solidFill>
                <a:latin typeface="Calibri"/>
              </a:rPr>
              <a:t>Why must a penetration tester have written permission?</a:t>
            </a:r>
          </a:p>
        </p:txBody>
      </p:sp>
      <p:sp>
        <p:nvSpPr>
          <p:cNvPr id="10" name="Rounded Rectangle 9"/>
          <p:cNvSpPr/>
          <p:nvPr/>
        </p:nvSpPr>
        <p:spPr>
          <a:xfrm>
            <a:off x="8229600" y="1645920"/>
            <a:ext cx="3410712" cy="2926080"/>
          </a:xfrm>
          <a:prstGeom prst="roundRect">
            <a:avLst>
              <a:gd name="adj" fmla="val 8000"/>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503920" y="1874519"/>
            <a:ext cx="2926080" cy="365760"/>
          </a:xfrm>
          <a:prstGeom prst="rect">
            <a:avLst/>
          </a:prstGeom>
          <a:noFill/>
        </p:spPr>
        <p:txBody>
          <a:bodyPr wrap="square" anchor="t" lIns="0" rIns="0" tIns="0" bIns="0"/>
          <a:lstStyle/>
          <a:p>
            <a:pPr algn="l"/>
            <a:r>
              <a:rPr sz="1300" b="1" i="0">
                <a:solidFill>
                  <a:srgbClr val="A9C8F0"/>
                </a:solidFill>
                <a:latin typeface="Calibri"/>
              </a:rPr>
              <a:t>REVISE THIS TOPIC</a:t>
            </a:r>
          </a:p>
        </p:txBody>
      </p:sp>
      <p:sp>
        <p:nvSpPr>
          <p:cNvPr id="12" name="TextBox 11"/>
          <p:cNvSpPr txBox="1"/>
          <p:nvPr/>
        </p:nvSpPr>
        <p:spPr>
          <a:xfrm>
            <a:off x="8503920" y="2286000"/>
            <a:ext cx="2926080" cy="548640"/>
          </a:xfrm>
          <a:prstGeom prst="rect">
            <a:avLst/>
          </a:prstGeom>
          <a:noFill/>
        </p:spPr>
        <p:txBody>
          <a:bodyPr wrap="square" anchor="t" lIns="0" rIns="0" tIns="0" bIns="0"/>
          <a:lstStyle/>
          <a:p>
            <a:pPr algn="l"/>
            <a:r>
              <a:rPr sz="1400" b="0" i="0">
                <a:solidFill>
                  <a:srgbClr val="FFFFFF"/>
                </a:solidFill>
                <a:latin typeface="Calibri"/>
              </a:rPr>
              <a:t>Revision notes for this lesson are on the study wiki:</a:t>
            </a:r>
          </a:p>
        </p:txBody>
      </p:sp>
      <p:sp>
        <p:nvSpPr>
          <p:cNvPr id="13" name="TextBox 12"/>
          <p:cNvSpPr txBox="1"/>
          <p:nvPr/>
        </p:nvSpPr>
        <p:spPr>
          <a:xfrm>
            <a:off x="8503920" y="2926080"/>
            <a:ext cx="2926080" cy="1463040"/>
          </a:xfrm>
          <a:prstGeom prst="rect">
            <a:avLst/>
          </a:prstGeom>
          <a:noFill/>
        </p:spPr>
        <p:txBody>
          <a:bodyPr wrap="square" anchor="t" lIns="0" rIns="0" tIns="0" bIns="0"/>
          <a:lstStyle/>
          <a:p>
            <a:pPr algn="l"/>
            <a:r>
              <a:rPr sz="2000" b="1" i="0">
                <a:solidFill>
                  <a:srgbClr val="FFFFFF"/>
                </a:solidFill>
                <a:latin typeface="Cambria"/>
              </a:rPr>
              <a:t>Security Procedures and Controls, on your specialism's page</a:t>
            </a:r>
          </a:p>
        </p:txBody>
      </p:sp>
      <p:sp>
        <p:nvSpPr>
          <p:cNvPr id="14" name="TextBox 13"/>
          <p:cNvSpPr txBox="1"/>
          <p:nvPr/>
        </p:nvSpPr>
        <p:spPr>
          <a:xfrm>
            <a:off x="548640" y="5669280"/>
            <a:ext cx="11094415" cy="548640"/>
          </a:xfrm>
          <a:prstGeom prst="rect">
            <a:avLst/>
          </a:prstGeom>
          <a:noFill/>
        </p:spPr>
        <p:txBody>
          <a:bodyPr wrap="square" anchor="t" lIns="0" rIns="0" tIns="0" bIns="0"/>
          <a:lstStyle/>
          <a:p>
            <a:pPr algn="l"/>
            <a:r>
              <a:rPr sz="1200" b="0" i="0">
                <a:solidFill>
                  <a:srgbClr val="A9C8F0"/>
                </a:solidFill>
                <a:latin typeface="Calibri"/>
              </a:rPr>
              <a:t>https://lana6478.github.io/Digital-Suport-and-security-T-levle/#/02-occupational-specialisms/00-overview.md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Risk Management and Threat Assessment</dc:title>
  <dc:subject>Digital Support and Security T Level: Specialism Content Area 1</dc:subject>
  <dc:creator>Samuel O'Connell</dc:creator>
  <cp:keywords>T Level; Digital Support and Security; lesson slides; Impacts, risk process, threat analysis, risk response, penetration testing (1.9 to 1.21)</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