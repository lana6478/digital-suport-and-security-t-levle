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the starter: sort the class's ideas into these six columns.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Detective.</a:t>
            </a:r>
          </a:p>
          <a:p>
            <a:r>
              <a:t>2. Limits damage and stops the incident recurring.</a:t>
            </a:r>
          </a:p>
          <a:p>
            <a:r>
              <a:t>3. When a primary control fails or isn't available.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allowlisting, access control lists, sandboxing, hardening.</a:t>
            </a:r>
          </a:p>
          <a:p>
            <a:r>
              <a:t>2. Splitting tasks so no one person holds too much privilege.</a:t>
            </a:r>
          </a:p>
          <a:p>
            <a:r>
              <a:t>3. Combined or managed access.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skills include setting up a domain with group policies and password rules, deploying a certificate authority, and applying access control methods (MAC, DAC, ABAC, RBAC).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Firewalls, secure configuration, access control, malware protection, patch management.</a:t>
            </a:r>
          </a:p>
          <a:p>
            <a:r>
              <a:t>2. Removing defaults and unneeded software, enabling features like MFA.</a:t>
            </a:r>
          </a:p>
          <a:p>
            <a:r>
              <a:t>3. Fewer accounts that attackers could use to take full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Review the risk by gathering information from systems and users.</a:t>
            </a:r>
          </a:p>
          <a:p>
            <a:r>
              <a:t>2. To check they keep working and adjust when things change.</a:t>
            </a:r>
          </a:p>
          <a:p>
            <a:r>
              <a:t>3. E.g. logs, alerts, user reports.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4EA1FF"/>
                </a:solidFill>
                <a:latin typeface="Calibri"/>
              </a:rPr>
              <a:t>OCCUPATIONAL SPECIALISMS</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Business Security Controls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1.1 to 1.7</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the six types of business control and when each acts.</a:t>
            </a:r>
          </a:p>
        </p:txBody>
      </p:sp>
      <p:sp>
        <p:nvSpPr>
          <p:cNvPr id="9" name="Oval 8"/>
          <p:cNvSpPr/>
          <p:nvPr/>
        </p:nvSpPr>
        <p:spPr>
          <a:xfrm>
            <a:off x="548640" y="327469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Give physical, administrative and technical examples of each control.</a:t>
            </a:r>
          </a:p>
        </p:txBody>
      </p:sp>
      <p:sp>
        <p:nvSpPr>
          <p:cNvPr id="11" name="Oval 10"/>
          <p:cNvSpPr/>
          <p:nvPr/>
        </p:nvSpPr>
        <p:spPr>
          <a:xfrm>
            <a:off x="548640" y="431482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Select, apply and monitor a suitable control for an identified risk.</a:t>
            </a:r>
          </a:p>
        </p:txBody>
      </p:sp>
      <p:sp>
        <p:nvSpPr>
          <p:cNvPr id="13" name="Oval 12"/>
          <p:cNvSpPr/>
          <p:nvPr/>
        </p:nvSpPr>
        <p:spPr>
          <a:xfrm>
            <a:off x="548640" y="5354954"/>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Explain the NCSC Cyber Essentials controls.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burglar walks past an office at night. List everything that might stop them, catch them, or limit the damage they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When each control acts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Business controls are measures that protect an organisation. They're grouped by when they act.</a:t>
            </a:r>
          </a:p>
          <a:p>
            <a:pPr>
              <a:spcAft>
                <a:spcPts val="1140"/>
              </a:spcAft>
            </a:pPr>
            <a:r>
              <a:rPr sz="1900" b="0">
                <a:solidFill>
                  <a:srgbClr val="202122"/>
                </a:solidFill>
                <a:latin typeface="Calibri"/>
              </a:rPr>
              <a:t>Directive controls tell people what to do, such as policies and signs. Deterrent controls discourage an attempt, such as visible guards and alarms. Preventative controls stop an incident happening, such as locks and firewalls.</a:t>
            </a:r>
          </a:p>
          <a:p>
            <a:pPr>
              <a:spcAft>
                <a:spcPts val="1140"/>
              </a:spcAft>
            </a:pPr>
            <a:r>
              <a:rPr sz="1900" b="0">
                <a:solidFill>
                  <a:srgbClr val="202122"/>
                </a:solidFill>
                <a:latin typeface="Calibri"/>
              </a:rPr>
              <a:t>Detective controls spot an incident while or after it happens, such as CCTV and logs. Corrective controls limit the damage and stop it recurring, such as fire suppression and restoring backups. Compensating controls step in when a main control fails or isn't available.</a:t>
            </a:r>
          </a:p>
          <a:p>
            <a:pPr>
              <a:spcAft>
                <a:spcPts val="1140"/>
              </a:spcAft>
            </a:pPr>
            <a:r>
              <a:rPr sz="1900" b="0">
                <a:solidFill>
                  <a:srgbClr val="202122"/>
                </a:solidFill>
                <a:latin typeface="Calibri"/>
              </a:rPr>
              <a:t>Good security layers several types together.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server room: a 'Staff only' sign (directive), a visible camera (deterrent), a card lock (preventative), access logs (detective), gas fire suppression (corrective).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When each control acts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1416024" y="279349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1734769" cy="731520"/>
          </a:xfrm>
          <a:prstGeom prst="rect">
            <a:avLst/>
          </a:prstGeom>
          <a:noFill/>
        </p:spPr>
        <p:txBody>
          <a:bodyPr wrap="square" anchor="t" lIns="0" rIns="0" tIns="0" bIns="0"/>
          <a:lstStyle/>
          <a:p>
            <a:pPr algn="ctr"/>
            <a:r>
              <a:rPr sz="1700" b="1" i="0">
                <a:solidFill>
                  <a:srgbClr val="03306E"/>
                </a:solidFill>
                <a:latin typeface="Calibri"/>
              </a:rPr>
              <a:t>Directive</a:t>
            </a:r>
          </a:p>
        </p:txBody>
      </p:sp>
      <p:sp>
        <p:nvSpPr>
          <p:cNvPr id="9" name="Rounded Rectangle 8"/>
          <p:cNvSpPr/>
          <p:nvPr/>
        </p:nvSpPr>
        <p:spPr>
          <a:xfrm>
            <a:off x="548640"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1460449" cy="960119"/>
          </a:xfrm>
          <a:prstGeom prst="rect">
            <a:avLst/>
          </a:prstGeom>
          <a:noFill/>
        </p:spPr>
        <p:txBody>
          <a:bodyPr wrap="square" anchor="t" lIns="0" rIns="0" tIns="0" bIns="0"/>
          <a:lstStyle/>
          <a:p>
            <a:pPr algn="l"/>
            <a:r>
              <a:rPr sz="1800" b="0" i="0">
                <a:solidFill>
                  <a:srgbClr val="202122"/>
                </a:solidFill>
                <a:latin typeface="Calibri"/>
              </a:rPr>
              <a:t>Tells people what to do.</a:t>
            </a:r>
          </a:p>
        </p:txBody>
      </p:sp>
      <p:sp>
        <p:nvSpPr>
          <p:cNvPr id="11" name="Oval 10"/>
          <p:cNvSpPr/>
          <p:nvPr/>
        </p:nvSpPr>
        <p:spPr>
          <a:xfrm>
            <a:off x="2967913"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268979"/>
            <a:ext cx="1734769" cy="731520"/>
          </a:xfrm>
          <a:prstGeom prst="rect">
            <a:avLst/>
          </a:prstGeom>
          <a:noFill/>
        </p:spPr>
        <p:txBody>
          <a:bodyPr wrap="square" anchor="t" lIns="0" rIns="0" tIns="0" bIns="0"/>
          <a:lstStyle/>
          <a:p>
            <a:pPr algn="ctr"/>
            <a:r>
              <a:rPr sz="1700" b="1" i="0">
                <a:solidFill>
                  <a:srgbClr val="03306E"/>
                </a:solidFill>
                <a:latin typeface="Calibri"/>
              </a:rPr>
              <a:t>Deterrent</a:t>
            </a:r>
          </a:p>
        </p:txBody>
      </p:sp>
      <p:sp>
        <p:nvSpPr>
          <p:cNvPr id="13" name="Rounded Rectangle 12"/>
          <p:cNvSpPr/>
          <p:nvPr/>
        </p:nvSpPr>
        <p:spPr>
          <a:xfrm>
            <a:off x="2420569"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183380"/>
            <a:ext cx="1460449" cy="960119"/>
          </a:xfrm>
          <a:prstGeom prst="rect">
            <a:avLst/>
          </a:prstGeom>
          <a:noFill/>
        </p:spPr>
        <p:txBody>
          <a:bodyPr wrap="square" anchor="t" lIns="0" rIns="0" tIns="0" bIns="0"/>
          <a:lstStyle/>
          <a:p>
            <a:pPr algn="l"/>
            <a:r>
              <a:rPr sz="1800" b="0" i="0">
                <a:solidFill>
                  <a:srgbClr val="202122"/>
                </a:solidFill>
                <a:latin typeface="Calibri"/>
              </a:rPr>
              <a:t>Discourages an attempt.</a:t>
            </a:r>
          </a:p>
        </p:txBody>
      </p:sp>
      <p:sp>
        <p:nvSpPr>
          <p:cNvPr id="15" name="Oval 14"/>
          <p:cNvSpPr/>
          <p:nvPr/>
        </p:nvSpPr>
        <p:spPr>
          <a:xfrm>
            <a:off x="4839843"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268979"/>
            <a:ext cx="1734769" cy="731520"/>
          </a:xfrm>
          <a:prstGeom prst="rect">
            <a:avLst/>
          </a:prstGeom>
          <a:noFill/>
        </p:spPr>
        <p:txBody>
          <a:bodyPr wrap="square" anchor="t" lIns="0" rIns="0" tIns="0" bIns="0"/>
          <a:lstStyle/>
          <a:p>
            <a:pPr algn="ctr"/>
            <a:r>
              <a:rPr sz="1700" b="1" i="0">
                <a:solidFill>
                  <a:srgbClr val="03306E"/>
                </a:solidFill>
                <a:latin typeface="Calibri"/>
              </a:rPr>
              <a:t>Preventative</a:t>
            </a:r>
          </a:p>
        </p:txBody>
      </p:sp>
      <p:sp>
        <p:nvSpPr>
          <p:cNvPr id="17" name="Rounded Rectangle 16"/>
          <p:cNvSpPr/>
          <p:nvPr/>
        </p:nvSpPr>
        <p:spPr>
          <a:xfrm>
            <a:off x="4292498"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183380"/>
            <a:ext cx="1460449" cy="960119"/>
          </a:xfrm>
          <a:prstGeom prst="rect">
            <a:avLst/>
          </a:prstGeom>
          <a:noFill/>
        </p:spPr>
        <p:txBody>
          <a:bodyPr wrap="square" anchor="t" lIns="0" rIns="0" tIns="0" bIns="0"/>
          <a:lstStyle/>
          <a:p>
            <a:pPr algn="l"/>
            <a:r>
              <a:rPr sz="1800" b="0" i="0">
                <a:solidFill>
                  <a:srgbClr val="202122"/>
                </a:solidFill>
                <a:latin typeface="Calibri"/>
              </a:rPr>
              <a:t>Stops the incident happening.</a:t>
            </a:r>
          </a:p>
        </p:txBody>
      </p:sp>
      <p:sp>
        <p:nvSpPr>
          <p:cNvPr id="19" name="Oval 18"/>
          <p:cNvSpPr/>
          <p:nvPr/>
        </p:nvSpPr>
        <p:spPr>
          <a:xfrm>
            <a:off x="6711772"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268979"/>
            <a:ext cx="1734769" cy="731520"/>
          </a:xfrm>
          <a:prstGeom prst="rect">
            <a:avLst/>
          </a:prstGeom>
          <a:noFill/>
        </p:spPr>
        <p:txBody>
          <a:bodyPr wrap="square" anchor="t" lIns="0" rIns="0" tIns="0" bIns="0"/>
          <a:lstStyle/>
          <a:p>
            <a:pPr algn="ctr"/>
            <a:r>
              <a:rPr sz="1700" b="1" i="0">
                <a:solidFill>
                  <a:srgbClr val="03306E"/>
                </a:solidFill>
                <a:latin typeface="Calibri"/>
              </a:rPr>
              <a:t>Detective</a:t>
            </a:r>
          </a:p>
        </p:txBody>
      </p:sp>
      <p:sp>
        <p:nvSpPr>
          <p:cNvPr id="21" name="Rounded Rectangle 20"/>
          <p:cNvSpPr/>
          <p:nvPr/>
        </p:nvSpPr>
        <p:spPr>
          <a:xfrm>
            <a:off x="6164427"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183380"/>
            <a:ext cx="1460449" cy="960119"/>
          </a:xfrm>
          <a:prstGeom prst="rect">
            <a:avLst/>
          </a:prstGeom>
          <a:noFill/>
        </p:spPr>
        <p:txBody>
          <a:bodyPr wrap="square" anchor="t" lIns="0" rIns="0" tIns="0" bIns="0"/>
          <a:lstStyle/>
          <a:p>
            <a:pPr algn="l"/>
            <a:r>
              <a:rPr sz="1800" b="0" i="0">
                <a:solidFill>
                  <a:srgbClr val="202122"/>
                </a:solidFill>
                <a:latin typeface="Calibri"/>
              </a:rPr>
              <a:t>Spots it while or after it happens.</a:t>
            </a:r>
          </a:p>
        </p:txBody>
      </p:sp>
      <p:sp>
        <p:nvSpPr>
          <p:cNvPr id="23" name="Oval 22"/>
          <p:cNvSpPr/>
          <p:nvPr/>
        </p:nvSpPr>
        <p:spPr>
          <a:xfrm>
            <a:off x="8583701"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268979"/>
            <a:ext cx="1734769" cy="731520"/>
          </a:xfrm>
          <a:prstGeom prst="rect">
            <a:avLst/>
          </a:prstGeom>
          <a:noFill/>
        </p:spPr>
        <p:txBody>
          <a:bodyPr wrap="square" anchor="t" lIns="0" rIns="0" tIns="0" bIns="0"/>
          <a:lstStyle/>
          <a:p>
            <a:pPr algn="ctr"/>
            <a:r>
              <a:rPr sz="1700" b="1" i="0">
                <a:solidFill>
                  <a:srgbClr val="03306E"/>
                </a:solidFill>
                <a:latin typeface="Calibri"/>
              </a:rPr>
              <a:t>Corrective</a:t>
            </a:r>
          </a:p>
        </p:txBody>
      </p:sp>
      <p:sp>
        <p:nvSpPr>
          <p:cNvPr id="25" name="Rounded Rectangle 24"/>
          <p:cNvSpPr/>
          <p:nvPr/>
        </p:nvSpPr>
        <p:spPr>
          <a:xfrm>
            <a:off x="8036356"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183380"/>
            <a:ext cx="1460449" cy="960119"/>
          </a:xfrm>
          <a:prstGeom prst="rect">
            <a:avLst/>
          </a:prstGeom>
          <a:noFill/>
        </p:spPr>
        <p:txBody>
          <a:bodyPr wrap="square" anchor="t" lIns="0" rIns="0" tIns="0" bIns="0"/>
          <a:lstStyle/>
          <a:p>
            <a:pPr algn="l"/>
            <a:r>
              <a:rPr sz="1800" b="0" i="0">
                <a:solidFill>
                  <a:srgbClr val="202122"/>
                </a:solidFill>
                <a:latin typeface="Calibri"/>
              </a:rPr>
              <a:t>Limits damage and stops recurrence.</a:t>
            </a:r>
          </a:p>
        </p:txBody>
      </p:sp>
      <p:sp>
        <p:nvSpPr>
          <p:cNvPr id="27" name="Oval 26"/>
          <p:cNvSpPr/>
          <p:nvPr/>
        </p:nvSpPr>
        <p:spPr>
          <a:xfrm>
            <a:off x="10455630" y="249174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268979"/>
            <a:ext cx="1734769" cy="731520"/>
          </a:xfrm>
          <a:prstGeom prst="rect">
            <a:avLst/>
          </a:prstGeom>
          <a:noFill/>
        </p:spPr>
        <p:txBody>
          <a:bodyPr wrap="square" anchor="t" lIns="0" rIns="0" tIns="0" bIns="0"/>
          <a:lstStyle/>
          <a:p>
            <a:pPr algn="ctr"/>
            <a:r>
              <a:rPr sz="1700" b="1" i="0">
                <a:solidFill>
                  <a:srgbClr val="03306E"/>
                </a:solidFill>
                <a:latin typeface="Calibri"/>
              </a:rPr>
              <a:t>Compensating</a:t>
            </a:r>
          </a:p>
        </p:txBody>
      </p:sp>
      <p:sp>
        <p:nvSpPr>
          <p:cNvPr id="29" name="Rounded Rectangle 28"/>
          <p:cNvSpPr/>
          <p:nvPr/>
        </p:nvSpPr>
        <p:spPr>
          <a:xfrm>
            <a:off x="9908286"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183380"/>
            <a:ext cx="1460449" cy="960119"/>
          </a:xfrm>
          <a:prstGeom prst="rect">
            <a:avLst/>
          </a:prstGeom>
          <a:noFill/>
        </p:spPr>
        <p:txBody>
          <a:bodyPr wrap="square" anchor="t" lIns="0" rIns="0" tIns="0" bIns="0"/>
          <a:lstStyle/>
          <a:p>
            <a:pPr algn="l"/>
            <a:r>
              <a:rPr sz="1800" b="0" i="0">
                <a:solidFill>
                  <a:srgbClr val="202122"/>
                </a:solidFill>
                <a:latin typeface="Calibri"/>
              </a:rPr>
              <a:t>Backup when a primary control fails.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When each control acts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control type is CCTV footage reviewed after a break-in?</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corrective control do?</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When is a compensating control used?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Preventative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Preventative controls stop incidents before they happen, and fall into four groups.</a:t>
            </a:r>
          </a:p>
          <a:p>
            <a:pPr>
              <a:spcAft>
                <a:spcPts val="1200"/>
              </a:spcAft>
            </a:pPr>
            <a:r>
              <a:rPr sz="2000" b="1">
                <a:solidFill>
                  <a:srgbClr val="202122"/>
                </a:solidFill>
                <a:latin typeface="Calibri"/>
              </a:rPr>
              <a:t>Physical:</a:t>
            </a:r>
            <a:r>
              <a:rPr sz="2000" b="0">
                <a:solidFill>
                  <a:srgbClr val="202122"/>
                </a:solidFill>
                <a:latin typeface="Calibri"/>
              </a:rPr>
              <a:t> anti-pick locks, fences, bollards, gates, cages, flood defences and air conditioning.</a:t>
            </a:r>
          </a:p>
          <a:p>
            <a:pPr>
              <a:spcAft>
                <a:spcPts val="1200"/>
              </a:spcAft>
            </a:pPr>
            <a:r>
              <a:rPr sz="2000" b="1">
                <a:solidFill>
                  <a:srgbClr val="202122"/>
                </a:solidFill>
                <a:latin typeface="Calibri"/>
              </a:rPr>
              <a:t>Combined or managed access:</a:t>
            </a:r>
            <a:r>
              <a:rPr sz="2000" b="0">
                <a:solidFill>
                  <a:srgbClr val="202122"/>
                </a:solidFill>
                <a:latin typeface="Calibri"/>
              </a:rPr>
              <a:t> card readers, biometric readers, video verification and PIN codes.</a:t>
            </a:r>
          </a:p>
          <a:p>
            <a:pPr>
              <a:spcAft>
                <a:spcPts val="1200"/>
              </a:spcAft>
            </a:pPr>
            <a:r>
              <a:rPr sz="2000" b="1">
                <a:solidFill>
                  <a:srgbClr val="202122"/>
                </a:solidFill>
                <a:latin typeface="Calibri"/>
              </a:rPr>
              <a:t>Administrative:</a:t>
            </a:r>
            <a:r>
              <a:rPr sz="2000" b="0">
                <a:solidFill>
                  <a:srgbClr val="202122"/>
                </a:solidFill>
                <a:latin typeface="Calibri"/>
              </a:rPr>
              <a:t> separation of duties and role-based access, so no one person has too much power.</a:t>
            </a:r>
          </a:p>
          <a:p>
            <a:pPr>
              <a:spcAft>
                <a:spcPts val="1200"/>
              </a:spcAft>
            </a:pPr>
            <a:r>
              <a:rPr sz="2000" b="1">
                <a:solidFill>
                  <a:srgbClr val="202122"/>
                </a:solidFill>
                <a:latin typeface="Calibri"/>
              </a:rPr>
              <a:t>Technical:</a:t>
            </a:r>
            <a:r>
              <a:rPr sz="2000" b="0">
                <a:solidFill>
                  <a:srgbClr val="202122"/>
                </a:solidFill>
                <a:latin typeface="Calibri"/>
              </a:rPr>
              <a:t> allowlists and denylists, access control lists, sandboxing untrusted software, device hardening and certificate authorities. Technicians put these in place by configuring domain policies, such as minimum password rules and group-based permissions.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Separation of duties: the person who creates new supplier accounts can't also approve payments, so no single person can commit fraud unnoticed.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Preventative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Physical</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Anti-pick locks, fences, bollards, gates, cages, flood defences, air conditioning.</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Combined or managed access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Card readers, biometric readers, video verification, PINs.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Administrative</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Separation of duties and role-based access, so no one person has too much privilege.</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Technical</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Allowlists and denylists, access control lists, sandboxing, device hardening, certificate authorities.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Preventative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Give an example of a technical preventative control.</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separation of duties?</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Is a biometric door reader physical or managed access?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other five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218883"/>
                <a:gridCol w="3944680"/>
                <a:gridCol w="4930851"/>
              </a:tblGrid>
              <a:tr h="754380">
                <a:tc>
                  <a:txBody>
                    <a:bodyPr wrap="square"/>
                    <a:lstStyle/>
                    <a:p>
                      <a:r>
                        <a:rPr sz="1600" b="1">
                          <a:solidFill>
                            <a:srgbClr val="FFFFFF"/>
                          </a:solidFill>
                          <a:latin typeface="Calibri"/>
                        </a:rPr>
                        <a:t>Control</a:t>
                      </a:r>
                    </a:p>
                  </a:txBody>
                  <a:tcPr marL="91440" marR="91440" anchor="ctr">
                    <a:solidFill>
                      <a:srgbClr val="03306E"/>
                    </a:solidFill>
                  </a:tcPr>
                </a:tc>
                <a:tc>
                  <a:txBody>
                    <a:bodyPr wrap="square"/>
                    <a:lstStyle/>
                    <a:p>
                      <a:r>
                        <a:rPr sz="1600" b="1">
                          <a:solidFill>
                            <a:srgbClr val="FFFFFF"/>
                          </a:solidFill>
                          <a:latin typeface="Calibri"/>
                        </a:rPr>
                        <a:t>Physical example</a:t>
                      </a:r>
                    </a:p>
                  </a:txBody>
                  <a:tcPr marL="91440" marR="91440" anchor="ctr">
                    <a:solidFill>
                      <a:srgbClr val="03306E"/>
                    </a:solidFill>
                  </a:tcPr>
                </a:tc>
                <a:tc>
                  <a:txBody>
                    <a:bodyPr wrap="square"/>
                    <a:lstStyle/>
                    <a:p>
                      <a:r>
                        <a:rPr sz="1600" b="1">
                          <a:solidFill>
                            <a:srgbClr val="FFFFFF"/>
                          </a:solidFill>
                          <a:latin typeface="Calibri"/>
                        </a:rPr>
                        <a:t>Administrative example</a:t>
                      </a:r>
                    </a:p>
                  </a:txBody>
                  <a:tcPr marL="91440" marR="91440" anchor="ctr">
                    <a:solidFill>
                      <a:srgbClr val="03306E"/>
                    </a:solidFill>
                  </a:tcPr>
                </a:tc>
              </a:tr>
              <a:tr h="754380">
                <a:tc>
                  <a:txBody>
                    <a:bodyPr wrap="square"/>
                    <a:lstStyle/>
                    <a:p>
                      <a:r>
                        <a:rPr sz="1600" b="1">
                          <a:solidFill>
                            <a:srgbClr val="03306E"/>
                          </a:solidFill>
                          <a:latin typeface="Calibri"/>
                        </a:rPr>
                        <a:t>Detective</a:t>
                      </a:r>
                    </a:p>
                  </a:txBody>
                  <a:tcPr marL="91440" marR="91440" anchor="ctr">
                    <a:solidFill>
                      <a:srgbClr val="FFFFFF"/>
                    </a:solidFill>
                  </a:tcPr>
                </a:tc>
                <a:tc>
                  <a:txBody>
                    <a:bodyPr wrap="square"/>
                    <a:lstStyle/>
                    <a:p>
                      <a:r>
                        <a:rPr sz="1600" b="0">
                          <a:solidFill>
                            <a:srgbClr val="202122"/>
                          </a:solidFill>
                          <a:latin typeface="Calibri"/>
                        </a:rPr>
                        <a:t>CCTV, motion sensors</a:t>
                      </a:r>
                    </a:p>
                  </a:txBody>
                  <a:tcPr marL="91440" marR="91440" anchor="ctr">
                    <a:solidFill>
                      <a:srgbClr val="FFFFFF"/>
                    </a:solidFill>
                  </a:tcPr>
                </a:tc>
                <a:tc>
                  <a:txBody>
                    <a:bodyPr wrap="square"/>
                    <a:lstStyle/>
                    <a:p>
                      <a:r>
                        <a:rPr sz="1600" b="0">
                          <a:solidFill>
                            <a:srgbClr val="202122"/>
                          </a:solidFill>
                          <a:latin typeface="Calibri"/>
                        </a:rPr>
                        <a:t>Temperature and error logs, audits of who entered the site</a:t>
                      </a:r>
                    </a:p>
                  </a:txBody>
                  <a:tcPr marL="91440" marR="91440" anchor="ctr">
                    <a:solidFill>
                      <a:srgbClr val="FFFFFF"/>
                    </a:solidFill>
                  </a:tcPr>
                </a:tc>
              </a:tr>
              <a:tr h="754380">
                <a:tc>
                  <a:txBody>
                    <a:bodyPr wrap="square"/>
                    <a:lstStyle/>
                    <a:p>
                      <a:r>
                        <a:rPr sz="1600" b="1">
                          <a:solidFill>
                            <a:srgbClr val="03306E"/>
                          </a:solidFill>
                          <a:latin typeface="Calibri"/>
                        </a:rPr>
                        <a:t>Corrective</a:t>
                      </a:r>
                    </a:p>
                  </a:txBody>
                  <a:tcPr marL="91440" marR="91440" anchor="ctr">
                    <a:solidFill>
                      <a:srgbClr val="EAF3FF"/>
                    </a:solidFill>
                  </a:tcPr>
                </a:tc>
                <a:tc>
                  <a:txBody>
                    <a:bodyPr wrap="square"/>
                    <a:lstStyle/>
                    <a:p>
                      <a:r>
                        <a:rPr sz="1600" b="0">
                          <a:solidFill>
                            <a:srgbClr val="202122"/>
                          </a:solidFill>
                          <a:latin typeface="Calibri"/>
                        </a:rPr>
                        <a:t>Fire and gas suppression</a:t>
                      </a:r>
                    </a:p>
                  </a:txBody>
                  <a:tcPr marL="91440" marR="91440" anchor="ctr">
                    <a:solidFill>
                      <a:srgbClr val="EAF3FF"/>
                    </a:solidFill>
                  </a:tcPr>
                </a:tc>
                <a:tc>
                  <a:txBody>
                    <a:bodyPr wrap="square"/>
                    <a:lstStyle/>
                    <a:p>
                      <a:r>
                        <a:rPr sz="1600" b="0">
                          <a:solidFill>
                            <a:srgbClr val="202122"/>
                          </a:solidFill>
                          <a:latin typeface="Calibri"/>
                        </a:rPr>
                        <a:t>SOPs for what to do when a fire is detected</a:t>
                      </a:r>
                    </a:p>
                  </a:txBody>
                  <a:tcPr marL="91440" marR="91440" anchor="ctr">
                    <a:solidFill>
                      <a:srgbClr val="EAF3FF"/>
                    </a:solidFill>
                  </a:tcPr>
                </a:tc>
              </a:tr>
              <a:tr h="754380">
                <a:tc>
                  <a:txBody>
                    <a:bodyPr wrap="square"/>
                    <a:lstStyle/>
                    <a:p>
                      <a:r>
                        <a:rPr sz="1600" b="1">
                          <a:solidFill>
                            <a:srgbClr val="03306E"/>
                          </a:solidFill>
                          <a:latin typeface="Calibri"/>
                        </a:rPr>
                        <a:t>Deterrent</a:t>
                      </a:r>
                    </a:p>
                  </a:txBody>
                  <a:tcPr marL="91440" marR="91440" anchor="ctr">
                    <a:solidFill>
                      <a:srgbClr val="FFFFFF"/>
                    </a:solidFill>
                  </a:tcPr>
                </a:tc>
                <a:tc>
                  <a:txBody>
                    <a:bodyPr wrap="square"/>
                    <a:lstStyle/>
                    <a:p>
                      <a:r>
                        <a:rPr sz="1600" b="0">
                          <a:solidFill>
                            <a:srgbClr val="202122"/>
                          </a:solidFill>
                          <a:latin typeface="Calibri"/>
                        </a:rPr>
                        <a:t>Guards, alarms, visible surveillance</a:t>
                      </a:r>
                    </a:p>
                  </a:txBody>
                  <a:tcPr marL="91440" marR="91440" anchor="ctr">
                    <a:solidFill>
                      <a:srgbClr val="FFFFFF"/>
                    </a:solidFill>
                  </a:tcPr>
                </a:tc>
                <a:tc>
                  <a:txBody>
                    <a:bodyPr wrap="square"/>
                    <a:lstStyle/>
                    <a:p>
                      <a:r>
                        <a:rPr sz="1600" b="0">
                          <a:solidFill>
                            <a:srgbClr val="202122"/>
                          </a:solidFill>
                          <a:latin typeface="Calibri"/>
                        </a:rPr>
                        <a:t>Fire drills, codes of conduct, acceptable use policies</a:t>
                      </a:r>
                    </a:p>
                  </a:txBody>
                  <a:tcPr marL="91440" marR="91440" anchor="ctr">
                    <a:solidFill>
                      <a:srgbClr val="FFFFFF"/>
                    </a:solidFill>
                  </a:tcPr>
                </a:tc>
              </a:tr>
              <a:tr h="754380">
                <a:tc>
                  <a:txBody>
                    <a:bodyPr wrap="square"/>
                    <a:lstStyle/>
                    <a:p>
                      <a:r>
                        <a:rPr sz="1600" b="1">
                          <a:solidFill>
                            <a:srgbClr val="03306E"/>
                          </a:solidFill>
                          <a:latin typeface="Calibri"/>
                        </a:rPr>
                        <a:t>Directive</a:t>
                      </a:r>
                    </a:p>
                  </a:txBody>
                  <a:tcPr marL="91440" marR="91440" anchor="ctr">
                    <a:solidFill>
                      <a:srgbClr val="EAF3FF"/>
                    </a:solidFill>
                  </a:tcPr>
                </a:tc>
                <a:tc>
                  <a:txBody>
                    <a:bodyPr wrap="square"/>
                    <a:lstStyle/>
                    <a:p>
                      <a:r>
                        <a:rPr sz="1600" b="0">
                          <a:solidFill>
                            <a:srgbClr val="202122"/>
                          </a:solidFill>
                          <a:latin typeface="Calibri"/>
                        </a:rPr>
                        <a:t>Signage, mandatory ID badges</a:t>
                      </a:r>
                    </a:p>
                  </a:txBody>
                  <a:tcPr marL="91440" marR="91440" anchor="ctr">
                    <a:solidFill>
                      <a:srgbClr val="EAF3FF"/>
                    </a:solidFill>
                  </a:tcPr>
                </a:tc>
                <a:tc>
                  <a:txBody>
                    <a:bodyPr wrap="square"/>
                    <a:lstStyle/>
                    <a:p>
                      <a:r>
                        <a:rPr sz="1600" b="0">
                          <a:solidFill>
                            <a:srgbClr val="202122"/>
                          </a:solidFill>
                          <a:latin typeface="Calibri"/>
                        </a:rPr>
                        <a:t>Security policies, compulsory 'human firewall' training</a:t>
                      </a:r>
                    </a:p>
                  </a:txBody>
                  <a:tcPr marL="91440" marR="91440" anchor="ctr">
                    <a:solidFill>
                      <a:srgbClr val="EAF3FF"/>
                    </a:solidFill>
                  </a:tcPr>
                </a:tc>
              </a:tr>
              <a:tr h="754380">
                <a:tc>
                  <a:txBody>
                    <a:bodyPr wrap="square"/>
                    <a:lstStyle/>
                    <a:p>
                      <a:r>
                        <a:rPr sz="1600" b="1">
                          <a:solidFill>
                            <a:srgbClr val="03306E"/>
                          </a:solidFill>
                          <a:latin typeface="Calibri"/>
                        </a:rPr>
                        <a:t>Compensating</a:t>
                      </a:r>
                    </a:p>
                  </a:txBody>
                  <a:tcPr marL="91440" marR="91440" anchor="ctr">
                    <a:solidFill>
                      <a:srgbClr val="FFFFFF"/>
                    </a:solidFill>
                  </a:tcPr>
                </a:tc>
                <a:tc>
                  <a:txBody>
                    <a:bodyPr wrap="square"/>
                    <a:lstStyle/>
                    <a:p>
                      <a:r>
                        <a:rPr sz="1600" b="0">
                          <a:solidFill>
                            <a:srgbClr val="202122"/>
                          </a:solidFill>
                          <a:latin typeface="Calibri"/>
                        </a:rPr>
                        <a:t>Environmental temperature controls</a:t>
                      </a:r>
                    </a:p>
                  </a:txBody>
                  <a:tcPr marL="91440" marR="91440" anchor="ctr">
                    <a:solidFill>
                      <a:srgbClr val="FFFFFF"/>
                    </a:solidFill>
                  </a:tcPr>
                </a:tc>
                <a:tc>
                  <a:txBody>
                    <a:bodyPr wrap="square"/>
                    <a:lstStyle/>
                    <a:p>
                      <a:r>
                        <a:rPr sz="1600" b="0">
                          <a:solidFill>
                            <a:srgbClr val="202122"/>
                          </a:solidFill>
                          <a:latin typeface="Calibri"/>
                        </a:rPr>
                        <a:t>Role-based awareness training, monitoring SOPs</a:t>
                      </a:r>
                    </a:p>
                  </a:txBody>
                  <a:tcPr marL="91440" marR="9144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NCSC Cyber Essentials: five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Cyber Essentials is a government-backed scheme that protects against the most common attacks. It has five technical controls.</a:t>
            </a:r>
          </a:p>
          <a:p>
            <a:pPr>
              <a:spcAft>
                <a:spcPts val="1140"/>
              </a:spcAft>
            </a:pPr>
            <a:r>
              <a:rPr sz="1900" b="0">
                <a:solidFill>
                  <a:srgbClr val="202122"/>
                </a:solidFill>
                <a:latin typeface="Calibri"/>
              </a:rPr>
              <a:t>Boundary firewalls and internet gateways control traffic in and out of the network.</a:t>
            </a:r>
          </a:p>
          <a:p>
            <a:pPr>
              <a:spcAft>
                <a:spcPts val="1140"/>
              </a:spcAft>
            </a:pPr>
            <a:r>
              <a:rPr sz="1900" b="0">
                <a:solidFill>
                  <a:srgbClr val="202122"/>
                </a:solidFill>
                <a:latin typeface="Calibri"/>
              </a:rPr>
              <a:t>Secure configuration removes default passwords and unneeded software and turns on features such as MFA.</a:t>
            </a:r>
          </a:p>
          <a:p>
            <a:pPr>
              <a:spcAft>
                <a:spcPts val="1140"/>
              </a:spcAft>
            </a:pPr>
            <a:r>
              <a:rPr sz="1900" b="0">
                <a:solidFill>
                  <a:srgbClr val="202122"/>
                </a:solidFill>
                <a:latin typeface="Calibri"/>
              </a:rPr>
              <a:t>Access control gives users only the access they need and limits admin accounts.</a:t>
            </a:r>
          </a:p>
          <a:p>
            <a:pPr>
              <a:spcAft>
                <a:spcPts val="1140"/>
              </a:spcAft>
            </a:pPr>
            <a:r>
              <a:rPr sz="1900" b="0">
                <a:solidFill>
                  <a:srgbClr val="202122"/>
                </a:solidFill>
                <a:latin typeface="Calibri"/>
              </a:rPr>
              <a:t>Malware protection keeps anti-malware up to date or restricts which apps can run.</a:t>
            </a:r>
          </a:p>
          <a:p>
            <a:pPr>
              <a:spcAft>
                <a:spcPts val="1140"/>
              </a:spcAft>
            </a:pPr>
            <a:r>
              <a:rPr sz="1900" b="0">
                <a:solidFill>
                  <a:srgbClr val="202122"/>
                </a:solidFill>
                <a:latin typeface="Calibri"/>
              </a:rPr>
              <a:t>Patch management applies security updates quickly, within 14 days for critical ones.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Most attacks on small businesses exploit a default password, an unpatched system or a user with too many rights: exactly what these five controls close 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NCSC Cyber Essentials: five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Boundary firewalls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Control traffic between your network and the internet.</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800" b="1" i="0">
                <a:solidFill>
                  <a:srgbClr val="03306E"/>
                </a:solidFill>
                <a:latin typeface="Calibri"/>
              </a:rPr>
              <a:t>Secure configuration</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Remove defaults and unneeded features; enable MFA.</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Access control</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Give users only the access they need.</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Malware protection</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Anti-malware kept up to date.</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Patch management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Apply security updates promptly.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NCSC Cyber Essentials: five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the five Cyber Essentials controls.</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secure configuration include?</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limit admin accounts?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Applying and monitoring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Controls only work if they're chosen well and kept working.</a:t>
            </a:r>
          </a:p>
          <a:p>
            <a:pPr>
              <a:spcAft>
                <a:spcPts val="1320"/>
              </a:spcAft>
            </a:pPr>
            <a:r>
              <a:rPr sz="2200" b="1">
                <a:solidFill>
                  <a:srgbClr val="202122"/>
                </a:solidFill>
                <a:latin typeface="Calibri"/>
              </a:rPr>
              <a:t>First, review the risk:</a:t>
            </a:r>
            <a:r>
              <a:rPr sz="2200" b="0">
                <a:solidFill>
                  <a:srgbClr val="202122"/>
                </a:solidFill>
                <a:latin typeface="Calibri"/>
              </a:rPr>
              <a:t> gather information from systems (logs, alerts) and users (reports, interviews) to understand what could go wrong.</a:t>
            </a:r>
          </a:p>
          <a:p>
            <a:pPr>
              <a:spcAft>
                <a:spcPts val="1320"/>
              </a:spcAft>
            </a:pPr>
            <a:r>
              <a:rPr sz="2200" b="0">
                <a:solidFill>
                  <a:srgbClr val="202122"/>
                </a:solidFill>
                <a:latin typeface="Calibri"/>
              </a:rPr>
              <a:t>Then select the right type or combination of controls, apply them following organisational procedure and the law, such as data protection requirements, and monitor them to check they keep working and adjust them when things change.</a:t>
            </a:r>
          </a:p>
          <a:p>
            <a:pPr>
              <a:spcAft>
                <a:spcPts val="1320"/>
              </a:spcAft>
            </a:pPr>
            <a:r>
              <a:rPr sz="2200" b="0">
                <a:solidFill>
                  <a:srgbClr val="202122"/>
                </a:solidFill>
                <a:latin typeface="Calibri"/>
              </a:rPr>
              <a:t>This is a cycle, not a one-off job.</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Logs show repeated failed logins overnight. The technician adds account lockout (preventative) and an alert (detective), then checks the logs weekly.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Applying and monitoring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ectangle 5"/>
          <p:cNvSpPr/>
          <p:nvPr/>
        </p:nvSpPr>
        <p:spPr>
          <a:xfrm>
            <a:off x="1884006" y="238201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08026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857500"/>
            <a:ext cx="2670733" cy="731520"/>
          </a:xfrm>
          <a:prstGeom prst="rect">
            <a:avLst/>
          </a:prstGeom>
          <a:noFill/>
        </p:spPr>
        <p:txBody>
          <a:bodyPr wrap="square" anchor="t" lIns="0" rIns="0" tIns="0" bIns="0"/>
          <a:lstStyle/>
          <a:p>
            <a:pPr algn="ctr"/>
            <a:r>
              <a:rPr sz="1700" b="1" i="0">
                <a:solidFill>
                  <a:srgbClr val="03306E"/>
                </a:solidFill>
                <a:latin typeface="Calibri"/>
              </a:rPr>
              <a:t>Review the risk</a:t>
            </a:r>
          </a:p>
        </p:txBody>
      </p:sp>
      <p:sp>
        <p:nvSpPr>
          <p:cNvPr id="9" name="Rounded Rectangle 8"/>
          <p:cNvSpPr/>
          <p:nvPr/>
        </p:nvSpPr>
        <p:spPr>
          <a:xfrm>
            <a:off x="548640"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71900"/>
            <a:ext cx="2396413" cy="960119"/>
          </a:xfrm>
          <a:prstGeom prst="rect">
            <a:avLst/>
          </a:prstGeom>
          <a:noFill/>
        </p:spPr>
        <p:txBody>
          <a:bodyPr wrap="square" anchor="t" lIns="0" rIns="0" tIns="0" bIns="0"/>
          <a:lstStyle/>
          <a:p>
            <a:pPr algn="l"/>
            <a:r>
              <a:rPr sz="1800" b="0" i="0">
                <a:solidFill>
                  <a:srgbClr val="202122"/>
                </a:solidFill>
                <a:latin typeface="Calibri"/>
              </a:rPr>
              <a:t>Gather information from systems and users.</a:t>
            </a:r>
          </a:p>
        </p:txBody>
      </p:sp>
      <p:sp>
        <p:nvSpPr>
          <p:cNvPr id="11" name="Oval 10"/>
          <p:cNvSpPr/>
          <p:nvPr/>
        </p:nvSpPr>
        <p:spPr>
          <a:xfrm>
            <a:off x="4371860" y="208026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3356533" y="2857500"/>
            <a:ext cx="2670733" cy="731520"/>
          </a:xfrm>
          <a:prstGeom prst="rect">
            <a:avLst/>
          </a:prstGeom>
          <a:noFill/>
        </p:spPr>
        <p:txBody>
          <a:bodyPr wrap="square" anchor="t" lIns="0" rIns="0" tIns="0" bIns="0"/>
          <a:lstStyle/>
          <a:p>
            <a:pPr algn="ctr"/>
            <a:r>
              <a:rPr sz="1700" b="1" i="0">
                <a:solidFill>
                  <a:srgbClr val="03306E"/>
                </a:solidFill>
                <a:latin typeface="Calibri"/>
              </a:rPr>
              <a:t>Select</a:t>
            </a:r>
          </a:p>
        </p:txBody>
      </p:sp>
      <p:sp>
        <p:nvSpPr>
          <p:cNvPr id="13" name="Rounded Rectangle 12"/>
          <p:cNvSpPr/>
          <p:nvPr/>
        </p:nvSpPr>
        <p:spPr>
          <a:xfrm>
            <a:off x="3356533"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3771900"/>
            <a:ext cx="2396413" cy="960119"/>
          </a:xfrm>
          <a:prstGeom prst="rect">
            <a:avLst/>
          </a:prstGeom>
          <a:noFill/>
        </p:spPr>
        <p:txBody>
          <a:bodyPr wrap="square" anchor="t" lIns="0" rIns="0" tIns="0" bIns="0"/>
          <a:lstStyle/>
          <a:p>
            <a:pPr algn="l"/>
            <a:r>
              <a:rPr sz="1800" b="0" i="0">
                <a:solidFill>
                  <a:srgbClr val="202122"/>
                </a:solidFill>
                <a:latin typeface="Calibri"/>
              </a:rPr>
              <a:t>Choose the right control type or types.</a:t>
            </a:r>
          </a:p>
        </p:txBody>
      </p:sp>
      <p:sp>
        <p:nvSpPr>
          <p:cNvPr id="15" name="Oval 14"/>
          <p:cNvSpPr/>
          <p:nvPr/>
        </p:nvSpPr>
        <p:spPr>
          <a:xfrm>
            <a:off x="7179754" y="208026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6164427" y="2857500"/>
            <a:ext cx="2670733" cy="731520"/>
          </a:xfrm>
          <a:prstGeom prst="rect">
            <a:avLst/>
          </a:prstGeom>
          <a:noFill/>
        </p:spPr>
        <p:txBody>
          <a:bodyPr wrap="square" anchor="t" lIns="0" rIns="0" tIns="0" bIns="0"/>
          <a:lstStyle/>
          <a:p>
            <a:pPr algn="ctr"/>
            <a:r>
              <a:rPr sz="1700" b="1" i="0">
                <a:solidFill>
                  <a:srgbClr val="03306E"/>
                </a:solidFill>
                <a:latin typeface="Calibri"/>
              </a:rPr>
              <a:t>Apply</a:t>
            </a:r>
          </a:p>
        </p:txBody>
      </p:sp>
      <p:sp>
        <p:nvSpPr>
          <p:cNvPr id="17" name="Rounded Rectangle 16"/>
          <p:cNvSpPr/>
          <p:nvPr/>
        </p:nvSpPr>
        <p:spPr>
          <a:xfrm>
            <a:off x="6164427"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3771900"/>
            <a:ext cx="2396413" cy="960119"/>
          </a:xfrm>
          <a:prstGeom prst="rect">
            <a:avLst/>
          </a:prstGeom>
          <a:noFill/>
        </p:spPr>
        <p:txBody>
          <a:bodyPr wrap="square" anchor="t" lIns="0" rIns="0" tIns="0" bIns="0"/>
          <a:lstStyle/>
          <a:p>
            <a:pPr algn="l"/>
            <a:r>
              <a:rPr sz="1800" b="0" i="0">
                <a:solidFill>
                  <a:srgbClr val="202122"/>
                </a:solidFill>
                <a:latin typeface="Calibri"/>
              </a:rPr>
              <a:t>Put the control in place, following procedure.</a:t>
            </a:r>
          </a:p>
        </p:txBody>
      </p:sp>
      <p:sp>
        <p:nvSpPr>
          <p:cNvPr id="19" name="Oval 18"/>
          <p:cNvSpPr/>
          <p:nvPr/>
        </p:nvSpPr>
        <p:spPr>
          <a:xfrm>
            <a:off x="9987648" y="208026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8972321" y="2857500"/>
            <a:ext cx="2670733" cy="731520"/>
          </a:xfrm>
          <a:prstGeom prst="rect">
            <a:avLst/>
          </a:prstGeom>
          <a:noFill/>
        </p:spPr>
        <p:txBody>
          <a:bodyPr wrap="square" anchor="t" lIns="0" rIns="0" tIns="0" bIns="0"/>
          <a:lstStyle/>
          <a:p>
            <a:pPr algn="ctr"/>
            <a:r>
              <a:rPr sz="1700" b="1" i="0">
                <a:solidFill>
                  <a:srgbClr val="03306E"/>
                </a:solidFill>
                <a:latin typeface="Calibri"/>
              </a:rPr>
              <a:t>Monitor</a:t>
            </a:r>
          </a:p>
        </p:txBody>
      </p:sp>
      <p:sp>
        <p:nvSpPr>
          <p:cNvPr id="21" name="Rounded Rectangle 20"/>
          <p:cNvSpPr/>
          <p:nvPr/>
        </p:nvSpPr>
        <p:spPr>
          <a:xfrm>
            <a:off x="8972321"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3771900"/>
            <a:ext cx="2396413" cy="960119"/>
          </a:xfrm>
          <a:prstGeom prst="rect">
            <a:avLst/>
          </a:prstGeom>
          <a:noFill/>
        </p:spPr>
        <p:txBody>
          <a:bodyPr wrap="square" anchor="t" lIns="0" rIns="0" tIns="0" bIns="0"/>
          <a:lstStyle/>
          <a:p>
            <a:pPr algn="l"/>
            <a:r>
              <a:rPr sz="1800" b="0" i="0">
                <a:solidFill>
                  <a:srgbClr val="202122"/>
                </a:solidFill>
                <a:latin typeface="Calibri"/>
              </a:rPr>
              <a:t>Check it keeps working and adjust.</a:t>
            </a:r>
          </a:p>
        </p:txBody>
      </p:sp>
      <p:sp>
        <p:nvSpPr>
          <p:cNvPr id="23" name="TextBox 22"/>
          <p:cNvSpPr txBox="1"/>
          <p:nvPr/>
        </p:nvSpPr>
        <p:spPr>
          <a:xfrm>
            <a:off x="548640" y="5143500"/>
            <a:ext cx="11094415" cy="548640"/>
          </a:xfrm>
          <a:prstGeom prst="rect">
            <a:avLst/>
          </a:prstGeom>
          <a:noFill/>
        </p:spPr>
        <p:txBody>
          <a:bodyPr wrap="square" anchor="t" lIns="0" rIns="0" tIns="0" bIns="0"/>
          <a:lstStyle/>
          <a:p>
            <a:pPr algn="l"/>
            <a:r>
              <a:rPr sz="1600" b="0" i="1">
                <a:solidFill>
                  <a:srgbClr val="54595D"/>
                </a:solidFill>
                <a:latin typeface="Calibri"/>
              </a:rPr>
              <a:t>Always comply with regulation (e.g. data protection law) and organisational procedure.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Applying and monitoring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should you do before choosing a control?</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monitor controls after applying them?</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source of information about a risk.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Is CCTV a preventative or detective control?</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Give an example of a corrective control.</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a compensating control?</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Name three of the five Cyber Essentials controls.</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does separation of duties prevent?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Is CCTV a preventative or detective control?</a:t>
            </a:r>
          </a:p>
          <a:p>
            <a:r>
              <a:rPr sz="1800" b="1">
                <a:solidFill>
                  <a:srgbClr val="03306E"/>
                </a:solidFill>
                <a:latin typeface="Calibri"/>
              </a:rPr>
              <a:t>Detective (it can also deter when visible).</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Give an example of a corrective control.</a:t>
            </a:r>
          </a:p>
          <a:p>
            <a:r>
              <a:rPr sz="1800" b="1">
                <a:solidFill>
                  <a:srgbClr val="03306E"/>
                </a:solidFill>
                <a:latin typeface="Calibri"/>
              </a:rPr>
              <a:t>Fire or gas suppression, or a fire response SOP.</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a compensating control?</a:t>
            </a:r>
          </a:p>
          <a:p>
            <a:r>
              <a:rPr sz="1800" b="1">
                <a:solidFill>
                  <a:srgbClr val="03306E"/>
                </a:solidFill>
                <a:latin typeface="Calibri"/>
              </a:rPr>
              <a:t>A safeguard used when a primary control is not available or fails.</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600" b="0" i="0">
                <a:solidFill>
                  <a:srgbClr val="54595D"/>
                </a:solidFill>
                <a:latin typeface="Calibri"/>
              </a:rPr>
              <a:t>Name three of the five Cyber Essentials controls.</a:t>
            </a:r>
          </a:p>
          <a:p>
            <a:r>
              <a:rPr sz="1600" b="1">
                <a:solidFill>
                  <a:srgbClr val="03306E"/>
                </a:solidFill>
                <a:latin typeface="Calibri"/>
              </a:rPr>
              <a:t>Any three of: boundary firewalls, secure configuration, access control, malware protection, patch management.</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does separation of duties prevent?</a:t>
            </a:r>
          </a:p>
          <a:p>
            <a:r>
              <a:rPr sz="1800" b="1">
                <a:solidFill>
                  <a:srgbClr val="03306E"/>
                </a:solidFill>
                <a:latin typeface="Calibri"/>
              </a:rPr>
              <a:t>One person holding excessive privilege.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Control audit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Business Security Controls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Rounded Rectangle 5"/>
          <p:cNvSpPr/>
          <p:nvPr/>
        </p:nvSpPr>
        <p:spPr>
          <a:xfrm>
            <a:off x="548640" y="1508760"/>
            <a:ext cx="2011680" cy="457200"/>
          </a:xfrm>
          <a:prstGeom prst="roundRect">
            <a:avLst>
              <a:gd name="adj" fmla="val 50000"/>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Walk around (or picture) the college IT areas.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Find at least one control of each of the six types.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Classify each as physical, administrative or technical.</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Identify one gap and recommend a control to fill it.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All six control types found</a:t>
            </a:r>
          </a:p>
          <a:p>
            <a:pPr marL="274320" indent="-274320">
              <a:spcAft>
                <a:spcPts val="810"/>
              </a:spcAft>
              <a:buClr>
                <a:srgbClr val="0645AD"/>
              </a:buClr>
              <a:buFont typeface="Arial"/>
              <a:buChar char="•"/>
            </a:pPr>
            <a:r>
              <a:rPr sz="1800" b="0">
                <a:solidFill>
                  <a:srgbClr val="202122"/>
                </a:solidFill>
                <a:latin typeface="Calibri"/>
              </a:rPr>
              <a:t>Classifications are correct</a:t>
            </a:r>
          </a:p>
          <a:p>
            <a:pPr marL="274320" indent="-274320">
              <a:spcAft>
                <a:spcPts val="810"/>
              </a:spcAft>
              <a:buClr>
                <a:srgbClr val="0645AD"/>
              </a:buClr>
              <a:buFont typeface="Arial"/>
              <a:buChar char="•"/>
            </a:pPr>
            <a:r>
              <a:rPr sz="1800" b="0">
                <a:solidFill>
                  <a:srgbClr val="202122"/>
                </a:solidFill>
                <a:latin typeface="Calibri"/>
              </a:rPr>
              <a:t>Recommendation is realistic and justified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control type would a 'Staff only' sign be?</a:t>
            </a:r>
          </a:p>
        </p:txBody>
      </p:sp>
      <p:sp>
        <p:nvSpPr>
          <p:cNvPr id="6" name="Oval 5"/>
          <p:cNvSpPr/>
          <p:nvPr/>
        </p:nvSpPr>
        <p:spPr>
          <a:xfrm>
            <a:off x="548640" y="26974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do organisations layer several controls?</a:t>
            </a:r>
          </a:p>
        </p:txBody>
      </p:sp>
      <p:sp>
        <p:nvSpPr>
          <p:cNvPr id="8" name="Oval 7"/>
          <p:cNvSpPr/>
          <p:nvPr/>
        </p:nvSpPr>
        <p:spPr>
          <a:xfrm>
            <a:off x="548640" y="365760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Cyber Essentials control would stop an unpatched laptop being exploited?</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Security Procedures and Controls, on your specialism's page</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https://lana6478.github.io/Digital-Suport-and-security-T-levle/#/02-occupational-specialisms/00-overview.md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Security Controls</dc:title>
  <dc:subject>Digital Support and Security T Level: Specialism Content Area 1</dc:subject>
  <dc:creator>Samuel O'Connell</dc:creator>
  <cp:keywords>T Level; Digital Support and Security; lesson slides; 1.1 to 1.7</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