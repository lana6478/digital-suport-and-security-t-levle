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Reducing the attack surface by removing unneeded software, accounts and ports.</a:t>
            </a:r>
          </a:p>
          <a:p>
            <a:r>
              <a:t>2. Monitor, patch and fix many devices remotely.</a:t>
            </a:r>
          </a:p>
          <a:p>
            <a:r>
              <a:t>3. So an attack in one part can't spread.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Two: a public key and a private key.</a:t>
            </a:r>
          </a:p>
          <a:p>
            <a:r>
              <a:t>2. TLS.</a:t>
            </a:r>
          </a:p>
          <a:p>
            <a:r>
              <a:t>3. Encryption keys specific to the device.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Principles behind all of these: the CIA triad and IAAA (identification, authentication, authorisation, accountability).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An IDS detects and alerts; an IPS also blocks.</a:t>
            </a:r>
          </a:p>
          <a:p>
            <a:r>
              <a:t>2. RBAC.</a:t>
            </a:r>
          </a:p>
          <a:p>
            <a:r>
              <a:t>3. Checks devices meet policy before they join the network.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Connected devices: WPA2/WPA3, device authentication, encryption, patching, MFA, single logout. Minimum standard principles: identify, protect, detect, respond, recover.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Isolating public-facing servers from the internal network.</a:t>
            </a:r>
          </a:p>
          <a:p>
            <a:r>
              <a:t>2. Splits one physical network into separate virtual networks.</a:t>
            </a:r>
          </a:p>
          <a:p>
            <a:r>
              <a:t>3. WPA2 or WPA3.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Minimum password rules and account lockout.</a:t>
            </a:r>
          </a:p>
          <a:p>
            <a:r>
              <a:t>2. To make sure they can actually be restored.</a:t>
            </a:r>
          </a:p>
          <a:p>
            <a:r>
              <a:t>3. Data must be securely wiped.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 disposable VM so students cannot break a shared machine.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4EA1FF"/>
                </a:solidFill>
                <a:latin typeface="Calibri"/>
              </a:rPr>
              <a:t>OCCUPATIONAL SPECIALISMS</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Technical Security and Network Protection</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Specialism Content Area 1</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Technical controls, encryption, network security, access control, topologies and vulnerabilities (1.19 to 1.33)</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Digital Support and Security T Level  ·  Lesson slides</a:t>
            </a:r>
          </a:p>
          <a:p>
            <a:pPr algn="l"/>
            <a:r>
              <a:rPr sz="1100" b="0" i="0">
                <a:solidFill>
                  <a:srgbClr val="A9C8F0"/>
                </a:solidFill>
                <a:latin typeface="Calibri"/>
              </a:rPr>
              <a:t>Unofficial teaching resource. Check the official Pearson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SPECIALISMS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Technical Security and Network Protection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34565"/>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8" name="TextBox 7"/>
          <p:cNvSpPr txBox="1"/>
          <p:nvPr/>
        </p:nvSpPr>
        <p:spPr>
          <a:xfrm>
            <a:off x="1234440" y="2011680"/>
            <a:ext cx="6035040" cy="902969"/>
          </a:xfrm>
          <a:prstGeom prst="rect">
            <a:avLst/>
          </a:prstGeom>
          <a:noFill/>
        </p:spPr>
        <p:txBody>
          <a:bodyPr wrap="square" anchor="ctr" lIns="0" rIns="0" tIns="0" bIns="0"/>
          <a:lstStyle/>
          <a:p>
            <a:pPr algn="l"/>
            <a:r>
              <a:rPr sz="1900" b="0" i="0">
                <a:solidFill>
                  <a:srgbClr val="202122"/>
                </a:solidFill>
                <a:latin typeface="Calibri"/>
              </a:rPr>
              <a:t>Describe technical security controls, including device hardening, RMM and vulnerability scanning.</a:t>
            </a:r>
          </a:p>
        </p:txBody>
      </p:sp>
      <p:sp>
        <p:nvSpPr>
          <p:cNvPr id="9" name="Oval 8"/>
          <p:cNvSpPr/>
          <p:nvPr/>
        </p:nvSpPr>
        <p:spPr>
          <a:xfrm>
            <a:off x="548640" y="3274695"/>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10" name="TextBox 9"/>
          <p:cNvSpPr txBox="1"/>
          <p:nvPr/>
        </p:nvSpPr>
        <p:spPr>
          <a:xfrm>
            <a:off x="1234440" y="3051810"/>
            <a:ext cx="6035040" cy="902969"/>
          </a:xfrm>
          <a:prstGeom prst="rect">
            <a:avLst/>
          </a:prstGeom>
          <a:noFill/>
        </p:spPr>
        <p:txBody>
          <a:bodyPr wrap="square" anchor="ctr" lIns="0" rIns="0" tIns="0" bIns="0"/>
          <a:lstStyle/>
          <a:p>
            <a:pPr algn="l"/>
            <a:r>
              <a:rPr sz="2000" b="0" i="0">
                <a:solidFill>
                  <a:srgbClr val="202122"/>
                </a:solidFill>
                <a:latin typeface="Calibri"/>
              </a:rPr>
              <a:t>Explain encryption for data at rest and in transit.</a:t>
            </a:r>
          </a:p>
        </p:txBody>
      </p:sp>
      <p:sp>
        <p:nvSpPr>
          <p:cNvPr id="11" name="Oval 10"/>
          <p:cNvSpPr/>
          <p:nvPr/>
        </p:nvSpPr>
        <p:spPr>
          <a:xfrm>
            <a:off x="548640" y="4314825"/>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2" name="TextBox 11"/>
          <p:cNvSpPr txBox="1"/>
          <p:nvPr/>
        </p:nvSpPr>
        <p:spPr>
          <a:xfrm>
            <a:off x="1234440" y="4091939"/>
            <a:ext cx="6035040" cy="902969"/>
          </a:xfrm>
          <a:prstGeom prst="rect">
            <a:avLst/>
          </a:prstGeom>
          <a:noFill/>
        </p:spPr>
        <p:txBody>
          <a:bodyPr wrap="square" anchor="ctr" lIns="0" rIns="0" tIns="0" bIns="0"/>
          <a:lstStyle/>
          <a:p>
            <a:pPr algn="l"/>
            <a:r>
              <a:rPr sz="2000" b="0" i="0">
                <a:solidFill>
                  <a:srgbClr val="202122"/>
                </a:solidFill>
                <a:latin typeface="Calibri"/>
              </a:rPr>
              <a:t>Explain access control models and methods of securing network traffic.</a:t>
            </a:r>
          </a:p>
        </p:txBody>
      </p:sp>
      <p:sp>
        <p:nvSpPr>
          <p:cNvPr id="13" name="Oval 12"/>
          <p:cNvSpPr/>
          <p:nvPr/>
        </p:nvSpPr>
        <p:spPr>
          <a:xfrm>
            <a:off x="548640" y="5354954"/>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4</a:t>
            </a:r>
          </a:p>
        </p:txBody>
      </p:sp>
      <p:sp>
        <p:nvSpPr>
          <p:cNvPr id="14" name="TextBox 13"/>
          <p:cNvSpPr txBox="1"/>
          <p:nvPr/>
        </p:nvSpPr>
        <p:spPr>
          <a:xfrm>
            <a:off x="1234440" y="5132069"/>
            <a:ext cx="6035040" cy="902969"/>
          </a:xfrm>
          <a:prstGeom prst="rect">
            <a:avLst/>
          </a:prstGeom>
          <a:noFill/>
        </p:spPr>
        <p:txBody>
          <a:bodyPr wrap="square" anchor="ctr" lIns="0" rIns="0" tIns="0" bIns="0"/>
          <a:lstStyle/>
          <a:p>
            <a:pPr algn="l"/>
            <a:r>
              <a:rPr sz="2000" b="0" i="0">
                <a:solidFill>
                  <a:srgbClr val="202122"/>
                </a:solidFill>
                <a:latin typeface="Calibri"/>
              </a:rPr>
              <a:t>Match common vulnerabilities to suitable controls.</a:t>
            </a:r>
          </a:p>
        </p:txBody>
      </p:sp>
      <p:sp>
        <p:nvSpPr>
          <p:cNvPr id="15" name="Rounded Rectangle 14"/>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7" name="TextBox 16"/>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You are given a brand new laptop to set up for a manager. What would you change before handing it over, to make it more secure?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SPECIALISMS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Technical security controls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Technical Security and Network Protection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00"/>
              </a:spcAft>
            </a:pPr>
            <a:r>
              <a:rPr sz="2000" b="0">
                <a:solidFill>
                  <a:srgbClr val="202122"/>
                </a:solidFill>
                <a:latin typeface="Calibri"/>
              </a:rPr>
              <a:t>Technical controls are the settings and tools technicians apply to protect systems.</a:t>
            </a:r>
          </a:p>
          <a:p>
            <a:pPr>
              <a:spcAft>
                <a:spcPts val="1200"/>
              </a:spcAft>
            </a:pPr>
            <a:r>
              <a:rPr sz="2000" b="0">
                <a:solidFill>
                  <a:srgbClr val="202122"/>
                </a:solidFill>
                <a:latin typeface="Calibri"/>
              </a:rPr>
              <a:t>Device hardening reduces the attack surface: remove unneeded programs, accounts and services, close unused ports and change default passwords.</a:t>
            </a:r>
          </a:p>
          <a:p>
            <a:pPr>
              <a:spcAft>
                <a:spcPts val="1200"/>
              </a:spcAft>
            </a:pPr>
            <a:r>
              <a:rPr sz="2000" b="0">
                <a:solidFill>
                  <a:srgbClr val="202122"/>
                </a:solidFill>
                <a:latin typeface="Calibri"/>
              </a:rPr>
              <a:t>Remote monitoring and management (RMM) software lets technicians watch, patch and fix many devices from one console.</a:t>
            </a:r>
          </a:p>
          <a:p>
            <a:pPr>
              <a:spcAft>
                <a:spcPts val="1200"/>
              </a:spcAft>
            </a:pPr>
            <a:r>
              <a:rPr sz="2000" b="0">
                <a:solidFill>
                  <a:srgbClr val="202122"/>
                </a:solidFill>
                <a:latin typeface="Calibri"/>
              </a:rPr>
              <a:t>Vulnerability scanning checks devices and ports for known weaknesses.</a:t>
            </a:r>
          </a:p>
          <a:p>
            <a:pPr>
              <a:spcAft>
                <a:spcPts val="1200"/>
              </a:spcAft>
            </a:pPr>
            <a:r>
              <a:rPr sz="2000" b="0">
                <a:solidFill>
                  <a:srgbClr val="202122"/>
                </a:solidFill>
                <a:latin typeface="Calibri"/>
              </a:rPr>
              <a:t>Segmentation splits the network so an attack can't spread, and multi-factor authentication stops stolen passwords being enough on their own.</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Before handing over a new laptop: remove trial software, disable the guest account, apply updates, turn on the firewall and enrol it in RMM.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SPECIALISMS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Technical security controls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Technical Security and Network Protection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sp>
        <p:nvSpPr>
          <p:cNvPr id="6" name="Rounded Rectangle 5"/>
          <p:cNvSpPr/>
          <p:nvPr/>
        </p:nvSpPr>
        <p:spPr>
          <a:xfrm>
            <a:off x="548640"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2509418" cy="512064"/>
          </a:xfrm>
          <a:prstGeom prst="rect">
            <a:avLst/>
          </a:prstGeom>
          <a:noFill/>
        </p:spPr>
        <p:txBody>
          <a:bodyPr wrap="square" anchor="ctr" lIns="0" rIns="0" tIns="0" bIns="0"/>
          <a:lstStyle/>
          <a:p>
            <a:pPr algn="l"/>
            <a:r>
              <a:rPr sz="1900" b="1" i="0">
                <a:solidFill>
                  <a:srgbClr val="03306E"/>
                </a:solidFill>
                <a:latin typeface="Calibri"/>
              </a:rPr>
              <a:t>Cyber Essentials</a:t>
            </a:r>
          </a:p>
        </p:txBody>
      </p:sp>
      <p:sp>
        <p:nvSpPr>
          <p:cNvPr id="9" name="TextBox 8"/>
          <p:cNvSpPr txBox="1"/>
          <p:nvPr/>
        </p:nvSpPr>
        <p:spPr>
          <a:xfrm>
            <a:off x="777240" y="2468880"/>
            <a:ext cx="3058058" cy="1143000"/>
          </a:xfrm>
          <a:prstGeom prst="rect">
            <a:avLst/>
          </a:prstGeom>
          <a:noFill/>
        </p:spPr>
        <p:txBody>
          <a:bodyPr wrap="square" anchor="t" lIns="0" rIns="0" tIns="0" bIns="0"/>
          <a:lstStyle/>
          <a:p>
            <a:pPr algn="l"/>
            <a:r>
              <a:rPr sz="1800" b="0" i="0">
                <a:solidFill>
                  <a:srgbClr val="202122"/>
                </a:solidFill>
                <a:latin typeface="Calibri"/>
              </a:rPr>
              <a:t>Firewalls, secure configuration, access control, malware protection, patching.</a:t>
            </a:r>
          </a:p>
        </p:txBody>
      </p:sp>
      <p:sp>
        <p:nvSpPr>
          <p:cNvPr id="10" name="Rounded Rectangle 9"/>
          <p:cNvSpPr/>
          <p:nvPr/>
        </p:nvSpPr>
        <p:spPr>
          <a:xfrm>
            <a:off x="4338218"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66818" y="1828800"/>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5161178" y="1801368"/>
            <a:ext cx="2509418" cy="512064"/>
          </a:xfrm>
          <a:prstGeom prst="rect">
            <a:avLst/>
          </a:prstGeom>
          <a:noFill/>
        </p:spPr>
        <p:txBody>
          <a:bodyPr wrap="square" anchor="ctr" lIns="0" rIns="0" tIns="0" bIns="0"/>
          <a:lstStyle/>
          <a:p>
            <a:pPr algn="l"/>
            <a:r>
              <a:rPr sz="1900" b="1" i="0">
                <a:solidFill>
                  <a:srgbClr val="03306E"/>
                </a:solidFill>
                <a:latin typeface="Calibri"/>
              </a:rPr>
              <a:t>Device hardening</a:t>
            </a:r>
          </a:p>
        </p:txBody>
      </p:sp>
      <p:sp>
        <p:nvSpPr>
          <p:cNvPr id="13" name="TextBox 12"/>
          <p:cNvSpPr txBox="1"/>
          <p:nvPr/>
        </p:nvSpPr>
        <p:spPr>
          <a:xfrm>
            <a:off x="4566818" y="2468880"/>
            <a:ext cx="3058058" cy="1143000"/>
          </a:xfrm>
          <a:prstGeom prst="rect">
            <a:avLst/>
          </a:prstGeom>
          <a:noFill/>
        </p:spPr>
        <p:txBody>
          <a:bodyPr wrap="square" anchor="t" lIns="0" rIns="0" tIns="0" bIns="0"/>
          <a:lstStyle/>
          <a:p>
            <a:pPr algn="l"/>
            <a:r>
              <a:rPr sz="2000" b="0" i="0">
                <a:solidFill>
                  <a:srgbClr val="202122"/>
                </a:solidFill>
                <a:latin typeface="Calibri"/>
              </a:rPr>
              <a:t>Remove unneeded programs, accounts and ports; change default passwords.</a:t>
            </a:r>
          </a:p>
        </p:txBody>
      </p:sp>
      <p:sp>
        <p:nvSpPr>
          <p:cNvPr id="14" name="Rounded Rectangle 13"/>
          <p:cNvSpPr/>
          <p:nvPr/>
        </p:nvSpPr>
        <p:spPr>
          <a:xfrm>
            <a:off x="8127796"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56396" y="1828800"/>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8950756" y="1801368"/>
            <a:ext cx="2509418" cy="512064"/>
          </a:xfrm>
          <a:prstGeom prst="rect">
            <a:avLst/>
          </a:prstGeom>
          <a:noFill/>
        </p:spPr>
        <p:txBody>
          <a:bodyPr wrap="square" anchor="ctr" lIns="0" rIns="0" tIns="0" bIns="0"/>
          <a:lstStyle/>
          <a:p>
            <a:pPr algn="l"/>
            <a:r>
              <a:rPr sz="1900" b="1" i="0">
                <a:solidFill>
                  <a:srgbClr val="03306E"/>
                </a:solidFill>
                <a:latin typeface="Calibri"/>
              </a:rPr>
              <a:t>RMM</a:t>
            </a:r>
          </a:p>
        </p:txBody>
      </p:sp>
      <p:sp>
        <p:nvSpPr>
          <p:cNvPr id="17" name="TextBox 16"/>
          <p:cNvSpPr txBox="1"/>
          <p:nvPr/>
        </p:nvSpPr>
        <p:spPr>
          <a:xfrm>
            <a:off x="8356396" y="2468880"/>
            <a:ext cx="3058058" cy="1143000"/>
          </a:xfrm>
          <a:prstGeom prst="rect">
            <a:avLst/>
          </a:prstGeom>
          <a:noFill/>
        </p:spPr>
        <p:txBody>
          <a:bodyPr wrap="square" anchor="t" lIns="0" rIns="0" tIns="0" bIns="0"/>
          <a:lstStyle/>
          <a:p>
            <a:pPr algn="l"/>
            <a:r>
              <a:rPr sz="2000" b="0" i="0">
                <a:solidFill>
                  <a:srgbClr val="202122"/>
                </a:solidFill>
                <a:latin typeface="Calibri"/>
              </a:rPr>
              <a:t>Remote monitoring and management of devices across the network.</a:t>
            </a:r>
          </a:p>
        </p:txBody>
      </p:sp>
      <p:sp>
        <p:nvSpPr>
          <p:cNvPr id="18" name="Rounded Rectangle 17"/>
          <p:cNvSpPr/>
          <p:nvPr/>
        </p:nvSpPr>
        <p:spPr>
          <a:xfrm>
            <a:off x="548640"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77240" y="4251960"/>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4</a:t>
            </a:r>
          </a:p>
        </p:txBody>
      </p:sp>
      <p:sp>
        <p:nvSpPr>
          <p:cNvPr id="20" name="TextBox 19"/>
          <p:cNvSpPr txBox="1"/>
          <p:nvPr/>
        </p:nvSpPr>
        <p:spPr>
          <a:xfrm>
            <a:off x="1371600" y="4224528"/>
            <a:ext cx="2509418" cy="512064"/>
          </a:xfrm>
          <a:prstGeom prst="rect">
            <a:avLst/>
          </a:prstGeom>
          <a:noFill/>
        </p:spPr>
        <p:txBody>
          <a:bodyPr wrap="square" anchor="ctr" lIns="0" rIns="0" tIns="0" bIns="0"/>
          <a:lstStyle/>
          <a:p>
            <a:pPr algn="l"/>
            <a:r>
              <a:rPr sz="1600" b="1" i="0">
                <a:solidFill>
                  <a:srgbClr val="03306E"/>
                </a:solidFill>
                <a:latin typeface="Calibri"/>
              </a:rPr>
              <a:t>Vulnerability scanning</a:t>
            </a:r>
          </a:p>
        </p:txBody>
      </p:sp>
      <p:sp>
        <p:nvSpPr>
          <p:cNvPr id="21" name="TextBox 20"/>
          <p:cNvSpPr txBox="1"/>
          <p:nvPr/>
        </p:nvSpPr>
        <p:spPr>
          <a:xfrm>
            <a:off x="777240" y="4892040"/>
            <a:ext cx="3058058" cy="1143000"/>
          </a:xfrm>
          <a:prstGeom prst="rect">
            <a:avLst/>
          </a:prstGeom>
          <a:noFill/>
        </p:spPr>
        <p:txBody>
          <a:bodyPr wrap="square" anchor="t" lIns="0" rIns="0" tIns="0" bIns="0"/>
          <a:lstStyle/>
          <a:p>
            <a:pPr algn="l"/>
            <a:r>
              <a:rPr sz="2000" b="0" i="0">
                <a:solidFill>
                  <a:srgbClr val="202122"/>
                </a:solidFill>
                <a:latin typeface="Calibri"/>
              </a:rPr>
              <a:t>Port and device scans to find weak points.</a:t>
            </a:r>
          </a:p>
        </p:txBody>
      </p:sp>
      <p:sp>
        <p:nvSpPr>
          <p:cNvPr id="22" name="Rounded Rectangle 21"/>
          <p:cNvSpPr/>
          <p:nvPr/>
        </p:nvSpPr>
        <p:spPr>
          <a:xfrm>
            <a:off x="4338218"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4566818" y="4251960"/>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5</a:t>
            </a:r>
          </a:p>
        </p:txBody>
      </p:sp>
      <p:sp>
        <p:nvSpPr>
          <p:cNvPr id="24" name="TextBox 23"/>
          <p:cNvSpPr txBox="1"/>
          <p:nvPr/>
        </p:nvSpPr>
        <p:spPr>
          <a:xfrm>
            <a:off x="5161178" y="4224528"/>
            <a:ext cx="2509418" cy="512064"/>
          </a:xfrm>
          <a:prstGeom prst="rect">
            <a:avLst/>
          </a:prstGeom>
          <a:noFill/>
        </p:spPr>
        <p:txBody>
          <a:bodyPr wrap="square" anchor="ctr" lIns="0" rIns="0" tIns="0" bIns="0"/>
          <a:lstStyle/>
          <a:p>
            <a:pPr algn="l"/>
            <a:r>
              <a:rPr sz="1800" b="1" i="0">
                <a:solidFill>
                  <a:srgbClr val="03306E"/>
                </a:solidFill>
                <a:latin typeface="Calibri"/>
              </a:rPr>
              <a:t>Segmentation and MFA</a:t>
            </a:r>
          </a:p>
        </p:txBody>
      </p:sp>
      <p:sp>
        <p:nvSpPr>
          <p:cNvPr id="25" name="TextBox 24"/>
          <p:cNvSpPr txBox="1"/>
          <p:nvPr/>
        </p:nvSpPr>
        <p:spPr>
          <a:xfrm>
            <a:off x="4566818" y="4892040"/>
            <a:ext cx="3058058" cy="1143000"/>
          </a:xfrm>
          <a:prstGeom prst="rect">
            <a:avLst/>
          </a:prstGeom>
          <a:noFill/>
        </p:spPr>
        <p:txBody>
          <a:bodyPr wrap="square" anchor="t" lIns="0" rIns="0" tIns="0" bIns="0"/>
          <a:lstStyle/>
          <a:p>
            <a:pPr algn="l"/>
            <a:r>
              <a:rPr sz="1800" b="0" i="0">
                <a:solidFill>
                  <a:srgbClr val="202122"/>
                </a:solidFill>
                <a:latin typeface="Calibri"/>
              </a:rPr>
              <a:t>Split the network to contain attacks; require more than one factor to log 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SPECIALISMS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Technical security controls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Technical Security and Network Protection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Oval 5"/>
          <p:cNvSpPr/>
          <p:nvPr/>
        </p:nvSpPr>
        <p:spPr>
          <a:xfrm>
            <a:off x="548640" y="169164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device hardening?</a:t>
            </a:r>
          </a:p>
        </p:txBody>
      </p:sp>
      <p:sp>
        <p:nvSpPr>
          <p:cNvPr id="8" name="Oval 7"/>
          <p:cNvSpPr/>
          <p:nvPr/>
        </p:nvSpPr>
        <p:spPr>
          <a:xfrm>
            <a:off x="548640" y="310896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does RMM software let technicians do?</a:t>
            </a:r>
          </a:p>
        </p:txBody>
      </p:sp>
      <p:sp>
        <p:nvSpPr>
          <p:cNvPr id="10" name="Oval 9"/>
          <p:cNvSpPr/>
          <p:nvPr/>
        </p:nvSpPr>
        <p:spPr>
          <a:xfrm>
            <a:off x="548640" y="452628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Why segment a network?</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SPECIALISMS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Encryption as risk mitigation</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Technical Security and Network Protection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00"/>
              </a:spcAft>
            </a:pPr>
            <a:r>
              <a:rPr sz="2000" b="0">
                <a:solidFill>
                  <a:srgbClr val="202122"/>
                </a:solidFill>
                <a:latin typeface="Calibri"/>
              </a:rPr>
              <a:t>Encryption scrambles data so only someone with the right key can read it.</a:t>
            </a:r>
          </a:p>
          <a:p>
            <a:pPr>
              <a:spcAft>
                <a:spcPts val="1200"/>
              </a:spcAft>
            </a:pPr>
            <a:r>
              <a:rPr sz="2000" b="0">
                <a:solidFill>
                  <a:srgbClr val="202122"/>
                </a:solidFill>
                <a:latin typeface="Calibri"/>
              </a:rPr>
              <a:t>Symmetric encryption uses one shared key to encrypt and decrypt. It's fast, so it's used for large amounts of data and card payments.</a:t>
            </a:r>
          </a:p>
          <a:p>
            <a:pPr>
              <a:spcAft>
                <a:spcPts val="1200"/>
              </a:spcAft>
            </a:pPr>
            <a:r>
              <a:rPr sz="2000" b="0">
                <a:solidFill>
                  <a:srgbClr val="202122"/>
                </a:solidFill>
                <a:latin typeface="Calibri"/>
              </a:rPr>
              <a:t>Asymmetric encryption uses a pair of keys: a public key to encrypt and a private key to decrypt. It's used for encrypted email and to set up secure connections.</a:t>
            </a:r>
          </a:p>
          <a:p>
            <a:pPr>
              <a:spcAft>
                <a:spcPts val="1200"/>
              </a:spcAft>
            </a:pPr>
            <a:r>
              <a:rPr sz="2000" b="0">
                <a:solidFill>
                  <a:srgbClr val="202122"/>
                </a:solidFill>
                <a:latin typeface="Calibri"/>
              </a:rPr>
              <a:t>Data at rest is protected with full disk encryption, with keys stored in a Trusted Platform Module (TPM) chip or a Hardware Security Module (HSM). Data in transit is protected by TLS, which replaced SSL.</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stolen laptop with full disk encryption is just a brick to the thief: without the key, the files are unreadable.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SPECIALISMS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Encryption as risk mitigation</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Technical Security and Network Protection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sp>
        <p:nvSpPr>
          <p:cNvPr id="6" name="Rounded Rectangle 5"/>
          <p:cNvSpPr/>
          <p:nvPr/>
        </p:nvSpPr>
        <p:spPr>
          <a:xfrm>
            <a:off x="548640" y="1600200"/>
            <a:ext cx="5364327" cy="640080"/>
          </a:xfrm>
          <a:prstGeom prst="roundRect">
            <a:avLst>
              <a:gd name="adj" fmla="val 15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600200"/>
            <a:ext cx="4907127" cy="640080"/>
          </a:xfrm>
          <a:prstGeom prst="rect">
            <a:avLst/>
          </a:prstGeom>
          <a:noFill/>
        </p:spPr>
        <p:txBody>
          <a:bodyPr wrap="square" anchor="ctr" lIns="0" rIns="0" tIns="0" bIns="0"/>
          <a:lstStyle/>
          <a:p>
            <a:pPr algn="l"/>
            <a:r>
              <a:rPr sz="2000" b="1" i="0">
                <a:solidFill>
                  <a:srgbClr val="FFFFFF"/>
                </a:solidFill>
                <a:latin typeface="Calibri"/>
              </a:rPr>
              <a:t>Symmetric and asymmetric</a:t>
            </a:r>
          </a:p>
        </p:txBody>
      </p:sp>
      <p:sp>
        <p:nvSpPr>
          <p:cNvPr id="8" name="Rounded Rectangle 7"/>
          <p:cNvSpPr/>
          <p:nvPr/>
        </p:nvSpPr>
        <p:spPr>
          <a:xfrm>
            <a:off x="548640"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1">
                <a:solidFill>
                  <a:srgbClr val="202122"/>
                </a:solidFill>
                <a:latin typeface="Calibri"/>
              </a:rPr>
              <a:t>Symmetric:</a:t>
            </a:r>
            <a:r>
              <a:rPr sz="2200" b="0">
                <a:solidFill>
                  <a:srgbClr val="202122"/>
                </a:solidFill>
                <a:latin typeface="Calibri"/>
              </a:rPr>
              <a:t> one shared key encrypts and decrypts, e.g. card payments</a:t>
            </a:r>
          </a:p>
          <a:p>
            <a:pPr marL="274320" indent="-274320">
              <a:spcAft>
                <a:spcPts val="990"/>
              </a:spcAft>
              <a:buClr>
                <a:srgbClr val="0645AD"/>
              </a:buClr>
              <a:buFont typeface="Arial"/>
              <a:buChar char="•"/>
            </a:pPr>
            <a:r>
              <a:rPr sz="2200" b="1">
                <a:solidFill>
                  <a:srgbClr val="202122"/>
                </a:solidFill>
                <a:latin typeface="Calibri"/>
              </a:rPr>
              <a:t>Asymmetric:</a:t>
            </a:r>
            <a:r>
              <a:rPr sz="2200" b="0">
                <a:solidFill>
                  <a:srgbClr val="202122"/>
                </a:solidFill>
                <a:latin typeface="Calibri"/>
              </a:rPr>
              <a:t> public and private key pair, e.g. encrypted email</a:t>
            </a:r>
          </a:p>
        </p:txBody>
      </p:sp>
      <p:sp>
        <p:nvSpPr>
          <p:cNvPr id="10" name="Rounded Rectangle 9"/>
          <p:cNvSpPr/>
          <p:nvPr/>
        </p:nvSpPr>
        <p:spPr>
          <a:xfrm>
            <a:off x="6278727" y="1600200"/>
            <a:ext cx="5364327" cy="640080"/>
          </a:xfrm>
          <a:prstGeom prst="roundRect">
            <a:avLst>
              <a:gd name="adj" fmla="val 15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07327" y="1600200"/>
            <a:ext cx="4907127" cy="640080"/>
          </a:xfrm>
          <a:prstGeom prst="rect">
            <a:avLst/>
          </a:prstGeom>
          <a:noFill/>
        </p:spPr>
        <p:txBody>
          <a:bodyPr wrap="square" anchor="ctr" lIns="0" rIns="0" tIns="0" bIns="0"/>
          <a:lstStyle/>
          <a:p>
            <a:pPr algn="l"/>
            <a:r>
              <a:rPr sz="2000" b="1" i="0">
                <a:solidFill>
                  <a:srgbClr val="FFFFFF"/>
                </a:solidFill>
                <a:latin typeface="Calibri"/>
              </a:rPr>
              <a:t>At rest and in transit</a:t>
            </a:r>
          </a:p>
        </p:txBody>
      </p:sp>
      <p:sp>
        <p:nvSpPr>
          <p:cNvPr id="12" name="Rounded Rectangle 11"/>
          <p:cNvSpPr/>
          <p:nvPr/>
        </p:nvSpPr>
        <p:spPr>
          <a:xfrm>
            <a:off x="6278727"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53047"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1">
                <a:solidFill>
                  <a:srgbClr val="202122"/>
                </a:solidFill>
                <a:latin typeface="Calibri"/>
              </a:rPr>
              <a:t>At rest:</a:t>
            </a:r>
            <a:r>
              <a:rPr sz="2200" b="0">
                <a:solidFill>
                  <a:srgbClr val="202122"/>
                </a:solidFill>
                <a:latin typeface="Calibri"/>
              </a:rPr>
              <a:t> full disk encryption</a:t>
            </a:r>
          </a:p>
          <a:p>
            <a:pPr marL="274320" indent="-274320">
              <a:spcAft>
                <a:spcPts val="990"/>
              </a:spcAft>
              <a:buClr>
                <a:srgbClr val="0645AD"/>
              </a:buClr>
              <a:buFont typeface="Arial"/>
              <a:buChar char="•"/>
            </a:pPr>
            <a:r>
              <a:rPr sz="2200" b="1">
                <a:solidFill>
                  <a:srgbClr val="202122"/>
                </a:solidFill>
                <a:latin typeface="Calibri"/>
              </a:rPr>
              <a:t>HSM:</a:t>
            </a:r>
            <a:r>
              <a:rPr sz="2200" b="0">
                <a:solidFill>
                  <a:srgbClr val="202122"/>
                </a:solidFill>
                <a:latin typeface="Calibri"/>
              </a:rPr>
              <a:t> hardware security module safeguarding keys</a:t>
            </a:r>
          </a:p>
          <a:p>
            <a:pPr marL="274320" indent="-274320">
              <a:spcAft>
                <a:spcPts val="990"/>
              </a:spcAft>
              <a:buClr>
                <a:srgbClr val="0645AD"/>
              </a:buClr>
              <a:buFont typeface="Arial"/>
              <a:buChar char="•"/>
            </a:pPr>
            <a:r>
              <a:rPr sz="2200" b="1">
                <a:solidFill>
                  <a:srgbClr val="202122"/>
                </a:solidFill>
                <a:latin typeface="Calibri"/>
              </a:rPr>
              <a:t>TPM:</a:t>
            </a:r>
            <a:r>
              <a:rPr sz="2200" b="0">
                <a:solidFill>
                  <a:srgbClr val="202122"/>
                </a:solidFill>
                <a:latin typeface="Calibri"/>
              </a:rPr>
              <a:t> chip storing device-specific keys</a:t>
            </a:r>
          </a:p>
          <a:p>
            <a:pPr marL="274320" indent="-274320">
              <a:spcAft>
                <a:spcPts val="990"/>
              </a:spcAft>
              <a:buClr>
                <a:srgbClr val="0645AD"/>
              </a:buClr>
              <a:buFont typeface="Arial"/>
              <a:buChar char="•"/>
            </a:pPr>
            <a:r>
              <a:rPr sz="2200" b="1">
                <a:solidFill>
                  <a:srgbClr val="202122"/>
                </a:solidFill>
                <a:latin typeface="Calibri"/>
              </a:rPr>
              <a:t>In transit:</a:t>
            </a:r>
            <a:r>
              <a:rPr sz="2200" b="0">
                <a:solidFill>
                  <a:srgbClr val="202122"/>
                </a:solidFill>
                <a:latin typeface="Calibri"/>
              </a:rPr>
              <a:t> SSL and its successor TLS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SPECIALISMS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Encryption as risk mitigation</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Technical Security and Network Protection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sp>
        <p:nvSpPr>
          <p:cNvPr id="6" name="Oval 5"/>
          <p:cNvSpPr/>
          <p:nvPr/>
        </p:nvSpPr>
        <p:spPr>
          <a:xfrm>
            <a:off x="548640" y="169164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How many keys does asymmetric encryption use?</a:t>
            </a:r>
          </a:p>
        </p:txBody>
      </p:sp>
      <p:sp>
        <p:nvSpPr>
          <p:cNvPr id="8" name="Oval 7"/>
          <p:cNvSpPr/>
          <p:nvPr/>
        </p:nvSpPr>
        <p:spPr>
          <a:xfrm>
            <a:off x="548640" y="310896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protects data in transit on the web?</a:t>
            </a:r>
          </a:p>
        </p:txBody>
      </p:sp>
      <p:sp>
        <p:nvSpPr>
          <p:cNvPr id="10" name="Oval 9"/>
          <p:cNvSpPr/>
          <p:nvPr/>
        </p:nvSpPr>
        <p:spPr>
          <a:xfrm>
            <a:off x="548640" y="452628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does a TPM store?</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SPECIALISMS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Access control models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Technical Security and Network Protection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00"/>
              </a:spcAft>
            </a:pPr>
            <a:r>
              <a:rPr sz="2000" b="0">
                <a:solidFill>
                  <a:srgbClr val="202122"/>
                </a:solidFill>
                <a:latin typeface="Calibri"/>
              </a:rPr>
              <a:t>Access control decides who can reach what.</a:t>
            </a:r>
          </a:p>
          <a:p>
            <a:pPr>
              <a:spcAft>
                <a:spcPts val="1200"/>
              </a:spcAft>
            </a:pPr>
            <a:r>
              <a:rPr sz="2000" b="0">
                <a:solidFill>
                  <a:srgbClr val="202122"/>
                </a:solidFill>
                <a:latin typeface="Calibri"/>
              </a:rPr>
              <a:t>MAC (mandatory) uses security levels set centrally, like 'secret'. DAC (discretionary) lets the owner of a file decide who can use it. RBAC (role-based) grants access by job role. RuBAC (rule-based) uses rules such as time of day. ABAC (attribute-based) combines attributes of the user, resource and situation.</a:t>
            </a:r>
          </a:p>
          <a:p>
            <a:pPr>
              <a:spcAft>
                <a:spcPts val="1200"/>
              </a:spcAft>
            </a:pPr>
            <a:r>
              <a:rPr sz="2000" b="1">
                <a:solidFill>
                  <a:srgbClr val="202122"/>
                </a:solidFill>
                <a:latin typeface="Calibri"/>
              </a:rPr>
              <a:t>Network tools enforce it:</a:t>
            </a:r>
            <a:r>
              <a:rPr sz="2000" b="0">
                <a:solidFill>
                  <a:srgbClr val="202122"/>
                </a:solidFill>
                <a:latin typeface="Calibri"/>
              </a:rPr>
              <a:t> an IDS detects suspicious traffic and alerts; an IPS also blocks it; NAC checks devices meet policy before letting them join the network.</a:t>
            </a:r>
          </a:p>
          <a:p>
            <a:pPr>
              <a:spcAft>
                <a:spcPts val="1200"/>
              </a:spcAft>
            </a:pPr>
            <a:r>
              <a:rPr sz="2000" b="0">
                <a:solidFill>
                  <a:srgbClr val="202122"/>
                </a:solidFill>
                <a:latin typeface="Calibri"/>
              </a:rPr>
              <a:t>All of this puts the CIA triad and IAAA into practice.</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In a hospital, RBAC gives all nurses access to patient records on their ward; RuBAC blocks remote access after 10pm.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SPECIALISMS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Access control models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Technical Security and Network Protection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graphicFrame>
        <p:nvGraphicFramePr>
          <p:cNvPr id="6" name="Table 5"/>
          <p:cNvGraphicFramePr>
            <a:graphicFrameLocks noGrp="1"/>
          </p:cNvGraphicFramePr>
          <p:nvPr/>
        </p:nvGraphicFramePr>
        <p:xfrm>
          <a:off x="548640" y="1600200"/>
          <a:ext cx="11094414" cy="4526277"/>
        </p:xfrm>
        <a:graphic>
          <a:graphicData uri="http://schemas.openxmlformats.org/drawingml/2006/table">
            <a:tbl>
              <a:tblPr firstRow="1" bandRow="1">
                <a:tableStyleId>{5C22544A-7EE6-4342-B048-85BDC9FD1C3A}</a:tableStyleId>
              </a:tblPr>
              <a:tblGrid>
                <a:gridCol w="2080202"/>
                <a:gridCol w="9014212"/>
              </a:tblGrid>
              <a:tr h="646611">
                <a:tc>
                  <a:txBody>
                    <a:bodyPr wrap="square"/>
                    <a:lstStyle/>
                    <a:p>
                      <a:r>
                        <a:rPr sz="1600" b="1">
                          <a:solidFill>
                            <a:srgbClr val="FFFFFF"/>
                          </a:solidFill>
                          <a:latin typeface="Calibri"/>
                        </a:rPr>
                        <a:t>Model</a:t>
                      </a:r>
                    </a:p>
                  </a:txBody>
                  <a:tcPr marL="91440" marR="91440" anchor="ctr">
                    <a:solidFill>
                      <a:srgbClr val="03306E"/>
                    </a:solidFill>
                  </a:tcPr>
                </a:tc>
                <a:tc>
                  <a:txBody>
                    <a:bodyPr wrap="square"/>
                    <a:lstStyle/>
                    <a:p>
                      <a:r>
                        <a:rPr sz="1600" b="1">
                          <a:solidFill>
                            <a:srgbClr val="FFFFFF"/>
                          </a:solidFill>
                          <a:latin typeface="Calibri"/>
                        </a:rPr>
                        <a:t>How access is decided</a:t>
                      </a:r>
                    </a:p>
                  </a:txBody>
                  <a:tcPr marL="91440" marR="91440" anchor="ctr">
                    <a:solidFill>
                      <a:srgbClr val="03306E"/>
                    </a:solidFill>
                  </a:tcPr>
                </a:tc>
              </a:tr>
              <a:tr h="646611">
                <a:tc>
                  <a:txBody>
                    <a:bodyPr wrap="square"/>
                    <a:lstStyle/>
                    <a:p>
                      <a:r>
                        <a:rPr sz="1600" b="1">
                          <a:solidFill>
                            <a:srgbClr val="03306E"/>
                          </a:solidFill>
                          <a:latin typeface="Calibri"/>
                        </a:rPr>
                        <a:t>IDS / IPS</a:t>
                      </a:r>
                    </a:p>
                  </a:txBody>
                  <a:tcPr marL="91440" marR="91440" anchor="ctr">
                    <a:solidFill>
                      <a:srgbClr val="FFFFFF"/>
                    </a:solidFill>
                  </a:tcPr>
                </a:tc>
                <a:tc>
                  <a:txBody>
                    <a:bodyPr wrap="square"/>
                    <a:lstStyle/>
                    <a:p>
                      <a:r>
                        <a:rPr sz="1600" b="0">
                          <a:solidFill>
                            <a:srgbClr val="202122"/>
                          </a:solidFill>
                          <a:latin typeface="Calibri"/>
                        </a:rPr>
                        <a:t>Intrusion detection spots threats in traffic; intrusion prevention blocks them</a:t>
                      </a:r>
                    </a:p>
                  </a:txBody>
                  <a:tcPr marL="91440" marR="91440" anchor="ctr">
                    <a:solidFill>
                      <a:srgbClr val="FFFFFF"/>
                    </a:solidFill>
                  </a:tcPr>
                </a:tc>
              </a:tr>
              <a:tr h="646611">
                <a:tc>
                  <a:txBody>
                    <a:bodyPr wrap="square"/>
                    <a:lstStyle/>
                    <a:p>
                      <a:r>
                        <a:rPr sz="1600" b="1">
                          <a:solidFill>
                            <a:srgbClr val="03306E"/>
                          </a:solidFill>
                          <a:latin typeface="Calibri"/>
                        </a:rPr>
                        <a:t>NAC</a:t>
                      </a:r>
                    </a:p>
                  </a:txBody>
                  <a:tcPr marL="91440" marR="91440" anchor="ctr">
                    <a:solidFill>
                      <a:srgbClr val="EAF3FF"/>
                    </a:solidFill>
                  </a:tcPr>
                </a:tc>
                <a:tc>
                  <a:txBody>
                    <a:bodyPr wrap="square"/>
                    <a:lstStyle/>
                    <a:p>
                      <a:r>
                        <a:rPr sz="1600" b="0">
                          <a:solidFill>
                            <a:srgbClr val="202122"/>
                          </a:solidFill>
                          <a:latin typeface="Calibri"/>
                        </a:rPr>
                        <a:t>Network access control enforces policy on devices and users joining the network</a:t>
                      </a:r>
                    </a:p>
                  </a:txBody>
                  <a:tcPr marL="91440" marR="91440" anchor="ctr">
                    <a:solidFill>
                      <a:srgbClr val="EAF3FF"/>
                    </a:solidFill>
                  </a:tcPr>
                </a:tc>
              </a:tr>
              <a:tr h="646611">
                <a:tc>
                  <a:txBody>
                    <a:bodyPr wrap="square"/>
                    <a:lstStyle/>
                    <a:p>
                      <a:r>
                        <a:rPr sz="1600" b="1">
                          <a:solidFill>
                            <a:srgbClr val="03306E"/>
                          </a:solidFill>
                          <a:latin typeface="Calibri"/>
                        </a:rPr>
                        <a:t>MAC</a:t>
                      </a:r>
                    </a:p>
                  </a:txBody>
                  <a:tcPr marL="91440" marR="91440" anchor="ctr">
                    <a:solidFill>
                      <a:srgbClr val="FFFFFF"/>
                    </a:solidFill>
                  </a:tcPr>
                </a:tc>
                <a:tc>
                  <a:txBody>
                    <a:bodyPr wrap="square"/>
                    <a:lstStyle/>
                    <a:p>
                      <a:r>
                        <a:rPr sz="1600" b="0">
                          <a:solidFill>
                            <a:srgbClr val="202122"/>
                          </a:solidFill>
                          <a:latin typeface="Calibri"/>
                        </a:rPr>
                        <a:t>Mandatory: a hierarchy of security levels set centrally</a:t>
                      </a:r>
                    </a:p>
                  </a:txBody>
                  <a:tcPr marL="91440" marR="91440" anchor="ctr">
                    <a:solidFill>
                      <a:srgbClr val="FFFFFF"/>
                    </a:solidFill>
                  </a:tcPr>
                </a:tc>
              </a:tr>
              <a:tr h="646611">
                <a:tc>
                  <a:txBody>
                    <a:bodyPr wrap="square"/>
                    <a:lstStyle/>
                    <a:p>
                      <a:r>
                        <a:rPr sz="1600" b="1">
                          <a:solidFill>
                            <a:srgbClr val="03306E"/>
                          </a:solidFill>
                          <a:latin typeface="Calibri"/>
                        </a:rPr>
                        <a:t>DAC</a:t>
                      </a:r>
                    </a:p>
                  </a:txBody>
                  <a:tcPr marL="91440" marR="91440" anchor="ctr">
                    <a:solidFill>
                      <a:srgbClr val="EAF3FF"/>
                    </a:solidFill>
                  </a:tcPr>
                </a:tc>
                <a:tc>
                  <a:txBody>
                    <a:bodyPr wrap="square"/>
                    <a:lstStyle/>
                    <a:p>
                      <a:r>
                        <a:rPr sz="1600" b="0">
                          <a:solidFill>
                            <a:srgbClr val="202122"/>
                          </a:solidFill>
                          <a:latin typeface="Calibri"/>
                        </a:rPr>
                        <a:t>Discretionary: the owner of a resource decides</a:t>
                      </a:r>
                    </a:p>
                  </a:txBody>
                  <a:tcPr marL="91440" marR="91440" anchor="ctr">
                    <a:solidFill>
                      <a:srgbClr val="EAF3FF"/>
                    </a:solidFill>
                  </a:tcPr>
                </a:tc>
              </a:tr>
              <a:tr h="646611">
                <a:tc>
                  <a:txBody>
                    <a:bodyPr wrap="square"/>
                    <a:lstStyle/>
                    <a:p>
                      <a:r>
                        <a:rPr sz="1600" b="1">
                          <a:solidFill>
                            <a:srgbClr val="03306E"/>
                          </a:solidFill>
                          <a:latin typeface="Calibri"/>
                        </a:rPr>
                        <a:t>ABAC</a:t>
                      </a:r>
                    </a:p>
                  </a:txBody>
                  <a:tcPr marL="91440" marR="91440" anchor="ctr">
                    <a:solidFill>
                      <a:srgbClr val="FFFFFF"/>
                    </a:solidFill>
                  </a:tcPr>
                </a:tc>
                <a:tc>
                  <a:txBody>
                    <a:bodyPr wrap="square"/>
                    <a:lstStyle/>
                    <a:p>
                      <a:r>
                        <a:rPr sz="1600" b="0">
                          <a:solidFill>
                            <a:srgbClr val="202122"/>
                          </a:solidFill>
                          <a:latin typeface="Calibri"/>
                        </a:rPr>
                        <a:t>Attribute based: user, resource and environment attributes</a:t>
                      </a:r>
                    </a:p>
                  </a:txBody>
                  <a:tcPr marL="91440" marR="91440" anchor="ctr">
                    <a:solidFill>
                      <a:srgbClr val="FFFFFF"/>
                    </a:solidFill>
                  </a:tcPr>
                </a:tc>
              </a:tr>
              <a:tr h="646611">
                <a:tc>
                  <a:txBody>
                    <a:bodyPr wrap="square"/>
                    <a:lstStyle/>
                    <a:p>
                      <a:r>
                        <a:rPr sz="1600" b="1">
                          <a:solidFill>
                            <a:srgbClr val="03306E"/>
                          </a:solidFill>
                          <a:latin typeface="Calibri"/>
                        </a:rPr>
                        <a:t>RBAC / RuBAC</a:t>
                      </a:r>
                    </a:p>
                  </a:txBody>
                  <a:tcPr marL="91440" marR="91440" anchor="ctr">
                    <a:solidFill>
                      <a:srgbClr val="EAF3FF"/>
                    </a:solidFill>
                  </a:tcPr>
                </a:tc>
                <a:tc>
                  <a:txBody>
                    <a:bodyPr wrap="square"/>
                    <a:lstStyle/>
                    <a:p>
                      <a:r>
                        <a:rPr sz="1600" b="0">
                          <a:solidFill>
                            <a:srgbClr val="202122"/>
                          </a:solidFill>
                          <a:latin typeface="Calibri"/>
                        </a:rPr>
                        <a:t>Role based: by job role; rule based: by a list of rules</a:t>
                      </a:r>
                    </a:p>
                  </a:txBody>
                  <a:tcPr marL="91440" marR="91440" anchor="ctr">
                    <a:solidFill>
                      <a:srgbClr val="EAF3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SPECIALISMS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Access control models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Technical Security and Network Protection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sp>
        <p:nvSpPr>
          <p:cNvPr id="6" name="Oval 5"/>
          <p:cNvSpPr/>
          <p:nvPr/>
        </p:nvSpPr>
        <p:spPr>
          <a:xfrm>
            <a:off x="548640" y="169164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the difference between an IDS and an IPS?</a:t>
            </a:r>
          </a:p>
        </p:txBody>
      </p:sp>
      <p:sp>
        <p:nvSpPr>
          <p:cNvPr id="8" name="Oval 7"/>
          <p:cNvSpPr/>
          <p:nvPr/>
        </p:nvSpPr>
        <p:spPr>
          <a:xfrm>
            <a:off x="548640" y="310896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Which model grants access by job role?</a:t>
            </a:r>
          </a:p>
        </p:txBody>
      </p:sp>
      <p:sp>
        <p:nvSpPr>
          <p:cNvPr id="10" name="Oval 9"/>
          <p:cNvSpPr/>
          <p:nvPr/>
        </p:nvSpPr>
        <p:spPr>
          <a:xfrm>
            <a:off x="548640" y="452628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does NAC do?</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SPECIALISMS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Securing network traffic</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Technical Security and Network Protection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00"/>
              </a:spcAft>
            </a:pPr>
            <a:r>
              <a:rPr sz="2000" b="0">
                <a:solidFill>
                  <a:srgbClr val="202122"/>
                </a:solidFill>
                <a:latin typeface="Calibri"/>
              </a:rPr>
              <a:t>Traffic can be protected physically and virtually.</a:t>
            </a:r>
          </a:p>
          <a:p>
            <a:pPr>
              <a:spcAft>
                <a:spcPts val="1200"/>
              </a:spcAft>
            </a:pPr>
            <a:r>
              <a:rPr sz="2000" b="0">
                <a:solidFill>
                  <a:srgbClr val="202122"/>
                </a:solidFill>
                <a:latin typeface="Calibri"/>
              </a:rPr>
              <a:t>A DMZ (demilitarised zone) is a buffer network for public-facing servers, such as a web server, so attackers who breach it still can't reach the internal network. An air gap disconnects a system completely.</a:t>
            </a:r>
          </a:p>
          <a:p>
            <a:pPr>
              <a:spcAft>
                <a:spcPts val="1200"/>
              </a:spcAft>
            </a:pPr>
            <a:r>
              <a:rPr sz="2000" b="0">
                <a:solidFill>
                  <a:srgbClr val="202122"/>
                </a:solidFill>
                <a:latin typeface="Calibri"/>
              </a:rPr>
              <a:t>VLANs split one physical network into separate virtual ones. VPNs and IPSec encrypt traffic between sites or remote users. VRF gives separate routing tables on one router, and subnets divide address ranges.</a:t>
            </a:r>
          </a:p>
          <a:p>
            <a:pPr>
              <a:spcAft>
                <a:spcPts val="1200"/>
              </a:spcAft>
            </a:pPr>
            <a:r>
              <a:rPr sz="2000" b="0">
                <a:solidFill>
                  <a:srgbClr val="202122"/>
                </a:solidFill>
                <a:latin typeface="Calibri"/>
              </a:rPr>
              <a:t>Connected devices also need WPA2 or WPA3 Wi-Fi security, patching and MFA.</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company puts its web server in a DMZ. When the site is hacked, the attacker is stuck there and can't reach the payroll server.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SPECIALISMS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Securing network traffic</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Technical Security and Network Protection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13</a:t>
            </a:r>
          </a:p>
        </p:txBody>
      </p:sp>
      <p:sp>
        <p:nvSpPr>
          <p:cNvPr id="6" name="Rounded Rectangle 5"/>
          <p:cNvSpPr/>
          <p:nvPr/>
        </p:nvSpPr>
        <p:spPr>
          <a:xfrm>
            <a:off x="548640" y="1600200"/>
            <a:ext cx="5364327" cy="640080"/>
          </a:xfrm>
          <a:prstGeom prst="roundRect">
            <a:avLst>
              <a:gd name="adj" fmla="val 15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600200"/>
            <a:ext cx="4907127" cy="640080"/>
          </a:xfrm>
          <a:prstGeom prst="rect">
            <a:avLst/>
          </a:prstGeom>
          <a:noFill/>
        </p:spPr>
        <p:txBody>
          <a:bodyPr wrap="square" anchor="ctr" lIns="0" rIns="0" tIns="0" bIns="0"/>
          <a:lstStyle/>
          <a:p>
            <a:pPr algn="l"/>
            <a:r>
              <a:rPr sz="2000" b="1" i="0">
                <a:solidFill>
                  <a:srgbClr val="FFFFFF"/>
                </a:solidFill>
                <a:latin typeface="Calibri"/>
              </a:rPr>
              <a:t>Physical</a:t>
            </a:r>
          </a:p>
        </p:txBody>
      </p:sp>
      <p:sp>
        <p:nvSpPr>
          <p:cNvPr id="8" name="Rounded Rectangle 7"/>
          <p:cNvSpPr/>
          <p:nvPr/>
        </p:nvSpPr>
        <p:spPr>
          <a:xfrm>
            <a:off x="548640"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0">
                <a:solidFill>
                  <a:srgbClr val="202122"/>
                </a:solidFill>
                <a:latin typeface="Calibri"/>
              </a:rPr>
              <a:t>Software-defined networking with TLS</a:t>
            </a:r>
          </a:p>
          <a:p>
            <a:pPr marL="274320" indent="-274320">
              <a:spcAft>
                <a:spcPts val="990"/>
              </a:spcAft>
              <a:buClr>
                <a:srgbClr val="0645AD"/>
              </a:buClr>
              <a:buFont typeface="Arial"/>
              <a:buChar char="•"/>
            </a:pPr>
            <a:r>
              <a:rPr sz="2200" b="1">
                <a:solidFill>
                  <a:srgbClr val="202122"/>
                </a:solidFill>
                <a:latin typeface="Calibri"/>
              </a:rPr>
              <a:t>DMZ:</a:t>
            </a:r>
            <a:r>
              <a:rPr sz="2200" b="0">
                <a:solidFill>
                  <a:srgbClr val="202122"/>
                </a:solidFill>
                <a:latin typeface="Calibri"/>
              </a:rPr>
              <a:t> a buffer zone for public-facing servers</a:t>
            </a:r>
          </a:p>
          <a:p>
            <a:pPr marL="274320" indent="-274320">
              <a:spcAft>
                <a:spcPts val="990"/>
              </a:spcAft>
              <a:buClr>
                <a:srgbClr val="0645AD"/>
              </a:buClr>
              <a:buFont typeface="Arial"/>
              <a:buChar char="•"/>
            </a:pPr>
            <a:r>
              <a:rPr sz="2200" b="1">
                <a:solidFill>
                  <a:srgbClr val="202122"/>
                </a:solidFill>
                <a:latin typeface="Calibri"/>
              </a:rPr>
              <a:t>Air gapping:</a:t>
            </a:r>
            <a:r>
              <a:rPr sz="2200" b="0">
                <a:solidFill>
                  <a:srgbClr val="202122"/>
                </a:solidFill>
                <a:latin typeface="Calibri"/>
              </a:rPr>
              <a:t> no connection at all</a:t>
            </a:r>
          </a:p>
        </p:txBody>
      </p:sp>
      <p:sp>
        <p:nvSpPr>
          <p:cNvPr id="10" name="Rounded Rectangle 9"/>
          <p:cNvSpPr/>
          <p:nvPr/>
        </p:nvSpPr>
        <p:spPr>
          <a:xfrm>
            <a:off x="6278727" y="1600200"/>
            <a:ext cx="5364327" cy="640080"/>
          </a:xfrm>
          <a:prstGeom prst="roundRect">
            <a:avLst>
              <a:gd name="adj" fmla="val 15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07327" y="1600200"/>
            <a:ext cx="4907127" cy="640080"/>
          </a:xfrm>
          <a:prstGeom prst="rect">
            <a:avLst/>
          </a:prstGeom>
          <a:noFill/>
        </p:spPr>
        <p:txBody>
          <a:bodyPr wrap="square" anchor="ctr" lIns="0" rIns="0" tIns="0" bIns="0"/>
          <a:lstStyle/>
          <a:p>
            <a:pPr algn="l"/>
            <a:r>
              <a:rPr sz="2000" b="1" i="0">
                <a:solidFill>
                  <a:srgbClr val="FFFFFF"/>
                </a:solidFill>
                <a:latin typeface="Calibri"/>
              </a:rPr>
              <a:t>Virtual</a:t>
            </a:r>
          </a:p>
        </p:txBody>
      </p:sp>
      <p:sp>
        <p:nvSpPr>
          <p:cNvPr id="12" name="Rounded Rectangle 11"/>
          <p:cNvSpPr/>
          <p:nvPr/>
        </p:nvSpPr>
        <p:spPr>
          <a:xfrm>
            <a:off x="6278727"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53047"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0">
                <a:solidFill>
                  <a:srgbClr val="202122"/>
                </a:solidFill>
                <a:latin typeface="Calibri"/>
              </a:rPr>
              <a:t>VLANs separate traffic on shared hardware</a:t>
            </a:r>
          </a:p>
          <a:p>
            <a:pPr marL="274320" indent="-274320">
              <a:spcAft>
                <a:spcPts val="990"/>
              </a:spcAft>
              <a:buClr>
                <a:srgbClr val="0645AD"/>
              </a:buClr>
              <a:buFont typeface="Arial"/>
              <a:buChar char="•"/>
            </a:pPr>
            <a:r>
              <a:rPr sz="2200" b="0">
                <a:solidFill>
                  <a:srgbClr val="202122"/>
                </a:solidFill>
                <a:latin typeface="Calibri"/>
              </a:rPr>
              <a:t>VPNs and IPSec encrypt traffic</a:t>
            </a:r>
          </a:p>
          <a:p>
            <a:pPr marL="274320" indent="-274320">
              <a:spcAft>
                <a:spcPts val="990"/>
              </a:spcAft>
              <a:buClr>
                <a:srgbClr val="0645AD"/>
              </a:buClr>
              <a:buFont typeface="Arial"/>
              <a:buChar char="•"/>
            </a:pPr>
            <a:r>
              <a:rPr sz="2200" b="1">
                <a:solidFill>
                  <a:srgbClr val="202122"/>
                </a:solidFill>
                <a:latin typeface="Calibri"/>
              </a:rPr>
              <a:t>VRF:</a:t>
            </a:r>
            <a:r>
              <a:rPr sz="2200" b="0">
                <a:solidFill>
                  <a:srgbClr val="202122"/>
                </a:solidFill>
                <a:latin typeface="Calibri"/>
              </a:rPr>
              <a:t> separate routing tables on one router</a:t>
            </a:r>
          </a:p>
          <a:p>
            <a:pPr marL="274320" indent="-274320">
              <a:spcAft>
                <a:spcPts val="990"/>
              </a:spcAft>
              <a:buClr>
                <a:srgbClr val="0645AD"/>
              </a:buClr>
              <a:buFont typeface="Arial"/>
              <a:buChar char="•"/>
            </a:pPr>
            <a:r>
              <a:rPr sz="2200" b="0">
                <a:solidFill>
                  <a:srgbClr val="202122"/>
                </a:solidFill>
                <a:latin typeface="Calibri"/>
              </a:rPr>
              <a:t>Subnets and virtual air gaps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SPECIALISMS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Securing network traffic</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Technical Security and Network Protection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14</a:t>
            </a:r>
          </a:p>
        </p:txBody>
      </p:sp>
      <p:sp>
        <p:nvSpPr>
          <p:cNvPr id="6" name="Oval 5"/>
          <p:cNvSpPr/>
          <p:nvPr/>
        </p:nvSpPr>
        <p:spPr>
          <a:xfrm>
            <a:off x="548640" y="169164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a DMZ for?</a:t>
            </a:r>
          </a:p>
        </p:txBody>
      </p:sp>
      <p:sp>
        <p:nvSpPr>
          <p:cNvPr id="8" name="Oval 7"/>
          <p:cNvSpPr/>
          <p:nvPr/>
        </p:nvSpPr>
        <p:spPr>
          <a:xfrm>
            <a:off x="548640" y="310896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does a VLAN do?</a:t>
            </a:r>
          </a:p>
        </p:txBody>
      </p:sp>
      <p:sp>
        <p:nvSpPr>
          <p:cNvPr id="10" name="Oval 9"/>
          <p:cNvSpPr/>
          <p:nvPr/>
        </p:nvSpPr>
        <p:spPr>
          <a:xfrm>
            <a:off x="548640" y="452628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Which Wi-Fi security standards should be used?</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SPECIALISMS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Common vulnerabilities and their controls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Technical Security and Network Protection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15</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60"/>
              </a:spcAft>
            </a:pPr>
            <a:r>
              <a:rPr sz="2100" b="0">
                <a:solidFill>
                  <a:srgbClr val="202122"/>
                </a:solidFill>
                <a:latin typeface="Calibri"/>
              </a:rPr>
              <a:t>Most breaches exploit a short list of common weaknesses, each with a known fix.</a:t>
            </a:r>
          </a:p>
          <a:p>
            <a:pPr>
              <a:spcAft>
                <a:spcPts val="1260"/>
              </a:spcAft>
            </a:pPr>
            <a:r>
              <a:rPr sz="2100" b="1">
                <a:solidFill>
                  <a:srgbClr val="202122"/>
                </a:solidFill>
                <a:latin typeface="Calibri"/>
              </a:rPr>
              <a:t>Missing patches:</a:t>
            </a:r>
            <a:r>
              <a:rPr sz="2100" b="0">
                <a:solidFill>
                  <a:srgbClr val="202122"/>
                </a:solidFill>
                <a:latin typeface="Calibri"/>
              </a:rPr>
              <a:t> use patch management and test updates first. Weak or default passwords: enforce minimum rules and lockout. Insecure BIOS or UEFI: set a password and secure settings. Misconfigured permissions: audit them and remove leavers promptly. Missing protection software: install and monitor anti-malware.</a:t>
            </a:r>
          </a:p>
          <a:p>
            <a:pPr>
              <a:spcAft>
                <a:spcPts val="1260"/>
              </a:spcAft>
            </a:pPr>
            <a:r>
              <a:rPr sz="2100" b="1">
                <a:solidFill>
                  <a:srgbClr val="202122"/>
                </a:solidFill>
                <a:latin typeface="Calibri"/>
              </a:rPr>
              <a:t>Insecure disposal:</a:t>
            </a:r>
            <a:r>
              <a:rPr sz="2100" b="0">
                <a:solidFill>
                  <a:srgbClr val="202122"/>
                </a:solidFill>
                <a:latin typeface="Calibri"/>
              </a:rPr>
              <a:t> wipe data and follow WEEE. Poor backups: set the right frequency and test restores. Network attacks such as DHCP spoofing and VLAN hopping: use DHCP snooping and monitoring.</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An audit finds a leaver's account still active six months later: a misconfigured permissions vulnerability. The control: a leavers checklist and quarterly account audits.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SPECIALISMS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Common vulnerabilities and their controls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Technical Security and Network Protection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16</a:t>
            </a:r>
          </a:p>
        </p:txBody>
      </p:sp>
      <p:graphicFrame>
        <p:nvGraphicFramePr>
          <p:cNvPr id="6" name="Table 5"/>
          <p:cNvGraphicFramePr>
            <a:graphicFrameLocks noGrp="1"/>
          </p:cNvGraphicFramePr>
          <p:nvPr/>
        </p:nvGraphicFramePr>
        <p:xfrm>
          <a:off x="548640" y="1600200"/>
          <a:ext cx="11094414" cy="4526277"/>
        </p:xfrm>
        <a:graphic>
          <a:graphicData uri="http://schemas.openxmlformats.org/drawingml/2006/table">
            <a:tbl>
              <a:tblPr firstRow="1" bandRow="1">
                <a:tableStyleId>{5C22544A-7EE6-4342-B048-85BDC9FD1C3A}</a:tableStyleId>
              </a:tblPr>
              <a:tblGrid>
                <a:gridCol w="4568288"/>
                <a:gridCol w="6526126"/>
              </a:tblGrid>
              <a:tr h="646611">
                <a:tc>
                  <a:txBody>
                    <a:bodyPr wrap="square"/>
                    <a:lstStyle/>
                    <a:p>
                      <a:r>
                        <a:rPr sz="1600" b="1">
                          <a:solidFill>
                            <a:srgbClr val="FFFFFF"/>
                          </a:solidFill>
                          <a:latin typeface="Calibri"/>
                        </a:rPr>
                        <a:t>Vulnerability</a:t>
                      </a:r>
                    </a:p>
                  </a:txBody>
                  <a:tcPr marL="91440" marR="91440" anchor="ctr">
                    <a:solidFill>
                      <a:srgbClr val="03306E"/>
                    </a:solidFill>
                  </a:tcPr>
                </a:tc>
                <a:tc>
                  <a:txBody>
                    <a:bodyPr wrap="square"/>
                    <a:lstStyle/>
                    <a:p>
                      <a:r>
                        <a:rPr sz="1600" b="1">
                          <a:solidFill>
                            <a:srgbClr val="FFFFFF"/>
                          </a:solidFill>
                          <a:latin typeface="Calibri"/>
                        </a:rPr>
                        <a:t>Control</a:t>
                      </a:r>
                    </a:p>
                  </a:txBody>
                  <a:tcPr marL="91440" marR="91440" anchor="ctr">
                    <a:solidFill>
                      <a:srgbClr val="03306E"/>
                    </a:solidFill>
                  </a:tcPr>
                </a:tc>
              </a:tr>
              <a:tr h="646611">
                <a:tc>
                  <a:txBody>
                    <a:bodyPr wrap="square"/>
                    <a:lstStyle/>
                    <a:p>
                      <a:r>
                        <a:rPr sz="1600" b="1">
                          <a:solidFill>
                            <a:srgbClr val="03306E"/>
                          </a:solidFill>
                          <a:latin typeface="Calibri"/>
                        </a:rPr>
                        <a:t>Missing patches or firmware</a:t>
                      </a:r>
                    </a:p>
                  </a:txBody>
                  <a:tcPr marL="91440" marR="91440" anchor="ctr">
                    <a:solidFill>
                      <a:srgbClr val="FFFFFF"/>
                    </a:solidFill>
                  </a:tcPr>
                </a:tc>
                <a:tc>
                  <a:txBody>
                    <a:bodyPr wrap="square"/>
                    <a:lstStyle/>
                    <a:p>
                      <a:r>
                        <a:rPr sz="1600" b="0">
                          <a:solidFill>
                            <a:srgbClr val="202122"/>
                          </a:solidFill>
                          <a:latin typeface="Calibri"/>
                        </a:rPr>
                        <a:t>Patch management software and test devices</a:t>
                      </a:r>
                    </a:p>
                  </a:txBody>
                  <a:tcPr marL="91440" marR="91440" anchor="ctr">
                    <a:solidFill>
                      <a:srgbClr val="FFFFFF"/>
                    </a:solidFill>
                  </a:tcPr>
                </a:tc>
              </a:tr>
              <a:tr h="646611">
                <a:tc>
                  <a:txBody>
                    <a:bodyPr wrap="square"/>
                    <a:lstStyle/>
                    <a:p>
                      <a:r>
                        <a:rPr sz="1600" b="1">
                          <a:solidFill>
                            <a:srgbClr val="03306E"/>
                          </a:solidFill>
                          <a:latin typeface="Calibri"/>
                        </a:rPr>
                        <a:t>Weak or default passwords</a:t>
                      </a:r>
                    </a:p>
                  </a:txBody>
                  <a:tcPr marL="91440" marR="91440" anchor="ctr">
                    <a:solidFill>
                      <a:srgbClr val="EAF3FF"/>
                    </a:solidFill>
                  </a:tcPr>
                </a:tc>
                <a:tc>
                  <a:txBody>
                    <a:bodyPr wrap="square"/>
                    <a:lstStyle/>
                    <a:p>
                      <a:r>
                        <a:rPr sz="1600" b="0">
                          <a:solidFill>
                            <a:srgbClr val="202122"/>
                          </a:solidFill>
                          <a:latin typeface="Calibri"/>
                        </a:rPr>
                        <a:t>NCSC-aligned minimum password rules, lockout and reset policy</a:t>
                      </a:r>
                    </a:p>
                  </a:txBody>
                  <a:tcPr marL="91440" marR="91440" anchor="ctr">
                    <a:solidFill>
                      <a:srgbClr val="EAF3FF"/>
                    </a:solidFill>
                  </a:tcPr>
                </a:tc>
              </a:tr>
              <a:tr h="646611">
                <a:tc>
                  <a:txBody>
                    <a:bodyPr wrap="square"/>
                    <a:lstStyle/>
                    <a:p>
                      <a:r>
                        <a:rPr sz="1600" b="1">
                          <a:solidFill>
                            <a:srgbClr val="03306E"/>
                          </a:solidFill>
                          <a:latin typeface="Calibri"/>
                        </a:rPr>
                        <a:t>Insecure BIOS / UEFI</a:t>
                      </a:r>
                    </a:p>
                  </a:txBody>
                  <a:tcPr marL="91440" marR="91440" anchor="ctr">
                    <a:solidFill>
                      <a:srgbClr val="FFFFFF"/>
                    </a:solidFill>
                  </a:tcPr>
                </a:tc>
                <a:tc>
                  <a:txBody>
                    <a:bodyPr wrap="square"/>
                    <a:lstStyle/>
                    <a:p>
                      <a:r>
                        <a:rPr sz="1600" b="0">
                          <a:solidFill>
                            <a:srgbClr val="202122"/>
                          </a:solidFill>
                          <a:latin typeface="Calibri"/>
                        </a:rPr>
                        <a:t>Review and update settings, set a password</a:t>
                      </a:r>
                    </a:p>
                  </a:txBody>
                  <a:tcPr marL="91440" marR="91440" anchor="ctr">
                    <a:solidFill>
                      <a:srgbClr val="FFFFFF"/>
                    </a:solidFill>
                  </a:tcPr>
                </a:tc>
              </a:tr>
              <a:tr h="646611">
                <a:tc>
                  <a:txBody>
                    <a:bodyPr wrap="square"/>
                    <a:lstStyle/>
                    <a:p>
                      <a:r>
                        <a:rPr sz="1600" b="1">
                          <a:solidFill>
                            <a:srgbClr val="03306E"/>
                          </a:solidFill>
                          <a:latin typeface="Calibri"/>
                        </a:rPr>
                        <a:t>Misconfigured permissions</a:t>
                      </a:r>
                    </a:p>
                  </a:txBody>
                  <a:tcPr marL="91440" marR="91440" anchor="ctr">
                    <a:solidFill>
                      <a:srgbClr val="EAF3FF"/>
                    </a:solidFill>
                  </a:tcPr>
                </a:tc>
                <a:tc>
                  <a:txBody>
                    <a:bodyPr wrap="square"/>
                    <a:lstStyle/>
                    <a:p>
                      <a:r>
                        <a:rPr sz="1600" b="0">
                          <a:solidFill>
                            <a:srgbClr val="202122"/>
                          </a:solidFill>
                          <a:latin typeface="Calibri"/>
                        </a:rPr>
                        <a:t>Test and schedule audits, remove leavers' access</a:t>
                      </a:r>
                    </a:p>
                  </a:txBody>
                  <a:tcPr marL="91440" marR="91440" anchor="ctr">
                    <a:solidFill>
                      <a:srgbClr val="EAF3FF"/>
                    </a:solidFill>
                  </a:tcPr>
                </a:tc>
              </a:tr>
              <a:tr h="646611">
                <a:tc>
                  <a:txBody>
                    <a:bodyPr wrap="square"/>
                    <a:lstStyle/>
                    <a:p>
                      <a:r>
                        <a:rPr sz="1600" b="1">
                          <a:solidFill>
                            <a:srgbClr val="03306E"/>
                          </a:solidFill>
                          <a:latin typeface="Calibri"/>
                        </a:rPr>
                        <a:t>Insecure disposal</a:t>
                      </a:r>
                    </a:p>
                  </a:txBody>
                  <a:tcPr marL="91440" marR="91440" anchor="ctr">
                    <a:solidFill>
                      <a:srgbClr val="FFFFFF"/>
                    </a:solidFill>
                  </a:tcPr>
                </a:tc>
                <a:tc>
                  <a:txBody>
                    <a:bodyPr wrap="square"/>
                    <a:lstStyle/>
                    <a:p>
                      <a:r>
                        <a:rPr sz="1600" b="0">
                          <a:solidFill>
                            <a:srgbClr val="202122"/>
                          </a:solidFill>
                          <a:latin typeface="Calibri"/>
                        </a:rPr>
                        <a:t>Data wiping and WEEE compliance</a:t>
                      </a:r>
                    </a:p>
                  </a:txBody>
                  <a:tcPr marL="91440" marR="91440" anchor="ctr">
                    <a:solidFill>
                      <a:srgbClr val="FFFFFF"/>
                    </a:solidFill>
                  </a:tcPr>
                </a:tc>
              </a:tr>
              <a:tr h="646611">
                <a:tc>
                  <a:txBody>
                    <a:bodyPr wrap="square"/>
                    <a:lstStyle/>
                    <a:p>
                      <a:r>
                        <a:rPr sz="1600" b="1">
                          <a:solidFill>
                            <a:srgbClr val="03306E"/>
                          </a:solidFill>
                          <a:latin typeface="Calibri"/>
                        </a:rPr>
                        <a:t>DHCP spoofing, VLAN hopping</a:t>
                      </a:r>
                    </a:p>
                  </a:txBody>
                  <a:tcPr marL="91440" marR="91440" anchor="ctr">
                    <a:solidFill>
                      <a:srgbClr val="EAF3FF"/>
                    </a:solidFill>
                  </a:tcPr>
                </a:tc>
                <a:tc>
                  <a:txBody>
                    <a:bodyPr wrap="square"/>
                    <a:lstStyle/>
                    <a:p>
                      <a:r>
                        <a:rPr sz="1600" b="0">
                          <a:solidFill>
                            <a:srgbClr val="202122"/>
                          </a:solidFill>
                          <a:latin typeface="Calibri"/>
                        </a:rPr>
                        <a:t>DHCP snooping, network monitoring (DI)</a:t>
                      </a:r>
                    </a:p>
                  </a:txBody>
                  <a:tcPr marL="91440" marR="91440" anchor="ctr">
                    <a:solidFill>
                      <a:srgbClr val="EAF3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SPECIALISMS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100" b="1" i="0">
                <a:solidFill>
                  <a:srgbClr val="03306E"/>
                </a:solidFill>
                <a:latin typeface="Cambria"/>
              </a:rPr>
              <a:t>Quick check: Common vulnerabilities and their controls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Technical Security and Network Protection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17</a:t>
            </a:r>
          </a:p>
        </p:txBody>
      </p:sp>
      <p:sp>
        <p:nvSpPr>
          <p:cNvPr id="6" name="Oval 5"/>
          <p:cNvSpPr/>
          <p:nvPr/>
        </p:nvSpPr>
        <p:spPr>
          <a:xfrm>
            <a:off x="548640" y="169164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How do you control weak passwords?</a:t>
            </a:r>
          </a:p>
        </p:txBody>
      </p:sp>
      <p:sp>
        <p:nvSpPr>
          <p:cNvPr id="8" name="Oval 7"/>
          <p:cNvSpPr/>
          <p:nvPr/>
        </p:nvSpPr>
        <p:spPr>
          <a:xfrm>
            <a:off x="548640" y="310896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Why test backups?</a:t>
            </a:r>
          </a:p>
        </p:txBody>
      </p:sp>
      <p:sp>
        <p:nvSpPr>
          <p:cNvPr id="10" name="Oval 9"/>
          <p:cNvSpPr/>
          <p:nvPr/>
        </p:nvSpPr>
        <p:spPr>
          <a:xfrm>
            <a:off x="548640" y="452628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must happen to old hard drives before disposal?</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SPECIALISMS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Technical Security and Network Protection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18</a:t>
            </a:r>
          </a:p>
        </p:txBody>
      </p:sp>
      <p:sp>
        <p:nvSpPr>
          <p:cNvPr id="6" name="Oval 5"/>
          <p:cNvSpPr/>
          <p:nvPr/>
        </p:nvSpPr>
        <p:spPr>
          <a:xfrm>
            <a:off x="548640" y="1618488"/>
            <a:ext cx="411480" cy="4114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791870"/>
          </a:xfrm>
          <a:prstGeom prst="rect">
            <a:avLst/>
          </a:prstGeom>
          <a:noFill/>
        </p:spPr>
        <p:txBody>
          <a:bodyPr wrap="square" anchor="t" lIns="0" rIns="0" tIns="0" bIns="0"/>
          <a:lstStyle/>
          <a:p>
            <a:pPr algn="l"/>
            <a:r>
              <a:rPr sz="2200" b="0" i="0">
                <a:solidFill>
                  <a:srgbClr val="202122"/>
                </a:solidFill>
                <a:latin typeface="Calibri"/>
              </a:rPr>
              <a:t>What is device hardening?</a:t>
            </a:r>
          </a:p>
        </p:txBody>
      </p:sp>
      <p:sp>
        <p:nvSpPr>
          <p:cNvPr id="8" name="Oval 7"/>
          <p:cNvSpPr/>
          <p:nvPr/>
        </p:nvSpPr>
        <p:spPr>
          <a:xfrm>
            <a:off x="548640" y="2574950"/>
            <a:ext cx="411480" cy="4114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556662"/>
            <a:ext cx="10408615" cy="791870"/>
          </a:xfrm>
          <a:prstGeom prst="rect">
            <a:avLst/>
          </a:prstGeom>
          <a:noFill/>
        </p:spPr>
        <p:txBody>
          <a:bodyPr wrap="square" anchor="t" lIns="0" rIns="0" tIns="0" bIns="0"/>
          <a:lstStyle/>
          <a:p>
            <a:pPr algn="l"/>
            <a:r>
              <a:rPr sz="2200" b="0" i="0">
                <a:solidFill>
                  <a:srgbClr val="202122"/>
                </a:solidFill>
                <a:latin typeface="Calibri"/>
              </a:rPr>
              <a:t>Which type of encryption uses a public and private key?</a:t>
            </a:r>
          </a:p>
        </p:txBody>
      </p:sp>
      <p:sp>
        <p:nvSpPr>
          <p:cNvPr id="10" name="Oval 9"/>
          <p:cNvSpPr/>
          <p:nvPr/>
        </p:nvSpPr>
        <p:spPr>
          <a:xfrm>
            <a:off x="548640" y="3531412"/>
            <a:ext cx="411480" cy="4114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513124"/>
            <a:ext cx="10408615" cy="791870"/>
          </a:xfrm>
          <a:prstGeom prst="rect">
            <a:avLst/>
          </a:prstGeom>
          <a:noFill/>
        </p:spPr>
        <p:txBody>
          <a:bodyPr wrap="square" anchor="t" lIns="0" rIns="0" tIns="0" bIns="0"/>
          <a:lstStyle/>
          <a:p>
            <a:pPr algn="l"/>
            <a:r>
              <a:rPr sz="2200" b="0" i="0">
                <a:solidFill>
                  <a:srgbClr val="202122"/>
                </a:solidFill>
                <a:latin typeface="Calibri"/>
              </a:rPr>
              <a:t>What is the difference between an IDS and an IPS?</a:t>
            </a:r>
          </a:p>
        </p:txBody>
      </p:sp>
      <p:sp>
        <p:nvSpPr>
          <p:cNvPr id="12" name="Oval 11"/>
          <p:cNvSpPr/>
          <p:nvPr/>
        </p:nvSpPr>
        <p:spPr>
          <a:xfrm>
            <a:off x="548640" y="4487875"/>
            <a:ext cx="411480" cy="4114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4469587"/>
            <a:ext cx="10408615" cy="791870"/>
          </a:xfrm>
          <a:prstGeom prst="rect">
            <a:avLst/>
          </a:prstGeom>
          <a:noFill/>
        </p:spPr>
        <p:txBody>
          <a:bodyPr wrap="square" anchor="t" lIns="0" rIns="0" tIns="0" bIns="0"/>
          <a:lstStyle/>
          <a:p>
            <a:pPr algn="l"/>
            <a:r>
              <a:rPr sz="2200" b="0" i="0">
                <a:solidFill>
                  <a:srgbClr val="202122"/>
                </a:solidFill>
                <a:latin typeface="Calibri"/>
              </a:rPr>
              <a:t>What is a DMZ?</a:t>
            </a:r>
          </a:p>
        </p:txBody>
      </p:sp>
      <p:sp>
        <p:nvSpPr>
          <p:cNvPr id="14" name="Oval 13"/>
          <p:cNvSpPr/>
          <p:nvPr/>
        </p:nvSpPr>
        <p:spPr>
          <a:xfrm>
            <a:off x="548640" y="5444337"/>
            <a:ext cx="411480" cy="4114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5</a:t>
            </a:r>
          </a:p>
        </p:txBody>
      </p:sp>
      <p:sp>
        <p:nvSpPr>
          <p:cNvPr id="15" name="TextBox 14"/>
          <p:cNvSpPr txBox="1"/>
          <p:nvPr/>
        </p:nvSpPr>
        <p:spPr>
          <a:xfrm>
            <a:off x="1234440" y="5426049"/>
            <a:ext cx="10408615" cy="791870"/>
          </a:xfrm>
          <a:prstGeom prst="rect">
            <a:avLst/>
          </a:prstGeom>
          <a:noFill/>
        </p:spPr>
        <p:txBody>
          <a:bodyPr wrap="square" anchor="t" lIns="0" rIns="0" tIns="0" bIns="0"/>
          <a:lstStyle/>
          <a:p>
            <a:pPr algn="l"/>
            <a:r>
              <a:rPr sz="2200" b="0" i="0">
                <a:solidFill>
                  <a:srgbClr val="202122"/>
                </a:solidFill>
                <a:latin typeface="Calibri"/>
              </a:rPr>
              <a:t>Which access control model gives access by job role?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SPECIALISMS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Technical Security and Network Protection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19</a:t>
            </a:r>
          </a:p>
        </p:txBody>
      </p:sp>
      <p:sp>
        <p:nvSpPr>
          <p:cNvPr id="6" name="Oval 5"/>
          <p:cNvSpPr/>
          <p:nvPr/>
        </p:nvSpPr>
        <p:spPr>
          <a:xfrm>
            <a:off x="548640" y="1618488"/>
            <a:ext cx="411480" cy="4114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791870"/>
          </a:xfrm>
          <a:prstGeom prst="rect">
            <a:avLst/>
          </a:prstGeom>
          <a:noFill/>
        </p:spPr>
        <p:txBody>
          <a:bodyPr wrap="square" anchor="t" lIns="0" rIns="0" tIns="0" bIns="0"/>
          <a:lstStyle/>
          <a:p>
            <a:pPr algn="l"/>
            <a:r>
              <a:rPr sz="1700" b="0" i="0">
                <a:solidFill>
                  <a:srgbClr val="54595D"/>
                </a:solidFill>
                <a:latin typeface="Calibri"/>
              </a:rPr>
              <a:t>What is device hardening?</a:t>
            </a:r>
          </a:p>
          <a:p>
            <a:r>
              <a:rPr sz="1700" b="1">
                <a:solidFill>
                  <a:srgbClr val="03306E"/>
                </a:solidFill>
                <a:latin typeface="Calibri"/>
              </a:rPr>
              <a:t>Removing unneeded programs, accounts and ports and changing defaults to reduce vulnerabilities.</a:t>
            </a:r>
          </a:p>
        </p:txBody>
      </p:sp>
      <p:sp>
        <p:nvSpPr>
          <p:cNvPr id="8" name="Oval 7"/>
          <p:cNvSpPr/>
          <p:nvPr/>
        </p:nvSpPr>
        <p:spPr>
          <a:xfrm>
            <a:off x="548640" y="2574950"/>
            <a:ext cx="411480" cy="4114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556662"/>
            <a:ext cx="10408615" cy="791870"/>
          </a:xfrm>
          <a:prstGeom prst="rect">
            <a:avLst/>
          </a:prstGeom>
          <a:noFill/>
        </p:spPr>
        <p:txBody>
          <a:bodyPr wrap="square" anchor="t" lIns="0" rIns="0" tIns="0" bIns="0"/>
          <a:lstStyle/>
          <a:p>
            <a:pPr algn="l"/>
            <a:r>
              <a:rPr sz="1800" b="0" i="0">
                <a:solidFill>
                  <a:srgbClr val="54595D"/>
                </a:solidFill>
                <a:latin typeface="Calibri"/>
              </a:rPr>
              <a:t>Which type of encryption uses a public and private key?</a:t>
            </a:r>
          </a:p>
          <a:p>
            <a:r>
              <a:rPr sz="1800" b="1">
                <a:solidFill>
                  <a:srgbClr val="03306E"/>
                </a:solidFill>
                <a:latin typeface="Calibri"/>
              </a:rPr>
              <a:t>Asymmetric.</a:t>
            </a:r>
          </a:p>
        </p:txBody>
      </p:sp>
      <p:sp>
        <p:nvSpPr>
          <p:cNvPr id="10" name="Oval 9"/>
          <p:cNvSpPr/>
          <p:nvPr/>
        </p:nvSpPr>
        <p:spPr>
          <a:xfrm>
            <a:off x="548640" y="3531412"/>
            <a:ext cx="411480" cy="4114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513124"/>
            <a:ext cx="10408615" cy="791870"/>
          </a:xfrm>
          <a:prstGeom prst="rect">
            <a:avLst/>
          </a:prstGeom>
          <a:noFill/>
        </p:spPr>
        <p:txBody>
          <a:bodyPr wrap="square" anchor="t" lIns="0" rIns="0" tIns="0" bIns="0"/>
          <a:lstStyle/>
          <a:p>
            <a:pPr algn="l"/>
            <a:r>
              <a:rPr sz="1800" b="0" i="0">
                <a:solidFill>
                  <a:srgbClr val="54595D"/>
                </a:solidFill>
                <a:latin typeface="Calibri"/>
              </a:rPr>
              <a:t>What is the difference between an IDS and an IPS?</a:t>
            </a:r>
          </a:p>
          <a:p>
            <a:r>
              <a:rPr sz="1800" b="1">
                <a:solidFill>
                  <a:srgbClr val="03306E"/>
                </a:solidFill>
                <a:latin typeface="Calibri"/>
              </a:rPr>
              <a:t>An IDS detects threats; an IPS also blocks them.</a:t>
            </a:r>
          </a:p>
        </p:txBody>
      </p:sp>
      <p:sp>
        <p:nvSpPr>
          <p:cNvPr id="12" name="Oval 11"/>
          <p:cNvSpPr/>
          <p:nvPr/>
        </p:nvSpPr>
        <p:spPr>
          <a:xfrm>
            <a:off x="548640" y="4487875"/>
            <a:ext cx="411480" cy="4114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4469587"/>
            <a:ext cx="10408615" cy="791870"/>
          </a:xfrm>
          <a:prstGeom prst="rect">
            <a:avLst/>
          </a:prstGeom>
          <a:noFill/>
        </p:spPr>
        <p:txBody>
          <a:bodyPr wrap="square" anchor="t" lIns="0" rIns="0" tIns="0" bIns="0"/>
          <a:lstStyle/>
          <a:p>
            <a:pPr algn="l"/>
            <a:r>
              <a:rPr sz="1800" b="0" i="0">
                <a:solidFill>
                  <a:srgbClr val="54595D"/>
                </a:solidFill>
                <a:latin typeface="Calibri"/>
              </a:rPr>
              <a:t>What is a DMZ?</a:t>
            </a:r>
          </a:p>
          <a:p>
            <a:r>
              <a:rPr sz="1800" b="1">
                <a:solidFill>
                  <a:srgbClr val="03306E"/>
                </a:solidFill>
                <a:latin typeface="Calibri"/>
              </a:rPr>
              <a:t>A buffer network between the internet and the internal network, for public-facing servers.</a:t>
            </a:r>
          </a:p>
        </p:txBody>
      </p:sp>
      <p:sp>
        <p:nvSpPr>
          <p:cNvPr id="14" name="Oval 13"/>
          <p:cNvSpPr/>
          <p:nvPr/>
        </p:nvSpPr>
        <p:spPr>
          <a:xfrm>
            <a:off x="548640" y="5444337"/>
            <a:ext cx="411480" cy="4114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5</a:t>
            </a:r>
          </a:p>
        </p:txBody>
      </p:sp>
      <p:sp>
        <p:nvSpPr>
          <p:cNvPr id="15" name="TextBox 14"/>
          <p:cNvSpPr txBox="1"/>
          <p:nvPr/>
        </p:nvSpPr>
        <p:spPr>
          <a:xfrm>
            <a:off x="1234440" y="5426049"/>
            <a:ext cx="10408615" cy="791870"/>
          </a:xfrm>
          <a:prstGeom prst="rect">
            <a:avLst/>
          </a:prstGeom>
          <a:noFill/>
        </p:spPr>
        <p:txBody>
          <a:bodyPr wrap="square" anchor="t" lIns="0" rIns="0" tIns="0" bIns="0"/>
          <a:lstStyle/>
          <a:p>
            <a:pPr algn="l"/>
            <a:r>
              <a:rPr sz="1800" b="0" i="0">
                <a:solidFill>
                  <a:srgbClr val="54595D"/>
                </a:solidFill>
                <a:latin typeface="Calibri"/>
              </a:rPr>
              <a:t>Which access control model gives access by job role?</a:t>
            </a:r>
          </a:p>
          <a:p>
            <a:r>
              <a:rPr sz="1800" b="1">
                <a:solidFill>
                  <a:srgbClr val="03306E"/>
                </a:solidFill>
                <a:latin typeface="Calibri"/>
              </a:rPr>
              <a:t>RBAC.</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SPECIALISMS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Harden a device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Technical Security and Network Protection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20</a:t>
            </a:r>
          </a:p>
        </p:txBody>
      </p:sp>
      <p:sp>
        <p:nvSpPr>
          <p:cNvPr id="6" name="Rounded Rectangle 5"/>
          <p:cNvSpPr/>
          <p:nvPr/>
        </p:nvSpPr>
        <p:spPr>
          <a:xfrm>
            <a:off x="548640" y="1508760"/>
            <a:ext cx="2011680" cy="457200"/>
          </a:xfrm>
          <a:prstGeom prst="roundRect">
            <a:avLst>
              <a:gd name="adj" fmla="val 50000"/>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202122"/>
                </a:solidFill>
                <a:latin typeface="Calibri"/>
              </a:rPr>
              <a:t>30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Pairs, on a lab PC or VM</a:t>
            </a:r>
          </a:p>
        </p:txBody>
      </p:sp>
      <p:sp>
        <p:nvSpPr>
          <p:cNvPr id="9" name="Oval 8"/>
          <p:cNvSpPr/>
          <p:nvPr/>
        </p:nvSpPr>
        <p:spPr>
          <a:xfrm>
            <a:off x="548640" y="248259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868680"/>
          </a:xfrm>
          <a:prstGeom prst="rect">
            <a:avLst/>
          </a:prstGeom>
          <a:noFill/>
        </p:spPr>
        <p:txBody>
          <a:bodyPr wrap="square" anchor="ctr" lIns="0" rIns="0" tIns="0" bIns="0"/>
          <a:lstStyle/>
          <a:p>
            <a:pPr algn="l"/>
            <a:r>
              <a:rPr sz="1700" b="0" i="0">
                <a:solidFill>
                  <a:srgbClr val="202122"/>
                </a:solidFill>
                <a:latin typeface="Calibri"/>
              </a:rPr>
              <a:t>Record the current state: open ports, installed software, accounts, update status.</a:t>
            </a:r>
          </a:p>
        </p:txBody>
      </p:sp>
      <p:sp>
        <p:nvSpPr>
          <p:cNvPr id="11" name="Oval 10"/>
          <p:cNvSpPr/>
          <p:nvPr/>
        </p:nvSpPr>
        <p:spPr>
          <a:xfrm>
            <a:off x="548640" y="346100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218688"/>
            <a:ext cx="5943600" cy="868680"/>
          </a:xfrm>
          <a:prstGeom prst="rect">
            <a:avLst/>
          </a:prstGeom>
          <a:noFill/>
        </p:spPr>
        <p:txBody>
          <a:bodyPr wrap="square" anchor="ctr" lIns="0" rIns="0" tIns="0" bIns="0"/>
          <a:lstStyle/>
          <a:p>
            <a:pPr algn="l"/>
            <a:r>
              <a:rPr sz="1700" b="0" i="0">
                <a:solidFill>
                  <a:srgbClr val="202122"/>
                </a:solidFill>
                <a:latin typeface="Calibri"/>
              </a:rPr>
              <a:t>Apply hardening: remove unneeded software, disable unused accounts, apply updates, set password rules.</a:t>
            </a:r>
          </a:p>
        </p:txBody>
      </p:sp>
      <p:sp>
        <p:nvSpPr>
          <p:cNvPr id="13" name="Oval 12"/>
          <p:cNvSpPr/>
          <p:nvPr/>
        </p:nvSpPr>
        <p:spPr>
          <a:xfrm>
            <a:off x="548640" y="4439412"/>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4197096"/>
            <a:ext cx="5943600" cy="868680"/>
          </a:xfrm>
          <a:prstGeom prst="rect">
            <a:avLst/>
          </a:prstGeom>
          <a:noFill/>
        </p:spPr>
        <p:txBody>
          <a:bodyPr wrap="square" anchor="ctr" lIns="0" rIns="0" tIns="0" bIns="0"/>
          <a:lstStyle/>
          <a:p>
            <a:pPr algn="l"/>
            <a:r>
              <a:rPr sz="1700" b="0" i="0">
                <a:solidFill>
                  <a:srgbClr val="202122"/>
                </a:solidFill>
                <a:latin typeface="Calibri"/>
              </a:rPr>
              <a:t>Install or configure anti-malware and the host firewall.</a:t>
            </a:r>
          </a:p>
        </p:txBody>
      </p:sp>
      <p:sp>
        <p:nvSpPr>
          <p:cNvPr id="15" name="Oval 14"/>
          <p:cNvSpPr/>
          <p:nvPr/>
        </p:nvSpPr>
        <p:spPr>
          <a:xfrm>
            <a:off x="548640" y="541782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5175504"/>
            <a:ext cx="5943600" cy="868680"/>
          </a:xfrm>
          <a:prstGeom prst="rect">
            <a:avLst/>
          </a:prstGeom>
          <a:noFill/>
        </p:spPr>
        <p:txBody>
          <a:bodyPr wrap="square" anchor="ctr" lIns="0" rIns="0" tIns="0" bIns="0"/>
          <a:lstStyle/>
          <a:p>
            <a:pPr algn="l"/>
            <a:r>
              <a:rPr sz="1700" b="0" i="0">
                <a:solidFill>
                  <a:srgbClr val="202122"/>
                </a:solidFill>
                <a:latin typeface="Calibri"/>
              </a:rPr>
              <a:t>Run a scan to confirm the changes and record the before and after.</a:t>
            </a:r>
          </a:p>
        </p:txBody>
      </p:sp>
      <p:sp>
        <p:nvSpPr>
          <p:cNvPr id="17" name="Rounded Rectangle 16"/>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19" name="TextBox 18"/>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Before and after evidence recorded</a:t>
            </a:r>
          </a:p>
          <a:p>
            <a:pPr marL="274320" indent="-274320">
              <a:spcAft>
                <a:spcPts val="810"/>
              </a:spcAft>
              <a:buClr>
                <a:srgbClr val="0645AD"/>
              </a:buClr>
              <a:buFont typeface="Arial"/>
              <a:buChar char="•"/>
            </a:pPr>
            <a:r>
              <a:rPr sz="1800" b="0">
                <a:solidFill>
                  <a:srgbClr val="202122"/>
                </a:solidFill>
                <a:latin typeface="Calibri"/>
              </a:rPr>
              <a:t>Each change linked to a vulnerability</a:t>
            </a:r>
          </a:p>
          <a:p>
            <a:pPr marL="274320" indent="-274320">
              <a:spcAft>
                <a:spcPts val="810"/>
              </a:spcAft>
              <a:buClr>
                <a:srgbClr val="0645AD"/>
              </a:buClr>
              <a:buFont typeface="Arial"/>
              <a:buChar char="•"/>
            </a:pPr>
            <a:r>
              <a:rPr sz="1800" b="0">
                <a:solidFill>
                  <a:srgbClr val="202122"/>
                </a:solidFill>
                <a:latin typeface="Calibri"/>
              </a:rPr>
              <a:t>Configuration tested, not assumed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OCCUPATIONAL SPECIALISMS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What does a TPM store?</a:t>
            </a:r>
          </a:p>
        </p:txBody>
      </p:sp>
      <p:sp>
        <p:nvSpPr>
          <p:cNvPr id="6" name="Oval 5"/>
          <p:cNvSpPr/>
          <p:nvPr/>
        </p:nvSpPr>
        <p:spPr>
          <a:xfrm>
            <a:off x="548640" y="269748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Why put a web server in a DMZ?</a:t>
            </a:r>
          </a:p>
        </p:txBody>
      </p:sp>
      <p:sp>
        <p:nvSpPr>
          <p:cNvPr id="8" name="Oval 7"/>
          <p:cNvSpPr/>
          <p:nvPr/>
        </p:nvSpPr>
        <p:spPr>
          <a:xfrm>
            <a:off x="548640" y="365760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Name one control for misconfigured permissions.</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2000" b="1" i="0">
                <a:solidFill>
                  <a:srgbClr val="FFFFFF"/>
                </a:solidFill>
                <a:latin typeface="Cambria"/>
              </a:rPr>
              <a:t>Security Procedures and Controls, on your specialism's page</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https://lana6478.github.io/Digital-Suport-and-security-T-levle/#/02-occupational-specialisms/00-overview.md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Technical Security and Network Protection</dc:title>
  <dc:subject>Digital Support and Security T Level: Specialism Content Area 1</dc:subject>
  <dc:creator>Samuel O'Connell</dc:creator>
  <cp:keywords>T Level; Digital Support and Security; lesson slides; Technical controls, encryption, network security, access control, topologies and vulnerabilities (1.19 to 1.33)</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