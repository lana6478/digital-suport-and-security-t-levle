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 BCP keeps the business running; a DRP restores IT systems.</a:t>
            </a:r>
          </a:p>
          <a:p>
            <a:r>
              <a:t>2. The DRP sits inside the BCP.</a:t>
            </a:r>
          </a:p>
          <a:p>
            <a:r>
              <a:t>3. E.g. backups or off-site server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example: if the RPO is 4 hours, backups must run at least every 4 hours. Procedures that support these: SOPs (installation, backup, set-up) and SLAs (uptime, response and resolution times).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How often backups must run (maximum acceptable data loss).</a:t>
            </a:r>
          </a:p>
          <a:p>
            <a:r>
              <a:t>2. The average time to repair a failed system.</a:t>
            </a:r>
          </a:p>
          <a:p>
            <a:r>
              <a:t>3. Agreed uptime and response and resolution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Incremental.</a:t>
            </a:r>
          </a:p>
          <a:p>
            <a:r>
              <a:t>2. The last full backup and the latest differential.</a:t>
            </a:r>
          </a:p>
          <a:p>
            <a:r>
              <a:t>3. Deletions and corruption are copied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OCCUPATIONAL SPECIALISMS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Disaster Recovery, Continuity and 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DRP, BCP, RTO/RPO/MTBF/MTTR, SLAs, backups (1.8 to 1.12, 1.22 to 1.23; DI 2.18 to 2.19)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difference between a disaster recovery plan and a business continuity plan.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how a DRP is built and tested.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Define RTO, RPO, MTBF and MTTR and explain SLAs.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backup types and the criteria for a backup strategy.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Ransomware has encrypted every file on your college's server. What do you need to get working again, and in what order?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DRP and BCP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A business continuity plan (BCP) keeps the whole organisation running during a disruption: alternative premises, different ways of working, and letting staff work away from the main site.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A disaster recovery plan (DRP) sits inside the BCP and focuses on IT: restoring systems and data after a disaster. It covers physical elements, such as backups and off-site server storage, and procedures, such as how to restore systems, keep data intact, track assets and report changes.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The BCP asks 'how do we keep trading?'; the DRP asks 'how do we get IT back?'.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After a flood, the BCP moves staff to work from home; the DRP restores the file server from the off-site backup onto cloud servers.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DRP and BCP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Disaster recovery plan (DRP)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Restores IT systems after a disruption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Physical:</a:t>
            </a:r>
            <a:r>
              <a:rPr sz="2200" b="0">
                <a:solidFill>
                  <a:srgbClr val="202122"/>
                </a:solidFill>
                <a:latin typeface="Calibri"/>
              </a:rPr>
              <a:t> backups, off-site server storage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Restores access and functionality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Replaces failed infrastructure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continuity plan (BCP)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Keeps the whole business running during disruption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Alternative premises and processes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Users can work away from the main site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The DRP sits inside the wider BCP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DRP and BCP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difference between a BCP and a DRP?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Does the DRP sit inside the BCP or the other way round?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one physical element of a DRP.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Building a DRP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71729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4155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Site, organisation, department or individual.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4155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Gather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Past outages, inventories, contacts.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4155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Risk assess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Assets, threats, likelihood and impact.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4155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Create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Write the plan and identify resources.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4155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Sign 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Get approval.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4155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 and improve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Test regularly, review, audit and amend.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Measures that size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Four measures help decide how resilient a system must be.</a:t>
            </a:r>
          </a:p>
          <a:p>
            <a:pPr>
              <a:spcAft>
                <a:spcPts val="1140"/>
              </a:spcAft>
            </a:pPr>
            <a:r>
              <a:rPr sz="1900" b="1">
                <a:solidFill>
                  <a:srgbClr val="202122"/>
                </a:solidFill>
                <a:latin typeface="Calibri"/>
              </a:rPr>
              <a:t>Recovery Time Objective (RTO):</a:t>
            </a:r>
            <a:r>
              <a:rPr sz="1900" b="0">
                <a:solidFill>
                  <a:srgbClr val="202122"/>
                </a:solidFill>
                <a:latin typeface="Calibri"/>
              </a:rPr>
              <a:t> the maximum time a system can be down before it seriously harms the business.</a:t>
            </a:r>
          </a:p>
          <a:p>
            <a:pPr>
              <a:spcAft>
                <a:spcPts val="1140"/>
              </a:spcAft>
            </a:pPr>
            <a:r>
              <a:rPr sz="1900" b="1">
                <a:solidFill>
                  <a:srgbClr val="202122"/>
                </a:solidFill>
                <a:latin typeface="Calibri"/>
              </a:rPr>
              <a:t>Recovery Point Objective (RPO):</a:t>
            </a:r>
            <a:r>
              <a:rPr sz="1900" b="0">
                <a:solidFill>
                  <a:srgbClr val="202122"/>
                </a:solidFill>
                <a:latin typeface="Calibri"/>
              </a:rPr>
              <a:t> the maximum amount of data, measured in time, the business can afford to lose. It sets how often backups must run.</a:t>
            </a:r>
          </a:p>
          <a:p>
            <a:pPr>
              <a:spcAft>
                <a:spcPts val="1140"/>
              </a:spcAft>
            </a:pPr>
            <a:r>
              <a:rPr sz="1900" b="1">
                <a:solidFill>
                  <a:srgbClr val="202122"/>
                </a:solidFill>
                <a:latin typeface="Calibri"/>
              </a:rPr>
              <a:t>Mean Time Between Failures (MTBF):</a:t>
            </a:r>
            <a:r>
              <a:rPr sz="1900" b="0">
                <a:solidFill>
                  <a:srgbClr val="202122"/>
                </a:solidFill>
                <a:latin typeface="Calibri"/>
              </a:rPr>
              <a:t> how long, on average, an asset runs before failing.</a:t>
            </a:r>
          </a:p>
          <a:p>
            <a:pPr>
              <a:spcAft>
                <a:spcPts val="1140"/>
              </a:spcAft>
            </a:pPr>
            <a:r>
              <a:rPr sz="1900" b="1">
                <a:solidFill>
                  <a:srgbClr val="202122"/>
                </a:solidFill>
                <a:latin typeface="Calibri"/>
              </a:rPr>
              <a:t>Mean Time To Repair (MTTR):</a:t>
            </a:r>
            <a:r>
              <a:rPr sz="1900" b="0">
                <a:solidFill>
                  <a:srgbClr val="202122"/>
                </a:solidFill>
                <a:latin typeface="Calibri"/>
              </a:rPr>
              <a:t> how long, on average, it takes to fix.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Service level agreements (SLAs) turn these into promised uptime and response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An online shop with an RPO of 1 hour must back up at least hourly. An RTO of 4 hours means it needs a restore plan that works in under 4 hours.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Measures that size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Recovery Time Objective: how quickly a system must be 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Recovery Point Objective: how much data loss is tolerable, measured in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MTBF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Mean Time Between Failures: how reliable an asset 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MTTR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Mean Time To Repair: average time to restore a failed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Measures that size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RPO decide?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MTTR measure?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an SLA define?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Backup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A full backup copies everything. It's simple to restore but slow and uses a lot of storage.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An incremental backup copies only what changed since the last backup of any kind. It's fast and small, but a restore needs the last full backup plus every incremental since.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A differential backup copies everything changed since the last full backup. It grows each day, but a restore needs only the full backup and the latest differential.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A mirror is a live, exact copy. It's instant, but deleting a file deletes it in the mirror too.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Choose frequency, source, destination and medium (tape, disk or cloud), and keep one copy off-site.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Full backup on Sunday, incrementals Monday to Saturday. Thursday's crash needs Sunday's full plus Monday, Tuesday and Wednesday's incrementals.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Backup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2340"/>
                <a:gridCol w="4191223"/>
                <a:gridCol w="1972340"/>
                <a:gridCol w="2958510"/>
              </a:tblGrid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is copied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Backup speed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Restore needs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Everything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Slowest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Just the full backup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Incremental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Changes since the last backup of any kind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Fastest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Full plus every incremental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Differential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Changes since the last full backup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Full plus the latest differential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Mirror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An exact live copy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The mirror, but deletions are copied too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Criteria for a backup strategy: frequency, source, destination and storage medium (LTO tape, cloud, disk).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Backup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backup type is quickest to make?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 differential restore need?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isn't a mirror enough on its own?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a DRP and a BCP?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RPO measure?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backup type is quickest to make but slowest to restore?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an SLA define?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must a DRP be tested?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a DRP and a BCP?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DRP restores IT systems; a BCP keeps the wider business running.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RPO measure?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maximum tolerable data loss, measured in time.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backup type is quickest to make but slowest to restore?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Incremental.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an SLA define?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Agreed uptime and response and resolution times.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must a DRP be tested?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prove it works and find gaps before a real disaster.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Design a backup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Disaster Recovery, Continuity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small online shop has an RPO of 1 hour and an RTO of 4 hours.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backup types and a weekly schedule that meets the RPO.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where each backup is stored and on what medium.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how the shop would restore on a Thursday afternoon.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Schedule meets the RPO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At least one copy stored off-site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Restore steps are in the right order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Define MTTR in your own words.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keep one backup off-site?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risk of relying only on a mirror?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Security Procedures and Controls, on your specialism's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https://lana6478.github.io/Digital-Suport-and-security-T-levle/#/02-occupational-specialisms/00-overview.md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Recovery, Continuity and Backup</dc:title>
  <dc:subject>Digital Support and Security T Level: Specialism Content Area 1</dc:subject>
  <dc:creator>Samuel O'Connell</dc:creator>
  <cp:keywords>T Level; Digital Support and Security; lesson slides; DRP, BCP, RTO/RPO/MTBF/MTTR, SLAs, backups (1.8 to 1.12, 1.22 to 1.23; DI 2.18 to 2.19)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