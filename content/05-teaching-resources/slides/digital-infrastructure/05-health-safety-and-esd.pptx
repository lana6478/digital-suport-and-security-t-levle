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specification links static build-up to humidity, so check the room's conditions as part of the 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Components can fail later rather than immediately.</a:t>
            </a:r>
          </a:p>
          <a:p>
            <a:r>
              <a:t>2. Any two: wrist strap, mat, anti-static bag.</a:t>
            </a:r>
          </a:p>
          <a:p>
            <a:r>
              <a:t>3. By their edges.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Manual Handling Operations Regulations 1992.</a:t>
            </a:r>
          </a:p>
          <a:p>
            <a:r>
              <a:t>2. Hazardous substances.</a:t>
            </a:r>
          </a:p>
          <a:p>
            <a:r>
              <a:t>3. The WEEE Directive 2013.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33C17A"/>
                </a:solidFill>
                <a:latin typeface="Calibri"/>
              </a:rPr>
              <a:t>DIGITAL INFRASTRUCTURE</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Health, Safety and ESD in Digital Infrastructure</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Digital Infrastructure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2.4, 2.5</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4028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14400"/>
          </a:xfrm>
          <a:prstGeom prst="rect">
            <a:avLst/>
          </a:prstGeom>
          <a:noFill/>
        </p:spPr>
        <p:txBody>
          <a:bodyPr wrap="square" anchor="ctr" lIns="0" rIns="0" tIns="0" bIns="0"/>
          <a:lstStyle/>
          <a:p>
            <a:pPr algn="l"/>
            <a:r>
              <a:rPr sz="2000" b="0" i="0">
                <a:solidFill>
                  <a:srgbClr val="202122"/>
                </a:solidFill>
                <a:latin typeface="Calibri"/>
              </a:rPr>
              <a:t>Explain how to prevent electrostatic discharge damage.</a:t>
            </a:r>
          </a:p>
        </p:txBody>
      </p:sp>
      <p:sp>
        <p:nvSpPr>
          <p:cNvPr id="9" name="Oval 8"/>
          <p:cNvSpPr/>
          <p:nvPr/>
        </p:nvSpPr>
        <p:spPr>
          <a:xfrm>
            <a:off x="548640" y="329184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63240"/>
            <a:ext cx="6035040" cy="914400"/>
          </a:xfrm>
          <a:prstGeom prst="rect">
            <a:avLst/>
          </a:prstGeom>
          <a:noFill/>
        </p:spPr>
        <p:txBody>
          <a:bodyPr wrap="square" anchor="ctr" lIns="0" rIns="0" tIns="0" bIns="0"/>
          <a:lstStyle/>
          <a:p>
            <a:pPr algn="l"/>
            <a:r>
              <a:rPr sz="2000" b="0" i="0">
                <a:solidFill>
                  <a:srgbClr val="202122"/>
                </a:solidFill>
                <a:latin typeface="Calibri"/>
              </a:rPr>
              <a:t>Apply the risk management process to ESD.</a:t>
            </a:r>
          </a:p>
        </p:txBody>
      </p:sp>
      <p:sp>
        <p:nvSpPr>
          <p:cNvPr id="11" name="Oval 10"/>
          <p:cNvSpPr/>
          <p:nvPr/>
        </p:nvSpPr>
        <p:spPr>
          <a:xfrm>
            <a:off x="548640" y="43434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114800"/>
            <a:ext cx="6035040" cy="914400"/>
          </a:xfrm>
          <a:prstGeom prst="rect">
            <a:avLst/>
          </a:prstGeom>
          <a:noFill/>
        </p:spPr>
        <p:txBody>
          <a:bodyPr wrap="square" anchor="ctr" lIns="0" rIns="0" tIns="0" bIns="0"/>
          <a:lstStyle/>
          <a:p>
            <a:pPr algn="l"/>
            <a:r>
              <a:rPr sz="2000" b="0" i="0">
                <a:solidFill>
                  <a:srgbClr val="202122"/>
                </a:solidFill>
                <a:latin typeface="Calibri"/>
              </a:rPr>
              <a:t>Describe the health and safety legislation that applies to infrastructure work.</a:t>
            </a:r>
          </a:p>
        </p:txBody>
      </p:sp>
      <p:sp>
        <p:nvSpPr>
          <p:cNvPr id="13" name="Rounded Rectangle 12"/>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5" name="TextBox 14"/>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 feel a small shock when you touch a door handle. What would that same shock do to a stick of RAM?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Preventing electrostatic discharge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Electrostatic discharge (ESD) is a sudden flow of static electricity, like the shock from a door handle. A discharge far too small to feel can destroy the tiny circuits in memory, processors and circuit boards.</a:t>
            </a:r>
          </a:p>
          <a:p>
            <a:pPr>
              <a:spcAft>
                <a:spcPts val="1200"/>
              </a:spcAft>
            </a:pPr>
            <a:r>
              <a:rPr sz="2000" b="1">
                <a:solidFill>
                  <a:srgbClr val="202122"/>
                </a:solidFill>
                <a:latin typeface="Calibri"/>
              </a:rPr>
              <a:t>Damage isn't always obvious:</a:t>
            </a:r>
            <a:r>
              <a:rPr sz="2000" b="0">
                <a:solidFill>
                  <a:srgbClr val="202122"/>
                </a:solidFill>
                <a:latin typeface="Calibri"/>
              </a:rPr>
              <a:t> a component may seem fine then fail weeks later.</a:t>
            </a:r>
          </a:p>
          <a:p>
            <a:pPr>
              <a:spcAft>
                <a:spcPts val="1200"/>
              </a:spcAft>
            </a:pPr>
            <a:r>
              <a:rPr sz="2000" b="0">
                <a:solidFill>
                  <a:srgbClr val="202122"/>
                </a:solidFill>
                <a:latin typeface="Calibri"/>
              </a:rPr>
              <a:t>Reduce the risk by limiting movement while handling parts, checking temperature and humidity (static builds up more in dry air), wearing an anti-static wrist strap connected to earth, working on an anti-static mat, holding boards by their edges and keeping components in anti-static bags until needed.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Upgrading RAM: power off and unplug, clip on the wrist strap, touch the case, then handle the module by its edges only.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Preventing electrostatic discharge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TextBox 5"/>
          <p:cNvSpPr txBox="1"/>
          <p:nvPr/>
        </p:nvSpPr>
        <p:spPr>
          <a:xfrm>
            <a:off x="548640" y="1600200"/>
            <a:ext cx="6675120" cy="4572000"/>
          </a:xfrm>
          <a:prstGeom prst="rect">
            <a:avLst/>
          </a:prstGeom>
          <a:noFill/>
        </p:spPr>
        <p:txBody>
          <a:bodyPr wrap="square" lIns="0" rIns="0" tIns="0" bIns="0">
            <a:spAutoFit/>
          </a:bodyPr>
          <a:lstStyle/>
          <a:p>
            <a:pPr marL="274320" indent="-274320">
              <a:spcAft>
                <a:spcPts val="1080"/>
              </a:spcAft>
              <a:buClr>
                <a:srgbClr val="0645AD"/>
              </a:buClr>
              <a:buFont typeface="Arial"/>
              <a:buChar char="•"/>
            </a:pPr>
            <a:r>
              <a:rPr sz="2400" b="0">
                <a:solidFill>
                  <a:srgbClr val="202122"/>
                </a:solidFill>
                <a:latin typeface="Calibri"/>
              </a:rPr>
              <a:t>Limit movement while handling components.</a:t>
            </a:r>
          </a:p>
          <a:p>
            <a:pPr marL="274320" indent="-274320">
              <a:spcAft>
                <a:spcPts val="1080"/>
              </a:spcAft>
              <a:buClr>
                <a:srgbClr val="0645AD"/>
              </a:buClr>
              <a:buFont typeface="Arial"/>
              <a:buChar char="•"/>
            </a:pPr>
            <a:r>
              <a:rPr sz="2400" b="0">
                <a:solidFill>
                  <a:srgbClr val="202122"/>
                </a:solidFill>
                <a:latin typeface="Calibri"/>
              </a:rPr>
              <a:t>Check temperature and humidity in the work area.</a:t>
            </a:r>
          </a:p>
          <a:p>
            <a:pPr marL="274320" indent="-274320">
              <a:spcAft>
                <a:spcPts val="1080"/>
              </a:spcAft>
              <a:buClr>
                <a:srgbClr val="0645AD"/>
              </a:buClr>
              <a:buFont typeface="Arial"/>
              <a:buChar char="•"/>
            </a:pPr>
            <a:r>
              <a:rPr sz="2400" b="1">
                <a:solidFill>
                  <a:srgbClr val="202122"/>
                </a:solidFill>
                <a:latin typeface="Calibri"/>
              </a:rPr>
              <a:t>Use anti-static equipment:</a:t>
            </a:r>
            <a:r>
              <a:rPr sz="2400" b="0">
                <a:solidFill>
                  <a:srgbClr val="202122"/>
                </a:solidFill>
                <a:latin typeface="Calibri"/>
              </a:rPr>
              <a:t> wrist straps, mats and bags.</a:t>
            </a:r>
          </a:p>
          <a:p>
            <a:pPr marL="274320" indent="-274320">
              <a:spcAft>
                <a:spcPts val="1080"/>
              </a:spcAft>
              <a:buClr>
                <a:srgbClr val="0645AD"/>
              </a:buClr>
              <a:buFont typeface="Arial"/>
              <a:buChar char="•"/>
            </a:pPr>
            <a:r>
              <a:rPr sz="2400" b="0">
                <a:solidFill>
                  <a:srgbClr val="202122"/>
                </a:solidFill>
                <a:latin typeface="Calibri"/>
              </a:rPr>
              <a:t>Handle components by the edges and keep them in anti-static bags until needed.</a:t>
            </a:r>
          </a:p>
        </p:txBody>
      </p:sp>
      <p:sp>
        <p:nvSpPr>
          <p:cNvPr id="7" name="Rounded Rectangle 6"/>
          <p:cNvSpPr/>
          <p:nvPr/>
        </p:nvSpPr>
        <p:spPr>
          <a:xfrm>
            <a:off x="7772400" y="1600200"/>
            <a:ext cx="3867912" cy="443484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74519"/>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a:t>
            </a:r>
          </a:p>
        </p:txBody>
      </p:sp>
      <p:sp>
        <p:nvSpPr>
          <p:cNvPr id="9" name="TextBox 8"/>
          <p:cNvSpPr txBox="1"/>
          <p:nvPr/>
        </p:nvSpPr>
        <p:spPr>
          <a:xfrm>
            <a:off x="8046720" y="2606040"/>
            <a:ext cx="3291840" cy="365760"/>
          </a:xfrm>
          <a:prstGeom prst="rect">
            <a:avLst/>
          </a:prstGeom>
          <a:noFill/>
        </p:spPr>
        <p:txBody>
          <a:bodyPr wrap="square" anchor="t" lIns="0" rIns="0" tIns="0" bIns="0"/>
          <a:lstStyle/>
          <a:p>
            <a:pPr algn="l"/>
            <a:r>
              <a:rPr sz="1300" b="1" i="0">
                <a:solidFill>
                  <a:srgbClr val="A9C8F0"/>
                </a:solidFill>
                <a:latin typeface="Calibri"/>
              </a:rPr>
              <a:t>KEY IDEA</a:t>
            </a:r>
          </a:p>
        </p:txBody>
      </p:sp>
      <p:sp>
        <p:nvSpPr>
          <p:cNvPr id="10" name="TextBox 9"/>
          <p:cNvSpPr txBox="1"/>
          <p:nvPr/>
        </p:nvSpPr>
        <p:spPr>
          <a:xfrm>
            <a:off x="8046720" y="3017520"/>
            <a:ext cx="3291840" cy="2926080"/>
          </a:xfrm>
          <a:prstGeom prst="rect">
            <a:avLst/>
          </a:prstGeom>
          <a:noFill/>
        </p:spPr>
        <p:txBody>
          <a:bodyPr wrap="square" anchor="t" lIns="0" rIns="0" tIns="0" bIns="0"/>
          <a:lstStyle/>
          <a:p>
            <a:pPr algn="l"/>
            <a:r>
              <a:rPr sz="2200" b="0" i="0">
                <a:solidFill>
                  <a:srgbClr val="FFFFFF"/>
                </a:solidFill>
                <a:latin typeface="Cambria"/>
              </a:rPr>
              <a:t>ESD damage is often invisible. A component can seem fine and fail weeks later.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Preventing electrostatic discharge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Why is ESD damage hard to spot?</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Name two pieces of anti-static equipment.</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should circuit boards be held?</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Risk managing ESD</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Rectangle 5"/>
          <p:cNvSpPr/>
          <p:nvPr/>
        </p:nvSpPr>
        <p:spPr>
          <a:xfrm>
            <a:off x="1603217" y="2793492"/>
            <a:ext cx="8985260"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83177" y="249174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268979"/>
            <a:ext cx="2109155" cy="731520"/>
          </a:xfrm>
          <a:prstGeom prst="rect">
            <a:avLst/>
          </a:prstGeom>
          <a:noFill/>
        </p:spPr>
        <p:txBody>
          <a:bodyPr wrap="square" anchor="t" lIns="0" rIns="0" tIns="0" bIns="0"/>
          <a:lstStyle/>
          <a:p>
            <a:pPr algn="ctr"/>
            <a:r>
              <a:rPr sz="1700" b="1" i="0">
                <a:solidFill>
                  <a:srgbClr val="03306E"/>
                </a:solidFill>
                <a:latin typeface="Calibri"/>
              </a:rPr>
              <a:t>Identify</a:t>
            </a:r>
          </a:p>
        </p:txBody>
      </p:sp>
      <p:sp>
        <p:nvSpPr>
          <p:cNvPr id="9" name="Rounded Rectangle 8"/>
          <p:cNvSpPr/>
          <p:nvPr/>
        </p:nvSpPr>
        <p:spPr>
          <a:xfrm>
            <a:off x="548640"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183380"/>
            <a:ext cx="1834835" cy="960119"/>
          </a:xfrm>
          <a:prstGeom prst="rect">
            <a:avLst/>
          </a:prstGeom>
          <a:noFill/>
        </p:spPr>
        <p:txBody>
          <a:bodyPr wrap="square" anchor="t" lIns="0" rIns="0" tIns="0" bIns="0"/>
          <a:lstStyle/>
          <a:p>
            <a:pPr algn="l"/>
            <a:r>
              <a:rPr sz="1800" b="0" i="0">
                <a:solidFill>
                  <a:srgbClr val="202122"/>
                </a:solidFill>
                <a:latin typeface="Calibri"/>
              </a:rPr>
              <a:t>Risks and their effect on people and kit.</a:t>
            </a:r>
          </a:p>
        </p:txBody>
      </p:sp>
      <p:sp>
        <p:nvSpPr>
          <p:cNvPr id="11" name="Oval 10"/>
          <p:cNvSpPr/>
          <p:nvPr/>
        </p:nvSpPr>
        <p:spPr>
          <a:xfrm>
            <a:off x="3529492" y="249174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794955" y="3268979"/>
            <a:ext cx="2109155" cy="731520"/>
          </a:xfrm>
          <a:prstGeom prst="rect">
            <a:avLst/>
          </a:prstGeom>
          <a:noFill/>
        </p:spPr>
        <p:txBody>
          <a:bodyPr wrap="square" anchor="t" lIns="0" rIns="0" tIns="0" bIns="0"/>
          <a:lstStyle/>
          <a:p>
            <a:pPr algn="ctr"/>
            <a:r>
              <a:rPr sz="1700" b="1" i="0">
                <a:solidFill>
                  <a:srgbClr val="03306E"/>
                </a:solidFill>
                <a:latin typeface="Calibri"/>
              </a:rPr>
              <a:t>Assess</a:t>
            </a:r>
          </a:p>
        </p:txBody>
      </p:sp>
      <p:sp>
        <p:nvSpPr>
          <p:cNvPr id="13" name="Rounded Rectangle 12"/>
          <p:cNvSpPr/>
          <p:nvPr/>
        </p:nvSpPr>
        <p:spPr>
          <a:xfrm>
            <a:off x="2794955"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32115" y="4183380"/>
            <a:ext cx="1834835" cy="960119"/>
          </a:xfrm>
          <a:prstGeom prst="rect">
            <a:avLst/>
          </a:prstGeom>
          <a:noFill/>
        </p:spPr>
        <p:txBody>
          <a:bodyPr wrap="square" anchor="t" lIns="0" rIns="0" tIns="0" bIns="0"/>
          <a:lstStyle/>
          <a:p>
            <a:pPr algn="l"/>
            <a:r>
              <a:rPr sz="1800" b="0" i="0">
                <a:solidFill>
                  <a:srgbClr val="202122"/>
                </a:solidFill>
                <a:latin typeface="Calibri"/>
              </a:rPr>
              <a:t>Calculate probability and impact.</a:t>
            </a:r>
          </a:p>
        </p:txBody>
      </p:sp>
      <p:sp>
        <p:nvSpPr>
          <p:cNvPr id="15" name="Oval 14"/>
          <p:cNvSpPr/>
          <p:nvPr/>
        </p:nvSpPr>
        <p:spPr>
          <a:xfrm>
            <a:off x="5775807" y="249174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5041270" y="3268979"/>
            <a:ext cx="2109155" cy="731520"/>
          </a:xfrm>
          <a:prstGeom prst="rect">
            <a:avLst/>
          </a:prstGeom>
          <a:noFill/>
        </p:spPr>
        <p:txBody>
          <a:bodyPr wrap="square" anchor="t" lIns="0" rIns="0" tIns="0" bIns="0"/>
          <a:lstStyle/>
          <a:p>
            <a:pPr algn="ctr"/>
            <a:r>
              <a:rPr sz="1700" b="1" i="0">
                <a:solidFill>
                  <a:srgbClr val="03306E"/>
                </a:solidFill>
                <a:latin typeface="Calibri"/>
              </a:rPr>
              <a:t>Prioritise</a:t>
            </a:r>
          </a:p>
        </p:txBody>
      </p:sp>
      <p:sp>
        <p:nvSpPr>
          <p:cNvPr id="17" name="Rounded Rectangle 16"/>
          <p:cNvSpPr/>
          <p:nvPr/>
        </p:nvSpPr>
        <p:spPr>
          <a:xfrm>
            <a:off x="5041270"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78430" y="4183380"/>
            <a:ext cx="1834835" cy="960119"/>
          </a:xfrm>
          <a:prstGeom prst="rect">
            <a:avLst/>
          </a:prstGeom>
          <a:noFill/>
        </p:spPr>
        <p:txBody>
          <a:bodyPr wrap="square" anchor="t" lIns="0" rIns="0" tIns="0" bIns="0"/>
          <a:lstStyle/>
          <a:p>
            <a:pPr algn="l"/>
            <a:r>
              <a:rPr sz="1800" b="0" i="0">
                <a:solidFill>
                  <a:srgbClr val="202122"/>
                </a:solidFill>
                <a:latin typeface="Calibri"/>
              </a:rPr>
              <a:t>Rank the risks.</a:t>
            </a:r>
          </a:p>
        </p:txBody>
      </p:sp>
      <p:sp>
        <p:nvSpPr>
          <p:cNvPr id="19" name="Oval 18"/>
          <p:cNvSpPr/>
          <p:nvPr/>
        </p:nvSpPr>
        <p:spPr>
          <a:xfrm>
            <a:off x="8022122" y="249174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7287585" y="3268979"/>
            <a:ext cx="2109155" cy="731520"/>
          </a:xfrm>
          <a:prstGeom prst="rect">
            <a:avLst/>
          </a:prstGeom>
          <a:noFill/>
        </p:spPr>
        <p:txBody>
          <a:bodyPr wrap="square" anchor="t" lIns="0" rIns="0" tIns="0" bIns="0"/>
          <a:lstStyle/>
          <a:p>
            <a:pPr algn="ctr"/>
            <a:r>
              <a:rPr sz="1700" b="1" i="0">
                <a:solidFill>
                  <a:srgbClr val="03306E"/>
                </a:solidFill>
                <a:latin typeface="Calibri"/>
              </a:rPr>
              <a:t>Protect</a:t>
            </a:r>
          </a:p>
        </p:txBody>
      </p:sp>
      <p:sp>
        <p:nvSpPr>
          <p:cNvPr id="21" name="Rounded Rectangle 20"/>
          <p:cNvSpPr/>
          <p:nvPr/>
        </p:nvSpPr>
        <p:spPr>
          <a:xfrm>
            <a:off x="7287585"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745" y="4183380"/>
            <a:ext cx="1834835" cy="960119"/>
          </a:xfrm>
          <a:prstGeom prst="rect">
            <a:avLst/>
          </a:prstGeom>
          <a:noFill/>
        </p:spPr>
        <p:txBody>
          <a:bodyPr wrap="square" anchor="t" lIns="0" rIns="0" tIns="0" bIns="0"/>
          <a:lstStyle/>
          <a:p>
            <a:pPr algn="l"/>
            <a:r>
              <a:rPr sz="1800" b="0" i="0">
                <a:solidFill>
                  <a:srgbClr val="202122"/>
                </a:solidFill>
                <a:latin typeface="Calibri"/>
              </a:rPr>
              <a:t>Apply ESD protection.</a:t>
            </a:r>
          </a:p>
        </p:txBody>
      </p:sp>
      <p:sp>
        <p:nvSpPr>
          <p:cNvPr id="23" name="Oval 22"/>
          <p:cNvSpPr/>
          <p:nvPr/>
        </p:nvSpPr>
        <p:spPr>
          <a:xfrm>
            <a:off x="10268437" y="2491740"/>
            <a:ext cx="640080" cy="6400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9533900" y="3268979"/>
            <a:ext cx="2109155" cy="731520"/>
          </a:xfrm>
          <a:prstGeom prst="rect">
            <a:avLst/>
          </a:prstGeom>
          <a:noFill/>
        </p:spPr>
        <p:txBody>
          <a:bodyPr wrap="square" anchor="t" lIns="0" rIns="0" tIns="0" bIns="0"/>
          <a:lstStyle/>
          <a:p>
            <a:pPr algn="ctr"/>
            <a:r>
              <a:rPr sz="1700" b="1" i="0">
                <a:solidFill>
                  <a:srgbClr val="03306E"/>
                </a:solidFill>
                <a:latin typeface="Calibri"/>
              </a:rPr>
              <a:t>Record</a:t>
            </a:r>
          </a:p>
        </p:txBody>
      </p:sp>
      <p:sp>
        <p:nvSpPr>
          <p:cNvPr id="25" name="Rounded Rectangle 24"/>
          <p:cNvSpPr/>
          <p:nvPr/>
        </p:nvSpPr>
        <p:spPr>
          <a:xfrm>
            <a:off x="9533900" y="4046220"/>
            <a:ext cx="2109155" cy="1234439"/>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71060" y="4183380"/>
            <a:ext cx="1834835" cy="960119"/>
          </a:xfrm>
          <a:prstGeom prst="rect">
            <a:avLst/>
          </a:prstGeom>
          <a:noFill/>
        </p:spPr>
        <p:txBody>
          <a:bodyPr wrap="square" anchor="t" lIns="0" rIns="0" tIns="0" bIns="0"/>
          <a:lstStyle/>
          <a:p>
            <a:pPr algn="l"/>
            <a:r>
              <a:rPr sz="1800" b="0" i="0">
                <a:solidFill>
                  <a:srgbClr val="202122"/>
                </a:solidFill>
                <a:latin typeface="Calibri"/>
              </a:rPr>
              <a:t>Write up findings; comply with H&amp;S law.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Health and safety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Infrastructure work is covered by several health and safety laws.</a:t>
            </a:r>
          </a:p>
          <a:p>
            <a:pPr>
              <a:spcAft>
                <a:spcPts val="1260"/>
              </a:spcAft>
            </a:pPr>
            <a:r>
              <a:rPr sz="2100" b="0">
                <a:solidFill>
                  <a:srgbClr val="202122"/>
                </a:solidFill>
                <a:latin typeface="Calibri"/>
              </a:rPr>
              <a:t>The Health and Safety at Work etc. Act 1974 sets the employer's general duty of care, including PPE. The Manual Handling Operations Regulations 1992 cover lifting servers and network kit. The Display Screen Equipment Regulations cover workstation set-up and screen breaks.</a:t>
            </a:r>
          </a:p>
          <a:p>
            <a:pPr>
              <a:spcAft>
                <a:spcPts val="1260"/>
              </a:spcAft>
            </a:pPr>
            <a:r>
              <a:rPr sz="2100" b="0">
                <a:solidFill>
                  <a:srgbClr val="202122"/>
                </a:solidFill>
                <a:latin typeface="Calibri"/>
              </a:rPr>
              <a:t>COSHH covers hazardous substances such as printer toner. The Control of Major Accident Hazards Regulations 2015 include earthing. The WEEE Directive 2013 covers disposing of old hardware responsibly.</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Replacing a UPS battery: manual handling (it's heavy), COSHH (battery acid) and WEEE (disposal) all apply.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Health and safety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graphicFrame>
        <p:nvGraphicFramePr>
          <p:cNvPr id="6" name="Table 5"/>
          <p:cNvGraphicFramePr>
            <a:graphicFrameLocks noGrp="1"/>
          </p:cNvGraphicFramePr>
          <p:nvPr/>
        </p:nvGraphicFramePr>
        <p:xfrm>
          <a:off x="548640" y="1600200"/>
          <a:ext cx="11094415" cy="4526277"/>
        </p:xfrm>
        <a:graphic>
          <a:graphicData uri="http://schemas.openxmlformats.org/drawingml/2006/table">
            <a:tbl>
              <a:tblPr firstRow="1" bandRow="1">
                <a:tableStyleId>{5C22544A-7EE6-4342-B048-85BDC9FD1C3A}</a:tableStyleId>
              </a:tblPr>
              <a:tblGrid>
                <a:gridCol w="5160193"/>
                <a:gridCol w="5934222"/>
              </a:tblGrid>
              <a:tr h="646611">
                <a:tc>
                  <a:txBody>
                    <a:bodyPr wrap="square"/>
                    <a:lstStyle/>
                    <a:p>
                      <a:r>
                        <a:rPr sz="1600" b="1">
                          <a:solidFill>
                            <a:srgbClr val="FFFFFF"/>
                          </a:solidFill>
                          <a:latin typeface="Calibri"/>
                        </a:rPr>
                        <a:t>Legislation</a:t>
                      </a:r>
                    </a:p>
                  </a:txBody>
                  <a:tcPr marL="91440" marR="91440" anchor="ctr">
                    <a:solidFill>
                      <a:srgbClr val="03306E"/>
                    </a:solidFill>
                  </a:tcPr>
                </a:tc>
                <a:tc>
                  <a:txBody>
                    <a:bodyPr wrap="square"/>
                    <a:lstStyle/>
                    <a:p>
                      <a:r>
                        <a:rPr sz="1600" b="1">
                          <a:solidFill>
                            <a:srgbClr val="FFFFFF"/>
                          </a:solidFill>
                          <a:latin typeface="Calibri"/>
                        </a:rPr>
                        <a:t>Example in infrastructure work</a:t>
                      </a:r>
                    </a:p>
                  </a:txBody>
                  <a:tcPr marL="91440" marR="91440" anchor="ctr">
                    <a:solidFill>
                      <a:srgbClr val="03306E"/>
                    </a:solidFill>
                  </a:tcPr>
                </a:tc>
              </a:tr>
              <a:tr h="646611">
                <a:tc>
                  <a:txBody>
                    <a:bodyPr wrap="square"/>
                    <a:lstStyle/>
                    <a:p>
                      <a:r>
                        <a:rPr sz="1600" b="1">
                          <a:solidFill>
                            <a:srgbClr val="03306E"/>
                          </a:solidFill>
                          <a:latin typeface="Calibri"/>
                        </a:rPr>
                        <a:t>Health and Safety at Work etc. Act 1974</a:t>
                      </a:r>
                    </a:p>
                  </a:txBody>
                  <a:tcPr marL="91440" marR="91440" anchor="ctr">
                    <a:solidFill>
                      <a:srgbClr val="FFFFFF"/>
                    </a:solidFill>
                  </a:tcPr>
                </a:tc>
                <a:tc>
                  <a:txBody>
                    <a:bodyPr wrap="square"/>
                    <a:lstStyle/>
                    <a:p>
                      <a:r>
                        <a:rPr sz="1600" b="0">
                          <a:solidFill>
                            <a:srgbClr val="202122"/>
                          </a:solidFill>
                          <a:latin typeface="Calibri"/>
                        </a:rPr>
                        <a:t>PPE and the employer's duty of care</a:t>
                      </a:r>
                    </a:p>
                  </a:txBody>
                  <a:tcPr marL="91440" marR="91440" anchor="ctr">
                    <a:solidFill>
                      <a:srgbClr val="FFFFFF"/>
                    </a:solidFill>
                  </a:tcPr>
                </a:tc>
              </a:tr>
              <a:tr h="646611">
                <a:tc>
                  <a:txBody>
                    <a:bodyPr wrap="square"/>
                    <a:lstStyle/>
                    <a:p>
                      <a:r>
                        <a:rPr sz="1600" b="1">
                          <a:solidFill>
                            <a:srgbClr val="03306E"/>
                          </a:solidFill>
                          <a:latin typeface="Calibri"/>
                        </a:rPr>
                        <a:t>Manual Handling Operations Regulations 1992</a:t>
                      </a:r>
                    </a:p>
                  </a:txBody>
                  <a:tcPr marL="91440" marR="91440" anchor="ctr">
                    <a:solidFill>
                      <a:srgbClr val="EAF3FF"/>
                    </a:solidFill>
                  </a:tcPr>
                </a:tc>
                <a:tc>
                  <a:txBody>
                    <a:bodyPr wrap="square"/>
                    <a:lstStyle/>
                    <a:p>
                      <a:r>
                        <a:rPr sz="1600" b="0">
                          <a:solidFill>
                            <a:srgbClr val="202122"/>
                          </a:solidFill>
                          <a:latin typeface="Calibri"/>
                        </a:rPr>
                        <a:t>Moving servers and network kit</a:t>
                      </a:r>
                    </a:p>
                  </a:txBody>
                  <a:tcPr marL="91440" marR="91440" anchor="ctr">
                    <a:solidFill>
                      <a:srgbClr val="EAF3FF"/>
                    </a:solidFill>
                  </a:tcPr>
                </a:tc>
              </a:tr>
              <a:tr h="646611">
                <a:tc>
                  <a:txBody>
                    <a:bodyPr wrap="square"/>
                    <a:lstStyle/>
                    <a:p>
                      <a:r>
                        <a:rPr sz="1600" b="1">
                          <a:solidFill>
                            <a:srgbClr val="03306E"/>
                          </a:solidFill>
                          <a:latin typeface="Calibri"/>
                        </a:rPr>
                        <a:t>Health and Safety (DSE) Regulations</a:t>
                      </a:r>
                    </a:p>
                  </a:txBody>
                  <a:tcPr marL="91440" marR="91440" anchor="ctr">
                    <a:solidFill>
                      <a:srgbClr val="FFFFFF"/>
                    </a:solidFill>
                  </a:tcPr>
                </a:tc>
                <a:tc>
                  <a:txBody>
                    <a:bodyPr wrap="square"/>
                    <a:lstStyle/>
                    <a:p>
                      <a:r>
                        <a:rPr sz="1600" b="0">
                          <a:solidFill>
                            <a:srgbClr val="202122"/>
                          </a:solidFill>
                          <a:latin typeface="Calibri"/>
                        </a:rPr>
                        <a:t>Screen time and workstation setup</a:t>
                      </a:r>
                    </a:p>
                  </a:txBody>
                  <a:tcPr marL="91440" marR="91440" anchor="ctr">
                    <a:solidFill>
                      <a:srgbClr val="FFFFFF"/>
                    </a:solidFill>
                  </a:tcPr>
                </a:tc>
              </a:tr>
              <a:tr h="646611">
                <a:tc>
                  <a:txBody>
                    <a:bodyPr wrap="square"/>
                    <a:lstStyle/>
                    <a:p>
                      <a:r>
                        <a:rPr sz="1600" b="1">
                          <a:solidFill>
                            <a:srgbClr val="03306E"/>
                          </a:solidFill>
                          <a:latin typeface="Calibri"/>
                        </a:rPr>
                        <a:t>COSHH Regulations 2002</a:t>
                      </a:r>
                    </a:p>
                  </a:txBody>
                  <a:tcPr marL="91440" marR="91440" anchor="ctr">
                    <a:solidFill>
                      <a:srgbClr val="EAF3FF"/>
                    </a:solidFill>
                  </a:tcPr>
                </a:tc>
                <a:tc>
                  <a:txBody>
                    <a:bodyPr wrap="square"/>
                    <a:lstStyle/>
                    <a:p>
                      <a:r>
                        <a:rPr sz="1600" b="0">
                          <a:solidFill>
                            <a:srgbClr val="202122"/>
                          </a:solidFill>
                          <a:latin typeface="Calibri"/>
                        </a:rPr>
                        <a:t>Chemicals, e.g. printer toner</a:t>
                      </a:r>
                    </a:p>
                  </a:txBody>
                  <a:tcPr marL="91440" marR="91440" anchor="ctr">
                    <a:solidFill>
                      <a:srgbClr val="EAF3FF"/>
                    </a:solidFill>
                  </a:tcPr>
                </a:tc>
              </a:tr>
              <a:tr h="646611">
                <a:tc>
                  <a:txBody>
                    <a:bodyPr wrap="square"/>
                    <a:lstStyle/>
                    <a:p>
                      <a:r>
                        <a:rPr sz="1600" b="1">
                          <a:solidFill>
                            <a:srgbClr val="03306E"/>
                          </a:solidFill>
                          <a:latin typeface="Calibri"/>
                        </a:rPr>
                        <a:t>Control of Major Accident Hazards Regulations 2015</a:t>
                      </a:r>
                    </a:p>
                  </a:txBody>
                  <a:tcPr marL="91440" marR="91440" anchor="ctr">
                    <a:solidFill>
                      <a:srgbClr val="FFFFFF"/>
                    </a:solidFill>
                  </a:tcPr>
                </a:tc>
                <a:tc>
                  <a:txBody>
                    <a:bodyPr wrap="square"/>
                    <a:lstStyle/>
                    <a:p>
                      <a:r>
                        <a:rPr sz="1600" b="0">
                          <a:solidFill>
                            <a:srgbClr val="202122"/>
                          </a:solidFill>
                          <a:latin typeface="Calibri"/>
                        </a:rPr>
                        <a:t>e.g. earthing</a:t>
                      </a:r>
                    </a:p>
                  </a:txBody>
                  <a:tcPr marL="91440" marR="91440" anchor="ctr">
                    <a:solidFill>
                      <a:srgbClr val="FFFFFF"/>
                    </a:solidFill>
                  </a:tcPr>
                </a:tc>
              </a:tr>
              <a:tr h="646611">
                <a:tc>
                  <a:txBody>
                    <a:bodyPr wrap="square"/>
                    <a:lstStyle/>
                    <a:p>
                      <a:r>
                        <a:rPr sz="1600" b="1">
                          <a:solidFill>
                            <a:srgbClr val="03306E"/>
                          </a:solidFill>
                          <a:latin typeface="Calibri"/>
                        </a:rPr>
                        <a:t>WEEE Directive 2013</a:t>
                      </a:r>
                    </a:p>
                  </a:txBody>
                  <a:tcPr marL="91440" marR="91440" anchor="ctr">
                    <a:solidFill>
                      <a:srgbClr val="EAF3FF"/>
                    </a:solidFill>
                  </a:tcPr>
                </a:tc>
                <a:tc>
                  <a:txBody>
                    <a:bodyPr wrap="square"/>
                    <a:lstStyle/>
                    <a:p>
                      <a:r>
                        <a:rPr sz="1600" b="0">
                          <a:solidFill>
                            <a:srgbClr val="202122"/>
                          </a:solidFill>
                          <a:latin typeface="Calibri"/>
                        </a:rPr>
                        <a:t>Disposing of hardware and network components</a:t>
                      </a:r>
                    </a:p>
                  </a:txBody>
                  <a:tcPr marL="91440" marR="91440" anchor="ctr">
                    <a:solidFill>
                      <a:srgbClr val="EAF3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Health and safety legislation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regulations cover lifting heavy servers?</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COSHH cover?</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law covers disposing of old network kit?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Name two pieces of anti-static equipment.</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Why is ESD damage dangerous even if nothing seems wrong?</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Which regulations cover chemicals such as toner?</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Which law covers disposing of old switches?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Name two pieces of anti-static equipment.</a:t>
            </a:r>
          </a:p>
          <a:p>
            <a:r>
              <a:rPr sz="1800" b="1">
                <a:solidFill>
                  <a:srgbClr val="03306E"/>
                </a:solidFill>
                <a:latin typeface="Calibri"/>
              </a:rPr>
              <a:t>Any two of: wrist strap, mat, anti-static bag.</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Why is ESD damage dangerous even if nothing seems wrong?</a:t>
            </a:r>
          </a:p>
          <a:p>
            <a:r>
              <a:rPr sz="1800" b="1">
                <a:solidFill>
                  <a:srgbClr val="03306E"/>
                </a:solidFill>
                <a:latin typeface="Calibri"/>
              </a:rPr>
              <a:t>Components can be weakened and fail later.</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Which regulations cover chemicals such as toner?</a:t>
            </a:r>
          </a:p>
          <a:p>
            <a:r>
              <a:rPr sz="1800" b="1">
                <a:solidFill>
                  <a:srgbClr val="03306E"/>
                </a:solidFill>
                <a:latin typeface="Calibri"/>
              </a:rPr>
              <a:t>COSHH Regulations 2002.</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Which law covers disposing of old switches?</a:t>
            </a:r>
          </a:p>
          <a:p>
            <a:r>
              <a:rPr sz="1800" b="1">
                <a:solidFill>
                  <a:srgbClr val="03306E"/>
                </a:solidFill>
                <a:latin typeface="Calibri"/>
              </a:rPr>
              <a:t>WEEE Directive 2013.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ESD risk assessment and RAM swap</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Health, Safety and ESD in Digital Infrastructure</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508760"/>
            <a:ext cx="2011680" cy="457200"/>
          </a:xfrm>
          <a:prstGeom prst="roundRect">
            <a:avLst>
              <a:gd name="adj" fmla="val 50000"/>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 practical</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Complete an ESD risk assessment for upgrading RAM in a lab PC.</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Set up the anti-static workstation.</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Remove and replace the RAM following your assessment.</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Record the outcome and any issues.</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Risk assessment completed before starting</a:t>
            </a:r>
          </a:p>
          <a:p>
            <a:pPr marL="274320" indent="-274320">
              <a:spcAft>
                <a:spcPts val="810"/>
              </a:spcAft>
              <a:buClr>
                <a:srgbClr val="0645AD"/>
              </a:buClr>
              <a:buFont typeface="Arial"/>
              <a:buChar char="•"/>
            </a:pPr>
            <a:r>
              <a:rPr sz="1800" b="0">
                <a:solidFill>
                  <a:srgbClr val="202122"/>
                </a:solidFill>
                <a:latin typeface="Calibri"/>
              </a:rPr>
              <a:t>Wrist strap used correctly</a:t>
            </a:r>
          </a:p>
          <a:p>
            <a:pPr marL="274320" indent="-274320">
              <a:spcAft>
                <a:spcPts val="810"/>
              </a:spcAft>
              <a:buClr>
                <a:srgbClr val="0645AD"/>
              </a:buClr>
              <a:buFont typeface="Arial"/>
              <a:buChar char="•"/>
            </a:pPr>
            <a:r>
              <a:rPr sz="1800" b="0">
                <a:solidFill>
                  <a:srgbClr val="202122"/>
                </a:solidFill>
                <a:latin typeface="Calibri"/>
              </a:rPr>
              <a:t>PC boots and detects the RAM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DIGITAL INFRASTRUCTURE  ·  Digital Infrastructure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Name one environmental factor that affects static.</a:t>
            </a:r>
          </a:p>
        </p:txBody>
      </p:sp>
      <p:sp>
        <p:nvSpPr>
          <p:cNvPr id="6" name="Oval 5"/>
          <p:cNvSpPr/>
          <p:nvPr/>
        </p:nvSpPr>
        <p:spPr>
          <a:xfrm>
            <a:off x="548640" y="26974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Which Act sets out the employer's duty of care?</a:t>
            </a:r>
          </a:p>
        </p:txBody>
      </p:sp>
      <p:sp>
        <p:nvSpPr>
          <p:cNvPr id="8" name="Oval 7"/>
          <p:cNvSpPr/>
          <p:nvPr/>
        </p:nvSpPr>
        <p:spPr>
          <a:xfrm>
            <a:off x="548640" y="365760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should you do before opening a PC case?</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Digital Infrastructure - Physical and Virtual Infrastructure</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https://lana6478.github.io/Digital-Suport-and-security-T-levle/#/02-occupational-specialisms/digital-infrastructure/02-physical-and-virtual-infrastructure.md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 Safety and ESD in Digital Infrastructure</dc:title>
  <dc:subject>Digital Support and Security T Level: Digital Infrastructure Content Area 2</dc:subject>
  <dc:creator>Samuel O'Connell</dc:creator>
  <cp:keywords>T Level; Digital Support and Security; lesson slides; 2.4, 2.5</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