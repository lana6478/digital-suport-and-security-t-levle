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stage should be applied safely and documented.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33C17A"/>
                </a:solidFill>
                <a:latin typeface="Calibri"/>
              </a:rPr>
              <a:t>DIGITAL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Service Management and the Solution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Digital Infrastructure Content Area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2.16, 2.17, 2.20 to 2.22, 2.24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Service Management and the Solution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ITSM principles and the ITIL service lifecycle.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stages of the solution lifecycle.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DevOps principles and solution architecture.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Apply continuous improvement to hardware and networks.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Your phone gets a software update every few weeks. Why not wait and release one big update a year?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ITSM and ITIL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Service Management and the Solution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ITSM principles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Co-create value through service relationships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Deliver a good customer experience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Consider the wider impact of change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Work across departments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ITIL lifecycle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Service strategy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Service design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Service transition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Service operation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Continual service improvement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solution lifecycle (SLC)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Service Management and the Solution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2315" y="2808732"/>
            <a:ext cx="9627064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962275" y="250698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84219"/>
            <a:ext cx="146735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Discover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61460"/>
            <a:ext cx="1467350" cy="12039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198620"/>
            <a:ext cx="1193030" cy="929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202122"/>
                </a:solidFill>
                <a:latin typeface="Calibri"/>
              </a:rPr>
              <a:t>Requirements, feasibility, concept.</a:t>
            </a:r>
          </a:p>
        </p:txBody>
      </p:sp>
      <p:sp>
        <p:nvSpPr>
          <p:cNvPr id="11" name="Oval 10"/>
          <p:cNvSpPr/>
          <p:nvPr/>
        </p:nvSpPr>
        <p:spPr>
          <a:xfrm>
            <a:off x="2566786" y="250698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3150" y="3284219"/>
            <a:ext cx="146735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Design and develop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53150" y="4061460"/>
            <a:ext cx="1467350" cy="12039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290310" y="4198620"/>
            <a:ext cx="1193030" cy="929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202122"/>
                </a:solidFill>
                <a:latin typeface="Calibri"/>
              </a:rPr>
              <a:t>Detailed design, prototype, build, integrate.</a:t>
            </a:r>
          </a:p>
        </p:txBody>
      </p:sp>
      <p:sp>
        <p:nvSpPr>
          <p:cNvPr id="15" name="Oval 14"/>
          <p:cNvSpPr/>
          <p:nvPr/>
        </p:nvSpPr>
        <p:spPr>
          <a:xfrm>
            <a:off x="4171296" y="250698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7661" y="3284219"/>
            <a:ext cx="146735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Test and QA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57661" y="4061460"/>
            <a:ext cx="1467350" cy="12039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894821" y="4198620"/>
            <a:ext cx="1193030" cy="929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202122"/>
                </a:solidFill>
                <a:latin typeface="Calibri"/>
              </a:rPr>
              <a:t>Functional and performance testing.</a:t>
            </a:r>
          </a:p>
        </p:txBody>
      </p:sp>
      <p:sp>
        <p:nvSpPr>
          <p:cNvPr id="19" name="Oval 18"/>
          <p:cNvSpPr/>
          <p:nvPr/>
        </p:nvSpPr>
        <p:spPr>
          <a:xfrm>
            <a:off x="5775807" y="250698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2172" y="3284219"/>
            <a:ext cx="146735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Pre-production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62172" y="4061460"/>
            <a:ext cx="1467350" cy="12039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99332" y="4198620"/>
            <a:ext cx="1193030" cy="929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202122"/>
                </a:solidFill>
                <a:latin typeface="Calibri"/>
              </a:rPr>
              <a:t>Sandbox testing and sign-off.</a:t>
            </a:r>
          </a:p>
        </p:txBody>
      </p:sp>
      <p:sp>
        <p:nvSpPr>
          <p:cNvPr id="23" name="Oval 22"/>
          <p:cNvSpPr/>
          <p:nvPr/>
        </p:nvSpPr>
        <p:spPr>
          <a:xfrm>
            <a:off x="7380318" y="250698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6682" y="3284219"/>
            <a:ext cx="146735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Deploy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66682" y="4061460"/>
            <a:ext cx="1467350" cy="12039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103842" y="4198620"/>
            <a:ext cx="1193030" cy="929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202122"/>
                </a:solidFill>
                <a:latin typeface="Calibri"/>
              </a:rPr>
              <a:t>Release, staged for high-impact changes.</a:t>
            </a:r>
          </a:p>
        </p:txBody>
      </p:sp>
      <p:sp>
        <p:nvSpPr>
          <p:cNvPr id="27" name="Oval 26"/>
          <p:cNvSpPr/>
          <p:nvPr/>
        </p:nvSpPr>
        <p:spPr>
          <a:xfrm>
            <a:off x="8984829" y="250698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1193" y="3284219"/>
            <a:ext cx="146735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Monitor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71193" y="4061460"/>
            <a:ext cx="1467350" cy="12039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708353" y="4198620"/>
            <a:ext cx="1193030" cy="929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202122"/>
                </a:solidFill>
                <a:latin typeface="Calibri"/>
              </a:rPr>
              <a:t>Evaluate and improve.</a:t>
            </a:r>
          </a:p>
        </p:txBody>
      </p:sp>
      <p:sp>
        <p:nvSpPr>
          <p:cNvPr id="31" name="Oval 30"/>
          <p:cNvSpPr/>
          <p:nvPr/>
        </p:nvSpPr>
        <p:spPr>
          <a:xfrm>
            <a:off x="10589339" y="250698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75704" y="3284219"/>
            <a:ext cx="146735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Retire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75704" y="4061460"/>
            <a:ext cx="1467350" cy="12039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312864" y="4198620"/>
            <a:ext cx="1193030" cy="929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202122"/>
                </a:solidFill>
                <a:latin typeface="Calibri"/>
              </a:rPr>
              <a:t>Decommission and migrate.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Service Management and the Solution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Principles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Continuous integration and delivery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Microservices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Infrastructure as code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Collaboration and automated testing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Monitoring and logging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Benefits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Faster delivery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Higher productivity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Better processes across teams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Scalability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Fewer errors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Service Management and the Solution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Reuse and documentation matter.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Architecture applies to hardware, not just software.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Frameworks such as TOGAF give structure.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Solutions should align with the enterprise architecture.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Described through system, view, viewpoint, concern and stakeholder.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Continuous improvement: identify affected hardware, measure performance, apply the right SLC stage, re-measure, review data and record findings.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Service Management and the Solution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ITIL stage builds and deploys services with managed change?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happens in the pre-production stage of the SLC?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infrastructure as code?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an architecture framework.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Service Management and the Solution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ITIL stage builds and deploys services with managed change?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Service transition.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happens in the pre-production stage of the SLC?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Sandbox testing and sign-off.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infrastructure as code?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Defining and managing infrastructure through code and scripts rather than by hand.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an architecture framework.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TOGAF.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Plan a network upgrade through the SLC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Service Management and the Solution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Scenario: the college's Wi-Fi cannot cope with exam season.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Plan the upgrade through every SLC stage.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Decide how you will measure performance before and after.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one DevOps practice that would help.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All SLC stages covered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Performance measures are specific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Staged rollout considered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use a staged rollout for a high-impact change?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two DevOps principles.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the final stage of the solution lifecycle?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Digital Infrastructure - Physical and Virtual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https://lana6478.github.io/Digital-Suport-and-security-T-levle/#/02-occupational-specialisms/digital-infrastructure/02-physical-and-virtual-infrastructure.md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Management and the Solution Lifecycle</dc:title>
  <dc:subject>Digital Support and Security T Level: Digital Infrastructure Content Area 2</dc:subject>
  <dc:creator>Samuel O'Connell</dc:creator>
  <cp:keywords>T Level; Digital Support and Security; lesson slides; 2.16, 2.17, 2.20 to 2.22, 2.24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